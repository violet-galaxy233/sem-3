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09" r:id="rId1"/>
  </p:sldMasterIdLst>
  <p:notesMasterIdLst>
    <p:notesMasterId r:id="rId42"/>
  </p:notesMasterIdLst>
  <p:handoutMasterIdLst>
    <p:handoutMasterId r:id="rId43"/>
  </p:handoutMasterIdLst>
  <p:sldIdLst>
    <p:sldId id="774" r:id="rId2"/>
    <p:sldId id="616" r:id="rId3"/>
    <p:sldId id="593" r:id="rId4"/>
    <p:sldId id="603" r:id="rId5"/>
    <p:sldId id="795" r:id="rId6"/>
    <p:sldId id="674" r:id="rId7"/>
    <p:sldId id="673" r:id="rId8"/>
    <p:sldId id="796" r:id="rId9"/>
    <p:sldId id="675" r:id="rId10"/>
    <p:sldId id="800" r:id="rId11"/>
    <p:sldId id="679" r:id="rId12"/>
    <p:sldId id="648" r:id="rId13"/>
    <p:sldId id="649" r:id="rId14"/>
    <p:sldId id="680" r:id="rId15"/>
    <p:sldId id="650" r:id="rId16"/>
    <p:sldId id="651" r:id="rId17"/>
    <p:sldId id="681" r:id="rId18"/>
    <p:sldId id="653" r:id="rId19"/>
    <p:sldId id="654" r:id="rId20"/>
    <p:sldId id="682" r:id="rId21"/>
    <p:sldId id="655" r:id="rId22"/>
    <p:sldId id="683" r:id="rId23"/>
    <p:sldId id="656" r:id="rId24"/>
    <p:sldId id="684" r:id="rId25"/>
    <p:sldId id="657" r:id="rId26"/>
    <p:sldId id="658" r:id="rId27"/>
    <p:sldId id="685" r:id="rId28"/>
    <p:sldId id="686" r:id="rId29"/>
    <p:sldId id="687" r:id="rId30"/>
    <p:sldId id="738" r:id="rId31"/>
    <p:sldId id="739" r:id="rId32"/>
    <p:sldId id="740" r:id="rId33"/>
    <p:sldId id="780" r:id="rId34"/>
    <p:sldId id="741" r:id="rId35"/>
    <p:sldId id="742" r:id="rId36"/>
    <p:sldId id="781" r:id="rId37"/>
    <p:sldId id="747" r:id="rId38"/>
    <p:sldId id="748" r:id="rId39"/>
    <p:sldId id="1510" r:id="rId40"/>
    <p:sldId id="802" r:id="rId4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79" d="100"/>
          <a:sy n="79" d="100"/>
        </p:scale>
        <p:origin x="1526" y="72"/>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9342"/>
    </p:cViewPr>
  </p:sorterViewPr>
  <p:notesViewPr>
    <p:cSldViewPr>
      <p:cViewPr varScale="1">
        <p:scale>
          <a:sx n="37" d="100"/>
          <a:sy n="37" d="100"/>
        </p:scale>
        <p:origin x="-1470"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263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atin typeface="Times New Roman" charset="0"/>
                <a:ea typeface="ＭＳ Ｐゴシック" charset="0"/>
                <a:cs typeface="+mn-cs"/>
              </a:defRPr>
            </a:lvl1pPr>
          </a:lstStyle>
          <a:p>
            <a:pPr>
              <a:defRPr/>
            </a:pPr>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atin typeface="Times New Roman" charset="0"/>
                <a:ea typeface="ＭＳ Ｐゴシック" charset="0"/>
                <a:cs typeface="+mn-cs"/>
              </a:defRPr>
            </a:lvl1pPr>
          </a:lstStyle>
          <a:p>
            <a:pPr>
              <a:defRPr/>
            </a:pPr>
            <a:endParaRPr lang="en-US"/>
          </a:p>
        </p:txBody>
      </p:sp>
      <p:sp>
        <p:nvSpPr>
          <p:cNvPr id="38916"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53640926-AAD7-44D8-BBD7-CCE9431645EC}">
              <a14:shadowObscured xmlns:a14="http://schemas.microsoft.com/office/drawing/2010/main" val="1"/>
            </a:ext>
            <a:ext uri="{FAA26D3D-D897-4be2-8F04-BA451C77F1D7}"/>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atin typeface="Times New Roman" charset="0"/>
                <a:ea typeface="ＭＳ Ｐゴシック" charset="0"/>
                <a:cs typeface="+mn-cs"/>
              </a:defRPr>
            </a:lvl1pPr>
          </a:lstStyle>
          <a:p>
            <a:pPr>
              <a:defRPr/>
            </a:pPr>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pPr>
              <a:defRPr/>
            </a:pPr>
            <a:fld id="{B1C0BCD0-C171-49D9-B9D8-896A518EB108}" type="slidenum">
              <a:rPr lang="en-US"/>
              <a:pPr>
                <a:defRPr/>
              </a:pPr>
              <a:t>‹#›</a:t>
            </a:fld>
            <a:endParaRPr lang="en-US"/>
          </a:p>
        </p:txBody>
      </p:sp>
    </p:spTree>
    <p:extLst>
      <p:ext uri="{BB962C8B-B14F-4D97-AF65-F5344CB8AC3E}">
        <p14:creationId xmlns:p14="http://schemas.microsoft.com/office/powerpoint/2010/main" val="9171933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fld id="{5DE2B9BC-A540-40D5-8A12-A40978FFE846}" type="slidenum">
              <a:rPr lang="en-US" altLang="en-US" sz="1000" smtClean="0"/>
              <a:pPr/>
              <a:t>1</a:t>
            </a:fld>
            <a:endParaRPr lang="en-US" altLang="en-US" sz="1000"/>
          </a:p>
        </p:txBody>
      </p:sp>
      <p:sp>
        <p:nvSpPr>
          <p:cNvPr id="73731" name="Rectangle 2"/>
          <p:cNvSpPr>
            <a:spLocks noGrp="1" noRot="1" noChangeAspect="1" noChangeArrowheads="1" noTextEdit="1"/>
          </p:cNvSpPr>
          <p:nvPr>
            <p:ph type="sldImg"/>
          </p:nvPr>
        </p:nvSpPr>
        <p:spPr>
          <a:xfrm>
            <a:off x="1150938" y="692150"/>
            <a:ext cx="4556125" cy="3416300"/>
          </a:xfrm>
          <a:ln/>
        </p:spPr>
      </p:sp>
      <p:sp>
        <p:nvSpPr>
          <p:cNvPr id="161796" name="Rectangle 3"/>
          <p:cNvSpPr>
            <a:spLocks noGrp="1" noChangeArrowheads="1"/>
          </p:cNvSpPr>
          <p:nvPr>
            <p:ph type="body" idx="1"/>
          </p:nvPr>
        </p:nvSpPr>
        <p:spPr>
          <a:noFill/>
        </p:spPr>
        <p:txBody>
          <a:bodyPr/>
          <a:lstStyle/>
          <a:p>
            <a:pPr eaLnBrk="1" hangingPunct="1"/>
            <a:endParaRPr lang="ms-MY"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CA9DE423-5E29-48B6-89F3-61E3FD399C31}" type="slidenum">
              <a:rPr lang="en-US" sz="1000" smtClean="0"/>
              <a:pPr>
                <a:defRPr/>
              </a:pPr>
              <a:t>3</a:t>
            </a:fld>
            <a:endParaRPr lang="en-US" sz="1000"/>
          </a:p>
        </p:txBody>
      </p:sp>
      <p:sp>
        <p:nvSpPr>
          <p:cNvPr id="40963" name="Rectangle 2"/>
          <p:cNvSpPr>
            <a:spLocks noGrp="1" noRot="1" noChangeAspect="1" noChangeArrowheads="1" noTextEdit="1"/>
          </p:cNvSpPr>
          <p:nvPr>
            <p:ph type="sldImg"/>
          </p:nvPr>
        </p:nvSpPr>
        <p:spPr>
          <a:xfrm>
            <a:off x="1150938" y="692150"/>
            <a:ext cx="4556125" cy="3416300"/>
          </a:xfrm>
          <a:ln/>
        </p:spPr>
      </p:sp>
      <p:sp>
        <p:nvSpPr>
          <p:cNvPr id="409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dirty="0"/>
              <a:t>But see also the Wikipedia entry for JavaFX (https://en.wikipedia.org/wiki/JavaFX)</a:t>
            </a:r>
          </a:p>
        </p:txBody>
      </p:sp>
      <p:sp>
        <p:nvSpPr>
          <p:cNvPr id="4" name="Slide Number Placeholder 3"/>
          <p:cNvSpPr>
            <a:spLocks noGrp="1"/>
          </p:cNvSpPr>
          <p:nvPr>
            <p:ph type="sldNum" sz="quarter" idx="5"/>
          </p:nvPr>
        </p:nvSpPr>
        <p:spPr/>
        <p:txBody>
          <a:bodyPr/>
          <a:lstStyle/>
          <a:p>
            <a:pPr>
              <a:defRPr/>
            </a:pPr>
            <a:fld id="{B1C0BCD0-C171-49D9-B9D8-896A518EB108}" type="slidenum">
              <a:rPr lang="en-US" smtClean="0"/>
              <a:pPr>
                <a:defRPr/>
              </a:pPr>
              <a:t>4</a:t>
            </a:fld>
            <a:endParaRPr lang="en-US"/>
          </a:p>
        </p:txBody>
      </p:sp>
    </p:spTree>
    <p:extLst>
      <p:ext uri="{BB962C8B-B14F-4D97-AF65-F5344CB8AC3E}">
        <p14:creationId xmlns:p14="http://schemas.microsoft.com/office/powerpoint/2010/main" val="2259994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B8933D80-DEEE-4CBE-AACB-F6DA35802E09}" type="slidenum">
              <a:rPr lang="en-US" sz="1000" smtClean="0"/>
              <a:pPr>
                <a:defRPr/>
              </a:pPr>
              <a:t>30</a:t>
            </a:fld>
            <a:endParaRPr lang="en-US" sz="1000"/>
          </a:p>
        </p:txBody>
      </p:sp>
      <p:sp>
        <p:nvSpPr>
          <p:cNvPr id="39939" name="Rectangle 2"/>
          <p:cNvSpPr>
            <a:spLocks noGrp="1" noRot="1" noChangeAspect="1" noChangeArrowheads="1" noTextEdit="1"/>
          </p:cNvSpPr>
          <p:nvPr>
            <p:ph type="sldImg"/>
          </p:nvPr>
        </p:nvSpPr>
        <p:spPr>
          <a:xfrm>
            <a:off x="1150938" y="692150"/>
            <a:ext cx="4556125" cy="3416300"/>
          </a:xfrm>
          <a:ln/>
        </p:spPr>
      </p:sp>
      <p:sp>
        <p:nvSpPr>
          <p:cNvPr id="3994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The following slides are previews. Related concepts will be covered in later chapters.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E7BFFFDF-75EE-496C-AA99-9DBF00785610}" type="slidenum">
              <a:rPr lang="en-US" sz="1000" smtClean="0"/>
              <a:pPr>
                <a:defRPr/>
              </a:pPr>
              <a:t>31</a:t>
            </a:fld>
            <a:endParaRPr lang="en-US" sz="1000"/>
          </a:p>
        </p:txBody>
      </p:sp>
      <p:sp>
        <p:nvSpPr>
          <p:cNvPr id="40963" name="Rectangle 2"/>
          <p:cNvSpPr>
            <a:spLocks noGrp="1" noRot="1" noChangeAspect="1" noChangeArrowheads="1" noTextEdit="1"/>
          </p:cNvSpPr>
          <p:nvPr>
            <p:ph type="sldImg"/>
          </p:nvPr>
        </p:nvSpPr>
        <p:spPr>
          <a:xfrm>
            <a:off x="1150938" y="692150"/>
            <a:ext cx="4556125" cy="3416300"/>
          </a:xfrm>
          <a:ln/>
        </p:spPr>
      </p:sp>
      <p:sp>
        <p:nvSpPr>
          <p:cNvPr id="409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4FE4C306-FF19-45DB-B901-96295AD0E609}" type="slidenum">
              <a:rPr lang="en-US" sz="1000" smtClean="0"/>
              <a:pPr>
                <a:defRPr/>
              </a:pPr>
              <a:t>32</a:t>
            </a:fld>
            <a:endParaRPr lang="en-US" sz="1000"/>
          </a:p>
        </p:txBody>
      </p:sp>
      <p:sp>
        <p:nvSpPr>
          <p:cNvPr id="41987" name="Rectangle 2"/>
          <p:cNvSpPr>
            <a:spLocks noGrp="1" noRot="1" noChangeAspect="1" noChangeArrowheads="1" noTextEdit="1"/>
          </p:cNvSpPr>
          <p:nvPr>
            <p:ph type="sldImg"/>
          </p:nvPr>
        </p:nvSpPr>
        <p:spPr>
          <a:xfrm>
            <a:off x="1150938" y="692150"/>
            <a:ext cx="4556125" cy="3416300"/>
          </a:xfrm>
          <a:ln/>
        </p:spPr>
      </p:sp>
      <p:sp>
        <p:nvSpPr>
          <p:cNvPr id="4198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8850762F-69B7-4230-9E3B-4B5D8B569F75}" type="slidenum">
              <a:rPr lang="en-US" sz="1000" smtClean="0"/>
              <a:pPr>
                <a:defRPr/>
              </a:pPr>
              <a:t>34</a:t>
            </a:fld>
            <a:endParaRPr lang="en-US" sz="1000"/>
          </a:p>
        </p:txBody>
      </p:sp>
      <p:sp>
        <p:nvSpPr>
          <p:cNvPr id="43011" name="Rectangle 2"/>
          <p:cNvSpPr>
            <a:spLocks noGrp="1" noRot="1" noChangeAspect="1" noChangeArrowheads="1" noTextEdit="1"/>
          </p:cNvSpPr>
          <p:nvPr>
            <p:ph type="sldImg"/>
          </p:nvPr>
        </p:nvSpPr>
        <p:spPr>
          <a:xfrm>
            <a:off x="1150938" y="692150"/>
            <a:ext cx="4556125" cy="3416300"/>
          </a:xfrm>
          <a:ln/>
        </p:spPr>
      </p:sp>
      <p:sp>
        <p:nvSpPr>
          <p:cNvPr id="4301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0DCE29F7-C309-453E-8DF7-EC8444BCF9EA}" type="slidenum">
              <a:rPr lang="en-US" sz="1000" smtClean="0"/>
              <a:pPr>
                <a:defRPr/>
              </a:pPr>
              <a:t>35</a:t>
            </a:fld>
            <a:endParaRPr lang="en-US" sz="1000"/>
          </a:p>
        </p:txBody>
      </p:sp>
      <p:sp>
        <p:nvSpPr>
          <p:cNvPr id="44035" name="Rectangle 2"/>
          <p:cNvSpPr>
            <a:spLocks noGrp="1" noRot="1" noChangeAspect="1" noChangeArrowheads="1" noTextEdit="1"/>
          </p:cNvSpPr>
          <p:nvPr>
            <p:ph type="sldImg"/>
          </p:nvPr>
        </p:nvSpPr>
        <p:spPr>
          <a:xfrm>
            <a:off x="1150938" y="692150"/>
            <a:ext cx="4556125" cy="3416300"/>
          </a:xfrm>
          <a:ln/>
        </p:spPr>
      </p:sp>
      <p:sp>
        <p:nvSpPr>
          <p:cNvPr id="4403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7E8700E1-EFD2-4229-8DDD-62F7CFB75EC0}" type="slidenum">
              <a:rPr lang="en-US" sz="1000" smtClean="0"/>
              <a:pPr>
                <a:defRPr/>
              </a:pPr>
              <a:t>37</a:t>
            </a:fld>
            <a:endParaRPr lang="en-US" sz="1000"/>
          </a:p>
        </p:txBody>
      </p:sp>
      <p:sp>
        <p:nvSpPr>
          <p:cNvPr id="49155" name="Rectangle 2"/>
          <p:cNvSpPr>
            <a:spLocks noGrp="1" noRot="1" noChangeAspect="1" noChangeArrowheads="1" noTextEdit="1"/>
          </p:cNvSpPr>
          <p:nvPr>
            <p:ph type="sldImg"/>
          </p:nvPr>
        </p:nvSpPr>
        <p:spPr>
          <a:xfrm>
            <a:off x="1150938" y="692150"/>
            <a:ext cx="4556125" cy="3416300"/>
          </a:xfrm>
          <a:ln/>
        </p:spPr>
      </p:sp>
      <p:sp>
        <p:nvSpPr>
          <p:cNvPr id="4915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7D1C41EA-429D-441F-A1C9-B10E292EC232}" type="slidenum">
              <a:rPr lang="en-US" sz="1000" smtClean="0"/>
              <a:pPr>
                <a:defRPr/>
              </a:pPr>
              <a:t>38</a:t>
            </a:fld>
            <a:endParaRPr lang="en-US" sz="1000"/>
          </a:p>
        </p:txBody>
      </p:sp>
      <p:sp>
        <p:nvSpPr>
          <p:cNvPr id="50179" name="Rectangle 2"/>
          <p:cNvSpPr>
            <a:spLocks noGrp="1" noRot="1" noChangeAspect="1" noChangeArrowheads="1" noTextEdit="1"/>
          </p:cNvSpPr>
          <p:nvPr>
            <p:ph type="sldImg"/>
          </p:nvPr>
        </p:nvSpPr>
        <p:spPr>
          <a:xfrm>
            <a:off x="1150938" y="692150"/>
            <a:ext cx="4556125" cy="3416300"/>
          </a:xfrm>
          <a:ln/>
        </p:spPr>
      </p:sp>
      <p:sp>
        <p:nvSpPr>
          <p:cNvPr id="501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1863" y="755650"/>
            <a:ext cx="4970462" cy="372745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02BFE9CC-D952-411B-9EBD-7EF48EA6F8F4}" type="slidenum">
              <a:rPr lang="en-US" smtClean="0"/>
              <a:pPr>
                <a:defRPr/>
              </a:pPr>
              <a:t>39</a:t>
            </a:fld>
            <a:endParaRPr lang="en-US"/>
          </a:p>
        </p:txBody>
      </p:sp>
    </p:spTree>
    <p:extLst>
      <p:ext uri="{BB962C8B-B14F-4D97-AF65-F5344CB8AC3E}">
        <p14:creationId xmlns:p14="http://schemas.microsoft.com/office/powerpoint/2010/main" val="448980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40</a:t>
            </a:fld>
            <a:endParaRPr lang="en-US"/>
          </a:p>
        </p:txBody>
      </p:sp>
      <p:sp>
        <p:nvSpPr>
          <p:cNvPr id="141315" name="Rectangle 2"/>
          <p:cNvSpPr>
            <a:spLocks noGrp="1" noRot="1" noChangeAspect="1" noChangeArrowheads="1" noTextEdit="1"/>
          </p:cNvSpPr>
          <p:nvPr>
            <p:ph type="sldImg"/>
          </p:nvPr>
        </p:nvSpPr>
        <p:spPr>
          <a:xfrm>
            <a:off x="1150938" y="692150"/>
            <a:ext cx="4556125" cy="3416300"/>
          </a:xfrm>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134752" y="2438400"/>
            <a:ext cx="9009248" cy="1052286"/>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sp>
        <p:nvSpPr>
          <p:cNvPr id="230412" name="Rectangle 12"/>
          <p:cNvSpPr>
            <a:spLocks noGrp="1" noChangeArrowheads="1"/>
          </p:cNvSpPr>
          <p:nvPr>
            <p:ph type="ctrTitle"/>
          </p:nvPr>
        </p:nvSpPr>
        <p:spPr bwMode="auto">
          <a:xfrm>
            <a:off x="1143001" y="1676403"/>
            <a:ext cx="7772400" cy="1295400"/>
          </a:xfrm>
          <a:prstGeom prst="rect">
            <a:avLst/>
          </a:prstGeom>
          <a:noFill/>
          <a:ln>
            <a:miter lim="800000"/>
            <a:headEnd/>
            <a:tailEnd/>
          </a:ln>
        </p:spPr>
        <p:txBody>
          <a:bodyPr vert="horz" wrap="square" lIns="74016" tIns="37008" rIns="74016" bIns="37008"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609600" y="3490686"/>
            <a:ext cx="8534400" cy="3124200"/>
          </a:xfrm>
        </p:spPr>
        <p:txBody>
          <a:bodyPr/>
          <a:lstStyle>
            <a:lvl1pPr marL="0" indent="0" algn="ctr">
              <a:buFont typeface="Wingdings" pitchFamily="2" charset="2"/>
              <a:buNone/>
              <a:defRPr/>
            </a:lvl1pPr>
          </a:lstStyle>
          <a:p>
            <a:r>
              <a:rPr lang="en-US"/>
              <a:t>Click to edit Master subtitle style</a:t>
            </a:r>
          </a:p>
        </p:txBody>
      </p:sp>
    </p:spTree>
    <p:extLst>
      <p:ext uri="{BB962C8B-B14F-4D97-AF65-F5344CB8AC3E}">
        <p14:creationId xmlns:p14="http://schemas.microsoft.com/office/powerpoint/2010/main" val="136003941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5617865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3"/>
            <a:ext cx="7772400" cy="1362075"/>
          </a:xfrm>
          <a:prstGeom prst="rect">
            <a:avLst/>
          </a:prstGeom>
        </p:spPr>
        <p:txBody>
          <a:bodyPr lIns="74016" tIns="37008" rIns="74016" bIns="37008" anchor="t"/>
          <a:lstStyle>
            <a:lvl1pPr algn="l">
              <a:defRPr sz="3200" b="1" cap="all"/>
            </a:lvl1pPr>
          </a:lstStyle>
          <a:p>
            <a:r>
              <a:rPr lang="en-US"/>
              <a:t>Click to edit Master title style</a:t>
            </a:r>
            <a:endParaRPr lang="en-GB"/>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1600"/>
            </a:lvl1pPr>
            <a:lvl2pPr marL="370079" indent="0">
              <a:buNone/>
              <a:defRPr sz="1500"/>
            </a:lvl2pPr>
            <a:lvl3pPr marL="740158" indent="0">
              <a:buNone/>
              <a:defRPr sz="1300"/>
            </a:lvl3pPr>
            <a:lvl4pPr marL="1110237" indent="0">
              <a:buNone/>
              <a:defRPr sz="1100"/>
            </a:lvl4pPr>
            <a:lvl5pPr marL="1480316" indent="0">
              <a:buNone/>
              <a:defRPr sz="1100"/>
            </a:lvl5pPr>
            <a:lvl6pPr marL="1850395" indent="0">
              <a:buNone/>
              <a:defRPr sz="1100"/>
            </a:lvl6pPr>
            <a:lvl7pPr marL="2220474" indent="0">
              <a:buNone/>
              <a:defRPr sz="1100"/>
            </a:lvl7pPr>
            <a:lvl8pPr marL="2590553" indent="0">
              <a:buNone/>
              <a:defRPr sz="1100"/>
            </a:lvl8pPr>
            <a:lvl9pPr marL="2960632" indent="0">
              <a:buNone/>
              <a:defRPr sz="1100"/>
            </a:lvl9pPr>
          </a:lstStyle>
          <a:p>
            <a:pPr lvl="0"/>
            <a:r>
              <a:rPr lang="en-US"/>
              <a:t>Click to edit Master text styles</a:t>
            </a:r>
          </a:p>
        </p:txBody>
      </p:sp>
    </p:spTree>
    <p:extLst>
      <p:ext uri="{BB962C8B-B14F-4D97-AF65-F5344CB8AC3E}">
        <p14:creationId xmlns:p14="http://schemas.microsoft.com/office/powerpoint/2010/main" val="804745834"/>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
        <p:nvSpPr>
          <p:cNvPr id="3" name="Content Placeholder 2"/>
          <p:cNvSpPr>
            <a:spLocks noGrp="1"/>
          </p:cNvSpPr>
          <p:nvPr>
            <p:ph sz="half" idx="1"/>
          </p:nvPr>
        </p:nvSpPr>
        <p:spPr>
          <a:xfrm>
            <a:off x="365127" y="0"/>
            <a:ext cx="4111625" cy="652938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52" y="0"/>
            <a:ext cx="4113213" cy="652938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22771458"/>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000" b="1"/>
            </a:lvl1pPr>
            <a:lvl2pPr marL="370079" indent="0">
              <a:buNone/>
              <a:defRPr sz="1600" b="1"/>
            </a:lvl2pPr>
            <a:lvl3pPr marL="740158" indent="0">
              <a:buNone/>
              <a:defRPr sz="1500" b="1"/>
            </a:lvl3pPr>
            <a:lvl4pPr marL="1110237" indent="0">
              <a:buNone/>
              <a:defRPr sz="1300" b="1"/>
            </a:lvl4pPr>
            <a:lvl5pPr marL="1480316" indent="0">
              <a:buNone/>
              <a:defRPr sz="1300" b="1"/>
            </a:lvl5pPr>
            <a:lvl6pPr marL="1850395" indent="0">
              <a:buNone/>
              <a:defRPr sz="1300" b="1"/>
            </a:lvl6pPr>
            <a:lvl7pPr marL="2220474" indent="0">
              <a:buNone/>
              <a:defRPr sz="1300" b="1"/>
            </a:lvl7pPr>
            <a:lvl8pPr marL="2590553" indent="0">
              <a:buNone/>
              <a:defRPr sz="1300" b="1"/>
            </a:lvl8pPr>
            <a:lvl9pPr marL="2960632" indent="0">
              <a:buNone/>
              <a:defRPr sz="13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6" cy="639762"/>
          </a:xfrm>
        </p:spPr>
        <p:txBody>
          <a:bodyPr anchor="b"/>
          <a:lstStyle>
            <a:lvl1pPr marL="0" indent="0">
              <a:buNone/>
              <a:defRPr sz="2000" b="1"/>
            </a:lvl1pPr>
            <a:lvl2pPr marL="370079" indent="0">
              <a:buNone/>
              <a:defRPr sz="1600" b="1"/>
            </a:lvl2pPr>
            <a:lvl3pPr marL="740158" indent="0">
              <a:buNone/>
              <a:defRPr sz="1500" b="1"/>
            </a:lvl3pPr>
            <a:lvl4pPr marL="1110237" indent="0">
              <a:buNone/>
              <a:defRPr sz="1300" b="1"/>
            </a:lvl4pPr>
            <a:lvl5pPr marL="1480316" indent="0">
              <a:buNone/>
              <a:defRPr sz="1300" b="1"/>
            </a:lvl5pPr>
            <a:lvl6pPr marL="1850395" indent="0">
              <a:buNone/>
              <a:defRPr sz="1300" b="1"/>
            </a:lvl6pPr>
            <a:lvl7pPr marL="2220474" indent="0">
              <a:buNone/>
              <a:defRPr sz="1300" b="1"/>
            </a:lvl7pPr>
            <a:lvl8pPr marL="2590553" indent="0">
              <a:buNone/>
              <a:defRPr sz="1300" b="1"/>
            </a:lvl8pPr>
            <a:lvl9pPr marL="2960632" indent="0">
              <a:buNone/>
              <a:defRPr sz="13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6" cy="3951288"/>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7667408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Tree>
    <p:extLst>
      <p:ext uri="{BB962C8B-B14F-4D97-AF65-F5344CB8AC3E}">
        <p14:creationId xmlns:p14="http://schemas.microsoft.com/office/powerpoint/2010/main" val="3510335096"/>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712385"/>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3"/>
            <a:ext cx="3008313" cy="1162050"/>
          </a:xfrm>
          <a:prstGeom prst="rect">
            <a:avLst/>
          </a:prstGeom>
        </p:spPr>
        <p:txBody>
          <a:bodyPr lIns="74016" tIns="37008" rIns="74016" bIns="37008" anchor="b"/>
          <a:lstStyle>
            <a:lvl1pPr algn="l">
              <a:defRPr sz="1600" b="1"/>
            </a:lvl1pPr>
          </a:lstStyle>
          <a:p>
            <a:r>
              <a:rPr lang="en-US"/>
              <a:t>Click to edit Master title style</a:t>
            </a:r>
            <a:endParaRPr lang="en-GB"/>
          </a:p>
        </p:txBody>
      </p:sp>
      <p:sp>
        <p:nvSpPr>
          <p:cNvPr id="3" name="Content Placeholder 2"/>
          <p:cNvSpPr>
            <a:spLocks noGrp="1"/>
          </p:cNvSpPr>
          <p:nvPr>
            <p:ph idx="1"/>
          </p:nvPr>
        </p:nvSpPr>
        <p:spPr>
          <a:xfrm>
            <a:off x="3575051" y="273053"/>
            <a:ext cx="5111751" cy="585311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100"/>
            </a:lvl1pPr>
            <a:lvl2pPr marL="370079" indent="0">
              <a:buNone/>
              <a:defRPr sz="1000"/>
            </a:lvl2pPr>
            <a:lvl3pPr marL="740158" indent="0">
              <a:buNone/>
              <a:defRPr sz="800"/>
            </a:lvl3pPr>
            <a:lvl4pPr marL="1110237" indent="0">
              <a:buNone/>
              <a:defRPr sz="700"/>
            </a:lvl4pPr>
            <a:lvl5pPr marL="1480316" indent="0">
              <a:buNone/>
              <a:defRPr sz="700"/>
            </a:lvl5pPr>
            <a:lvl6pPr marL="1850395" indent="0">
              <a:buNone/>
              <a:defRPr sz="700"/>
            </a:lvl6pPr>
            <a:lvl7pPr marL="2220474" indent="0">
              <a:buNone/>
              <a:defRPr sz="700"/>
            </a:lvl7pPr>
            <a:lvl8pPr marL="2590553" indent="0">
              <a:buNone/>
              <a:defRPr sz="700"/>
            </a:lvl8pPr>
            <a:lvl9pPr marL="2960632" indent="0">
              <a:buNone/>
              <a:defRPr sz="700"/>
            </a:lvl9pPr>
          </a:lstStyle>
          <a:p>
            <a:pPr lvl="0"/>
            <a:r>
              <a:rPr lang="en-US"/>
              <a:t>Click to edit Master text styles</a:t>
            </a:r>
          </a:p>
        </p:txBody>
      </p:sp>
    </p:spTree>
    <p:extLst>
      <p:ext uri="{BB962C8B-B14F-4D97-AF65-F5344CB8AC3E}">
        <p14:creationId xmlns:p14="http://schemas.microsoft.com/office/powerpoint/2010/main" val="374067877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a:prstGeom prst="rect">
            <a:avLst/>
          </a:prstGeom>
        </p:spPr>
        <p:txBody>
          <a:bodyPr lIns="74016" tIns="37008" rIns="74016" bIns="37008" anchor="b"/>
          <a:lstStyle>
            <a:lvl1pPr algn="l">
              <a:defRPr sz="1600" b="1"/>
            </a:lvl1pPr>
          </a:lstStyle>
          <a:p>
            <a:r>
              <a:rPr lang="en-US"/>
              <a:t>Click to edit Master title style</a:t>
            </a:r>
            <a:endParaRPr lang="en-GB"/>
          </a:p>
        </p:txBody>
      </p:sp>
      <p:sp>
        <p:nvSpPr>
          <p:cNvPr id="3" name="Picture Placeholder 2"/>
          <p:cNvSpPr>
            <a:spLocks noGrp="1"/>
          </p:cNvSpPr>
          <p:nvPr>
            <p:ph type="pic" idx="1"/>
          </p:nvPr>
        </p:nvSpPr>
        <p:spPr>
          <a:xfrm>
            <a:off x="1792289" y="612778"/>
            <a:ext cx="5486400" cy="4114800"/>
          </a:xfrm>
        </p:spPr>
        <p:txBody>
          <a:bodyPr/>
          <a:lstStyle>
            <a:lvl1pPr marL="0" indent="0">
              <a:buNone/>
              <a:defRPr sz="2600"/>
            </a:lvl1pPr>
            <a:lvl2pPr marL="370079" indent="0">
              <a:buNone/>
              <a:defRPr sz="2300"/>
            </a:lvl2pPr>
            <a:lvl3pPr marL="740158" indent="0">
              <a:buNone/>
              <a:defRPr sz="2000"/>
            </a:lvl3pPr>
            <a:lvl4pPr marL="1110237" indent="0">
              <a:buNone/>
              <a:defRPr sz="1600"/>
            </a:lvl4pPr>
            <a:lvl5pPr marL="1480316" indent="0">
              <a:buNone/>
              <a:defRPr sz="1600"/>
            </a:lvl5pPr>
            <a:lvl6pPr marL="1850395" indent="0">
              <a:buNone/>
              <a:defRPr sz="1600"/>
            </a:lvl6pPr>
            <a:lvl7pPr marL="2220474" indent="0">
              <a:buNone/>
              <a:defRPr sz="1600"/>
            </a:lvl7pPr>
            <a:lvl8pPr marL="2590553" indent="0">
              <a:buNone/>
              <a:defRPr sz="1600"/>
            </a:lvl8pPr>
            <a:lvl9pPr marL="2960632" indent="0">
              <a:buNone/>
              <a:defRPr sz="1600"/>
            </a:lvl9pPr>
          </a:lstStyle>
          <a:p>
            <a:pPr lvl="0"/>
            <a:endParaRPr lang="en-GB" noProof="0"/>
          </a:p>
        </p:txBody>
      </p:sp>
      <p:sp>
        <p:nvSpPr>
          <p:cNvPr id="4" name="Text Placeholder 3"/>
          <p:cNvSpPr>
            <a:spLocks noGrp="1"/>
          </p:cNvSpPr>
          <p:nvPr>
            <p:ph type="body" sz="half" idx="2"/>
          </p:nvPr>
        </p:nvSpPr>
        <p:spPr>
          <a:xfrm>
            <a:off x="1792289" y="5367340"/>
            <a:ext cx="5486400" cy="804862"/>
          </a:xfrm>
        </p:spPr>
        <p:txBody>
          <a:bodyPr/>
          <a:lstStyle>
            <a:lvl1pPr marL="0" indent="0">
              <a:buNone/>
              <a:defRPr sz="1100"/>
            </a:lvl1pPr>
            <a:lvl2pPr marL="370079" indent="0">
              <a:buNone/>
              <a:defRPr sz="1000"/>
            </a:lvl2pPr>
            <a:lvl3pPr marL="740158" indent="0">
              <a:buNone/>
              <a:defRPr sz="800"/>
            </a:lvl3pPr>
            <a:lvl4pPr marL="1110237" indent="0">
              <a:buNone/>
              <a:defRPr sz="700"/>
            </a:lvl4pPr>
            <a:lvl5pPr marL="1480316" indent="0">
              <a:buNone/>
              <a:defRPr sz="700"/>
            </a:lvl5pPr>
            <a:lvl6pPr marL="1850395" indent="0">
              <a:buNone/>
              <a:defRPr sz="700"/>
            </a:lvl6pPr>
            <a:lvl7pPr marL="2220474" indent="0">
              <a:buNone/>
              <a:defRPr sz="700"/>
            </a:lvl7pPr>
            <a:lvl8pPr marL="2590553" indent="0">
              <a:buNone/>
              <a:defRPr sz="700"/>
            </a:lvl8pPr>
            <a:lvl9pPr marL="2960632" indent="0">
              <a:buNone/>
              <a:defRPr sz="700"/>
            </a:lvl9pPr>
          </a:lstStyle>
          <a:p>
            <a:pPr lvl="0"/>
            <a:r>
              <a:rPr lang="en-US"/>
              <a:t>Click to edit Master text styles</a:t>
            </a:r>
          </a:p>
        </p:txBody>
      </p:sp>
    </p:spTree>
    <p:extLst>
      <p:ext uri="{BB962C8B-B14F-4D97-AF65-F5344CB8AC3E}">
        <p14:creationId xmlns:p14="http://schemas.microsoft.com/office/powerpoint/2010/main" val="69392740"/>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045392"/>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2" y="0"/>
            <a:ext cx="2093912" cy="6529388"/>
          </a:xfrm>
          <a:prstGeom prst="rect">
            <a:avLst/>
          </a:prstGeom>
        </p:spPr>
        <p:txBody>
          <a:bodyPr vert="eaVert" lIns="74016" tIns="37008" rIns="74016" bIns="37008"/>
          <a:lstStyle/>
          <a:p>
            <a:r>
              <a:rPr lang="en-US"/>
              <a:t>Click to edit Master title style</a:t>
            </a:r>
            <a:endParaRPr lang="en-GB"/>
          </a:p>
        </p:txBody>
      </p:sp>
      <p:sp>
        <p:nvSpPr>
          <p:cNvPr id="3" name="Vertical Text Placeholder 2"/>
          <p:cNvSpPr>
            <a:spLocks noGrp="1"/>
          </p:cNvSpPr>
          <p:nvPr>
            <p:ph type="body" orient="vert" idx="1"/>
          </p:nvPr>
        </p:nvSpPr>
        <p:spPr>
          <a:xfrm>
            <a:off x="365125" y="0"/>
            <a:ext cx="6130926" cy="6529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33104931"/>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429" y="285448"/>
            <a:ext cx="7773143" cy="1143000"/>
          </a:xfrm>
          <a:prstGeom prst="rect">
            <a:avLst/>
          </a:prstGeom>
        </p:spPr>
        <p:txBody>
          <a:bodyPr lIns="64502" tIns="32251" rIns="64502" bIns="32251"/>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685429" y="6400800"/>
            <a:ext cx="1905619" cy="457200"/>
          </a:xfrm>
          <a:prstGeom prst="rect">
            <a:avLst/>
          </a:prstGeom>
          <a:ln/>
        </p:spPr>
        <p:txBody>
          <a:bodyPr lIns="64502" tIns="32251" rIns="64502" bIns="32251"/>
          <a:lstStyle>
            <a:lvl1pPr>
              <a:defRPr/>
            </a:lvl1pPr>
          </a:lstStyle>
          <a:p>
            <a:pPr>
              <a:defRPr/>
            </a:pPr>
            <a:endParaRPr lang="en-US" sz="600" dirty="0">
              <a:solidFill>
                <a:srgbClr val="000000"/>
              </a:solidFill>
              <a:latin typeface="Tahoma" pitchFamily="34" charset="0"/>
              <a:ea typeface="+mn-ea"/>
            </a:endParaRPr>
          </a:p>
        </p:txBody>
      </p:sp>
      <p:sp>
        <p:nvSpPr>
          <p:cNvPr id="5" name="Rectangle 34"/>
          <p:cNvSpPr>
            <a:spLocks noGrp="1" noChangeArrowheads="1"/>
          </p:cNvSpPr>
          <p:nvPr>
            <p:ph type="sldNum" sz="quarter" idx="11"/>
          </p:nvPr>
        </p:nvSpPr>
        <p:spPr>
          <a:xfrm>
            <a:off x="6552952" y="6399591"/>
            <a:ext cx="1905619" cy="457200"/>
          </a:xfrm>
          <a:prstGeom prst="rect">
            <a:avLst/>
          </a:prstGeom>
          <a:ln/>
        </p:spPr>
        <p:txBody>
          <a:bodyPr lIns="64502" tIns="32251" rIns="64502" bIns="32251"/>
          <a:lstStyle>
            <a:lvl1pPr>
              <a:defRPr/>
            </a:lvl1pPr>
          </a:lstStyle>
          <a:p>
            <a:pPr>
              <a:defRPr/>
            </a:pPr>
            <a:fld id="{C7CEB0B8-E327-4A51-B1B2-05DF9D4D2C03}" type="slidenum">
              <a:rPr lang="en-US" sz="600">
                <a:solidFill>
                  <a:srgbClr val="000000"/>
                </a:solidFill>
                <a:latin typeface="Tahoma" pitchFamily="34" charset="0"/>
                <a:ea typeface="+mn-ea"/>
              </a:rPr>
              <a:pPr>
                <a:defRPr/>
              </a:pPr>
              <a:t>‹#›</a:t>
            </a:fld>
            <a:endParaRPr lang="en-US" sz="600">
              <a:solidFill>
                <a:srgbClr val="000000"/>
              </a:solidFill>
              <a:latin typeface="Tahoma" pitchFamily="34" charset="0"/>
              <a:ea typeface="+mn-ea"/>
            </a:endParaRPr>
          </a:p>
        </p:txBody>
      </p:sp>
    </p:spTree>
    <p:extLst>
      <p:ext uri="{BB962C8B-B14F-4D97-AF65-F5344CB8AC3E}">
        <p14:creationId xmlns:p14="http://schemas.microsoft.com/office/powerpoint/2010/main" val="2524762185"/>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393645" y="33867"/>
            <a:ext cx="8376871" cy="6529010"/>
          </a:xfrm>
          <a:prstGeom prst="rect">
            <a:avLst/>
          </a:prstGeom>
          <a:noFill/>
          <a:ln w="9525">
            <a:noFill/>
            <a:miter lim="800000"/>
            <a:headEnd/>
            <a:tailEnd/>
          </a:ln>
        </p:spPr>
        <p:txBody>
          <a:bodyPr vert="horz" wrap="square" lIns="74016" tIns="37008" rIns="74016" bIns="3700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9393" name="Rectangle 17"/>
          <p:cNvSpPr>
            <a:spLocks noChangeArrowheads="1"/>
          </p:cNvSpPr>
          <p:nvPr/>
        </p:nvSpPr>
        <p:spPr bwMode="auto">
          <a:xfrm>
            <a:off x="0" y="6400800"/>
            <a:ext cx="1904558" cy="457200"/>
          </a:xfrm>
          <a:prstGeom prst="rect">
            <a:avLst/>
          </a:prstGeom>
          <a:noFill/>
          <a:ln w="12700" cap="sq">
            <a:noFill/>
            <a:miter lim="800000"/>
            <a:headEnd type="none" w="sm" len="sm"/>
            <a:tailEnd type="none" w="sm" len="sm"/>
          </a:ln>
          <a:effectLst/>
        </p:spPr>
        <p:txBody>
          <a:bodyPr lIns="74016" tIns="37008" rIns="74016" bIns="37008" anchor="b"/>
          <a:lstStyle/>
          <a:p>
            <a:pPr eaLnBrk="1" hangingPunct="1">
              <a:defRPr/>
            </a:pPr>
            <a:fld id="{A489F54B-69BB-4115-9FC9-7565FFDEE19E}" type="slidenum">
              <a:rPr lang="en-US" sz="1100">
                <a:solidFill>
                  <a:srgbClr val="080808"/>
                </a:solidFill>
                <a:ea typeface="+mn-ea"/>
              </a:rPr>
              <a:pPr eaLnBrk="1" hangingPunct="1">
                <a:defRPr/>
              </a:pPr>
              <a:t>‹#›</a:t>
            </a:fld>
            <a:endParaRPr lang="en-US" sz="1100" dirty="0">
              <a:solidFill>
                <a:srgbClr val="080808"/>
              </a:solidFill>
              <a:ea typeface="+mn-ea"/>
            </a:endParaRPr>
          </a:p>
        </p:txBody>
      </p:sp>
      <p:sp>
        <p:nvSpPr>
          <p:cNvPr id="229396" name="Rectangle 20"/>
          <p:cNvSpPr>
            <a:spLocks noChangeArrowheads="1"/>
          </p:cNvSpPr>
          <p:nvPr userDrawn="1"/>
        </p:nvSpPr>
        <p:spPr bwMode="ltGray">
          <a:xfrm>
            <a:off x="8033097" y="5913362"/>
            <a:ext cx="327859" cy="474133"/>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00" name="Rectangle 24"/>
          <p:cNvSpPr>
            <a:spLocks noChangeArrowheads="1"/>
          </p:cNvSpPr>
          <p:nvPr userDrawn="1"/>
        </p:nvSpPr>
        <p:spPr bwMode="ltGray">
          <a:xfrm flipH="1">
            <a:off x="7880308" y="6335486"/>
            <a:ext cx="368179" cy="475343"/>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98" name="Rectangle 22"/>
          <p:cNvSpPr>
            <a:spLocks noChangeArrowheads="1"/>
          </p:cNvSpPr>
          <p:nvPr userDrawn="1"/>
        </p:nvSpPr>
        <p:spPr bwMode="ltGray">
          <a:xfrm>
            <a:off x="8353530" y="5913362"/>
            <a:ext cx="438207" cy="474133"/>
          </a:xfrm>
          <a:prstGeom prst="rect">
            <a:avLst/>
          </a:prstGeom>
          <a:solidFill>
            <a:schemeClr val="accent2"/>
          </a:soli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99" name="Rectangle 23"/>
          <p:cNvSpPr>
            <a:spLocks noChangeArrowheads="1"/>
          </p:cNvSpPr>
          <p:nvPr userDrawn="1"/>
        </p:nvSpPr>
        <p:spPr bwMode="ltGray">
          <a:xfrm flipH="1">
            <a:off x="8245304" y="6335486"/>
            <a:ext cx="422292" cy="475343"/>
          </a:xfrm>
          <a:prstGeom prst="rect">
            <a:avLst/>
          </a:prstGeom>
          <a:solidFill>
            <a:schemeClr val="folHlink"/>
          </a:soli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01" name="Rectangle 25"/>
          <p:cNvSpPr>
            <a:spLocks noChangeArrowheads="1"/>
          </p:cNvSpPr>
          <p:nvPr userDrawn="1"/>
        </p:nvSpPr>
        <p:spPr bwMode="ltGray">
          <a:xfrm flipH="1">
            <a:off x="8521173" y="6262914"/>
            <a:ext cx="561287" cy="422124"/>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84" name="Rectangle 8"/>
          <p:cNvSpPr>
            <a:spLocks noChangeArrowheads="1"/>
          </p:cNvSpPr>
          <p:nvPr userDrawn="1"/>
        </p:nvSpPr>
        <p:spPr bwMode="gray">
          <a:xfrm>
            <a:off x="549616" y="6595534"/>
            <a:ext cx="8226205" cy="32657"/>
          </a:xfrm>
          <a:prstGeom prst="rect">
            <a:avLst/>
          </a:prstGeom>
          <a:gradFill rotWithShape="0">
            <a:gsLst>
              <a:gs pos="0">
                <a:schemeClr val="bg1"/>
              </a:gs>
              <a:gs pos="100000">
                <a:schemeClr val="tx1"/>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16" name="Text Box 40"/>
          <p:cNvSpPr txBox="1">
            <a:spLocks noChangeArrowheads="1"/>
          </p:cNvSpPr>
          <p:nvPr userDrawn="1"/>
        </p:nvSpPr>
        <p:spPr bwMode="auto">
          <a:xfrm>
            <a:off x="377729" y="6582229"/>
            <a:ext cx="8393849" cy="228627"/>
          </a:xfrm>
          <a:prstGeom prst="rect">
            <a:avLst/>
          </a:prstGeom>
          <a:noFill/>
          <a:ln w="12700" cap="sq">
            <a:noFill/>
            <a:miter lim="800000"/>
            <a:headEnd type="none" w="sm" len="sm"/>
            <a:tailEnd type="none" w="sm" len="sm"/>
          </a:ln>
          <a:effectLst/>
        </p:spPr>
        <p:txBody>
          <a:bodyPr lIns="74016" tIns="37008" rIns="74016" bIns="37008">
            <a:spAutoFit/>
          </a:bodyPr>
          <a:lstStyle/>
          <a:p>
            <a:pPr>
              <a:spcBef>
                <a:spcPct val="50000"/>
              </a:spcBef>
              <a:defRPr/>
            </a:pPr>
            <a:r>
              <a:rPr lang="en-US" sz="1000" dirty="0">
                <a:solidFill>
                  <a:srgbClr val="000000"/>
                </a:solidFill>
                <a:latin typeface="Tahoma" pitchFamily="34" charset="0"/>
                <a:ea typeface="+mn-ea"/>
              </a:rPr>
              <a:t>Chapter 1 Basic GUI Programming                                                                                                   CCS3104 Advanced Programming</a:t>
            </a:r>
          </a:p>
        </p:txBody>
      </p:sp>
    </p:spTree>
    <p:extLst>
      <p:ext uri="{BB962C8B-B14F-4D97-AF65-F5344CB8AC3E}">
        <p14:creationId xmlns:p14="http://schemas.microsoft.com/office/powerpoint/2010/main" val="855775763"/>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Lst>
  <p:transition>
    <p:random/>
  </p:transition>
  <p:txStyles>
    <p:titleStyle>
      <a:lvl1pPr algn="l" rtl="0" eaLnBrk="0" fontAlgn="base" hangingPunct="0">
        <a:spcBef>
          <a:spcPct val="0"/>
        </a:spcBef>
        <a:spcAft>
          <a:spcPct val="0"/>
        </a:spcAft>
        <a:defRPr sz="3500">
          <a:solidFill>
            <a:schemeClr val="tx2"/>
          </a:solidFill>
          <a:latin typeface="+mj-lt"/>
          <a:ea typeface="+mj-ea"/>
          <a:cs typeface="+mj-cs"/>
        </a:defRPr>
      </a:lvl1pPr>
      <a:lvl2pPr algn="l" rtl="0" eaLnBrk="0" fontAlgn="base" hangingPunct="0">
        <a:spcBef>
          <a:spcPct val="0"/>
        </a:spcBef>
        <a:spcAft>
          <a:spcPct val="0"/>
        </a:spcAft>
        <a:defRPr sz="3500">
          <a:solidFill>
            <a:schemeClr val="tx2"/>
          </a:solidFill>
          <a:latin typeface="Tahoma" pitchFamily="34" charset="0"/>
        </a:defRPr>
      </a:lvl2pPr>
      <a:lvl3pPr algn="l" rtl="0" eaLnBrk="0" fontAlgn="base" hangingPunct="0">
        <a:spcBef>
          <a:spcPct val="0"/>
        </a:spcBef>
        <a:spcAft>
          <a:spcPct val="0"/>
        </a:spcAft>
        <a:defRPr sz="3500">
          <a:solidFill>
            <a:schemeClr val="tx2"/>
          </a:solidFill>
          <a:latin typeface="Tahoma" pitchFamily="34" charset="0"/>
        </a:defRPr>
      </a:lvl3pPr>
      <a:lvl4pPr algn="l" rtl="0" eaLnBrk="0" fontAlgn="base" hangingPunct="0">
        <a:spcBef>
          <a:spcPct val="0"/>
        </a:spcBef>
        <a:spcAft>
          <a:spcPct val="0"/>
        </a:spcAft>
        <a:defRPr sz="3500">
          <a:solidFill>
            <a:schemeClr val="tx2"/>
          </a:solidFill>
          <a:latin typeface="Tahoma" pitchFamily="34" charset="0"/>
        </a:defRPr>
      </a:lvl4pPr>
      <a:lvl5pPr algn="l" rtl="0" eaLnBrk="0" fontAlgn="base" hangingPunct="0">
        <a:spcBef>
          <a:spcPct val="0"/>
        </a:spcBef>
        <a:spcAft>
          <a:spcPct val="0"/>
        </a:spcAft>
        <a:defRPr sz="3500">
          <a:solidFill>
            <a:schemeClr val="tx2"/>
          </a:solidFill>
          <a:latin typeface="Tahoma" pitchFamily="34" charset="0"/>
        </a:defRPr>
      </a:lvl5pPr>
      <a:lvl6pPr marL="370079" algn="l" rtl="0" fontAlgn="base">
        <a:spcBef>
          <a:spcPct val="0"/>
        </a:spcBef>
        <a:spcAft>
          <a:spcPct val="0"/>
        </a:spcAft>
        <a:defRPr sz="3500">
          <a:solidFill>
            <a:schemeClr val="tx2"/>
          </a:solidFill>
          <a:latin typeface="Tahoma" pitchFamily="34" charset="0"/>
        </a:defRPr>
      </a:lvl6pPr>
      <a:lvl7pPr marL="740158" algn="l" rtl="0" fontAlgn="base">
        <a:spcBef>
          <a:spcPct val="0"/>
        </a:spcBef>
        <a:spcAft>
          <a:spcPct val="0"/>
        </a:spcAft>
        <a:defRPr sz="3500">
          <a:solidFill>
            <a:schemeClr val="tx2"/>
          </a:solidFill>
          <a:latin typeface="Tahoma" pitchFamily="34" charset="0"/>
        </a:defRPr>
      </a:lvl7pPr>
      <a:lvl8pPr marL="1110237" algn="l" rtl="0" fontAlgn="base">
        <a:spcBef>
          <a:spcPct val="0"/>
        </a:spcBef>
        <a:spcAft>
          <a:spcPct val="0"/>
        </a:spcAft>
        <a:defRPr sz="3500">
          <a:solidFill>
            <a:schemeClr val="tx2"/>
          </a:solidFill>
          <a:latin typeface="Tahoma" pitchFamily="34" charset="0"/>
        </a:defRPr>
      </a:lvl8pPr>
      <a:lvl9pPr marL="1480316" algn="l" rtl="0" fontAlgn="base">
        <a:spcBef>
          <a:spcPct val="0"/>
        </a:spcBef>
        <a:spcAft>
          <a:spcPct val="0"/>
        </a:spcAft>
        <a:defRPr sz="3500">
          <a:solidFill>
            <a:schemeClr val="tx2"/>
          </a:solidFill>
          <a:latin typeface="Tahoma" pitchFamily="34" charset="0"/>
        </a:defRPr>
      </a:lvl9pPr>
    </p:titleStyle>
    <p:bodyStyle>
      <a:lvl1pPr marL="276597" indent="-276597" algn="l" rtl="0" eaLnBrk="0" fontAlgn="base" hangingPunct="0">
        <a:spcBef>
          <a:spcPct val="20000"/>
        </a:spcBef>
        <a:spcAft>
          <a:spcPct val="0"/>
        </a:spcAft>
        <a:buClr>
          <a:schemeClr val="folHlink"/>
        </a:buClr>
        <a:buSzPct val="60000"/>
        <a:buFont typeface="Wingdings" pitchFamily="2" charset="2"/>
        <a:buChar char="n"/>
        <a:defRPr sz="2600">
          <a:solidFill>
            <a:schemeClr val="tx1"/>
          </a:solidFill>
          <a:latin typeface="+mn-lt"/>
          <a:ea typeface="+mn-ea"/>
          <a:cs typeface="+mn-cs"/>
        </a:defRPr>
      </a:lvl1pPr>
      <a:lvl2pPr marL="601345" indent="-230683" algn="l" rtl="0" eaLnBrk="0" fontAlgn="base" hangingPunct="0">
        <a:spcBef>
          <a:spcPct val="20000"/>
        </a:spcBef>
        <a:spcAft>
          <a:spcPct val="0"/>
        </a:spcAft>
        <a:buClr>
          <a:schemeClr val="hlink"/>
        </a:buClr>
        <a:buSzPct val="55000"/>
        <a:buFont typeface="Wingdings" pitchFamily="2" charset="2"/>
        <a:buChar char="n"/>
        <a:defRPr sz="2300">
          <a:solidFill>
            <a:schemeClr val="tx1"/>
          </a:solidFill>
          <a:latin typeface="+mn-lt"/>
        </a:defRPr>
      </a:lvl2pPr>
      <a:lvl3pPr marL="924973" indent="-184771"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defRPr>
      </a:lvl3pPr>
      <a:lvl4pPr marL="1294515" indent="-184771" algn="l" rtl="0" eaLnBrk="0" fontAlgn="base" hangingPunct="0">
        <a:spcBef>
          <a:spcPct val="20000"/>
        </a:spcBef>
        <a:spcAft>
          <a:spcPct val="0"/>
        </a:spcAft>
        <a:buClr>
          <a:schemeClr val="accent2"/>
        </a:buClr>
        <a:buSzPct val="55000"/>
        <a:buFont typeface="Wingdings" pitchFamily="2" charset="2"/>
        <a:buChar char="n"/>
        <a:defRPr sz="1600">
          <a:solidFill>
            <a:schemeClr val="tx1"/>
          </a:solidFill>
          <a:latin typeface="+mn-lt"/>
        </a:defRPr>
      </a:lvl4pPr>
      <a:lvl5pPr marL="1665176" indent="-184771" algn="l" rtl="0" eaLnBrk="0" fontAlgn="base" hangingPunct="0">
        <a:spcBef>
          <a:spcPct val="20000"/>
        </a:spcBef>
        <a:spcAft>
          <a:spcPct val="0"/>
        </a:spcAft>
        <a:buClr>
          <a:schemeClr val="accent1"/>
        </a:buClr>
        <a:buSzPct val="50000"/>
        <a:buFont typeface="Wingdings" pitchFamily="2" charset="2"/>
        <a:buChar char="n"/>
        <a:defRPr sz="1600">
          <a:solidFill>
            <a:schemeClr val="tx1"/>
          </a:solidFill>
          <a:latin typeface="+mn-lt"/>
        </a:defRPr>
      </a:lvl5pPr>
      <a:lvl6pPr marL="2035435"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6pPr>
      <a:lvl7pPr marL="2405513"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7pPr>
      <a:lvl8pPr marL="2775592"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8pPr>
      <a:lvl9pPr marL="3145671"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9pPr>
    </p:bodyStyle>
    <p:otherStyle>
      <a:defPPr>
        <a:defRPr lang="en-US"/>
      </a:defPPr>
      <a:lvl1pPr marL="0" algn="l" defTabSz="740158" rtl="0" eaLnBrk="1" latinLnBrk="0" hangingPunct="1">
        <a:defRPr sz="1500" kern="1200">
          <a:solidFill>
            <a:schemeClr val="tx1"/>
          </a:solidFill>
          <a:latin typeface="+mn-lt"/>
          <a:ea typeface="+mn-ea"/>
          <a:cs typeface="+mn-cs"/>
        </a:defRPr>
      </a:lvl1pPr>
      <a:lvl2pPr marL="370079" algn="l" defTabSz="740158" rtl="0" eaLnBrk="1" latinLnBrk="0" hangingPunct="1">
        <a:defRPr sz="1500" kern="1200">
          <a:solidFill>
            <a:schemeClr val="tx1"/>
          </a:solidFill>
          <a:latin typeface="+mn-lt"/>
          <a:ea typeface="+mn-ea"/>
          <a:cs typeface="+mn-cs"/>
        </a:defRPr>
      </a:lvl2pPr>
      <a:lvl3pPr marL="740158" algn="l" defTabSz="740158" rtl="0" eaLnBrk="1" latinLnBrk="0" hangingPunct="1">
        <a:defRPr sz="1500" kern="1200">
          <a:solidFill>
            <a:schemeClr val="tx1"/>
          </a:solidFill>
          <a:latin typeface="+mn-lt"/>
          <a:ea typeface="+mn-ea"/>
          <a:cs typeface="+mn-cs"/>
        </a:defRPr>
      </a:lvl3pPr>
      <a:lvl4pPr marL="1110237" algn="l" defTabSz="740158" rtl="0" eaLnBrk="1" latinLnBrk="0" hangingPunct="1">
        <a:defRPr sz="1500" kern="1200">
          <a:solidFill>
            <a:schemeClr val="tx1"/>
          </a:solidFill>
          <a:latin typeface="+mn-lt"/>
          <a:ea typeface="+mn-ea"/>
          <a:cs typeface="+mn-cs"/>
        </a:defRPr>
      </a:lvl4pPr>
      <a:lvl5pPr marL="1480316" algn="l" defTabSz="740158" rtl="0" eaLnBrk="1" latinLnBrk="0" hangingPunct="1">
        <a:defRPr sz="1500" kern="1200">
          <a:solidFill>
            <a:schemeClr val="tx1"/>
          </a:solidFill>
          <a:latin typeface="+mn-lt"/>
          <a:ea typeface="+mn-ea"/>
          <a:cs typeface="+mn-cs"/>
        </a:defRPr>
      </a:lvl5pPr>
      <a:lvl6pPr marL="1850395" algn="l" defTabSz="740158" rtl="0" eaLnBrk="1" latinLnBrk="0" hangingPunct="1">
        <a:defRPr sz="1500" kern="1200">
          <a:solidFill>
            <a:schemeClr val="tx1"/>
          </a:solidFill>
          <a:latin typeface="+mn-lt"/>
          <a:ea typeface="+mn-ea"/>
          <a:cs typeface="+mn-cs"/>
        </a:defRPr>
      </a:lvl6pPr>
      <a:lvl7pPr marL="2220474" algn="l" defTabSz="740158" rtl="0" eaLnBrk="1" latinLnBrk="0" hangingPunct="1">
        <a:defRPr sz="1500" kern="1200">
          <a:solidFill>
            <a:schemeClr val="tx1"/>
          </a:solidFill>
          <a:latin typeface="+mn-lt"/>
          <a:ea typeface="+mn-ea"/>
          <a:cs typeface="+mn-cs"/>
        </a:defRPr>
      </a:lvl7pPr>
      <a:lvl8pPr marL="2590553" algn="l" defTabSz="740158" rtl="0" eaLnBrk="1" latinLnBrk="0" hangingPunct="1">
        <a:defRPr sz="1500" kern="1200">
          <a:solidFill>
            <a:schemeClr val="tx1"/>
          </a:solidFill>
          <a:latin typeface="+mn-lt"/>
          <a:ea typeface="+mn-ea"/>
          <a:cs typeface="+mn-cs"/>
        </a:defRPr>
      </a:lvl8pPr>
      <a:lvl9pPr marL="2960632" algn="l" defTabSz="740158"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hyperlink" Target="html/MyJavaFX.bat" TargetMode="External"/><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hyperlink" Target="https://liveexample.pearsoncmg.com/html/MyJavaFX.html" TargetMode="External"/><Relationship Id="rId5" Type="http://schemas.openxmlformats.org/officeDocument/2006/relationships/hyperlink" Target="html/MultipleStageDemo.bat" TargetMode="External"/><Relationship Id="rId4" Type="http://schemas.openxmlformats.org/officeDocument/2006/relationships/hyperlink" Target="https://liveexample.pearsoncmg.com/html/MultipleStageDemo.htm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iveexample.pearsoncmg.com/html/ButtonInPane.html" TargetMode="External"/><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hyperlink" Target="html/ButtonInPane.ba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ml/NodeStyleRotateDemo.bat" TargetMode="External"/><Relationship Id="rId2" Type="http://schemas.openxmlformats.org/officeDocument/2006/relationships/hyperlink" Target="https://liveexample.pearsoncmg.com/html/NodeStyleRotateDemo.html"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liveexample.pearsoncmg.com/html/FontDemo.html" TargetMode="External"/><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hyperlink" Target="html/FontDemo.bat"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liveexample.pearsoncmg.com/common/image/us.gif" TargetMode="External"/><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liveexample.pearsoncmg.com/html/ShowImage.html" TargetMode="External"/><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hyperlink" Target="html/ShowImage.bat"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liveexample.pearsoncmg.com/html/ShowFlowPane.html" TargetMode="External"/><Relationship Id="rId2" Type="http://schemas.openxmlformats.org/officeDocument/2006/relationships/image" Target="../media/image15.png"/><Relationship Id="rId1" Type="http://schemas.openxmlformats.org/officeDocument/2006/relationships/slideLayout" Target="../slideLayouts/slideLayout12.xml"/><Relationship Id="rId4" Type="http://schemas.openxmlformats.org/officeDocument/2006/relationships/hyperlink" Target="html/ShowFlowPane.bat"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liveexample.pearsoncmg.com/html/ShowGridPane.html" TargetMode="External"/><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hyperlink" Target="html/ShowGridPane.bat"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liveexample.pearsoncmg.com/html/ShowBorderPane.html" TargetMode="External"/><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hyperlink" Target="html/ShowBorderPane.bat"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liveexample.pearsoncmg.com/html/ShowHBoxVBox.html" TargetMode="External"/><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hyperlink" Target="html/ShowHBoxVBox.ba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hyperlink" Target="html/LabelWithGraphic.bat" TargetMode="External"/><Relationship Id="rId5" Type="http://schemas.openxmlformats.org/officeDocument/2006/relationships/hyperlink" Target="https://liveexample.pearsoncmg.com/html/LabelWithGraphic.html" TargetMode="Externa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hyperlink" Target="html/ButtonDemo.bat" TargetMode="External"/><Relationship Id="rId4" Type="http://schemas.openxmlformats.org/officeDocument/2006/relationships/hyperlink" Target="https://liveexample.pearsoncmg.com/html/ButtonDemo.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ml/TextFieldDemo.bat" TargetMode="External"/><Relationship Id="rId4" Type="http://schemas.openxmlformats.org/officeDocument/2006/relationships/hyperlink" Target="https://liveexample.pearsoncmg.com/html/TextFieldDemo.html"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028700" y="1866900"/>
            <a:ext cx="7881938"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74016" tIns="37008" rIns="74016" bIns="37008"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r>
              <a:rPr lang="en-US" altLang="en-US" sz="3600" b="1" dirty="0">
                <a:cs typeface="Times New Roman" panose="02020603050405020304" pitchFamily="18" charset="0"/>
              </a:rPr>
              <a:t>CCS3104 </a:t>
            </a:r>
          </a:p>
          <a:p>
            <a:pPr eaLnBrk="1" hangingPunct="1"/>
            <a:r>
              <a:rPr lang="en-US" altLang="en-US" sz="3600" b="1" dirty="0">
                <a:cs typeface="Times New Roman" panose="02020603050405020304" pitchFamily="18" charset="0"/>
              </a:rPr>
              <a:t>ADVANCED PROGRAMMING</a:t>
            </a:r>
            <a:br>
              <a:rPr lang="pl-PL" altLang="en-US" sz="3600" b="1" dirty="0">
                <a:cs typeface="Times New Roman" panose="02020603050405020304" pitchFamily="18" charset="0"/>
              </a:rPr>
            </a:br>
            <a:r>
              <a:rPr lang="en-US" altLang="en-US" sz="3600" b="1" dirty="0">
                <a:cs typeface="Times New Roman" panose="02020603050405020304" pitchFamily="18" charset="0"/>
              </a:rPr>
              <a:t>Chapter 1 Basic GUI Programming</a:t>
            </a:r>
          </a:p>
        </p:txBody>
      </p:sp>
      <p:sp>
        <p:nvSpPr>
          <p:cNvPr id="3075" name="Rectangle 3"/>
          <p:cNvSpPr>
            <a:spLocks noChangeArrowheads="1"/>
          </p:cNvSpPr>
          <p:nvPr/>
        </p:nvSpPr>
        <p:spPr bwMode="auto">
          <a:xfrm>
            <a:off x="533400" y="3733800"/>
            <a:ext cx="7620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74016" tIns="37008" rIns="74016" bIns="37008"/>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spcBef>
                <a:spcPct val="20000"/>
              </a:spcBef>
              <a:buClr>
                <a:schemeClr val="folHlink"/>
              </a:buClr>
              <a:buSzPct val="60000"/>
              <a:buFont typeface="Wingdings" pitchFamily="2" charset="2"/>
              <a:buNone/>
            </a:pPr>
            <a:endParaRPr lang="en-US" altLang="en-US" sz="11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altLang="en-US" sz="1100" dirty="0"/>
          </a:p>
        </p:txBody>
      </p:sp>
    </p:spTree>
    <p:custDataLst>
      <p:tags r:id="rId1"/>
    </p:custData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52400" y="228600"/>
            <a:ext cx="8763000" cy="10668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Motivations</a:t>
            </a:r>
          </a:p>
        </p:txBody>
      </p:sp>
      <p:sp>
        <p:nvSpPr>
          <p:cNvPr id="4100" name="Rectangle 3"/>
          <p:cNvSpPr>
            <a:spLocks noGrp="1" noChangeArrowheads="1"/>
          </p:cNvSpPr>
          <p:nvPr>
            <p:ph idx="1"/>
          </p:nvPr>
        </p:nvSpPr>
        <p:spPr>
          <a:xfrm>
            <a:off x="304800" y="1371600"/>
            <a:ext cx="8610600" cy="4572000"/>
          </a:xfrm>
        </p:spPr>
        <p:txBody>
          <a:bodyPr/>
          <a:lstStyle/>
          <a:p>
            <a:pPr marL="0" indent="0" algn="just">
              <a:buFont typeface="Monotype Sorts" charset="2"/>
              <a:buNone/>
              <a:defRPr/>
            </a:pPr>
            <a:r>
              <a:rPr lang="en-US" sz="2800" dirty="0">
                <a:latin typeface="Times New Roman" panose="02020603050405020304" pitchFamily="18" charset="0"/>
                <a:cs typeface="Times New Roman" panose="02020603050405020304" pitchFamily="18" charset="0"/>
              </a:rPr>
              <a:t>JavaFX is a new framework for developing Java GUI programs. The JavaFX API is an excellent example of how the object-oriented principle is applied. This chapter serves two purposes. First, it presents the basics of JavaFX programming. Second, it uses JavaFX to demonstrate OOP. Specifically, this chapter introduces the framework of JavaFX and discusses JavaFX GUI components and their relationships. </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533400" y="152400"/>
            <a:ext cx="7772400" cy="457200"/>
          </a:xfrm>
        </p:spPr>
        <p:txBody>
          <a:bodyPr>
            <a:normAutofit fontScale="90000"/>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Objectives</a:t>
            </a:r>
          </a:p>
        </p:txBody>
      </p:sp>
      <p:sp>
        <p:nvSpPr>
          <p:cNvPr id="5124" name="Rectangle 3"/>
          <p:cNvSpPr>
            <a:spLocks noGrp="1" noChangeArrowheads="1"/>
          </p:cNvSpPr>
          <p:nvPr>
            <p:ph idx="1"/>
          </p:nvPr>
        </p:nvSpPr>
        <p:spPr>
          <a:xfrm>
            <a:off x="152400" y="762000"/>
            <a:ext cx="8991600" cy="5562600"/>
          </a:xfrm>
        </p:spPr>
        <p:txBody>
          <a:bodyPr>
            <a:normAutofit/>
          </a:bodyPr>
          <a:lstStyle/>
          <a:p>
            <a:pPr>
              <a:defRPr/>
            </a:pPr>
            <a:r>
              <a:rPr lang="en-US" sz="1900" dirty="0">
                <a:latin typeface="Times New Roman" panose="02020603050405020304" pitchFamily="18" charset="0"/>
                <a:cs typeface="Times New Roman" panose="02020603050405020304" pitchFamily="18" charset="0"/>
              </a:rPr>
              <a:t>To distinguish between JavaFX, Swing, and AWT (§14.2).</a:t>
            </a:r>
          </a:p>
          <a:p>
            <a:pPr>
              <a:defRPr/>
            </a:pPr>
            <a:r>
              <a:rPr lang="en-US" sz="1900" dirty="0">
                <a:latin typeface="Times New Roman" panose="02020603050405020304" pitchFamily="18" charset="0"/>
                <a:cs typeface="Times New Roman" panose="02020603050405020304" pitchFamily="18" charset="0"/>
              </a:rPr>
              <a:t>To write a simple JavaFX program and understand the relationship among stages, scenes, and nodes (§14.3).</a:t>
            </a:r>
          </a:p>
          <a:p>
            <a:pPr>
              <a:defRPr/>
            </a:pPr>
            <a:r>
              <a:rPr lang="en-US" sz="1900" dirty="0">
                <a:latin typeface="Times New Roman" panose="02020603050405020304" pitchFamily="18" charset="0"/>
                <a:cs typeface="Times New Roman" panose="02020603050405020304" pitchFamily="18" charset="0"/>
              </a:rPr>
              <a:t>To create user interfaces using panes, UI controls, and shapes (§14.4).</a:t>
            </a:r>
          </a:p>
          <a:p>
            <a:pPr>
              <a:defRPr/>
            </a:pPr>
            <a:r>
              <a:rPr lang="en-US" sz="1900" dirty="0">
                <a:latin typeface="Times New Roman" panose="02020603050405020304" pitchFamily="18" charset="0"/>
                <a:cs typeface="Times New Roman" panose="02020603050405020304" pitchFamily="18" charset="0"/>
              </a:rPr>
              <a:t>To use the common properties </a:t>
            </a:r>
            <a:r>
              <a:rPr lang="en-US" sz="1900" b="1" dirty="0">
                <a:latin typeface="Times New Roman" panose="02020603050405020304" pitchFamily="18" charset="0"/>
                <a:cs typeface="Times New Roman" panose="02020603050405020304" pitchFamily="18" charset="0"/>
              </a:rPr>
              <a:t>style</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rotate</a:t>
            </a:r>
            <a:r>
              <a:rPr lang="en-US" sz="1900" dirty="0">
                <a:latin typeface="Times New Roman" panose="02020603050405020304" pitchFamily="18" charset="0"/>
                <a:cs typeface="Times New Roman" panose="02020603050405020304" pitchFamily="18" charset="0"/>
              </a:rPr>
              <a:t> for nodes (§14.6).</a:t>
            </a:r>
          </a:p>
          <a:p>
            <a:pPr>
              <a:defRPr/>
            </a:pPr>
            <a:r>
              <a:rPr lang="en-US" sz="1900" dirty="0">
                <a:latin typeface="Times New Roman" panose="02020603050405020304" pitchFamily="18" charset="0"/>
                <a:cs typeface="Times New Roman" panose="02020603050405020304" pitchFamily="18" charset="0"/>
              </a:rPr>
              <a:t>To create colors using the </a:t>
            </a:r>
            <a:r>
              <a:rPr lang="en-US" sz="1900" b="1" dirty="0">
                <a:latin typeface="Times New Roman" panose="02020603050405020304" pitchFamily="18" charset="0"/>
                <a:cs typeface="Times New Roman" panose="02020603050405020304" pitchFamily="18" charset="0"/>
              </a:rPr>
              <a:t>Color</a:t>
            </a:r>
            <a:r>
              <a:rPr lang="en-US" sz="1900" dirty="0">
                <a:latin typeface="Times New Roman" panose="02020603050405020304" pitchFamily="18" charset="0"/>
                <a:cs typeface="Times New Roman" panose="02020603050405020304" pitchFamily="18" charset="0"/>
              </a:rPr>
              <a:t> class (§14.7).</a:t>
            </a:r>
          </a:p>
          <a:p>
            <a:pPr>
              <a:defRPr/>
            </a:pPr>
            <a:r>
              <a:rPr lang="en-US" sz="1900" dirty="0">
                <a:latin typeface="Times New Roman" panose="02020603050405020304" pitchFamily="18" charset="0"/>
                <a:cs typeface="Times New Roman" panose="02020603050405020304" pitchFamily="18" charset="0"/>
              </a:rPr>
              <a:t>To create fonts using the </a:t>
            </a:r>
            <a:r>
              <a:rPr lang="en-US" sz="1900" b="1" dirty="0">
                <a:latin typeface="Times New Roman" panose="02020603050405020304" pitchFamily="18" charset="0"/>
                <a:cs typeface="Times New Roman" panose="02020603050405020304" pitchFamily="18" charset="0"/>
              </a:rPr>
              <a:t>Font</a:t>
            </a:r>
            <a:r>
              <a:rPr lang="en-US" sz="1900" dirty="0">
                <a:latin typeface="Times New Roman" panose="02020603050405020304" pitchFamily="18" charset="0"/>
                <a:cs typeface="Times New Roman" panose="02020603050405020304" pitchFamily="18" charset="0"/>
              </a:rPr>
              <a:t> class (§14.8).</a:t>
            </a:r>
          </a:p>
          <a:p>
            <a:pPr>
              <a:defRPr/>
            </a:pPr>
            <a:r>
              <a:rPr lang="en-US" sz="1900" dirty="0">
                <a:latin typeface="Times New Roman" panose="02020603050405020304" pitchFamily="18" charset="0"/>
                <a:cs typeface="Times New Roman" panose="02020603050405020304" pitchFamily="18" charset="0"/>
              </a:rPr>
              <a:t>To create images using the </a:t>
            </a:r>
            <a:r>
              <a:rPr lang="en-US" sz="1900" b="1" dirty="0">
                <a:latin typeface="Times New Roman" panose="02020603050405020304" pitchFamily="18" charset="0"/>
                <a:cs typeface="Times New Roman" panose="02020603050405020304" pitchFamily="18" charset="0"/>
              </a:rPr>
              <a:t>Image</a:t>
            </a:r>
            <a:r>
              <a:rPr lang="en-US" sz="1900" dirty="0">
                <a:latin typeface="Times New Roman" panose="02020603050405020304" pitchFamily="18" charset="0"/>
                <a:cs typeface="Times New Roman" panose="02020603050405020304" pitchFamily="18" charset="0"/>
              </a:rPr>
              <a:t> class and to create image views using the </a:t>
            </a:r>
            <a:r>
              <a:rPr lang="en-US" sz="1900" b="1" dirty="0" err="1">
                <a:latin typeface="Times New Roman" panose="02020603050405020304" pitchFamily="18" charset="0"/>
                <a:cs typeface="Times New Roman" panose="02020603050405020304" pitchFamily="18" charset="0"/>
              </a:rPr>
              <a:t>ImageView</a:t>
            </a:r>
            <a:r>
              <a:rPr lang="en-US" sz="1900" dirty="0">
                <a:latin typeface="Times New Roman" panose="02020603050405020304" pitchFamily="18" charset="0"/>
                <a:cs typeface="Times New Roman" panose="02020603050405020304" pitchFamily="18" charset="0"/>
              </a:rPr>
              <a:t> class (§14.9).</a:t>
            </a:r>
          </a:p>
          <a:p>
            <a:pPr>
              <a:defRPr/>
            </a:pPr>
            <a:r>
              <a:rPr lang="en-US" sz="1900" dirty="0">
                <a:latin typeface="Times New Roman" panose="02020603050405020304" pitchFamily="18" charset="0"/>
                <a:cs typeface="Times New Roman" panose="02020603050405020304" pitchFamily="18" charset="0"/>
              </a:rPr>
              <a:t>To layout nodes using </a:t>
            </a:r>
            <a:r>
              <a:rPr lang="en-US" sz="1900" b="1" dirty="0">
                <a:latin typeface="Times New Roman" panose="02020603050405020304" pitchFamily="18" charset="0"/>
                <a:cs typeface="Times New Roman" panose="02020603050405020304" pitchFamily="18" charset="0"/>
              </a:rPr>
              <a:t>Pane</a:t>
            </a:r>
            <a:r>
              <a:rPr lang="en-US" sz="1900"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StackPane</a:t>
            </a:r>
            <a:r>
              <a:rPr lang="en-US" sz="1900"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FlowPane</a:t>
            </a:r>
            <a:r>
              <a:rPr lang="en-US" sz="1900"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GridPane</a:t>
            </a:r>
            <a:r>
              <a:rPr lang="en-US" sz="1900"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BorderPane</a:t>
            </a:r>
            <a:r>
              <a:rPr lang="en-US" sz="1900"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HBox</a:t>
            </a:r>
            <a:r>
              <a:rPr lang="en-US" sz="1900" dirty="0">
                <a:latin typeface="Times New Roman" panose="02020603050405020304" pitchFamily="18" charset="0"/>
                <a:cs typeface="Times New Roman" panose="02020603050405020304" pitchFamily="18" charset="0"/>
              </a:rPr>
              <a:t>, and </a:t>
            </a:r>
            <a:r>
              <a:rPr lang="en-US" sz="1900" b="1" dirty="0" err="1">
                <a:latin typeface="Times New Roman" panose="02020603050405020304" pitchFamily="18" charset="0"/>
                <a:cs typeface="Times New Roman" panose="02020603050405020304" pitchFamily="18" charset="0"/>
              </a:rPr>
              <a:t>VBox</a:t>
            </a:r>
            <a:r>
              <a:rPr lang="en-US" sz="1900" dirty="0">
                <a:latin typeface="Times New Roman" panose="02020603050405020304" pitchFamily="18" charset="0"/>
                <a:cs typeface="Times New Roman" panose="02020603050405020304" pitchFamily="18" charset="0"/>
              </a:rPr>
              <a:t> (§14.10).</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685800" y="0"/>
            <a:ext cx="7772400" cy="762000"/>
          </a:xfrm>
        </p:spPr>
        <p:txBody>
          <a:bodyPr/>
          <a:lstStyle/>
          <a:p>
            <a:pPr algn="ct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JavaFX vs Swing and AWT</a:t>
            </a:r>
          </a:p>
        </p:txBody>
      </p:sp>
      <p:sp>
        <p:nvSpPr>
          <p:cNvPr id="6148" name="Rectangle 3"/>
          <p:cNvSpPr>
            <a:spLocks noGrp="1" noChangeArrowheads="1"/>
          </p:cNvSpPr>
          <p:nvPr>
            <p:ph idx="1"/>
          </p:nvPr>
        </p:nvSpPr>
        <p:spPr>
          <a:xfrm>
            <a:off x="228600" y="914400"/>
            <a:ext cx="8610600" cy="5486400"/>
          </a:xfrm>
        </p:spPr>
        <p:txBody>
          <a:bodyPr>
            <a:normAutofit/>
          </a:bodyPr>
          <a:lstStyle/>
          <a:p>
            <a:pPr algn="just">
              <a:defRPr/>
            </a:pPr>
            <a:r>
              <a:rPr lang="en-US" sz="2500" dirty="0">
                <a:latin typeface="Times New Roman" panose="02020603050405020304" pitchFamily="18" charset="0"/>
                <a:cs typeface="Times New Roman" panose="02020603050405020304" pitchFamily="18" charset="0"/>
              </a:rPr>
              <a:t>Swing and AWT are replaced by the JavaFX platform for developing rich Internet applications.</a:t>
            </a:r>
          </a:p>
          <a:p>
            <a:pPr algn="just">
              <a:lnSpc>
                <a:spcPct val="90000"/>
              </a:lnSpc>
              <a:spcBef>
                <a:spcPct val="0"/>
              </a:spcBef>
              <a:defRPr/>
            </a:pPr>
            <a:r>
              <a:rPr lang="en-US" sz="2500" dirty="0">
                <a:latin typeface="Times New Roman" panose="02020603050405020304" pitchFamily="18" charset="0"/>
                <a:cs typeface="Times New Roman" panose="02020603050405020304" pitchFamily="18" charset="0"/>
              </a:rPr>
              <a:t>When Java was introduced, the GUI classes were bundled in a library known as the </a:t>
            </a:r>
            <a:r>
              <a:rPr lang="en-US" sz="2500" i="1" dirty="0">
                <a:latin typeface="Times New Roman" panose="02020603050405020304" pitchFamily="18" charset="0"/>
                <a:cs typeface="Times New Roman" panose="02020603050405020304" pitchFamily="18" charset="0"/>
              </a:rPr>
              <a:t>Abstract Windows Toolkit</a:t>
            </a:r>
            <a:r>
              <a:rPr lang="en-US" sz="2500" dirty="0">
                <a:latin typeface="Times New Roman" panose="02020603050405020304" pitchFamily="18" charset="0"/>
                <a:cs typeface="Times New Roman" panose="02020603050405020304" pitchFamily="18" charset="0"/>
              </a:rPr>
              <a:t> </a:t>
            </a:r>
            <a:r>
              <a:rPr lang="en-US" sz="2500" i="1" dirty="0">
                <a:latin typeface="Times New Roman" panose="02020603050405020304" pitchFamily="18" charset="0"/>
                <a:cs typeface="Times New Roman" panose="02020603050405020304" pitchFamily="18" charset="0"/>
              </a:rPr>
              <a:t>(AWT)</a:t>
            </a:r>
            <a:r>
              <a:rPr lang="en-US" sz="2500" dirty="0">
                <a:latin typeface="Times New Roman" panose="02020603050405020304" pitchFamily="18" charset="0"/>
                <a:cs typeface="Times New Roman" panose="02020603050405020304" pitchFamily="18" charset="0"/>
              </a:rPr>
              <a:t>. </a:t>
            </a:r>
          </a:p>
          <a:p>
            <a:pPr algn="just">
              <a:lnSpc>
                <a:spcPct val="90000"/>
              </a:lnSpc>
              <a:spcBef>
                <a:spcPct val="0"/>
              </a:spcBef>
              <a:defRPr/>
            </a:pPr>
            <a:r>
              <a:rPr lang="en-US" sz="2500" dirty="0">
                <a:latin typeface="Times New Roman" panose="02020603050405020304" pitchFamily="18" charset="0"/>
                <a:cs typeface="Times New Roman" panose="02020603050405020304" pitchFamily="18" charset="0"/>
              </a:rPr>
              <a:t>AWT is fine for developing simple graphical user interfaces, but not for developing comprehensive GUI projects. </a:t>
            </a:r>
          </a:p>
          <a:p>
            <a:pPr algn="just">
              <a:lnSpc>
                <a:spcPct val="90000"/>
              </a:lnSpc>
              <a:spcBef>
                <a:spcPct val="0"/>
              </a:spcBef>
              <a:defRPr/>
            </a:pPr>
            <a:r>
              <a:rPr lang="en-US" sz="2500" dirty="0">
                <a:latin typeface="Times New Roman" panose="02020603050405020304" pitchFamily="18" charset="0"/>
                <a:cs typeface="Times New Roman" panose="02020603050405020304" pitchFamily="18" charset="0"/>
              </a:rPr>
              <a:t>AWT is prone to platform-specific bugs. The AWT user-interface components were replaced by a more robust, versatile, and flexible library known as </a:t>
            </a:r>
            <a:r>
              <a:rPr lang="en-US" sz="2500" i="1" dirty="0">
                <a:latin typeface="Times New Roman" panose="02020603050405020304" pitchFamily="18" charset="0"/>
                <a:cs typeface="Times New Roman" panose="02020603050405020304" pitchFamily="18" charset="0"/>
              </a:rPr>
              <a:t>Swing components</a:t>
            </a:r>
            <a:r>
              <a:rPr lang="en-US" sz="2500" dirty="0">
                <a:latin typeface="Times New Roman" panose="02020603050405020304" pitchFamily="18" charset="0"/>
                <a:cs typeface="Times New Roman" panose="02020603050405020304" pitchFamily="18" charset="0"/>
              </a:rPr>
              <a:t>. </a:t>
            </a:r>
          </a:p>
          <a:p>
            <a:pPr algn="just">
              <a:lnSpc>
                <a:spcPct val="90000"/>
              </a:lnSpc>
              <a:spcBef>
                <a:spcPct val="0"/>
              </a:spcBef>
              <a:defRPr/>
            </a:pPr>
            <a:r>
              <a:rPr lang="en-US" sz="2500" dirty="0">
                <a:latin typeface="Times New Roman" panose="02020603050405020304" pitchFamily="18" charset="0"/>
                <a:cs typeface="Times New Roman" panose="02020603050405020304" pitchFamily="18" charset="0"/>
              </a:rPr>
              <a:t>Swing components are painted directly on canvases using Java code. Swing components depend less on the target platform and use less of the native GUI resource. </a:t>
            </a:r>
          </a:p>
          <a:p>
            <a:pPr algn="just">
              <a:lnSpc>
                <a:spcPct val="90000"/>
              </a:lnSpc>
              <a:spcBef>
                <a:spcPct val="0"/>
              </a:spcBef>
              <a:defRPr/>
            </a:pPr>
            <a:r>
              <a:rPr lang="en-US" sz="2500" dirty="0">
                <a:latin typeface="Times New Roman" panose="02020603050405020304" pitchFamily="18" charset="0"/>
                <a:cs typeface="Times New Roman" panose="02020603050405020304" pitchFamily="18" charset="0"/>
              </a:rPr>
              <a:t>With the release of Java 8, Swing is replaced by a completely new GUI platform known as </a:t>
            </a:r>
            <a:r>
              <a:rPr lang="en-US" sz="2500" i="1" dirty="0">
                <a:latin typeface="Times New Roman" panose="02020603050405020304" pitchFamily="18" charset="0"/>
                <a:cs typeface="Times New Roman" panose="02020603050405020304" pitchFamily="18" charset="0"/>
              </a:rPr>
              <a:t>JavaFX</a:t>
            </a:r>
            <a:r>
              <a:rPr lang="en-US" sz="2500" dirty="0">
                <a:latin typeface="Times New Roman" panose="02020603050405020304" pitchFamily="18" charset="0"/>
                <a:cs typeface="Times New Roman" panose="02020603050405020304" pitchFamily="18" charset="0"/>
              </a:rPr>
              <a:t>. </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85800" y="0"/>
            <a:ext cx="7772400" cy="1428750"/>
          </a:xfrm>
        </p:spPr>
        <p:txBody>
          <a:bodyPr/>
          <a:lstStyle/>
          <a:p>
            <a:pPr algn="ctr"/>
            <a:r>
              <a:rPr lang="en-US" altLang="en-US" sz="4400" b="1" dirty="0">
                <a:solidFill>
                  <a:schemeClr val="tx1"/>
                </a:solidFill>
                <a:latin typeface="Times New Roman" panose="02020603050405020304" pitchFamily="18" charset="0"/>
                <a:cs typeface="Times New Roman" panose="02020603050405020304" pitchFamily="18" charset="0"/>
              </a:rPr>
              <a:t>Basic Structure of JavaFX</a:t>
            </a:r>
          </a:p>
        </p:txBody>
      </p:sp>
      <p:sp>
        <p:nvSpPr>
          <p:cNvPr id="10244" name="Rectangle 3"/>
          <p:cNvSpPr>
            <a:spLocks noGrp="1" noChangeArrowheads="1"/>
          </p:cNvSpPr>
          <p:nvPr>
            <p:ph type="body" idx="1"/>
          </p:nvPr>
        </p:nvSpPr>
        <p:spPr>
          <a:xfrm>
            <a:off x="457200" y="1295400"/>
            <a:ext cx="8458200" cy="2209800"/>
          </a:xfrm>
        </p:spPr>
        <p:txBody>
          <a:bodyPr/>
          <a:lstStyle/>
          <a:p>
            <a:pPr>
              <a:spcAft>
                <a:spcPts val="1200"/>
              </a:spcAft>
              <a:buFont typeface="Wingdings" pitchFamily="2" charset="2"/>
              <a:buChar char="§"/>
            </a:pPr>
            <a:r>
              <a:rPr lang="en-US" altLang="en-US" dirty="0">
                <a:latin typeface="Times New Roman" panose="02020603050405020304" pitchFamily="18" charset="0"/>
                <a:cs typeface="Times New Roman" panose="02020603050405020304" pitchFamily="18" charset="0"/>
              </a:rPr>
              <a:t>Application</a:t>
            </a:r>
          </a:p>
          <a:p>
            <a:pPr>
              <a:spcAft>
                <a:spcPts val="1200"/>
              </a:spcAft>
              <a:buFont typeface="Wingdings" pitchFamily="2" charset="2"/>
              <a:buChar char="§"/>
            </a:pPr>
            <a:r>
              <a:rPr lang="en-US" altLang="en-US" dirty="0">
                <a:latin typeface="Times New Roman" panose="02020603050405020304" pitchFamily="18" charset="0"/>
                <a:cs typeface="Times New Roman" panose="02020603050405020304" pitchFamily="18" charset="0"/>
              </a:rPr>
              <a:t>Override the start(Stage) method</a:t>
            </a:r>
          </a:p>
          <a:p>
            <a:pPr>
              <a:spcAft>
                <a:spcPts val="1200"/>
              </a:spcAft>
              <a:buFont typeface="Wingdings" pitchFamily="2" charset="2"/>
              <a:buChar char="§"/>
            </a:pPr>
            <a:r>
              <a:rPr lang="en-US" altLang="en-US" dirty="0">
                <a:latin typeface="Times New Roman" panose="02020603050405020304" pitchFamily="18" charset="0"/>
                <a:cs typeface="Times New Roman" panose="02020603050405020304" pitchFamily="18" charset="0"/>
              </a:rPr>
              <a:t>Stage, Scene, and Nodes</a:t>
            </a:r>
          </a:p>
        </p:txBody>
      </p:sp>
      <p:sp>
        <p:nvSpPr>
          <p:cNvPr id="2" name="Rectangle 6"/>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3" name="Rectangle 15"/>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graphicFrame>
        <p:nvGraphicFramePr>
          <p:cNvPr id="10247" name="Object 3"/>
          <p:cNvGraphicFramePr>
            <a:graphicFrameLocks noChangeAspect="1"/>
          </p:cNvGraphicFramePr>
          <p:nvPr/>
        </p:nvGraphicFramePr>
        <p:xfrm>
          <a:off x="228600" y="3649663"/>
          <a:ext cx="3541713" cy="2446337"/>
        </p:xfrm>
        <a:graphic>
          <a:graphicData uri="http://schemas.openxmlformats.org/presentationml/2006/ole">
            <mc:AlternateContent xmlns:mc="http://schemas.openxmlformats.org/markup-compatibility/2006">
              <mc:Choice xmlns:v="urn:schemas-microsoft-com:vml" Requires="v">
                <p:oleObj name="Picture" r:id="rId2" imgW="1999971" imgH="1378022" progId="Word.Picture.8">
                  <p:embed/>
                </p:oleObj>
              </mc:Choice>
              <mc:Fallback>
                <p:oleObj name="Picture" r:id="rId2" imgW="1999971" imgH="1378022" progId="Word.Picture.8">
                  <p:embed/>
                  <p:pic>
                    <p:nvPicPr>
                      <p:cNvPr id="1024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649663"/>
                        <a:ext cx="3541713" cy="244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Rectangle 13">
            <a:hlinkClick r:id="rId4"/>
          </p:cNvPr>
          <p:cNvSpPr>
            <a:spLocks noChangeArrowheads="1"/>
          </p:cNvSpPr>
          <p:nvPr/>
        </p:nvSpPr>
        <p:spPr bwMode="auto">
          <a:xfrm>
            <a:off x="5259388" y="55626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MultipleStageDemo</a:t>
            </a:r>
          </a:p>
        </p:txBody>
      </p:sp>
      <p:sp>
        <p:nvSpPr>
          <p:cNvPr id="10249" name="AutoShape 10">
            <a:hlinkClick r:id="rId5" action="ppaction://program" highlightClick="1"/>
          </p:cNvPr>
          <p:cNvSpPr>
            <a:spLocks noChangeArrowheads="1"/>
          </p:cNvSpPr>
          <p:nvPr/>
        </p:nvSpPr>
        <p:spPr bwMode="auto">
          <a:xfrm>
            <a:off x="7683500" y="55626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
        <p:nvSpPr>
          <p:cNvPr id="10250" name="Rectangle 15">
            <a:hlinkClick r:id="rId6"/>
          </p:cNvPr>
          <p:cNvSpPr>
            <a:spLocks noChangeArrowheads="1"/>
          </p:cNvSpPr>
          <p:nvPr/>
        </p:nvSpPr>
        <p:spPr bwMode="auto">
          <a:xfrm>
            <a:off x="5259388" y="4953000"/>
            <a:ext cx="23352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MyJavaFX</a:t>
            </a:r>
          </a:p>
        </p:txBody>
      </p:sp>
      <p:sp>
        <p:nvSpPr>
          <p:cNvPr id="10251" name="AutoShape 10">
            <a:hlinkClick r:id="rId7" action="ppaction://program" highlightClick="1"/>
          </p:cNvPr>
          <p:cNvSpPr>
            <a:spLocks noChangeArrowheads="1"/>
          </p:cNvSpPr>
          <p:nvPr/>
        </p:nvSpPr>
        <p:spPr bwMode="auto">
          <a:xfrm>
            <a:off x="7696200" y="49530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extLst>
      <p:ext uri="{BB962C8B-B14F-4D97-AF65-F5344CB8AC3E}">
        <p14:creationId xmlns:p14="http://schemas.microsoft.com/office/powerpoint/2010/main" val="1953091050"/>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381000" y="263525"/>
            <a:ext cx="51816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dirty="0"/>
              <a:t>import </a:t>
            </a:r>
            <a:r>
              <a:rPr lang="en-US" altLang="en-US" sz="1400" dirty="0" err="1"/>
              <a:t>javafx.application.Application</a:t>
            </a:r>
            <a:r>
              <a:rPr lang="en-US" altLang="en-US" sz="1400" dirty="0"/>
              <a:t>;</a:t>
            </a:r>
          </a:p>
          <a:p>
            <a:r>
              <a:rPr lang="en-US" altLang="en-US" sz="1400" dirty="0"/>
              <a:t>import </a:t>
            </a:r>
            <a:r>
              <a:rPr lang="en-US" altLang="en-US" sz="1400" dirty="0" err="1"/>
              <a:t>javafx.scene.Scene</a:t>
            </a:r>
            <a:r>
              <a:rPr lang="en-US" altLang="en-US" sz="1400" dirty="0"/>
              <a:t>;</a:t>
            </a:r>
          </a:p>
          <a:p>
            <a:r>
              <a:rPr lang="en-US" altLang="en-US" sz="1400" dirty="0"/>
              <a:t>import </a:t>
            </a:r>
            <a:r>
              <a:rPr lang="en-US" altLang="en-US" sz="1400" dirty="0" err="1"/>
              <a:t>javafx.scene.control.Button</a:t>
            </a:r>
            <a:r>
              <a:rPr lang="en-US" altLang="en-US" sz="1400" dirty="0"/>
              <a:t>;</a:t>
            </a:r>
          </a:p>
          <a:p>
            <a:r>
              <a:rPr lang="en-US" altLang="en-US" sz="1400" dirty="0"/>
              <a:t>import </a:t>
            </a:r>
            <a:r>
              <a:rPr lang="en-US" altLang="en-US" sz="1400" dirty="0" err="1"/>
              <a:t>javafx.stage.Stage</a:t>
            </a:r>
            <a:r>
              <a:rPr lang="en-US" altLang="en-US" sz="1400" dirty="0"/>
              <a:t>;</a:t>
            </a:r>
          </a:p>
          <a:p>
            <a:endParaRPr lang="en-US" altLang="en-US" sz="1400" dirty="0"/>
          </a:p>
          <a:p>
            <a:r>
              <a:rPr lang="en-US" altLang="en-US" sz="1400" dirty="0"/>
              <a:t>public class </a:t>
            </a:r>
            <a:r>
              <a:rPr lang="en-US" altLang="en-US" sz="1400" dirty="0" err="1"/>
              <a:t>MyJavaFX</a:t>
            </a:r>
            <a:r>
              <a:rPr lang="en-US" altLang="en-US" sz="1400" dirty="0"/>
              <a:t> extends Application {</a:t>
            </a:r>
          </a:p>
          <a:p>
            <a:r>
              <a:rPr lang="en-US" altLang="en-US" sz="1400" dirty="0"/>
              <a:t>  @Override // Override the start method in the Application class</a:t>
            </a:r>
          </a:p>
          <a:p>
            <a:r>
              <a:rPr lang="en-US" altLang="en-US" sz="1400" dirty="0"/>
              <a:t>  public void start(Stage </a:t>
            </a:r>
            <a:r>
              <a:rPr lang="en-US" altLang="en-US" sz="1400" dirty="0" err="1"/>
              <a:t>primaryStage</a:t>
            </a:r>
            <a:r>
              <a:rPr lang="en-US" altLang="en-US" sz="1400" dirty="0"/>
              <a:t>) {</a:t>
            </a:r>
          </a:p>
          <a:p>
            <a:r>
              <a:rPr lang="en-US" altLang="en-US" sz="1400" dirty="0"/>
              <a:t>    // Create a button and place it in the scene</a:t>
            </a:r>
          </a:p>
          <a:p>
            <a:r>
              <a:rPr lang="en-US" altLang="en-US" sz="1400" dirty="0"/>
              <a:t>    Button </a:t>
            </a:r>
            <a:r>
              <a:rPr lang="en-US" altLang="en-US" sz="1400" dirty="0" err="1"/>
              <a:t>btOK</a:t>
            </a:r>
            <a:r>
              <a:rPr lang="en-US" altLang="en-US" sz="1400" dirty="0"/>
              <a:t> = new Button("OK");</a:t>
            </a:r>
          </a:p>
          <a:p>
            <a:r>
              <a:rPr lang="en-US" altLang="en-US" sz="1400" dirty="0"/>
              <a:t>    Scene </a:t>
            </a:r>
            <a:r>
              <a:rPr lang="en-US" altLang="en-US" sz="1400" dirty="0" err="1"/>
              <a:t>scene</a:t>
            </a:r>
            <a:r>
              <a:rPr lang="en-US" altLang="en-US" sz="1400" dirty="0"/>
              <a:t> = new Scene(</a:t>
            </a:r>
            <a:r>
              <a:rPr lang="en-US" altLang="en-US" sz="1400" dirty="0" err="1"/>
              <a:t>btOK</a:t>
            </a:r>
            <a:r>
              <a:rPr lang="en-US" altLang="en-US" sz="1400" dirty="0"/>
              <a:t>, 200, 250);</a:t>
            </a:r>
          </a:p>
          <a:p>
            <a:r>
              <a:rPr lang="en-US" altLang="en-US" sz="1400" dirty="0"/>
              <a:t>    </a:t>
            </a:r>
            <a:r>
              <a:rPr lang="en-US" altLang="en-US" sz="1400" dirty="0" err="1"/>
              <a:t>primaryStage.setTitle</a:t>
            </a:r>
            <a:r>
              <a:rPr lang="en-US" altLang="en-US" sz="1400" dirty="0"/>
              <a:t>("</a:t>
            </a:r>
            <a:r>
              <a:rPr lang="en-US" altLang="en-US" sz="1400" dirty="0" err="1"/>
              <a:t>MyJavaFX</a:t>
            </a:r>
            <a:r>
              <a:rPr lang="en-US" altLang="en-US" sz="1400" dirty="0"/>
              <a:t>"); // Set the stage title</a:t>
            </a:r>
          </a:p>
          <a:p>
            <a:r>
              <a:rPr lang="en-US" altLang="en-US" sz="1400" dirty="0"/>
              <a:t>    </a:t>
            </a:r>
            <a:r>
              <a:rPr lang="en-US" altLang="en-US" sz="1400" dirty="0" err="1"/>
              <a:t>primaryStage.setScene</a:t>
            </a:r>
            <a:r>
              <a:rPr lang="en-US" altLang="en-US" sz="1400" dirty="0"/>
              <a:t>(scene); // Place the scene in the stage</a:t>
            </a:r>
          </a:p>
          <a:p>
            <a:r>
              <a:rPr lang="en-US" altLang="en-US" sz="1400" dirty="0"/>
              <a:t>    </a:t>
            </a:r>
            <a:r>
              <a:rPr lang="en-US" altLang="en-US" sz="1400" dirty="0" err="1"/>
              <a:t>primaryStage.show</a:t>
            </a:r>
            <a:r>
              <a:rPr lang="en-US" altLang="en-US" sz="1400" dirty="0"/>
              <a:t>(); // Display the stage</a:t>
            </a:r>
          </a:p>
          <a:p>
            <a:r>
              <a:rPr lang="en-US" altLang="en-US" sz="1400" dirty="0"/>
              <a:t>  }</a:t>
            </a:r>
          </a:p>
          <a:p>
            <a:r>
              <a:rPr lang="en-US" altLang="en-US" sz="1400" dirty="0"/>
              <a:t>  </a:t>
            </a:r>
          </a:p>
          <a:p>
            <a:r>
              <a:rPr lang="en-US" altLang="en-US" sz="1400" dirty="0"/>
              <a:t>  /**</a:t>
            </a:r>
          </a:p>
          <a:p>
            <a:r>
              <a:rPr lang="en-US" altLang="en-US" sz="1400" dirty="0"/>
              <a:t>   * The main method is only needed for the IDE with limited</a:t>
            </a:r>
          </a:p>
          <a:p>
            <a:r>
              <a:rPr lang="en-US" altLang="en-US" sz="1400" dirty="0"/>
              <a:t>   * JavaFX support. Not needed for running from the command line.</a:t>
            </a:r>
          </a:p>
          <a:p>
            <a:r>
              <a:rPr lang="en-US" altLang="en-US" sz="1400" dirty="0"/>
              <a:t>   */</a:t>
            </a:r>
          </a:p>
          <a:p>
            <a:r>
              <a:rPr lang="en-US" altLang="en-US" sz="1400" dirty="0"/>
              <a:t>  public static void main(String[] </a:t>
            </a:r>
            <a:r>
              <a:rPr lang="en-US" altLang="en-US" sz="1400" dirty="0" err="1"/>
              <a:t>args</a:t>
            </a:r>
            <a:r>
              <a:rPr lang="en-US" altLang="en-US" sz="1400" dirty="0"/>
              <a:t>) { </a:t>
            </a:r>
          </a:p>
          <a:p>
            <a:r>
              <a:rPr lang="en-US" altLang="en-US" sz="1400" dirty="0"/>
              <a:t>    launch(</a:t>
            </a:r>
            <a:r>
              <a:rPr lang="en-US" altLang="en-US" sz="1400" dirty="0" err="1"/>
              <a:t>args</a:t>
            </a:r>
            <a:r>
              <a:rPr lang="en-US" altLang="en-US" sz="1400" dirty="0"/>
              <a:t>);</a:t>
            </a:r>
          </a:p>
          <a:p>
            <a:r>
              <a:rPr lang="en-US" altLang="en-US" sz="1400" dirty="0"/>
              <a:t>  }</a:t>
            </a:r>
          </a:p>
          <a:p>
            <a:r>
              <a:rPr lang="en-US" altLang="en-US" sz="1400" dirty="0"/>
              <a:t>}</a:t>
            </a:r>
          </a:p>
        </p:txBody>
      </p:sp>
      <p:pic>
        <p:nvPicPr>
          <p:cNvPr id="9220"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533400"/>
            <a:ext cx="25400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
          <p:cNvSpPr>
            <a:spLocks noChangeArrowheads="1"/>
          </p:cNvSpPr>
          <p:nvPr/>
        </p:nvSpPr>
        <p:spPr bwMode="auto">
          <a:xfrm>
            <a:off x="609600" y="685800"/>
            <a:ext cx="45720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dirty="0"/>
              <a:t>import </a:t>
            </a:r>
            <a:r>
              <a:rPr lang="en-US" altLang="en-US" sz="1200" dirty="0" err="1"/>
              <a:t>javafx.application.Application</a:t>
            </a:r>
            <a:r>
              <a:rPr lang="en-US" altLang="en-US" sz="1200" dirty="0"/>
              <a:t>;</a:t>
            </a:r>
          </a:p>
          <a:p>
            <a:r>
              <a:rPr lang="en-US" altLang="en-US" sz="1200" dirty="0"/>
              <a:t>import </a:t>
            </a:r>
            <a:r>
              <a:rPr lang="en-US" altLang="en-US" sz="1200" dirty="0" err="1"/>
              <a:t>javafx.scene.Scene</a:t>
            </a:r>
            <a:r>
              <a:rPr lang="en-US" altLang="en-US" sz="1200" dirty="0"/>
              <a:t>;</a:t>
            </a:r>
          </a:p>
          <a:p>
            <a:r>
              <a:rPr lang="en-US" altLang="en-US" sz="1200" dirty="0"/>
              <a:t>import </a:t>
            </a:r>
            <a:r>
              <a:rPr lang="en-US" altLang="en-US" sz="1200" dirty="0" err="1"/>
              <a:t>javafx.scene.control.Button</a:t>
            </a:r>
            <a:r>
              <a:rPr lang="en-US" altLang="en-US" sz="1200" dirty="0"/>
              <a:t>;</a:t>
            </a:r>
          </a:p>
          <a:p>
            <a:r>
              <a:rPr lang="en-US" altLang="en-US" sz="1200" dirty="0"/>
              <a:t>import </a:t>
            </a:r>
            <a:r>
              <a:rPr lang="en-US" altLang="en-US" sz="1200" dirty="0" err="1"/>
              <a:t>javafx.stage.Stage</a:t>
            </a:r>
            <a:r>
              <a:rPr lang="en-US" altLang="en-US" sz="1200" dirty="0"/>
              <a:t>;</a:t>
            </a:r>
          </a:p>
          <a:p>
            <a:endParaRPr lang="en-US" altLang="en-US" sz="1200" dirty="0"/>
          </a:p>
          <a:p>
            <a:r>
              <a:rPr lang="en-US" altLang="en-US" sz="1200" dirty="0"/>
              <a:t>public class </a:t>
            </a:r>
            <a:r>
              <a:rPr lang="en-US" altLang="en-US" sz="1200" dirty="0" err="1"/>
              <a:t>MultipleStageDemo</a:t>
            </a:r>
            <a:r>
              <a:rPr lang="en-US" altLang="en-US" sz="1200" dirty="0"/>
              <a:t> extends Application {</a:t>
            </a:r>
          </a:p>
          <a:p>
            <a:r>
              <a:rPr lang="en-US" altLang="en-US" sz="1200" dirty="0"/>
              <a:t>  @Override // Override the start method in the Application class</a:t>
            </a:r>
          </a:p>
          <a:p>
            <a:r>
              <a:rPr lang="en-US" altLang="en-US" sz="1200" dirty="0"/>
              <a:t>  public void start(Stage </a:t>
            </a:r>
            <a:r>
              <a:rPr lang="en-US" altLang="en-US" sz="1200" dirty="0" err="1"/>
              <a:t>primaryStage</a:t>
            </a:r>
            <a:r>
              <a:rPr lang="en-US" altLang="en-US" sz="1200" dirty="0"/>
              <a:t>) {</a:t>
            </a:r>
          </a:p>
          <a:p>
            <a:r>
              <a:rPr lang="en-US" altLang="en-US" sz="1200" dirty="0"/>
              <a:t>    // Create a scene and place a button in the scene</a:t>
            </a:r>
          </a:p>
          <a:p>
            <a:r>
              <a:rPr lang="en-US" altLang="en-US" sz="1200" dirty="0"/>
              <a:t>    Scene </a:t>
            </a:r>
            <a:r>
              <a:rPr lang="en-US" altLang="en-US" sz="1200" dirty="0" err="1"/>
              <a:t>scene</a:t>
            </a:r>
            <a:r>
              <a:rPr lang="en-US" altLang="en-US" sz="1200" dirty="0"/>
              <a:t> = new Scene(new Button("OK"), 200, 250);</a:t>
            </a:r>
          </a:p>
          <a:p>
            <a:r>
              <a:rPr lang="en-US" altLang="en-US" sz="1200" dirty="0"/>
              <a:t>    </a:t>
            </a:r>
            <a:r>
              <a:rPr lang="en-US" altLang="en-US" sz="1200" dirty="0" err="1"/>
              <a:t>primaryStage.setTitle</a:t>
            </a:r>
            <a:r>
              <a:rPr lang="en-US" altLang="en-US" sz="1200" dirty="0"/>
              <a:t>("</a:t>
            </a:r>
            <a:r>
              <a:rPr lang="en-US" altLang="en-US" sz="1200" dirty="0" err="1"/>
              <a:t>MyJavaFX</a:t>
            </a:r>
            <a:r>
              <a:rPr lang="en-US" altLang="en-US" sz="1200" dirty="0"/>
              <a:t>"); // Set the stage title</a:t>
            </a:r>
          </a:p>
          <a:p>
            <a:r>
              <a:rPr lang="en-US" altLang="en-US" sz="1200" dirty="0"/>
              <a:t>    </a:t>
            </a:r>
            <a:r>
              <a:rPr lang="en-US" altLang="en-US" sz="1200" dirty="0" err="1"/>
              <a:t>primaryStage.setScene</a:t>
            </a:r>
            <a:r>
              <a:rPr lang="en-US" altLang="en-US" sz="1200" dirty="0"/>
              <a:t>(scene); // Place the scene in the stage</a:t>
            </a:r>
          </a:p>
          <a:p>
            <a:r>
              <a:rPr lang="en-US" altLang="en-US" sz="1200" dirty="0"/>
              <a:t>    </a:t>
            </a:r>
            <a:r>
              <a:rPr lang="en-US" altLang="en-US" sz="1200" dirty="0" err="1"/>
              <a:t>primaryStage.show</a:t>
            </a:r>
            <a:r>
              <a:rPr lang="en-US" altLang="en-US" sz="1200" dirty="0"/>
              <a:t>(); // Display the stage</a:t>
            </a:r>
          </a:p>
          <a:p>
            <a:endParaRPr lang="en-US" altLang="en-US" sz="1200" dirty="0"/>
          </a:p>
          <a:p>
            <a:r>
              <a:rPr lang="en-US" altLang="en-US" sz="1200" dirty="0"/>
              <a:t>    Stage </a:t>
            </a:r>
            <a:r>
              <a:rPr lang="en-US" altLang="en-US" sz="1200" dirty="0" err="1"/>
              <a:t>stage</a:t>
            </a:r>
            <a:r>
              <a:rPr lang="en-US" altLang="en-US" sz="1200" dirty="0"/>
              <a:t> = new Stage(); // Create a new stage</a:t>
            </a:r>
          </a:p>
          <a:p>
            <a:r>
              <a:rPr lang="en-US" altLang="en-US" sz="1200" dirty="0"/>
              <a:t>    </a:t>
            </a:r>
            <a:r>
              <a:rPr lang="en-US" altLang="en-US" sz="1200" dirty="0" err="1"/>
              <a:t>stage.setTitle</a:t>
            </a:r>
            <a:r>
              <a:rPr lang="en-US" altLang="en-US" sz="1200" dirty="0"/>
              <a:t>("Second Stage"); // Set the stage title</a:t>
            </a:r>
          </a:p>
          <a:p>
            <a:r>
              <a:rPr lang="en-US" altLang="en-US" sz="1200" dirty="0"/>
              <a:t>    // Set a scene with a button in the stage</a:t>
            </a:r>
          </a:p>
          <a:p>
            <a:r>
              <a:rPr lang="en-US" altLang="en-US" sz="1200" dirty="0"/>
              <a:t>    </a:t>
            </a:r>
            <a:r>
              <a:rPr lang="en-US" altLang="en-US" sz="1200" dirty="0" err="1"/>
              <a:t>stage.setScene</a:t>
            </a:r>
            <a:r>
              <a:rPr lang="en-US" altLang="en-US" sz="1200" dirty="0"/>
              <a:t>(new Scene(new Button("New Stage"), 100, 100));        </a:t>
            </a:r>
          </a:p>
          <a:p>
            <a:r>
              <a:rPr lang="en-US" altLang="en-US" sz="1200" dirty="0"/>
              <a:t>    </a:t>
            </a:r>
            <a:r>
              <a:rPr lang="en-US" altLang="en-US" sz="1200" dirty="0" err="1"/>
              <a:t>stage.show</a:t>
            </a:r>
            <a:r>
              <a:rPr lang="en-US" altLang="en-US" sz="1200" dirty="0"/>
              <a:t>(); // Display the stage</a:t>
            </a:r>
          </a:p>
          <a:p>
            <a:r>
              <a:rPr lang="en-US" altLang="en-US" sz="1200" dirty="0"/>
              <a:t>  }</a:t>
            </a:r>
          </a:p>
          <a:p>
            <a:r>
              <a:rPr lang="en-US" altLang="en-US" sz="1200" dirty="0"/>
              <a:t>  </a:t>
            </a:r>
          </a:p>
          <a:p>
            <a:r>
              <a:rPr lang="en-US" altLang="en-US" sz="1200" dirty="0"/>
              <a:t>  /**</a:t>
            </a:r>
          </a:p>
          <a:p>
            <a:r>
              <a:rPr lang="en-US" altLang="en-US" sz="1200" dirty="0"/>
              <a:t>   * The main method is only needed for the IDE with limited</a:t>
            </a:r>
          </a:p>
          <a:p>
            <a:r>
              <a:rPr lang="en-US" altLang="en-US" sz="1200" dirty="0"/>
              <a:t>   * JavaFX support. Not needed for running from the command line.</a:t>
            </a:r>
          </a:p>
          <a:p>
            <a:r>
              <a:rPr lang="en-US" altLang="en-US" sz="1200" dirty="0"/>
              <a:t>   */</a:t>
            </a:r>
          </a:p>
          <a:p>
            <a:r>
              <a:rPr lang="en-US" altLang="en-US" sz="1200" dirty="0"/>
              <a:t>  public static void main(String[] </a:t>
            </a:r>
            <a:r>
              <a:rPr lang="en-US" altLang="en-US" sz="1200" dirty="0" err="1"/>
              <a:t>args</a:t>
            </a:r>
            <a:r>
              <a:rPr lang="en-US" altLang="en-US" sz="1200" dirty="0"/>
              <a:t>) {</a:t>
            </a:r>
          </a:p>
          <a:p>
            <a:r>
              <a:rPr lang="is-IS" altLang="en-US" sz="1200" dirty="0"/>
              <a:t>    launch(args);</a:t>
            </a:r>
          </a:p>
          <a:p>
            <a:r>
              <a:rPr lang="is-IS" altLang="en-US" sz="1200" dirty="0"/>
              <a:t>  }</a:t>
            </a:r>
          </a:p>
          <a:p>
            <a:r>
              <a:rPr lang="is-IS" altLang="en-US" sz="1200" dirty="0"/>
              <a:t>}</a:t>
            </a:r>
            <a:endParaRPr lang="en-US" altLang="en-US" sz="1200" dirty="0"/>
          </a:p>
        </p:txBody>
      </p:sp>
      <p:pic>
        <p:nvPicPr>
          <p:cNvPr id="10244"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0" y="304800"/>
            <a:ext cx="25400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2514600"/>
            <a:ext cx="1270000"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85800" y="0"/>
            <a:ext cx="7772400" cy="838200"/>
          </a:xfrm>
        </p:spPr>
        <p:txBody>
          <a:bodyPr/>
          <a:lstStyle/>
          <a:p>
            <a:r>
              <a:rPr lang="en-US" altLang="en-US" sz="4400" b="1" dirty="0">
                <a:solidFill>
                  <a:schemeClr val="tx1"/>
                </a:solidFill>
                <a:latin typeface="Times New Roman" panose="02020603050405020304" pitchFamily="18" charset="0"/>
                <a:cs typeface="Times New Roman" panose="02020603050405020304" pitchFamily="18" charset="0"/>
              </a:rPr>
              <a:t>Panes, UI Controls, and Shapes</a:t>
            </a:r>
          </a:p>
        </p:txBody>
      </p:sp>
      <p:sp>
        <p:nvSpPr>
          <p:cNvPr id="2" name="Rectangle 6"/>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3" name="Rectangle 2"/>
          <p:cNvSpPr>
            <a:spLocks noChangeArrowheads="1"/>
          </p:cNvSpPr>
          <p:nvPr/>
        </p:nvSpPr>
        <p:spPr bwMode="auto">
          <a:xfrm>
            <a:off x="0" y="0"/>
            <a:ext cx="9144000" cy="4572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5" name="Rectangle 3"/>
          <p:cNvSpPr>
            <a:spLocks noChangeArrowheads="1"/>
          </p:cNvSpPr>
          <p:nvPr/>
        </p:nvSpPr>
        <p:spPr bwMode="auto">
          <a:xfrm>
            <a:off x="0" y="3336925"/>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7" name="Rectangle 5"/>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9" name="Rectangle 15"/>
          <p:cNvSpPr>
            <a:spLocks noChangeArrowheads="1"/>
          </p:cNvSpPr>
          <p:nvPr/>
        </p:nvSpPr>
        <p:spPr bwMode="auto">
          <a:xfrm>
            <a:off x="152400" y="3489325"/>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sp>
        <p:nvSpPr>
          <p:cNvPr id="10" name="Rectangle 19"/>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endParaRPr lang="en-US" altLang="en-US"/>
          </a:p>
        </p:txBody>
      </p:sp>
      <p:pic>
        <p:nvPicPr>
          <p:cNvPr id="11274" name="Picture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987425"/>
            <a:ext cx="8485188" cy="4770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1275" name="Rectangle 13">
            <a:hlinkClick r:id="rId3"/>
          </p:cNvPr>
          <p:cNvSpPr>
            <a:spLocks noChangeArrowheads="1"/>
          </p:cNvSpPr>
          <p:nvPr/>
        </p:nvSpPr>
        <p:spPr bwMode="auto">
          <a:xfrm>
            <a:off x="5183188" y="5867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ButtonInPane</a:t>
            </a:r>
          </a:p>
        </p:txBody>
      </p:sp>
      <p:sp>
        <p:nvSpPr>
          <p:cNvPr id="11276" name="AutoShape 10">
            <a:hlinkClick r:id="rId4" action="ppaction://program" highlightClick="1"/>
          </p:cNvPr>
          <p:cNvSpPr>
            <a:spLocks noChangeArrowheads="1"/>
          </p:cNvSpPr>
          <p:nvPr/>
        </p:nvSpPr>
        <p:spPr bwMode="auto">
          <a:xfrm>
            <a:off x="7607300" y="5867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extLst>
      <p:ext uri="{BB962C8B-B14F-4D97-AF65-F5344CB8AC3E}">
        <p14:creationId xmlns:p14="http://schemas.microsoft.com/office/powerpoint/2010/main" val="1375879038"/>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ChangeArrowheads="1"/>
          </p:cNvSpPr>
          <p:nvPr/>
        </p:nvSpPr>
        <p:spPr bwMode="auto">
          <a:xfrm>
            <a:off x="381000" y="33338"/>
            <a:ext cx="5105400" cy="591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javafx.scene.Scene;</a:t>
            </a:r>
          </a:p>
          <a:p>
            <a:r>
              <a:rPr lang="en-US" altLang="en-US" sz="1400"/>
              <a:t>import javafx.scene.control.Button;</a:t>
            </a:r>
          </a:p>
          <a:p>
            <a:r>
              <a:rPr lang="en-US" altLang="en-US" sz="1400"/>
              <a:t>import javafx.scene.layout.StackPane;</a:t>
            </a:r>
          </a:p>
          <a:p>
            <a:r>
              <a:rPr lang="en-US" altLang="en-US" sz="1400"/>
              <a:t>import javafx.stage.Stage;</a:t>
            </a:r>
          </a:p>
          <a:p>
            <a:endParaRPr lang="en-US" altLang="en-US" sz="1400"/>
          </a:p>
          <a:p>
            <a:r>
              <a:rPr lang="en-US" altLang="en-US" sz="1400"/>
              <a:t>public class ButtonInPane extends Application {</a:t>
            </a:r>
          </a:p>
          <a:p>
            <a:r>
              <a:rPr lang="en-US" altLang="en-US" sz="1400"/>
              <a:t>  @Override // Override the start method in the Application class</a:t>
            </a:r>
          </a:p>
          <a:p>
            <a:r>
              <a:rPr lang="en-US" altLang="en-US" sz="1400"/>
              <a:t>  public void start(Stage primaryStage) {</a:t>
            </a:r>
          </a:p>
          <a:p>
            <a:r>
              <a:rPr lang="en-US" altLang="en-US" sz="1400"/>
              <a:t>    // Create a scene and place a button in the scene</a:t>
            </a:r>
          </a:p>
          <a:p>
            <a:r>
              <a:rPr lang="en-US" altLang="en-US" sz="1400"/>
              <a:t>    StackPane pane = new StackPane();</a:t>
            </a:r>
          </a:p>
          <a:p>
            <a:r>
              <a:rPr lang="en-US" altLang="en-US" sz="1400"/>
              <a:t>    pane.getChildren().add(new Button("OK"));    </a:t>
            </a:r>
          </a:p>
          <a:p>
            <a:r>
              <a:rPr lang="en-US" altLang="en-US" sz="1400"/>
              <a:t>    Scene scene = new Scene(pane, 200, 50);</a:t>
            </a:r>
          </a:p>
          <a:p>
            <a:r>
              <a:rPr lang="en-US" altLang="en-US" sz="1400"/>
              <a:t>    primaryStage.setTitle("Button in a pane"); // Set the stage title</a:t>
            </a:r>
          </a:p>
          <a:p>
            <a:r>
              <a:rPr lang="en-US" altLang="en-US" sz="1400"/>
              <a:t>    primaryStage.setScene(scene); // Place the scene in the stage</a:t>
            </a:r>
          </a:p>
          <a:p>
            <a:r>
              <a:rPr lang="en-US" altLang="en-US" sz="1400"/>
              <a:t>    primaryStage.show(); // Display the stage</a:t>
            </a:r>
          </a:p>
          <a:p>
            <a:r>
              <a:rPr lang="en-US" altLang="en-US" sz="1400"/>
              <a:t>  }</a:t>
            </a:r>
          </a:p>
          <a:p>
            <a:r>
              <a:rPr lang="en-US" altLang="en-US" sz="1400"/>
              <a:t>  </a:t>
            </a:r>
          </a:p>
          <a:p>
            <a:r>
              <a:rPr lang="en-US" altLang="en-US" sz="1400"/>
              <a:t>  /**</a:t>
            </a:r>
          </a:p>
          <a:p>
            <a:r>
              <a:rPr lang="en-US" altLang="en-US" sz="1400"/>
              <a:t>   * The main method is only needed for the IDE with limited</a:t>
            </a:r>
          </a:p>
          <a:p>
            <a:r>
              <a:rPr lang="en-US" altLang="en-US" sz="1400"/>
              <a:t>   * JavaFX support. Not needed for running from the command line.</a:t>
            </a:r>
          </a:p>
          <a:p>
            <a:r>
              <a:rPr lang="en-US" altLang="en-US" sz="1400"/>
              <a:t>   */</a:t>
            </a:r>
          </a:p>
          <a:p>
            <a:r>
              <a:rPr lang="en-US" altLang="en-US" sz="1400"/>
              <a:t>  public static void main(String[] args) {</a:t>
            </a:r>
          </a:p>
          <a:p>
            <a:r>
              <a:rPr lang="en-US" altLang="en-US" sz="1400"/>
              <a:t>    launch(args);</a:t>
            </a:r>
          </a:p>
          <a:p>
            <a:r>
              <a:rPr lang="en-US" altLang="en-US" sz="1400"/>
              <a:t>  }</a:t>
            </a:r>
          </a:p>
          <a:p>
            <a:r>
              <a:rPr lang="en-US" altLang="en-US" sz="1400"/>
              <a:t>}</a:t>
            </a:r>
          </a:p>
        </p:txBody>
      </p:sp>
      <p:pic>
        <p:nvPicPr>
          <p:cNvPr id="12292"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685800"/>
            <a:ext cx="2540000" cy="914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229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60416" t="30061" r="22168" b="59872"/>
          <a:stretch>
            <a:fillRect/>
          </a:stretch>
        </p:blipFill>
        <p:spPr bwMode="auto">
          <a:xfrm>
            <a:off x="5867400" y="2125663"/>
            <a:ext cx="2654300" cy="86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85800" y="152400"/>
            <a:ext cx="7772400" cy="1295400"/>
          </a:xfrm>
        </p:spPr>
        <p:txBody>
          <a:bodyPr/>
          <a:lstStyle/>
          <a:p>
            <a:pPr algn="ctr"/>
            <a:r>
              <a:rPr lang="en-US" altLang="en-US" sz="4400" b="1" dirty="0">
                <a:solidFill>
                  <a:schemeClr val="tx1"/>
                </a:solidFill>
                <a:latin typeface="Times New Roman" panose="02020603050405020304" pitchFamily="18" charset="0"/>
                <a:cs typeface="Times New Roman" panose="02020603050405020304" pitchFamily="18" charset="0"/>
              </a:rPr>
              <a:t>Common Properties and Methods for Nodes </a:t>
            </a:r>
          </a:p>
        </p:txBody>
      </p:sp>
      <p:sp>
        <p:nvSpPr>
          <p:cNvPr id="16388" name="Rectangle 3"/>
          <p:cNvSpPr>
            <a:spLocks noGrp="1" noChangeArrowheads="1"/>
          </p:cNvSpPr>
          <p:nvPr>
            <p:ph type="body" idx="1"/>
          </p:nvPr>
        </p:nvSpPr>
        <p:spPr>
          <a:xfrm>
            <a:off x="685800" y="1828800"/>
            <a:ext cx="7772400" cy="1524000"/>
          </a:xfrm>
        </p:spPr>
        <p:txBody>
          <a:bodyPr/>
          <a:lstStyle/>
          <a:p>
            <a:pPr>
              <a:buFont typeface="Wingdings" pitchFamily="2" charset="2"/>
              <a:buChar char="§"/>
            </a:pPr>
            <a:r>
              <a:rPr lang="en-US" altLang="en-US" sz="3600" dirty="0">
                <a:latin typeface="Times New Roman" panose="02020603050405020304" pitchFamily="18" charset="0"/>
                <a:cs typeface="Times New Roman" panose="02020603050405020304" pitchFamily="18" charset="0"/>
              </a:rPr>
              <a:t>style: set a JavaFX CSS style</a:t>
            </a:r>
          </a:p>
          <a:p>
            <a:pPr>
              <a:spcBef>
                <a:spcPct val="100000"/>
              </a:spcBef>
              <a:buFont typeface="Wingdings" pitchFamily="2" charset="2"/>
              <a:buChar char="§"/>
            </a:pPr>
            <a:r>
              <a:rPr lang="en-US" altLang="en-US" sz="3600" dirty="0">
                <a:latin typeface="Times New Roman" panose="02020603050405020304" pitchFamily="18" charset="0"/>
                <a:cs typeface="Times New Roman" panose="02020603050405020304" pitchFamily="18" charset="0"/>
              </a:rPr>
              <a:t>rotate: Rotate a node</a:t>
            </a:r>
          </a:p>
        </p:txBody>
      </p:sp>
      <p:sp>
        <p:nvSpPr>
          <p:cNvPr id="16389" name="Rectangle 7">
            <a:hlinkClick r:id="rId2"/>
          </p:cNvPr>
          <p:cNvSpPr>
            <a:spLocks noChangeArrowheads="1"/>
          </p:cNvSpPr>
          <p:nvPr/>
        </p:nvSpPr>
        <p:spPr bwMode="auto">
          <a:xfrm>
            <a:off x="4953000" y="5562600"/>
            <a:ext cx="263048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NodeStyleRotateDemo</a:t>
            </a:r>
          </a:p>
        </p:txBody>
      </p:sp>
      <p:sp>
        <p:nvSpPr>
          <p:cNvPr id="16390" name="AutoShape 10">
            <a:hlinkClick r:id="rId3" action="ppaction://program" highlightClick="1"/>
          </p:cNvPr>
          <p:cNvSpPr>
            <a:spLocks noChangeArrowheads="1"/>
          </p:cNvSpPr>
          <p:nvPr/>
        </p:nvSpPr>
        <p:spPr bwMode="auto">
          <a:xfrm>
            <a:off x="7683500" y="55626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extLst>
      <p:ext uri="{BB962C8B-B14F-4D97-AF65-F5344CB8AC3E}">
        <p14:creationId xmlns:p14="http://schemas.microsoft.com/office/powerpoint/2010/main" val="859881431"/>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228600" y="0"/>
            <a:ext cx="6705600" cy="649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600"/>
              <a:t>import javafx.application.Application;</a:t>
            </a:r>
          </a:p>
          <a:p>
            <a:r>
              <a:rPr lang="en-US" altLang="en-US" sz="1600"/>
              <a:t>import javafx.scene.Scene;</a:t>
            </a:r>
          </a:p>
          <a:p>
            <a:r>
              <a:rPr lang="en-US" altLang="en-US" sz="1600"/>
              <a:t>import javafx.scene.control.Button;</a:t>
            </a:r>
          </a:p>
          <a:p>
            <a:r>
              <a:rPr lang="en-US" altLang="en-US" sz="1600"/>
              <a:t>import javafx.stage.Stage;</a:t>
            </a:r>
          </a:p>
          <a:p>
            <a:r>
              <a:rPr lang="en-US" altLang="en-US" sz="1600"/>
              <a:t>import javafx.scene.layout.StackPane;</a:t>
            </a:r>
          </a:p>
          <a:p>
            <a:endParaRPr lang="en-US" altLang="en-US" sz="1600"/>
          </a:p>
          <a:p>
            <a:r>
              <a:rPr lang="en-US" altLang="en-US" sz="1600"/>
              <a:t>public class NodeStyleRotateDemo extends Application {</a:t>
            </a:r>
          </a:p>
          <a:p>
            <a:r>
              <a:rPr lang="en-US" altLang="en-US" sz="1600"/>
              <a:t>  @Override // Override the start method in the Application class</a:t>
            </a:r>
          </a:p>
          <a:p>
            <a:r>
              <a:rPr lang="en-US" altLang="en-US" sz="1600"/>
              <a:t>  public void start(Stage primaryStage) {</a:t>
            </a:r>
          </a:p>
          <a:p>
            <a:r>
              <a:rPr lang="en-US" altLang="en-US" sz="1600"/>
              <a:t>    // Create a scene and place a button in the scene</a:t>
            </a:r>
          </a:p>
          <a:p>
            <a:r>
              <a:rPr lang="en-US" altLang="en-US" sz="1600"/>
              <a:t>    StackPane pane = new StackPane();</a:t>
            </a:r>
          </a:p>
          <a:p>
            <a:r>
              <a:rPr lang="en-US" altLang="en-US" sz="1600"/>
              <a:t>    Button btOK = new Button("OK");</a:t>
            </a:r>
          </a:p>
          <a:p>
            <a:r>
              <a:rPr lang="en-US" altLang="en-US" sz="1600"/>
              <a:t>    btOK.setStyle("-fx-border-color: blue;");</a:t>
            </a:r>
          </a:p>
          <a:p>
            <a:r>
              <a:rPr lang="en-US" altLang="en-US" sz="1600"/>
              <a:t>    pane.getChildren().add(btOK);    </a:t>
            </a:r>
          </a:p>
          <a:p>
            <a:r>
              <a:rPr lang="en-US" altLang="en-US" sz="1600"/>
              <a:t>    </a:t>
            </a:r>
          </a:p>
          <a:p>
            <a:r>
              <a:rPr lang="en-US" altLang="en-US" sz="1600"/>
              <a:t>    pane.setRotate(45);</a:t>
            </a:r>
          </a:p>
          <a:p>
            <a:r>
              <a:rPr lang="en-US" altLang="en-US" sz="1600"/>
              <a:t>    pane.setStyle(</a:t>
            </a:r>
          </a:p>
          <a:p>
            <a:r>
              <a:rPr lang="en-US" altLang="en-US" sz="1600"/>
              <a:t>      "-fx-border-color: red; -fx-background-color: lightgray;");</a:t>
            </a:r>
          </a:p>
          <a:p>
            <a:r>
              <a:rPr lang="en-US" altLang="en-US" sz="1600"/>
              <a:t>    </a:t>
            </a:r>
          </a:p>
          <a:p>
            <a:r>
              <a:rPr lang="en-US" altLang="en-US" sz="1600"/>
              <a:t>    Scene scene = new Scene(pane, 200, 250);</a:t>
            </a:r>
          </a:p>
          <a:p>
            <a:r>
              <a:rPr lang="en-US" altLang="en-US" sz="1600"/>
              <a:t>    primaryStage.setTitle("NodeStyleRotateDemo"); // Set the stage title</a:t>
            </a:r>
          </a:p>
          <a:p>
            <a:r>
              <a:rPr lang="en-US" altLang="en-US" sz="1600"/>
              <a:t>    primaryStage.setScene(scene); // Place the scene in the stage</a:t>
            </a:r>
          </a:p>
          <a:p>
            <a:r>
              <a:rPr lang="en-US" altLang="en-US" sz="1600"/>
              <a:t>    primaryStage.show(); // Display the stage</a:t>
            </a:r>
          </a:p>
          <a:p>
            <a:r>
              <a:rPr lang="en-US" altLang="en-US" sz="1600"/>
              <a:t>  }</a:t>
            </a:r>
          </a:p>
          <a:p>
            <a:r>
              <a:rPr lang="en-US" altLang="en-US" sz="1600"/>
              <a:t>  </a:t>
            </a:r>
          </a:p>
          <a:p>
            <a:r>
              <a:rPr lang="en-US" altLang="en-US" sz="1600"/>
              <a:t> </a:t>
            </a:r>
          </a:p>
        </p:txBody>
      </p:sp>
      <p:pic>
        <p:nvPicPr>
          <p:cNvPr id="21508"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2895600"/>
            <a:ext cx="25400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4"/>
          <p:cNvSpPr>
            <a:spLocks noChangeArrowheads="1"/>
          </p:cNvSpPr>
          <p:nvPr/>
        </p:nvSpPr>
        <p:spPr bwMode="auto">
          <a:xfrm>
            <a:off x="5181600" y="0"/>
            <a:ext cx="4572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 /**</a:t>
            </a:r>
          </a:p>
          <a:p>
            <a:r>
              <a:rPr lang="en-US" altLang="en-US" sz="1400"/>
              <a:t>   * The main method is only needed for the IDE with limited</a:t>
            </a:r>
          </a:p>
          <a:p>
            <a:r>
              <a:rPr lang="en-US" altLang="en-US" sz="1400"/>
              <a:t>   * JavaFX support. Not needed for running from the command line.</a:t>
            </a:r>
          </a:p>
          <a:p>
            <a:r>
              <a:rPr lang="en-US" altLang="en-US" sz="1400"/>
              <a:t>   */</a:t>
            </a:r>
          </a:p>
          <a:p>
            <a:r>
              <a:rPr lang="en-US" altLang="en-US" sz="1400"/>
              <a:t>  public static void main(String[] args) {</a:t>
            </a:r>
          </a:p>
          <a:p>
            <a:r>
              <a:rPr lang="en-US" altLang="en-US" sz="1400"/>
              <a:t>    launch(args);</a:t>
            </a:r>
          </a:p>
          <a:p>
            <a:r>
              <a:rPr lang="en-US" altLang="en-US" sz="1400"/>
              <a:t>  }</a:t>
            </a:r>
          </a:p>
          <a:p>
            <a:r>
              <a:rPr lang="en-US" altLang="en-US" sz="1400"/>
              <a:t>}</a:t>
            </a: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685800" y="152400"/>
            <a:ext cx="7772400" cy="8382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The Color Class</a:t>
            </a:r>
          </a:p>
        </p:txBody>
      </p:sp>
      <p:sp>
        <p:nvSpPr>
          <p:cNvPr id="22532"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2533"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2534"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143000"/>
            <a:ext cx="8839200" cy="474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85800" y="228600"/>
            <a:ext cx="7772400" cy="7620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The Font Class</a:t>
            </a:r>
          </a:p>
        </p:txBody>
      </p:sp>
      <p:sp>
        <p:nvSpPr>
          <p:cNvPr id="23559"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3560"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3561"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3562"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3563"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450" y="1066800"/>
            <a:ext cx="8801100" cy="4479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2" name="Rectangle 11">
            <a:hlinkClick r:id="rId3"/>
          </p:cNvPr>
          <p:cNvSpPr>
            <a:spLocks noChangeArrowheads="1"/>
          </p:cNvSpPr>
          <p:nvPr/>
        </p:nvSpPr>
        <p:spPr bwMode="auto">
          <a:xfrm>
            <a:off x="5334000" y="5791200"/>
            <a:ext cx="23225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FontDemo</a:t>
            </a:r>
            <a:endParaRPr lang="en-US" altLang="en-US" sz="2000" dirty="0"/>
          </a:p>
        </p:txBody>
      </p:sp>
      <p:sp>
        <p:nvSpPr>
          <p:cNvPr id="13" name="AutoShape 10">
            <a:hlinkClick r:id="rId4" action="ppaction://program" highlightClick="1"/>
          </p:cNvPr>
          <p:cNvSpPr>
            <a:spLocks noChangeArrowheads="1"/>
          </p:cNvSpPr>
          <p:nvPr/>
        </p:nvSpPr>
        <p:spPr bwMode="auto">
          <a:xfrm>
            <a:off x="7758113" y="57912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ChangeArrowheads="1"/>
          </p:cNvSpPr>
          <p:nvPr/>
        </p:nvSpPr>
        <p:spPr bwMode="auto">
          <a:xfrm>
            <a:off x="-76200" y="76200"/>
            <a:ext cx="5257800" cy="634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javafx.scene.Scene;</a:t>
            </a:r>
          </a:p>
          <a:p>
            <a:r>
              <a:rPr lang="en-US" altLang="en-US" sz="1400"/>
              <a:t>import javafx.scene.layout.*;</a:t>
            </a:r>
          </a:p>
          <a:p>
            <a:r>
              <a:rPr lang="en-US" altLang="en-US" sz="1400"/>
              <a:t>import javafx.scene.paint.Color;</a:t>
            </a:r>
          </a:p>
          <a:p>
            <a:r>
              <a:rPr lang="en-US" altLang="en-US" sz="1400"/>
              <a:t>import javafx.scene.shape.Circle;</a:t>
            </a:r>
          </a:p>
          <a:p>
            <a:r>
              <a:rPr lang="en-US" altLang="en-US" sz="1400"/>
              <a:t>import javafx.scene.text.*;</a:t>
            </a:r>
          </a:p>
          <a:p>
            <a:r>
              <a:rPr lang="en-US" altLang="en-US" sz="1400"/>
              <a:t>import javafx.scene.control.*;</a:t>
            </a:r>
          </a:p>
          <a:p>
            <a:r>
              <a:rPr lang="en-US" altLang="en-US" sz="1400"/>
              <a:t>import javafx.stage.Stage;</a:t>
            </a:r>
          </a:p>
          <a:p>
            <a:endParaRPr lang="en-US" altLang="en-US" sz="1400"/>
          </a:p>
          <a:p>
            <a:r>
              <a:rPr lang="en-US" altLang="en-US" sz="1400"/>
              <a:t>public class FontDemo extends Application {</a:t>
            </a:r>
          </a:p>
          <a:p>
            <a:r>
              <a:rPr lang="en-US" altLang="en-US" sz="1400"/>
              <a:t>  @Override </a:t>
            </a:r>
          </a:p>
          <a:p>
            <a:r>
              <a:rPr lang="en-US" altLang="en-US" sz="1400"/>
              <a:t>  // Override the start method in the Application class</a:t>
            </a:r>
          </a:p>
          <a:p>
            <a:r>
              <a:rPr lang="en-US" altLang="en-US" sz="1400"/>
              <a:t>  public void start(Stage primaryStage) {    </a:t>
            </a:r>
          </a:p>
          <a:p>
            <a:r>
              <a:rPr lang="en-US" altLang="en-US" sz="1400"/>
              <a:t>    // Create a pane to hold the circle </a:t>
            </a:r>
          </a:p>
          <a:p>
            <a:r>
              <a:rPr lang="en-US" altLang="en-US" sz="1400"/>
              <a:t>    Pane pane = new StackPane();</a:t>
            </a:r>
          </a:p>
          <a:p>
            <a:r>
              <a:rPr lang="en-US" altLang="en-US" sz="1400"/>
              <a:t>    </a:t>
            </a:r>
          </a:p>
          <a:p>
            <a:r>
              <a:rPr lang="en-US" altLang="en-US" sz="1400"/>
              <a:t>    // Create a circle and set its properties</a:t>
            </a:r>
          </a:p>
          <a:p>
            <a:r>
              <a:rPr lang="en-US" altLang="en-US" sz="1400"/>
              <a:t>    Circle circle = new Circle();</a:t>
            </a:r>
          </a:p>
          <a:p>
            <a:r>
              <a:rPr lang="en-US" altLang="en-US" sz="1400"/>
              <a:t>    circle.setRadius(50);</a:t>
            </a:r>
          </a:p>
          <a:p>
            <a:r>
              <a:rPr lang="en-US" altLang="en-US" sz="1400"/>
              <a:t>    circle.setStroke(Color.BLACK); </a:t>
            </a:r>
          </a:p>
          <a:p>
            <a:r>
              <a:rPr lang="en-US" altLang="en-US" sz="1400"/>
              <a:t>    circle.setFill(new Color(0.5, 0.5, 0.5, 0.1));</a:t>
            </a:r>
          </a:p>
          <a:p>
            <a:r>
              <a:rPr lang="en-US" altLang="en-US" sz="1400"/>
              <a:t>    pane.getChildren().add(circle); // Add circle to the pane</a:t>
            </a:r>
          </a:p>
          <a:p>
            <a:endParaRPr lang="en-US" altLang="en-US" sz="1400"/>
          </a:p>
          <a:p>
            <a:r>
              <a:rPr lang="en-US" altLang="en-US" sz="1400"/>
              <a:t>    // Create a label and set its properties</a:t>
            </a:r>
          </a:p>
          <a:p>
            <a:r>
              <a:rPr lang="en-US" altLang="en-US" sz="1400"/>
              <a:t>    Label label = new Label("JavaFX");</a:t>
            </a:r>
          </a:p>
          <a:p>
            <a:r>
              <a:rPr lang="en-US" altLang="en-US" sz="1400"/>
              <a:t>    label.setFont(Font.font("Times New Roman", </a:t>
            </a:r>
          </a:p>
          <a:p>
            <a:r>
              <a:rPr lang="en-US" altLang="en-US" sz="1400"/>
              <a:t>      FontWeight.BOLD, FontPosture.ITALIC, 20));</a:t>
            </a:r>
          </a:p>
          <a:p>
            <a:r>
              <a:rPr lang="en-US" altLang="en-US" sz="1400"/>
              <a:t>    pane.getChildren().add(label);</a:t>
            </a:r>
          </a:p>
          <a:p>
            <a:endParaRPr lang="en-US" altLang="en-US" sz="1400"/>
          </a:p>
        </p:txBody>
      </p:sp>
      <p:sp>
        <p:nvSpPr>
          <p:cNvPr id="4" name="Rectangle 3"/>
          <p:cNvSpPr/>
          <p:nvPr/>
        </p:nvSpPr>
        <p:spPr>
          <a:xfrm>
            <a:off x="4024313" y="0"/>
            <a:ext cx="5154612" cy="3324225"/>
          </a:xfrm>
          <a:prstGeom prst="rect">
            <a:avLst/>
          </a:prstGeom>
          <a:ln>
            <a:solidFill>
              <a:schemeClr val="bg1">
                <a:lumMod val="75000"/>
              </a:schemeClr>
            </a:solidFill>
          </a:ln>
        </p:spPr>
        <p:txBody>
          <a:bodyPr>
            <a:spAutoFit/>
          </a:bodyPr>
          <a:lstStyle/>
          <a:p>
            <a:pPr>
              <a:defRPr/>
            </a:pPr>
            <a:r>
              <a:rPr lang="en-US" sz="1400" dirty="0">
                <a:latin typeface="Times New Roman" charset="0"/>
                <a:ea typeface="ＭＳ Ｐゴシック" charset="0"/>
                <a:cs typeface="ＭＳ Ｐゴシック" charset="0"/>
              </a:rPr>
              <a:t> // Create a scene and place it in the stage</a:t>
            </a:r>
          </a:p>
          <a:p>
            <a:pPr>
              <a:defRPr/>
            </a:pPr>
            <a:r>
              <a:rPr lang="en-US" sz="1400" dirty="0">
                <a:latin typeface="Times New Roman" charset="0"/>
                <a:ea typeface="ＭＳ Ｐゴシック" charset="0"/>
                <a:cs typeface="ＭＳ Ｐゴシック" charset="0"/>
              </a:rPr>
              <a:t>    Scene scene = new Scene(pane);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primaryStage.setTitle</a:t>
            </a:r>
            <a:r>
              <a:rPr lang="en-US" sz="1400" dirty="0">
                <a:latin typeface="Times New Roman" charset="0"/>
                <a:ea typeface="ＭＳ Ｐゴシック" charset="0"/>
                <a:cs typeface="ＭＳ Ｐゴシック" charset="0"/>
              </a:rPr>
              <a:t>("</a:t>
            </a:r>
            <a:r>
              <a:rPr lang="en-US" sz="1400" dirty="0" err="1">
                <a:latin typeface="Times New Roman" charset="0"/>
                <a:ea typeface="ＭＳ Ｐゴシック" charset="0"/>
                <a:cs typeface="ＭＳ Ｐゴシック" charset="0"/>
              </a:rPr>
              <a:t>FontDemo</a:t>
            </a:r>
            <a:r>
              <a:rPr lang="en-US" sz="1400" dirty="0">
                <a:latin typeface="Times New Roman" charset="0"/>
                <a:ea typeface="ＭＳ Ｐゴシック" charset="0"/>
                <a:cs typeface="ＭＳ Ｐゴシック" charset="0"/>
              </a:rPr>
              <a:t>"); // Set the stage title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primaryStage.setScene</a:t>
            </a:r>
            <a:r>
              <a:rPr lang="en-US" sz="1400" dirty="0">
                <a:latin typeface="Times New Roman" charset="0"/>
                <a:ea typeface="ＭＳ Ｐゴシック" charset="0"/>
                <a:cs typeface="ＭＳ Ｐゴシック" charset="0"/>
              </a:rPr>
              <a:t>(scene); // Place the scene in the stage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primaryStage.show</a:t>
            </a:r>
            <a:r>
              <a:rPr lang="en-US" sz="1400" dirty="0">
                <a:latin typeface="Times New Roman" charset="0"/>
                <a:ea typeface="ＭＳ Ｐゴシック" charset="0"/>
                <a:cs typeface="ＭＳ Ｐゴシック" charset="0"/>
              </a:rPr>
              <a:t>(); // Display the stage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 The main method is only needed for the IDE with limited</a:t>
            </a:r>
          </a:p>
          <a:p>
            <a:pPr>
              <a:defRPr/>
            </a:pPr>
            <a:r>
              <a:rPr lang="en-US" sz="1400" dirty="0">
                <a:latin typeface="Times New Roman" charset="0"/>
                <a:ea typeface="ＭＳ Ｐゴシック" charset="0"/>
                <a:cs typeface="ＭＳ Ｐゴシック" charset="0"/>
              </a:rPr>
              <a:t>   * </a:t>
            </a:r>
            <a:r>
              <a:rPr lang="en-US" sz="1400" dirty="0" err="1">
                <a:latin typeface="Times New Roman" charset="0"/>
                <a:ea typeface="ＭＳ Ｐゴシック" charset="0"/>
                <a:cs typeface="ＭＳ Ｐゴシック" charset="0"/>
              </a:rPr>
              <a:t>JavaFX</a:t>
            </a:r>
            <a:r>
              <a:rPr lang="en-US" sz="1400" dirty="0">
                <a:latin typeface="Times New Roman" charset="0"/>
                <a:ea typeface="ＭＳ Ｐゴシック" charset="0"/>
                <a:cs typeface="ＭＳ Ｐゴシック" charset="0"/>
              </a:rPr>
              <a:t> support. Not needed for running from the command line.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public static void main(String[] </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launch(</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p:txBody>
      </p:sp>
      <p:pic>
        <p:nvPicPr>
          <p:cNvPr id="24581"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3581400"/>
            <a:ext cx="12827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228600" y="381000"/>
            <a:ext cx="8686800" cy="7620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The Image Class</a:t>
            </a:r>
          </a:p>
        </p:txBody>
      </p:sp>
      <p:sp>
        <p:nvSpPr>
          <p:cNvPr id="25604"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5605"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5606"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5607"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5608"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5609"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5610"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888" y="1763713"/>
            <a:ext cx="8912225"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 name="TextBox 1">
            <a:extLst>
              <a:ext uri="{FF2B5EF4-FFF2-40B4-BE49-F238E27FC236}">
                <a16:creationId xmlns:a16="http://schemas.microsoft.com/office/drawing/2014/main" id="{85C875B2-308A-4E08-A46E-337D4768528B}"/>
              </a:ext>
            </a:extLst>
          </p:cNvPr>
          <p:cNvSpPr txBox="1"/>
          <p:nvPr/>
        </p:nvSpPr>
        <p:spPr>
          <a:xfrm>
            <a:off x="4038600" y="4910693"/>
            <a:ext cx="4876800" cy="738664"/>
          </a:xfrm>
          <a:prstGeom prst="rect">
            <a:avLst/>
          </a:prstGeom>
          <a:noFill/>
          <a:ln>
            <a:solidFill>
              <a:srgbClr val="FF0000"/>
            </a:solidFill>
          </a:ln>
        </p:spPr>
        <p:txBody>
          <a:bodyPr wrap="square" rtlCol="0">
            <a:spAutoFit/>
          </a:bodyPr>
          <a:lstStyle/>
          <a:p>
            <a:r>
              <a:rPr lang="en-US" sz="1400" b="1" dirty="0">
                <a:latin typeface="Arial" panose="020B0604020202020204" pitchFamily="34" charset="0"/>
                <a:cs typeface="Arial" panose="020B0604020202020204" pitchFamily="34" charset="0"/>
              </a:rPr>
              <a:t>Note:</a:t>
            </a:r>
            <a:r>
              <a:rPr lang="en-US" sz="1400" dirty="0">
                <a:latin typeface="Arial" panose="020B0604020202020204" pitchFamily="34" charset="0"/>
                <a:cs typeface="Arial" panose="020B0604020202020204" pitchFamily="34" charset="0"/>
              </a:rPr>
              <a:t> The images for this topic can be obtained from https://liveexample.pearsoncmg.com/common/image/, e.g. </a:t>
            </a:r>
            <a:r>
              <a:rPr lang="en-US" sz="1400" dirty="0">
                <a:latin typeface="Arial" panose="020B0604020202020204" pitchFamily="34" charset="0"/>
                <a:cs typeface="Arial" panose="020B0604020202020204" pitchFamily="34" charset="0"/>
                <a:hlinkClick r:id="rId3"/>
              </a:rPr>
              <a:t>https://liveexample.pearsoncmg.com/common/image/us.gif</a:t>
            </a:r>
            <a:r>
              <a:rPr lang="en-US" sz="1400" dirty="0">
                <a:latin typeface="Arial" panose="020B0604020202020204" pitchFamily="34" charset="0"/>
                <a:cs typeface="Arial" panose="020B0604020202020204" pitchFamily="34" charset="0"/>
              </a:rPr>
              <a:t>.</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28600" y="381000"/>
            <a:ext cx="8686800" cy="7620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The </a:t>
            </a: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ImageView</a:t>
            </a: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 Class</a:t>
            </a:r>
          </a:p>
        </p:txBody>
      </p:sp>
      <p:sp>
        <p:nvSpPr>
          <p:cNvPr id="26631"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2"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3"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4"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6"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6637"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6638"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 y="1819275"/>
            <a:ext cx="891540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5" name="Rectangle 14">
            <a:hlinkClick r:id="rId3"/>
          </p:cNvPr>
          <p:cNvSpPr>
            <a:spLocks noChangeArrowheads="1"/>
          </p:cNvSpPr>
          <p:nvPr/>
        </p:nvSpPr>
        <p:spPr bwMode="auto">
          <a:xfrm>
            <a:off x="5259388" y="55626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ShowImage</a:t>
            </a:r>
            <a:endParaRPr lang="en-US" altLang="en-US" sz="2000" dirty="0"/>
          </a:p>
        </p:txBody>
      </p:sp>
      <p:sp>
        <p:nvSpPr>
          <p:cNvPr id="16" name="AutoShape 10">
            <a:hlinkClick r:id="rId4" action="ppaction://program" highlightClick="1"/>
          </p:cNvPr>
          <p:cNvSpPr>
            <a:spLocks noChangeArrowheads="1"/>
          </p:cNvSpPr>
          <p:nvPr/>
        </p:nvSpPr>
        <p:spPr bwMode="auto">
          <a:xfrm>
            <a:off x="7683500" y="55626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1"/>
          <p:cNvSpPr>
            <a:spLocks noChangeArrowheads="1"/>
          </p:cNvSpPr>
          <p:nvPr/>
        </p:nvSpPr>
        <p:spPr bwMode="auto">
          <a:xfrm>
            <a:off x="0" y="0"/>
            <a:ext cx="480060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javafx.scene.Scene;</a:t>
            </a:r>
          </a:p>
          <a:p>
            <a:r>
              <a:rPr lang="en-US" altLang="en-US" sz="1400"/>
              <a:t>import javafx.scene.layout.HBox;</a:t>
            </a:r>
          </a:p>
          <a:p>
            <a:r>
              <a:rPr lang="en-US" altLang="en-US" sz="1400"/>
              <a:t>import javafx.scene.layout.Pane;</a:t>
            </a:r>
          </a:p>
          <a:p>
            <a:r>
              <a:rPr lang="en-US" altLang="en-US" sz="1400"/>
              <a:t>import javafx.geometry.Insets;</a:t>
            </a:r>
          </a:p>
          <a:p>
            <a:r>
              <a:rPr lang="en-US" altLang="en-US" sz="1400"/>
              <a:t>import javafx.stage.Stage;</a:t>
            </a:r>
          </a:p>
          <a:p>
            <a:r>
              <a:rPr lang="en-US" altLang="en-US" sz="1400"/>
              <a:t>import javafx.scene.image.Image;</a:t>
            </a:r>
          </a:p>
          <a:p>
            <a:r>
              <a:rPr lang="en-US" altLang="en-US" sz="1400"/>
              <a:t>import javafx.scene.image.ImageView;</a:t>
            </a:r>
          </a:p>
          <a:p>
            <a:endParaRPr lang="en-US" altLang="en-US" sz="1400"/>
          </a:p>
          <a:p>
            <a:r>
              <a:rPr lang="en-US" altLang="en-US" sz="1400"/>
              <a:t>public class ShowImage extends Application {</a:t>
            </a:r>
          </a:p>
          <a:p>
            <a:r>
              <a:rPr lang="en-US" altLang="en-US" sz="1400"/>
              <a:t>  @Override </a:t>
            </a:r>
          </a:p>
          <a:p>
            <a:r>
              <a:rPr lang="en-US" altLang="en-US" sz="1400"/>
              <a:t>  // Override the start method in the Application class</a:t>
            </a:r>
          </a:p>
          <a:p>
            <a:r>
              <a:rPr lang="en-US" altLang="en-US" sz="1400"/>
              <a:t>  public void start(Stage primaryStage) {</a:t>
            </a:r>
          </a:p>
          <a:p>
            <a:r>
              <a:rPr lang="en-US" altLang="en-US" sz="1400"/>
              <a:t>    // Create a pane to hold the image views</a:t>
            </a:r>
          </a:p>
          <a:p>
            <a:r>
              <a:rPr lang="en-US" altLang="en-US" sz="1400"/>
              <a:t>    Pane pane = new HBox(10);</a:t>
            </a:r>
          </a:p>
          <a:p>
            <a:r>
              <a:rPr lang="en-US" altLang="en-US" sz="1400"/>
              <a:t>    pane.setPadding(new Insets(5, 5, 5, 5));</a:t>
            </a:r>
          </a:p>
          <a:p>
            <a:r>
              <a:rPr lang="en-US" altLang="en-US" sz="1400"/>
              <a:t>    Image image = new Image("image/us.gif");</a:t>
            </a:r>
          </a:p>
          <a:p>
            <a:r>
              <a:rPr lang="en-US" altLang="en-US" sz="1400"/>
              <a:t>    pane.getChildren().add(new ImageView(image));</a:t>
            </a:r>
          </a:p>
          <a:p>
            <a:r>
              <a:rPr lang="en-US" altLang="en-US" sz="1400"/>
              <a:t>    </a:t>
            </a:r>
          </a:p>
          <a:p>
            <a:r>
              <a:rPr lang="en-US" altLang="en-US" sz="1400"/>
              <a:t>    ImageView imageView2 = new ImageView(image);</a:t>
            </a:r>
          </a:p>
          <a:p>
            <a:r>
              <a:rPr lang="en-US" altLang="en-US" sz="1400"/>
              <a:t>    imageView2.setFitHeight(100);</a:t>
            </a:r>
          </a:p>
          <a:p>
            <a:r>
              <a:rPr lang="en-US" altLang="en-US" sz="1400"/>
              <a:t>    imageView2.setFitWidth(100);</a:t>
            </a:r>
          </a:p>
          <a:p>
            <a:r>
              <a:rPr lang="en-US" altLang="en-US" sz="1400"/>
              <a:t>    pane.getChildren().add(imageView2);   </a:t>
            </a:r>
          </a:p>
          <a:p>
            <a:endParaRPr lang="en-US" altLang="en-US" sz="1400"/>
          </a:p>
          <a:p>
            <a:r>
              <a:rPr lang="en-US" altLang="en-US" sz="1400"/>
              <a:t>       </a:t>
            </a:r>
          </a:p>
          <a:p>
            <a:r>
              <a:rPr lang="en-US" altLang="en-US" sz="1400"/>
              <a:t>  </a:t>
            </a:r>
          </a:p>
        </p:txBody>
      </p:sp>
      <p:sp>
        <p:nvSpPr>
          <p:cNvPr id="3" name="Rectangle 2"/>
          <p:cNvSpPr/>
          <p:nvPr/>
        </p:nvSpPr>
        <p:spPr>
          <a:xfrm>
            <a:off x="4038600" y="28575"/>
            <a:ext cx="5105400" cy="4186238"/>
          </a:xfrm>
          <a:prstGeom prst="rect">
            <a:avLst/>
          </a:prstGeom>
          <a:ln>
            <a:solidFill>
              <a:schemeClr val="bg1">
                <a:lumMod val="65000"/>
              </a:schemeClr>
            </a:solidFill>
          </a:ln>
        </p:spPr>
        <p:txBody>
          <a:bodyPr>
            <a:spAutoFit/>
          </a:bodyPr>
          <a:lstStyle/>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ImageView</a:t>
            </a:r>
            <a:r>
              <a:rPr lang="en-US" sz="1400" dirty="0">
                <a:latin typeface="Times New Roman" charset="0"/>
                <a:ea typeface="ＭＳ Ｐゴシック" charset="0"/>
                <a:cs typeface="ＭＳ Ｐゴシック" charset="0"/>
              </a:rPr>
              <a:t> imageView3 = new </a:t>
            </a:r>
            <a:r>
              <a:rPr lang="en-US" sz="1400" dirty="0" err="1">
                <a:latin typeface="Times New Roman" charset="0"/>
                <a:ea typeface="ＭＳ Ｐゴシック" charset="0"/>
                <a:cs typeface="ＭＳ Ｐゴシック" charset="0"/>
              </a:rPr>
              <a:t>ImageView</a:t>
            </a:r>
            <a:r>
              <a:rPr lang="en-US" sz="1400" dirty="0">
                <a:latin typeface="Times New Roman" charset="0"/>
                <a:ea typeface="ＭＳ Ｐゴシック" charset="0"/>
                <a:cs typeface="ＭＳ Ｐゴシック" charset="0"/>
              </a:rPr>
              <a:t>(image);</a:t>
            </a:r>
          </a:p>
          <a:p>
            <a:pPr>
              <a:defRPr/>
            </a:pPr>
            <a:r>
              <a:rPr lang="en-US" sz="1400" dirty="0">
                <a:latin typeface="Times New Roman" charset="0"/>
                <a:ea typeface="ＭＳ Ｐゴシック" charset="0"/>
                <a:cs typeface="ＭＳ Ｐゴシック" charset="0"/>
              </a:rPr>
              <a:t>    imageView3.setRotate(90);</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pane.getChildren</a:t>
            </a:r>
            <a:r>
              <a:rPr lang="en-US" sz="1400" dirty="0">
                <a:latin typeface="Times New Roman" charset="0"/>
                <a:ea typeface="ＭＳ Ｐゴシック" charset="0"/>
                <a:cs typeface="ＭＳ Ｐゴシック" charset="0"/>
              </a:rPr>
              <a:t>().add(imageView3);     </a:t>
            </a:r>
          </a:p>
          <a:p>
            <a:pPr>
              <a:defRPr/>
            </a:pPr>
            <a:endParaRPr lang="en-US" sz="1400" dirty="0">
              <a:latin typeface="Times New Roman" charset="0"/>
              <a:ea typeface="ＭＳ Ｐゴシック" charset="0"/>
              <a:cs typeface="ＭＳ Ｐゴシック" charset="0"/>
            </a:endParaRPr>
          </a:p>
          <a:p>
            <a:pPr>
              <a:defRPr/>
            </a:pPr>
            <a:r>
              <a:rPr lang="en-US" sz="1400" dirty="0">
                <a:latin typeface="Times New Roman" charset="0"/>
                <a:ea typeface="ＭＳ Ｐゴシック" charset="0"/>
                <a:cs typeface="ＭＳ Ｐゴシック" charset="0"/>
              </a:rPr>
              <a:t> // Create a scene and place it in the stage</a:t>
            </a:r>
          </a:p>
          <a:p>
            <a:pPr>
              <a:defRPr/>
            </a:pPr>
            <a:r>
              <a:rPr lang="en-US" sz="1400" dirty="0">
                <a:latin typeface="Times New Roman" charset="0"/>
                <a:ea typeface="ＭＳ Ｐゴシック" charset="0"/>
                <a:cs typeface="ＭＳ Ｐゴシック" charset="0"/>
              </a:rPr>
              <a:t>    Scene scene = new Scene(pane);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primaryStage.setTitle</a:t>
            </a:r>
            <a:r>
              <a:rPr lang="en-US" sz="1400" dirty="0">
                <a:latin typeface="Times New Roman" charset="0"/>
                <a:ea typeface="ＭＳ Ｐゴシック" charset="0"/>
                <a:cs typeface="ＭＳ Ｐゴシック" charset="0"/>
              </a:rPr>
              <a:t>("</a:t>
            </a:r>
            <a:r>
              <a:rPr lang="en-US" sz="1400" dirty="0" err="1">
                <a:latin typeface="Times New Roman" charset="0"/>
                <a:ea typeface="ＭＳ Ｐゴシック" charset="0"/>
                <a:cs typeface="ＭＳ Ｐゴシック" charset="0"/>
              </a:rPr>
              <a:t>ShowImage</a:t>
            </a:r>
            <a:r>
              <a:rPr lang="en-US" sz="1400" dirty="0">
                <a:latin typeface="Times New Roman" charset="0"/>
                <a:ea typeface="ＭＳ Ｐゴシック" charset="0"/>
                <a:cs typeface="ＭＳ Ｐゴシック" charset="0"/>
              </a:rPr>
              <a:t>"); // Set the stage title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primaryStage.setScene</a:t>
            </a:r>
            <a:r>
              <a:rPr lang="en-US" sz="1400" dirty="0">
                <a:latin typeface="Times New Roman" charset="0"/>
                <a:ea typeface="ＭＳ Ｐゴシック" charset="0"/>
                <a:cs typeface="ＭＳ Ｐゴシック" charset="0"/>
              </a:rPr>
              <a:t>(scene); // Place the scene in the stage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primaryStage.show</a:t>
            </a:r>
            <a:r>
              <a:rPr lang="en-US" sz="1400" dirty="0">
                <a:latin typeface="Times New Roman" charset="0"/>
                <a:ea typeface="ＭＳ Ｐゴシック" charset="0"/>
                <a:cs typeface="ＭＳ Ｐゴシック" charset="0"/>
              </a:rPr>
              <a:t>(); // Display the stage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 The main method is only needed for the IDE with limited</a:t>
            </a:r>
          </a:p>
          <a:p>
            <a:pPr>
              <a:defRPr/>
            </a:pPr>
            <a:r>
              <a:rPr lang="en-US" sz="1400" dirty="0">
                <a:latin typeface="Times New Roman" charset="0"/>
                <a:ea typeface="ＭＳ Ｐゴシック" charset="0"/>
                <a:cs typeface="ＭＳ Ｐゴシック" charset="0"/>
              </a:rPr>
              <a:t>   * </a:t>
            </a:r>
            <a:r>
              <a:rPr lang="en-US" sz="1400" dirty="0" err="1">
                <a:latin typeface="Times New Roman" charset="0"/>
                <a:ea typeface="ＭＳ Ｐゴシック" charset="0"/>
                <a:cs typeface="ＭＳ Ｐゴシック" charset="0"/>
              </a:rPr>
              <a:t>JavaFX</a:t>
            </a:r>
            <a:r>
              <a:rPr lang="en-US" sz="1400" dirty="0">
                <a:latin typeface="Times New Roman" charset="0"/>
                <a:ea typeface="ＭＳ Ｐゴシック" charset="0"/>
                <a:cs typeface="ＭＳ Ｐゴシック" charset="0"/>
              </a:rPr>
              <a:t> support. Not needed for running from the command line.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public static void main(String[] </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launch(</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a:t>
            </a:r>
          </a:p>
        </p:txBody>
      </p:sp>
      <p:pic>
        <p:nvPicPr>
          <p:cNvPr id="4" name="Picture 3"/>
          <p:cNvPicPr>
            <a:picLocks noChangeAspect="1"/>
          </p:cNvPicPr>
          <p:nvPr/>
        </p:nvPicPr>
        <p:blipFill>
          <a:blip r:embed="rId2" cstate="print"/>
          <a:stretch>
            <a:fillRect/>
          </a:stretch>
        </p:blipFill>
        <p:spPr>
          <a:xfrm>
            <a:off x="3276600" y="4572000"/>
            <a:ext cx="5715000" cy="1676400"/>
          </a:xfrm>
          <a:prstGeom prst="rect">
            <a:avLst/>
          </a:prstGeom>
          <a:ln>
            <a:solidFill>
              <a:schemeClr val="bg1">
                <a:lumMod val="85000"/>
              </a:schemeClr>
            </a:solidFill>
          </a:ln>
        </p:spPr>
      </p:pic>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0"/>
            <a:ext cx="7772400" cy="7620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Layout Panes</a:t>
            </a:r>
          </a:p>
        </p:txBody>
      </p:sp>
      <p:sp>
        <p:nvSpPr>
          <p:cNvPr id="18436" name="Rectangle 3"/>
          <p:cNvSpPr>
            <a:spLocks noGrp="1" noChangeArrowheads="1"/>
          </p:cNvSpPr>
          <p:nvPr>
            <p:ph idx="1"/>
          </p:nvPr>
        </p:nvSpPr>
        <p:spPr>
          <a:xfrm>
            <a:off x="228600" y="914400"/>
            <a:ext cx="8610600" cy="990600"/>
          </a:xfrm>
        </p:spPr>
        <p:txBody>
          <a:bodyPr/>
          <a:lstStyle/>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JavaFX provides many types of panes for organizing nodes in a container.</a:t>
            </a:r>
          </a:p>
        </p:txBody>
      </p:sp>
      <p:sp>
        <p:nvSpPr>
          <p:cNvPr id="28677"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867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209800"/>
            <a:ext cx="8391525" cy="328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228600" y="381000"/>
            <a:ext cx="8686800" cy="762000"/>
          </a:xfrm>
        </p:spPr>
        <p:txBody>
          <a:bodyPr/>
          <a:lstStyle/>
          <a:p>
            <a:pPr algn="ctr">
              <a:defRPr/>
            </a:pP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FlowPane</a:t>
            </a:r>
            <a:endParaRPr lang="en-US" sz="4800" b="1" dirty="0">
              <a:solidFill>
                <a:schemeClr val="tx1"/>
              </a:solidFill>
              <a:latin typeface="Times New Roman" panose="02020603050405020304" pitchFamily="18" charset="0"/>
              <a:ea typeface="ＭＳ Ｐゴシック" charset="0"/>
              <a:cs typeface="Times New Roman" panose="02020603050405020304" pitchFamily="18" charset="0"/>
            </a:endParaRPr>
          </a:p>
        </p:txBody>
      </p:sp>
      <p:sp>
        <p:nvSpPr>
          <p:cNvPr id="29703"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4"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6"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7"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8"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09"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10"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29711" name="Rectangle 3"/>
          <p:cNvSpPr>
            <a:spLocks noChangeArrowheads="1"/>
          </p:cNvSpPr>
          <p:nvPr/>
        </p:nvSpPr>
        <p:spPr bwMode="auto">
          <a:xfrm>
            <a:off x="0" y="24003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29712"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89050"/>
            <a:ext cx="914400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7" name="Rectangle 16">
            <a:hlinkClick r:id="rId3"/>
          </p:cNvPr>
          <p:cNvSpPr>
            <a:spLocks noChangeArrowheads="1"/>
          </p:cNvSpPr>
          <p:nvPr/>
        </p:nvSpPr>
        <p:spPr bwMode="auto">
          <a:xfrm>
            <a:off x="5334000" y="584835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ShowFlowPane</a:t>
            </a:r>
            <a:endParaRPr lang="en-US" altLang="en-US" sz="2000" dirty="0"/>
          </a:p>
        </p:txBody>
      </p:sp>
      <p:sp>
        <p:nvSpPr>
          <p:cNvPr id="18" name="AutoShape 10">
            <a:hlinkClick r:id="rId4" action="ppaction://program" highlightClick="1"/>
          </p:cNvPr>
          <p:cNvSpPr>
            <a:spLocks noChangeArrowheads="1"/>
          </p:cNvSpPr>
          <p:nvPr/>
        </p:nvSpPr>
        <p:spPr bwMode="auto">
          <a:xfrm>
            <a:off x="7758113" y="584835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ChangeArrowheads="1"/>
          </p:cNvSpPr>
          <p:nvPr/>
        </p:nvSpPr>
        <p:spPr bwMode="auto">
          <a:xfrm>
            <a:off x="0" y="-12700"/>
            <a:ext cx="45720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javafx.geometry.Insets;</a:t>
            </a:r>
          </a:p>
          <a:p>
            <a:r>
              <a:rPr lang="en-US" altLang="en-US" sz="1400"/>
              <a:t>import javafx.scene.Scene;</a:t>
            </a:r>
          </a:p>
          <a:p>
            <a:r>
              <a:rPr lang="en-US" altLang="en-US" sz="1400"/>
              <a:t>import javafx.scene.control.Label;</a:t>
            </a:r>
          </a:p>
          <a:p>
            <a:r>
              <a:rPr lang="en-US" altLang="en-US" sz="1400"/>
              <a:t>import javafx.scene.control.TextField;</a:t>
            </a:r>
          </a:p>
          <a:p>
            <a:r>
              <a:rPr lang="en-US" altLang="en-US" sz="1400"/>
              <a:t>import javafx.scene.layout.FlowPane;</a:t>
            </a:r>
          </a:p>
          <a:p>
            <a:r>
              <a:rPr lang="en-US" altLang="en-US" sz="1400"/>
              <a:t>import javafx.stage.Stage;</a:t>
            </a:r>
          </a:p>
          <a:p>
            <a:endParaRPr lang="en-US" altLang="en-US" sz="1400"/>
          </a:p>
          <a:p>
            <a:r>
              <a:rPr lang="en-US" altLang="en-US" sz="1400"/>
              <a:t>public class ShowFlowPane extends Application {</a:t>
            </a:r>
          </a:p>
          <a:p>
            <a:r>
              <a:rPr lang="en-US" altLang="en-US" sz="1400"/>
              <a:t>  @Override </a:t>
            </a:r>
          </a:p>
          <a:p>
            <a:r>
              <a:rPr lang="en-US" altLang="en-US" sz="1400"/>
              <a:t>  // Override the start method in the Application class</a:t>
            </a:r>
          </a:p>
          <a:p>
            <a:r>
              <a:rPr lang="en-US" altLang="en-US" sz="1400"/>
              <a:t>  public void start(Stage primaryStage) {</a:t>
            </a:r>
          </a:p>
          <a:p>
            <a:r>
              <a:rPr lang="en-US" altLang="en-US" sz="1400"/>
              <a:t>    // Create a pane and set its properties</a:t>
            </a:r>
          </a:p>
          <a:p>
            <a:r>
              <a:rPr lang="en-US" altLang="en-US" sz="1400"/>
              <a:t>    FlowPane pane = new FlowPane();</a:t>
            </a:r>
          </a:p>
          <a:p>
            <a:r>
              <a:rPr lang="en-US" altLang="en-US" sz="1400"/>
              <a:t>    pane.setPadding(new Insets(11, 12, 13, 14));</a:t>
            </a:r>
          </a:p>
          <a:p>
            <a:r>
              <a:rPr lang="en-US" altLang="en-US" sz="1400"/>
              <a:t>    pane.setHgap(5);</a:t>
            </a:r>
          </a:p>
          <a:p>
            <a:r>
              <a:rPr lang="en-US" altLang="en-US" sz="1400"/>
              <a:t>    pane.setVgap(5);</a:t>
            </a:r>
          </a:p>
          <a:p>
            <a:endParaRPr lang="en-US" altLang="en-US" sz="1400"/>
          </a:p>
          <a:p>
            <a:r>
              <a:rPr lang="en-US" altLang="en-US" sz="1400"/>
              <a:t>    // Place nodes in the pane</a:t>
            </a:r>
          </a:p>
          <a:p>
            <a:r>
              <a:rPr lang="en-US" altLang="en-US" sz="1400"/>
              <a:t>    pane.getChildren().addAll(new Label("First Name:"), </a:t>
            </a:r>
          </a:p>
          <a:p>
            <a:r>
              <a:rPr lang="en-US" altLang="en-US" sz="1400"/>
              <a:t>      new TextField(), new Label("MI:"));</a:t>
            </a:r>
          </a:p>
          <a:p>
            <a:r>
              <a:rPr lang="en-US" altLang="en-US" sz="1400"/>
              <a:t>    TextField tfMi = new TextField();</a:t>
            </a:r>
          </a:p>
          <a:p>
            <a:r>
              <a:rPr lang="en-US" altLang="en-US" sz="1400"/>
              <a:t>    tfMi.setPrefColumnCount(1);</a:t>
            </a:r>
          </a:p>
          <a:p>
            <a:r>
              <a:rPr lang="en-US" altLang="en-US" sz="1400"/>
              <a:t>    pane.getChildren().addAll(tfMi, new Label("Last Name:"),</a:t>
            </a:r>
          </a:p>
          <a:p>
            <a:r>
              <a:rPr lang="en-US" altLang="en-US" sz="1400"/>
              <a:t>      new TextField());</a:t>
            </a:r>
          </a:p>
          <a:p>
            <a:endParaRPr lang="en-US" altLang="en-US" sz="1400"/>
          </a:p>
          <a:p>
            <a:endParaRPr lang="en-US" altLang="en-US" sz="1400"/>
          </a:p>
          <a:p>
            <a:r>
              <a:rPr lang="en-US" altLang="en-US" sz="1400"/>
              <a:t>    </a:t>
            </a:r>
          </a:p>
        </p:txBody>
      </p:sp>
      <p:sp>
        <p:nvSpPr>
          <p:cNvPr id="5" name="Rectangle 4"/>
          <p:cNvSpPr/>
          <p:nvPr/>
        </p:nvSpPr>
        <p:spPr>
          <a:xfrm>
            <a:off x="3886200" y="17463"/>
            <a:ext cx="5257800" cy="3540125"/>
          </a:xfrm>
          <a:prstGeom prst="rect">
            <a:avLst/>
          </a:prstGeom>
          <a:ln>
            <a:solidFill>
              <a:schemeClr val="bg1">
                <a:lumMod val="85000"/>
              </a:schemeClr>
            </a:solidFill>
          </a:ln>
        </p:spPr>
        <p:txBody>
          <a:bodyPr>
            <a:spAutoFit/>
          </a:bodyPr>
          <a:lstStyle/>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 Create a scene and place it in the stage</a:t>
            </a:r>
          </a:p>
          <a:p>
            <a:pPr>
              <a:defRPr/>
            </a:pPr>
            <a:r>
              <a:rPr lang="en-US" sz="1400" dirty="0">
                <a:latin typeface="Times New Roman" charset="0"/>
                <a:ea typeface="ＭＳ Ｐゴシック" charset="0"/>
                <a:cs typeface="ＭＳ Ｐゴシック" charset="0"/>
              </a:rPr>
              <a:t>    Scene scene = new Scene(pane, 200, 250);</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primaryStage.setTitle</a:t>
            </a:r>
            <a:r>
              <a:rPr lang="en-US" sz="1400" dirty="0">
                <a:latin typeface="Times New Roman" charset="0"/>
                <a:ea typeface="ＭＳ Ｐゴシック" charset="0"/>
                <a:cs typeface="ＭＳ Ｐゴシック" charset="0"/>
              </a:rPr>
              <a:t>("</a:t>
            </a:r>
            <a:r>
              <a:rPr lang="en-US" sz="1400" dirty="0" err="1">
                <a:latin typeface="Times New Roman" charset="0"/>
                <a:ea typeface="ＭＳ Ｐゴシック" charset="0"/>
                <a:cs typeface="ＭＳ Ｐゴシック" charset="0"/>
              </a:rPr>
              <a:t>ShowFlowPane</a:t>
            </a:r>
            <a:r>
              <a:rPr lang="en-US" sz="1400" dirty="0">
                <a:latin typeface="Times New Roman" charset="0"/>
                <a:ea typeface="ＭＳ Ｐゴシック" charset="0"/>
                <a:cs typeface="ＭＳ Ｐゴシック" charset="0"/>
              </a:rPr>
              <a:t>"); // Set the stage title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primaryStage.setScene</a:t>
            </a:r>
            <a:r>
              <a:rPr lang="en-US" sz="1400" dirty="0">
                <a:latin typeface="Times New Roman" charset="0"/>
                <a:ea typeface="ＭＳ Ｐゴシック" charset="0"/>
                <a:cs typeface="ＭＳ Ｐゴシック" charset="0"/>
              </a:rPr>
              <a:t>(scene); // Place the scene in the stage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primaryStage.show</a:t>
            </a:r>
            <a:r>
              <a:rPr lang="en-US" sz="1400" dirty="0">
                <a:latin typeface="Times New Roman" charset="0"/>
                <a:ea typeface="ＭＳ Ｐゴシック" charset="0"/>
                <a:cs typeface="ＭＳ Ｐゴシック" charset="0"/>
              </a:rPr>
              <a:t>(); // Display the stage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 The main method is only needed for the IDE with limited</a:t>
            </a:r>
          </a:p>
          <a:p>
            <a:pPr>
              <a:defRPr/>
            </a:pPr>
            <a:r>
              <a:rPr lang="en-US" sz="1400" dirty="0">
                <a:latin typeface="Times New Roman" charset="0"/>
                <a:ea typeface="ＭＳ Ｐゴシック" charset="0"/>
                <a:cs typeface="ＭＳ Ｐゴシック" charset="0"/>
              </a:rPr>
              <a:t>   * </a:t>
            </a:r>
            <a:r>
              <a:rPr lang="en-US" sz="1400" dirty="0" err="1">
                <a:latin typeface="Times New Roman" charset="0"/>
                <a:ea typeface="ＭＳ Ｐゴシック" charset="0"/>
                <a:cs typeface="ＭＳ Ｐゴシック" charset="0"/>
              </a:rPr>
              <a:t>JavaFX</a:t>
            </a:r>
            <a:r>
              <a:rPr lang="en-US" sz="1400" dirty="0">
                <a:latin typeface="Times New Roman" charset="0"/>
                <a:ea typeface="ＭＳ Ｐゴシック" charset="0"/>
                <a:cs typeface="ＭＳ Ｐゴシック" charset="0"/>
              </a:rPr>
              <a:t> support. Not needed for running from the command line.</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public static void main(String[] </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launch(</a:t>
            </a:r>
            <a:r>
              <a:rPr lang="en-US" sz="1400" dirty="0" err="1">
                <a:latin typeface="Times New Roman" charset="0"/>
                <a:ea typeface="ＭＳ Ｐゴシック" charset="0"/>
                <a:cs typeface="ＭＳ Ｐゴシック" charset="0"/>
              </a:rPr>
              <a:t>args</a:t>
            </a:r>
            <a:r>
              <a:rPr lang="en-US" sz="1400" dirty="0">
                <a:latin typeface="Times New Roman" charset="0"/>
                <a:ea typeface="ＭＳ Ｐゴシック" charset="0"/>
                <a:cs typeface="ＭＳ Ｐゴシック" charset="0"/>
              </a:rPr>
              <a:t>);</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a:t>
            </a:r>
          </a:p>
        </p:txBody>
      </p:sp>
      <p:pic>
        <p:nvPicPr>
          <p:cNvPr id="30725"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0" y="3886200"/>
            <a:ext cx="3810000"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850900"/>
            <a:ext cx="7788275" cy="560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0484" name="Rectangle 2"/>
          <p:cNvSpPr>
            <a:spLocks noGrp="1" noChangeArrowheads="1"/>
          </p:cNvSpPr>
          <p:nvPr>
            <p:ph type="title"/>
          </p:nvPr>
        </p:nvSpPr>
        <p:spPr>
          <a:xfrm>
            <a:off x="228600" y="0"/>
            <a:ext cx="8686800" cy="762000"/>
          </a:xfrm>
        </p:spPr>
        <p:txBody>
          <a:bodyPr/>
          <a:lstStyle/>
          <a:p>
            <a:pPr algn="ctr">
              <a:defRPr/>
            </a:pP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GridPane</a:t>
            </a:r>
            <a:endParaRPr lang="en-US" sz="4800" b="1" dirty="0">
              <a:solidFill>
                <a:schemeClr val="tx1"/>
              </a:solidFill>
              <a:latin typeface="Times New Roman" panose="02020603050405020304" pitchFamily="18" charset="0"/>
              <a:ea typeface="ＭＳ Ｐゴシック" charset="0"/>
              <a:cs typeface="Times New Roman" panose="02020603050405020304" pitchFamily="18" charset="0"/>
            </a:endParaRPr>
          </a:p>
        </p:txBody>
      </p:sp>
      <p:sp>
        <p:nvSpPr>
          <p:cNvPr id="31749"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0"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1"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2"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3"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4"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6"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7" name="Rectangle 3"/>
          <p:cNvSpPr>
            <a:spLocks noChangeArrowheads="1"/>
          </p:cNvSpPr>
          <p:nvPr/>
        </p:nvSpPr>
        <p:spPr bwMode="auto">
          <a:xfrm>
            <a:off x="0" y="24003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8"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1759" name="Rectangle 3"/>
          <p:cNvSpPr>
            <a:spLocks noChangeArrowheads="1"/>
          </p:cNvSpPr>
          <p:nvPr/>
        </p:nvSpPr>
        <p:spPr bwMode="auto">
          <a:xfrm>
            <a:off x="0" y="37179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9" name="Rectangle 18">
            <a:hlinkClick r:id="rId3"/>
          </p:cNvPr>
          <p:cNvSpPr>
            <a:spLocks noChangeArrowheads="1"/>
          </p:cNvSpPr>
          <p:nvPr/>
        </p:nvSpPr>
        <p:spPr bwMode="auto">
          <a:xfrm>
            <a:off x="7239000" y="2895600"/>
            <a:ext cx="17891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ShowGridPane</a:t>
            </a:r>
            <a:endParaRPr lang="en-US" altLang="en-US" sz="2000" dirty="0"/>
          </a:p>
        </p:txBody>
      </p:sp>
      <p:sp>
        <p:nvSpPr>
          <p:cNvPr id="20" name="AutoShape 10">
            <a:hlinkClick r:id="rId4" action="ppaction://program" highlightClick="1"/>
          </p:cNvPr>
          <p:cNvSpPr>
            <a:spLocks noChangeArrowheads="1"/>
          </p:cNvSpPr>
          <p:nvPr/>
        </p:nvSpPr>
        <p:spPr bwMode="auto">
          <a:xfrm>
            <a:off x="8329613" y="3336925"/>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ChangeArrowheads="1"/>
          </p:cNvSpPr>
          <p:nvPr/>
        </p:nvSpPr>
        <p:spPr bwMode="auto">
          <a:xfrm>
            <a:off x="17463" y="0"/>
            <a:ext cx="4478337"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javafx.geometry.HPos;</a:t>
            </a:r>
          </a:p>
          <a:p>
            <a:r>
              <a:rPr lang="en-US" altLang="en-US" sz="1400"/>
              <a:t>import javafx.geometry.Insets;</a:t>
            </a:r>
          </a:p>
          <a:p>
            <a:r>
              <a:rPr lang="en-US" altLang="en-US" sz="1400"/>
              <a:t>import javafx.geometry.Pos;</a:t>
            </a:r>
          </a:p>
          <a:p>
            <a:r>
              <a:rPr lang="en-US" altLang="en-US" sz="1400"/>
              <a:t>import javafx.scene.Scene;</a:t>
            </a:r>
          </a:p>
          <a:p>
            <a:r>
              <a:rPr lang="en-US" altLang="en-US" sz="1400"/>
              <a:t>import javafx.scene.control.Button;</a:t>
            </a:r>
          </a:p>
          <a:p>
            <a:r>
              <a:rPr lang="en-US" altLang="en-US" sz="1400"/>
              <a:t>import javafx.scene.control.Label;</a:t>
            </a:r>
          </a:p>
          <a:p>
            <a:r>
              <a:rPr lang="en-US" altLang="en-US" sz="1400"/>
              <a:t>import javafx.scene.control.TextField;</a:t>
            </a:r>
          </a:p>
          <a:p>
            <a:r>
              <a:rPr lang="en-US" altLang="en-US" sz="1400"/>
              <a:t>import javafx.scene.layout.GridPane;</a:t>
            </a:r>
          </a:p>
          <a:p>
            <a:r>
              <a:rPr lang="en-US" altLang="en-US" sz="1400"/>
              <a:t>import javafx.stage.Stage;</a:t>
            </a:r>
          </a:p>
          <a:p>
            <a:endParaRPr lang="en-US" altLang="en-US" sz="1400"/>
          </a:p>
          <a:p>
            <a:r>
              <a:rPr lang="en-US" altLang="en-US" sz="1400"/>
              <a:t>public class ShowGridPane extends Application {</a:t>
            </a:r>
          </a:p>
          <a:p>
            <a:r>
              <a:rPr lang="en-US" altLang="en-US" sz="1400"/>
              <a:t>  @Override </a:t>
            </a:r>
          </a:p>
          <a:p>
            <a:r>
              <a:rPr lang="en-US" altLang="en-US" sz="1400"/>
              <a:t>  // Override the start method in the Application class</a:t>
            </a:r>
          </a:p>
          <a:p>
            <a:r>
              <a:rPr lang="en-US" altLang="en-US" sz="1400"/>
              <a:t>  public void start(Stage primaryStage) {</a:t>
            </a:r>
          </a:p>
          <a:p>
            <a:r>
              <a:rPr lang="en-US" altLang="en-US" sz="1400"/>
              <a:t>    // Create a pane and set its properties</a:t>
            </a:r>
          </a:p>
          <a:p>
            <a:r>
              <a:rPr lang="en-US" altLang="en-US" sz="1400"/>
              <a:t>    GridPane pane = new GridPane();</a:t>
            </a:r>
          </a:p>
          <a:p>
            <a:r>
              <a:rPr lang="en-US" altLang="en-US" sz="1400"/>
              <a:t>    pane.setAlignment(Pos.CENTER);</a:t>
            </a:r>
          </a:p>
          <a:p>
            <a:r>
              <a:rPr lang="en-US" altLang="en-US" sz="1400"/>
              <a:t>    pane.setPadding(new Insets(11.5, 12.5, 13.5, 14.5));</a:t>
            </a:r>
          </a:p>
          <a:p>
            <a:r>
              <a:rPr lang="en-US" altLang="en-US" sz="1400"/>
              <a:t>    pane.setHgap(5.5);</a:t>
            </a:r>
          </a:p>
          <a:p>
            <a:r>
              <a:rPr lang="en-US" altLang="en-US" sz="1400"/>
              <a:t>    pane.setVgap(5.5);</a:t>
            </a:r>
          </a:p>
          <a:p>
            <a:r>
              <a:rPr lang="en-US" altLang="en-US" sz="1400"/>
              <a:t>    </a:t>
            </a:r>
          </a:p>
          <a:p>
            <a:r>
              <a:rPr lang="en-US" altLang="en-US" sz="1400"/>
              <a:t>    </a:t>
            </a:r>
          </a:p>
        </p:txBody>
      </p:sp>
      <p:sp>
        <p:nvSpPr>
          <p:cNvPr id="5" name="Rectangle 4"/>
          <p:cNvSpPr/>
          <p:nvPr/>
        </p:nvSpPr>
        <p:spPr>
          <a:xfrm>
            <a:off x="4038600" y="11113"/>
            <a:ext cx="5105400" cy="5908675"/>
          </a:xfrm>
          <a:prstGeom prst="rect">
            <a:avLst/>
          </a:prstGeom>
          <a:solidFill>
            <a:schemeClr val="bg1"/>
          </a:solidFill>
          <a:ln>
            <a:solidFill>
              <a:schemeClr val="bg1">
                <a:lumMod val="85000"/>
              </a:schemeClr>
            </a:solidFill>
          </a:ln>
        </p:spPr>
        <p:txBody>
          <a:bodyPr>
            <a:spAutoFit/>
          </a:bodyPr>
          <a:lstStyle/>
          <a:p>
            <a:pPr>
              <a:defRPr/>
            </a:pPr>
            <a:r>
              <a:rPr lang="en-US" sz="1400" dirty="0">
                <a:latin typeface="Times New Roman" charset="0"/>
                <a:ea typeface="ＭＳ Ｐゴシック" charset="0"/>
                <a:cs typeface="ＭＳ Ｐゴシック" charset="0"/>
              </a:rPr>
              <a:t>// Place nodes in the pane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Label("First Name:"), 0, 0);</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a:t>
            </a:r>
            <a:r>
              <a:rPr lang="en-US" sz="1400" dirty="0" err="1">
                <a:latin typeface="Times New Roman" charset="0"/>
                <a:ea typeface="ＭＳ Ｐゴシック" charset="0"/>
                <a:cs typeface="ＭＳ Ｐゴシック" charset="0"/>
              </a:rPr>
              <a:t>TextField</a:t>
            </a:r>
            <a:r>
              <a:rPr lang="en-US" sz="1400" dirty="0">
                <a:latin typeface="Times New Roman" charset="0"/>
                <a:ea typeface="ＭＳ Ｐゴシック" charset="0"/>
                <a:cs typeface="ＭＳ Ｐゴシック" charset="0"/>
              </a:rPr>
              <a:t>(), 1, 0);</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Label("MI:"), 0, 1); </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a:t>
            </a:r>
            <a:r>
              <a:rPr lang="en-US" sz="1400" dirty="0" err="1">
                <a:latin typeface="Times New Roman" charset="0"/>
                <a:ea typeface="ＭＳ Ｐゴシック" charset="0"/>
                <a:cs typeface="ＭＳ Ｐゴシック" charset="0"/>
              </a:rPr>
              <a:t>TextField</a:t>
            </a:r>
            <a:r>
              <a:rPr lang="en-US" sz="1400" dirty="0">
                <a:latin typeface="Times New Roman" charset="0"/>
                <a:ea typeface="ＭＳ Ｐゴシック" charset="0"/>
                <a:cs typeface="ＭＳ Ｐゴシック" charset="0"/>
              </a:rPr>
              <a:t>(), 1, 1);</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Label("Last Name:"), 0, 2);</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pane.add</a:t>
            </a:r>
            <a:r>
              <a:rPr lang="en-US" sz="1400" dirty="0">
                <a:latin typeface="Times New Roman" charset="0"/>
                <a:ea typeface="ＭＳ Ｐゴシック" charset="0"/>
                <a:cs typeface="ＭＳ Ｐゴシック" charset="0"/>
              </a:rPr>
              <a:t>(new </a:t>
            </a:r>
            <a:r>
              <a:rPr lang="en-US" sz="1400" dirty="0" err="1">
                <a:latin typeface="Times New Roman" charset="0"/>
                <a:ea typeface="ＭＳ Ｐゴシック" charset="0"/>
                <a:cs typeface="ＭＳ Ｐゴシック" charset="0"/>
              </a:rPr>
              <a:t>TextField</a:t>
            </a:r>
            <a:r>
              <a:rPr lang="en-US" sz="1400" dirty="0">
                <a:latin typeface="Times New Roman" charset="0"/>
                <a:ea typeface="ＭＳ Ｐゴシック" charset="0"/>
                <a:cs typeface="ＭＳ Ｐゴシック" charset="0"/>
              </a:rPr>
              <a:t>(), 1, 2);</a:t>
            </a:r>
          </a:p>
          <a:p>
            <a:pPr>
              <a:defRPr/>
            </a:pPr>
            <a:r>
              <a:rPr lang="en-US" sz="1400" dirty="0">
                <a:latin typeface="Times New Roman" charset="0"/>
                <a:ea typeface="ＭＳ Ｐゴシック" charset="0"/>
                <a:cs typeface="ＭＳ Ｐゴシック" charset="0"/>
              </a:rPr>
              <a:t>    Button </a:t>
            </a:r>
            <a:r>
              <a:rPr lang="en-US" sz="1400" dirty="0" err="1">
                <a:latin typeface="Times New Roman" charset="0"/>
                <a:ea typeface="ＭＳ Ｐゴシック" charset="0"/>
                <a:cs typeface="ＭＳ Ｐゴシック" charset="0"/>
              </a:rPr>
              <a:t>btAdd</a:t>
            </a:r>
            <a:r>
              <a:rPr lang="en-US" sz="1400" dirty="0">
                <a:latin typeface="Times New Roman" charset="0"/>
                <a:ea typeface="ＭＳ Ｐゴシック" charset="0"/>
                <a:cs typeface="ＭＳ Ｐゴシック" charset="0"/>
              </a:rPr>
              <a:t> = new Button("Add Name");</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pane.add</a:t>
            </a:r>
            <a:r>
              <a:rPr lang="nb-NO" sz="1400" dirty="0">
                <a:latin typeface="Times New Roman" charset="0"/>
                <a:ea typeface="ＭＳ Ｐゴシック" charset="0"/>
                <a:cs typeface="ＭＳ Ｐゴシック" charset="0"/>
              </a:rPr>
              <a:t>(</a:t>
            </a:r>
            <a:r>
              <a:rPr lang="nb-NO" sz="1400" dirty="0" err="1">
                <a:latin typeface="Times New Roman" charset="0"/>
                <a:ea typeface="ＭＳ Ｐゴシック" charset="0"/>
                <a:cs typeface="ＭＳ Ｐゴシック" charset="0"/>
              </a:rPr>
              <a:t>btAdd</a:t>
            </a:r>
            <a:r>
              <a:rPr lang="nb-NO" sz="1400" dirty="0">
                <a:latin typeface="Times New Roman" charset="0"/>
                <a:ea typeface="ＭＳ Ｐゴシック" charset="0"/>
                <a:cs typeface="ＭＳ Ｐゴシック" charset="0"/>
              </a:rPr>
              <a:t>, 1, 3);</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GridPane.setHalignment</a:t>
            </a:r>
            <a:r>
              <a:rPr lang="nb-NO" sz="1400" dirty="0">
                <a:latin typeface="Times New Roman" charset="0"/>
                <a:ea typeface="ＭＳ Ｐゴシック" charset="0"/>
                <a:cs typeface="ＭＳ Ｐゴシック" charset="0"/>
              </a:rPr>
              <a:t>(</a:t>
            </a:r>
            <a:r>
              <a:rPr lang="nb-NO" sz="1400" dirty="0" err="1">
                <a:latin typeface="Times New Roman" charset="0"/>
                <a:ea typeface="ＭＳ Ｐゴシック" charset="0"/>
                <a:cs typeface="ＭＳ Ｐゴシック" charset="0"/>
              </a:rPr>
              <a:t>btAdd</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HPos.RIGHT</a:t>
            </a:r>
            <a:r>
              <a:rPr lang="nb-NO" sz="1400" dirty="0">
                <a:latin typeface="Times New Roman" charset="0"/>
                <a:ea typeface="ＭＳ Ｐゴシック" charset="0"/>
                <a:cs typeface="ＭＳ Ｐゴシック" charset="0"/>
              </a:rPr>
              <a:t>);</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 </a:t>
            </a:r>
            <a:r>
              <a:rPr lang="nb-NO" sz="1400" dirty="0" err="1">
                <a:latin typeface="Times New Roman" charset="0"/>
                <a:ea typeface="ＭＳ Ｐゴシック" charset="0"/>
                <a:cs typeface="ＭＳ Ｐゴシック" charset="0"/>
              </a:rPr>
              <a:t>Create</a:t>
            </a:r>
            <a:r>
              <a:rPr lang="nb-NO" sz="1400" dirty="0">
                <a:latin typeface="Times New Roman" charset="0"/>
                <a:ea typeface="ＭＳ Ｐゴシック" charset="0"/>
                <a:cs typeface="ＭＳ Ｐゴシック" charset="0"/>
              </a:rPr>
              <a:t> a scene and </a:t>
            </a:r>
            <a:r>
              <a:rPr lang="nb-NO" sz="1400" dirty="0" err="1">
                <a:latin typeface="Times New Roman" charset="0"/>
                <a:ea typeface="ＭＳ Ｐゴシック" charset="0"/>
                <a:cs typeface="ＭＳ Ｐゴシック" charset="0"/>
              </a:rPr>
              <a:t>place</a:t>
            </a:r>
            <a:r>
              <a:rPr lang="nb-NO" sz="1400" dirty="0">
                <a:latin typeface="Times New Roman" charset="0"/>
                <a:ea typeface="ＭＳ Ｐゴシック" charset="0"/>
                <a:cs typeface="ＭＳ Ｐゴシック" charset="0"/>
              </a:rPr>
              <a:t> it in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stage</a:t>
            </a:r>
          </a:p>
          <a:p>
            <a:pPr>
              <a:defRPr/>
            </a:pPr>
            <a:r>
              <a:rPr lang="nb-NO" sz="1400" dirty="0">
                <a:latin typeface="Times New Roman" charset="0"/>
                <a:ea typeface="ＭＳ Ｐゴシック" charset="0"/>
                <a:cs typeface="ＭＳ Ｐゴシック" charset="0"/>
              </a:rPr>
              <a:t>    Scene scene = </a:t>
            </a:r>
            <a:r>
              <a:rPr lang="nb-NO" sz="1400" dirty="0" err="1">
                <a:latin typeface="Times New Roman" charset="0"/>
                <a:ea typeface="ＭＳ Ｐゴシック" charset="0"/>
                <a:cs typeface="ＭＳ Ｐゴシック" charset="0"/>
              </a:rPr>
              <a:t>new</a:t>
            </a:r>
            <a:r>
              <a:rPr lang="nb-NO" sz="1400" dirty="0">
                <a:latin typeface="Times New Roman" charset="0"/>
                <a:ea typeface="ＭＳ Ｐゴシック" charset="0"/>
                <a:cs typeface="ＭＳ Ｐゴシック" charset="0"/>
              </a:rPr>
              <a:t> Scene(</a:t>
            </a:r>
            <a:r>
              <a:rPr lang="nb-NO" sz="1400" dirty="0" err="1">
                <a:latin typeface="Times New Roman" charset="0"/>
                <a:ea typeface="ＭＳ Ｐゴシック" charset="0"/>
                <a:cs typeface="ＭＳ Ｐゴシック" charset="0"/>
              </a:rPr>
              <a:t>pane</a:t>
            </a:r>
            <a:r>
              <a:rPr lang="nb-NO" sz="1400" dirty="0">
                <a:latin typeface="Times New Roman" charset="0"/>
                <a:ea typeface="ＭＳ Ｐゴシック" charset="0"/>
                <a:cs typeface="ＭＳ Ｐゴシック" charset="0"/>
              </a:rPr>
              <a:t>);</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primaryStage.setTitle</a:t>
            </a:r>
            <a:r>
              <a:rPr lang="nb-NO" sz="1400" dirty="0">
                <a:latin typeface="Times New Roman" charset="0"/>
                <a:ea typeface="ＭＳ Ｐゴシック" charset="0"/>
                <a:cs typeface="ＭＳ Ｐゴシック" charset="0"/>
              </a:rPr>
              <a:t>("</a:t>
            </a:r>
            <a:r>
              <a:rPr lang="nb-NO" sz="1400" dirty="0" err="1">
                <a:latin typeface="Times New Roman" charset="0"/>
                <a:ea typeface="ＭＳ Ｐゴシック" charset="0"/>
                <a:cs typeface="ＭＳ Ｐゴシック" charset="0"/>
              </a:rPr>
              <a:t>ShowGridPane</a:t>
            </a:r>
            <a:r>
              <a:rPr lang="nb-NO" sz="1400" dirty="0">
                <a:latin typeface="Times New Roman" charset="0"/>
                <a:ea typeface="ＭＳ Ｐゴシック" charset="0"/>
                <a:cs typeface="ＭＳ Ｐゴシック" charset="0"/>
              </a:rPr>
              <a:t>"); // Set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stage </a:t>
            </a:r>
            <a:r>
              <a:rPr lang="nb-NO" sz="1400" dirty="0" err="1">
                <a:latin typeface="Times New Roman" charset="0"/>
                <a:ea typeface="ＭＳ Ｐゴシック" charset="0"/>
                <a:cs typeface="ＭＳ Ｐゴシック" charset="0"/>
              </a:rPr>
              <a:t>title</a:t>
            </a:r>
            <a:endParaRPr lang="nb-NO" sz="1400" dirty="0">
              <a:latin typeface="Times New Roman" charset="0"/>
              <a:ea typeface="ＭＳ Ｐゴシック" charset="0"/>
              <a:cs typeface="ＭＳ Ｐゴシック" charset="0"/>
            </a:endParaRP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primaryStage.setScene</a:t>
            </a:r>
            <a:r>
              <a:rPr lang="nb-NO" sz="1400" dirty="0">
                <a:latin typeface="Times New Roman" charset="0"/>
                <a:ea typeface="ＭＳ Ｐゴシック" charset="0"/>
                <a:cs typeface="ＭＳ Ｐゴシック" charset="0"/>
              </a:rPr>
              <a:t>(scene); // Place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scene in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stage</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primaryStage.show</a:t>
            </a:r>
            <a:r>
              <a:rPr lang="nb-NO" sz="1400" dirty="0">
                <a:latin typeface="Times New Roman" charset="0"/>
                <a:ea typeface="ＭＳ Ｐゴシック" charset="0"/>
                <a:cs typeface="ＭＳ Ｐゴシック" charset="0"/>
              </a:rPr>
              <a:t>(); // Display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stage</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 The </a:t>
            </a:r>
            <a:r>
              <a:rPr lang="nb-NO" sz="1400" dirty="0" err="1">
                <a:latin typeface="Times New Roman" charset="0"/>
                <a:ea typeface="ＭＳ Ｐゴシック" charset="0"/>
                <a:cs typeface="ＭＳ Ｐゴシック" charset="0"/>
              </a:rPr>
              <a:t>main</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method</a:t>
            </a:r>
            <a:r>
              <a:rPr lang="nb-NO" sz="1400" dirty="0">
                <a:latin typeface="Times New Roman" charset="0"/>
                <a:ea typeface="ＭＳ Ｐゴシック" charset="0"/>
                <a:cs typeface="ＭＳ Ｐゴシック" charset="0"/>
              </a:rPr>
              <a:t> is </a:t>
            </a:r>
            <a:r>
              <a:rPr lang="nb-NO" sz="1400" dirty="0" err="1">
                <a:latin typeface="Times New Roman" charset="0"/>
                <a:ea typeface="ＭＳ Ｐゴシック" charset="0"/>
                <a:cs typeface="ＭＳ Ｐゴシック" charset="0"/>
              </a:rPr>
              <a:t>only</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needed</a:t>
            </a:r>
            <a:r>
              <a:rPr lang="nb-NO" sz="1400" dirty="0">
                <a:latin typeface="Times New Roman" charset="0"/>
                <a:ea typeface="ＭＳ Ｐゴシック" charset="0"/>
                <a:cs typeface="ＭＳ Ｐゴシック" charset="0"/>
              </a:rPr>
              <a:t> for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IDE </a:t>
            </a:r>
            <a:r>
              <a:rPr lang="nb-NO" sz="1400" dirty="0" err="1">
                <a:latin typeface="Times New Roman" charset="0"/>
                <a:ea typeface="ＭＳ Ｐゴシック" charset="0"/>
                <a:cs typeface="ＭＳ Ｐゴシック" charset="0"/>
              </a:rPr>
              <a:t>with</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limited</a:t>
            </a:r>
            <a:endParaRPr lang="nb-NO" sz="1400" dirty="0">
              <a:latin typeface="Times New Roman" charset="0"/>
              <a:ea typeface="ＭＳ Ｐゴシック" charset="0"/>
              <a:cs typeface="ＭＳ Ｐゴシック" charset="0"/>
            </a:endParaRPr>
          </a:p>
          <a:p>
            <a:pPr>
              <a:defRPr/>
            </a:pPr>
            <a:r>
              <a:rPr lang="nb-NO" sz="1400" dirty="0">
                <a:latin typeface="Times New Roman" charset="0"/>
                <a:ea typeface="ＭＳ Ｐゴシック" charset="0"/>
                <a:cs typeface="ＭＳ Ｐゴシック" charset="0"/>
              </a:rPr>
              <a:t>   * </a:t>
            </a:r>
            <a:r>
              <a:rPr lang="nb-NO" sz="1400" dirty="0" err="1">
                <a:latin typeface="Times New Roman" charset="0"/>
                <a:ea typeface="ＭＳ Ｐゴシック" charset="0"/>
                <a:cs typeface="ＭＳ Ｐゴシック" charset="0"/>
              </a:rPr>
              <a:t>JavaFX</a:t>
            </a:r>
            <a:r>
              <a:rPr lang="nb-NO" sz="1400" dirty="0">
                <a:latin typeface="Times New Roman" charset="0"/>
                <a:ea typeface="ＭＳ Ｐゴシック" charset="0"/>
                <a:cs typeface="ＭＳ Ｐゴシック" charset="0"/>
              </a:rPr>
              <a:t> support. Not </a:t>
            </a:r>
            <a:r>
              <a:rPr lang="nb-NO" sz="1400" dirty="0" err="1">
                <a:latin typeface="Times New Roman" charset="0"/>
                <a:ea typeface="ＭＳ Ｐゴシック" charset="0"/>
                <a:cs typeface="ＭＳ Ｐゴシック" charset="0"/>
              </a:rPr>
              <a:t>needed</a:t>
            </a:r>
            <a:r>
              <a:rPr lang="nb-NO" sz="1400" dirty="0">
                <a:latin typeface="Times New Roman" charset="0"/>
                <a:ea typeface="ＭＳ Ｐゴシック" charset="0"/>
                <a:cs typeface="ＭＳ Ｐゴシック" charset="0"/>
              </a:rPr>
              <a:t> for </a:t>
            </a:r>
            <a:r>
              <a:rPr lang="nb-NO" sz="1400" dirty="0" err="1">
                <a:latin typeface="Times New Roman" charset="0"/>
                <a:ea typeface="ＭＳ Ｐゴシック" charset="0"/>
                <a:cs typeface="ＭＳ Ｐゴシック" charset="0"/>
              </a:rPr>
              <a:t>running</a:t>
            </a:r>
            <a:r>
              <a:rPr lang="nb-NO" sz="1400" dirty="0">
                <a:latin typeface="Times New Roman" charset="0"/>
                <a:ea typeface="ＭＳ Ｐゴシック" charset="0"/>
                <a:cs typeface="ＭＳ Ｐゴシック" charset="0"/>
              </a:rPr>
              <a:t> from </a:t>
            </a:r>
            <a:r>
              <a:rPr lang="nb-NO" sz="1400" dirty="0" err="1">
                <a:latin typeface="Times New Roman" charset="0"/>
                <a:ea typeface="ＭＳ Ｐゴシック" charset="0"/>
                <a:cs typeface="ＭＳ Ｐゴシック" charset="0"/>
              </a:rPr>
              <a:t>the</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command</a:t>
            </a:r>
            <a:r>
              <a:rPr lang="nb-NO" sz="1400" dirty="0">
                <a:latin typeface="Times New Roman" charset="0"/>
                <a:ea typeface="ＭＳ Ｐゴシック" charset="0"/>
                <a:cs typeface="ＭＳ Ｐゴシック" charset="0"/>
              </a:rPr>
              <a:t> line.</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public</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static</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void</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main</a:t>
            </a:r>
            <a:r>
              <a:rPr lang="nb-NO" sz="1400" dirty="0">
                <a:latin typeface="Times New Roman" charset="0"/>
                <a:ea typeface="ＭＳ Ｐゴシック" charset="0"/>
                <a:cs typeface="ＭＳ Ｐゴシック" charset="0"/>
              </a:rPr>
              <a:t>(</a:t>
            </a:r>
            <a:r>
              <a:rPr lang="nb-NO" sz="1400" dirty="0" err="1">
                <a:latin typeface="Times New Roman" charset="0"/>
                <a:ea typeface="ＭＳ Ｐゴシック" charset="0"/>
                <a:cs typeface="ＭＳ Ｐゴシック" charset="0"/>
              </a:rPr>
              <a:t>String</a:t>
            </a: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args</a:t>
            </a: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a:t>
            </a:r>
            <a:r>
              <a:rPr lang="nb-NO" sz="1400" dirty="0" err="1">
                <a:latin typeface="Times New Roman" charset="0"/>
                <a:ea typeface="ＭＳ Ｐゴシック" charset="0"/>
                <a:cs typeface="ＭＳ Ｐゴシック" charset="0"/>
              </a:rPr>
              <a:t>launch</a:t>
            </a:r>
            <a:r>
              <a:rPr lang="nb-NO" sz="1400" dirty="0">
                <a:latin typeface="Times New Roman" charset="0"/>
                <a:ea typeface="ＭＳ Ｐゴシック" charset="0"/>
                <a:cs typeface="ＭＳ Ｐゴシック" charset="0"/>
              </a:rPr>
              <a:t>(</a:t>
            </a:r>
            <a:r>
              <a:rPr lang="nb-NO" sz="1400" dirty="0" err="1">
                <a:latin typeface="Times New Roman" charset="0"/>
                <a:ea typeface="ＭＳ Ｐゴシック" charset="0"/>
                <a:cs typeface="ＭＳ Ｐゴシック" charset="0"/>
              </a:rPr>
              <a:t>args</a:t>
            </a:r>
            <a:r>
              <a:rPr lang="nb-NO" sz="1400" dirty="0">
                <a:latin typeface="Times New Roman" charset="0"/>
                <a:ea typeface="ＭＳ Ｐゴシック" charset="0"/>
                <a:cs typeface="ＭＳ Ｐゴシック" charset="0"/>
              </a:rPr>
              <a:t>);</a:t>
            </a:r>
          </a:p>
          <a:p>
            <a:pPr>
              <a:defRPr/>
            </a:pPr>
            <a:r>
              <a:rPr lang="nb-NO" sz="1400" dirty="0">
                <a:latin typeface="Times New Roman" charset="0"/>
                <a:ea typeface="ＭＳ Ｐゴシック" charset="0"/>
                <a:cs typeface="ＭＳ Ｐゴシック" charset="0"/>
              </a:rPr>
              <a:t>  }</a:t>
            </a:r>
          </a:p>
          <a:p>
            <a:pPr>
              <a:defRPr/>
            </a:pPr>
            <a:r>
              <a:rPr lang="nb-NO" sz="1400" dirty="0">
                <a:latin typeface="Times New Roman" charset="0"/>
                <a:ea typeface="ＭＳ Ｐゴシック" charset="0"/>
                <a:cs typeface="ＭＳ Ｐゴシック" charset="0"/>
              </a:rPr>
              <a:t>} </a:t>
            </a:r>
            <a:endParaRPr lang="en-US" sz="1400" dirty="0">
              <a:latin typeface="Times New Roman" charset="0"/>
              <a:ea typeface="ＭＳ Ｐゴシック" charset="0"/>
              <a:cs typeface="ＭＳ Ｐゴシック" charset="0"/>
            </a:endParaRPr>
          </a:p>
        </p:txBody>
      </p:sp>
      <p:pic>
        <p:nvPicPr>
          <p:cNvPr id="8" name="Picture 7"/>
          <p:cNvPicPr>
            <a:picLocks noChangeAspect="1"/>
          </p:cNvPicPr>
          <p:nvPr/>
        </p:nvPicPr>
        <p:blipFill>
          <a:blip r:embed="rId2" cstate="print"/>
          <a:stretch>
            <a:fillRect/>
          </a:stretch>
        </p:blipFill>
        <p:spPr>
          <a:xfrm>
            <a:off x="533400" y="4667250"/>
            <a:ext cx="3263900" cy="2159000"/>
          </a:xfrm>
          <a:prstGeom prst="rect">
            <a:avLst/>
          </a:prstGeom>
          <a:ln>
            <a:solidFill>
              <a:schemeClr val="bg1">
                <a:lumMod val="75000"/>
              </a:schemeClr>
            </a:solidFill>
          </a:ln>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228600" y="152400"/>
            <a:ext cx="8686800" cy="762000"/>
          </a:xfrm>
        </p:spPr>
        <p:txBody>
          <a:bodyPr/>
          <a:lstStyle/>
          <a:p>
            <a:pPr algn="ctr">
              <a:defRPr/>
            </a:pP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BorderPane</a:t>
            </a:r>
            <a:endParaRPr lang="en-US" sz="4800" b="1" dirty="0">
              <a:solidFill>
                <a:schemeClr val="tx1"/>
              </a:solidFill>
              <a:latin typeface="Times New Roman" panose="02020603050405020304" pitchFamily="18" charset="0"/>
              <a:ea typeface="ＭＳ Ｐゴシック" charset="0"/>
              <a:cs typeface="Times New Roman" panose="02020603050405020304" pitchFamily="18" charset="0"/>
            </a:endParaRPr>
          </a:p>
        </p:txBody>
      </p:sp>
      <p:sp>
        <p:nvSpPr>
          <p:cNvPr id="33796"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797"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798"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799"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0"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1"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2"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3"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4" name="Rectangle 3"/>
          <p:cNvSpPr>
            <a:spLocks noChangeArrowheads="1"/>
          </p:cNvSpPr>
          <p:nvPr/>
        </p:nvSpPr>
        <p:spPr bwMode="auto">
          <a:xfrm>
            <a:off x="0" y="24003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06" name="Rectangle 3"/>
          <p:cNvSpPr>
            <a:spLocks noChangeArrowheads="1"/>
          </p:cNvSpPr>
          <p:nvPr/>
        </p:nvSpPr>
        <p:spPr bwMode="auto">
          <a:xfrm>
            <a:off x="0" y="37179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10"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3811" name="Rectangle 3"/>
          <p:cNvSpPr>
            <a:spLocks noChangeArrowheads="1"/>
          </p:cNvSpPr>
          <p:nvPr/>
        </p:nvSpPr>
        <p:spPr bwMode="auto">
          <a:xfrm>
            <a:off x="0" y="17748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33812" name="Picture 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88" y="1439863"/>
            <a:ext cx="9028112" cy="3490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1" name="Rectangle 20">
            <a:hlinkClick r:id="rId3"/>
          </p:cNvPr>
          <p:cNvSpPr>
            <a:spLocks noChangeArrowheads="1"/>
          </p:cNvSpPr>
          <p:nvPr/>
        </p:nvSpPr>
        <p:spPr bwMode="auto">
          <a:xfrm>
            <a:off x="5259388" y="55626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ShowBorderPane</a:t>
            </a:r>
            <a:endParaRPr lang="en-US" altLang="en-US" sz="2000" dirty="0"/>
          </a:p>
        </p:txBody>
      </p:sp>
      <p:sp>
        <p:nvSpPr>
          <p:cNvPr id="22" name="AutoShape 10">
            <a:hlinkClick r:id="rId4" action="ppaction://program" highlightClick="1"/>
          </p:cNvPr>
          <p:cNvSpPr>
            <a:spLocks noChangeArrowheads="1"/>
          </p:cNvSpPr>
          <p:nvPr/>
        </p:nvSpPr>
        <p:spPr bwMode="auto">
          <a:xfrm>
            <a:off x="7683500" y="55626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ChangeArrowheads="1"/>
          </p:cNvSpPr>
          <p:nvPr/>
        </p:nvSpPr>
        <p:spPr bwMode="auto">
          <a:xfrm>
            <a:off x="0" y="23813"/>
            <a:ext cx="4953000" cy="698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javafx.geometry.Insets;</a:t>
            </a:r>
          </a:p>
          <a:p>
            <a:r>
              <a:rPr lang="en-US" altLang="en-US" sz="1400"/>
              <a:t>import javafx.scene.Scene;</a:t>
            </a:r>
          </a:p>
          <a:p>
            <a:r>
              <a:rPr lang="en-US" altLang="en-US" sz="1400"/>
              <a:t>import javafx.scene.control.Label;</a:t>
            </a:r>
          </a:p>
          <a:p>
            <a:r>
              <a:rPr lang="en-US" altLang="en-US" sz="1400"/>
              <a:t>import javafx.scene.layout.BorderPane;</a:t>
            </a:r>
          </a:p>
          <a:p>
            <a:r>
              <a:rPr lang="en-US" altLang="en-US" sz="1400"/>
              <a:t>import javafx.scene.layout.StackPane;</a:t>
            </a:r>
          </a:p>
          <a:p>
            <a:r>
              <a:rPr lang="en-US" altLang="en-US" sz="1400"/>
              <a:t>import javafx.stage.Stage;</a:t>
            </a:r>
          </a:p>
          <a:p>
            <a:endParaRPr lang="en-US" altLang="en-US" sz="1400"/>
          </a:p>
          <a:p>
            <a:r>
              <a:rPr lang="en-US" altLang="en-US" sz="1400"/>
              <a:t>public class ShowBorderPane extends Application {</a:t>
            </a:r>
          </a:p>
          <a:p>
            <a:r>
              <a:rPr lang="en-US" altLang="en-US" sz="1400"/>
              <a:t>  @Override // Override the start method in the Application class</a:t>
            </a:r>
          </a:p>
          <a:p>
            <a:r>
              <a:rPr lang="en-US" altLang="en-US" sz="1400"/>
              <a:t>  public void start(Stage primaryStage) {</a:t>
            </a:r>
          </a:p>
          <a:p>
            <a:r>
              <a:rPr lang="en-US" altLang="en-US" sz="1400"/>
              <a:t>    // Create a border pane </a:t>
            </a:r>
          </a:p>
          <a:p>
            <a:r>
              <a:rPr lang="en-US" altLang="en-US" sz="1400"/>
              <a:t>    BorderPane pane = new BorderPane();</a:t>
            </a:r>
          </a:p>
          <a:p>
            <a:endParaRPr lang="en-US" altLang="en-US" sz="1400"/>
          </a:p>
          <a:p>
            <a:r>
              <a:rPr lang="en-US" altLang="en-US" sz="1400"/>
              <a:t>    // Place nodes in the pane</a:t>
            </a:r>
          </a:p>
          <a:p>
            <a:r>
              <a:rPr lang="en-US" altLang="en-US" sz="1400"/>
              <a:t>    pane.setTop(new CustomPane("Top")); </a:t>
            </a:r>
          </a:p>
          <a:p>
            <a:r>
              <a:rPr lang="en-US" altLang="en-US" sz="1400"/>
              <a:t>    pane.setRight(new CustomPane("Right"));</a:t>
            </a:r>
          </a:p>
          <a:p>
            <a:r>
              <a:rPr lang="en-US" altLang="en-US" sz="1400"/>
              <a:t>    pane.setBottom(new CustomPane("Bottom"));</a:t>
            </a:r>
          </a:p>
          <a:p>
            <a:r>
              <a:rPr lang="en-US" altLang="en-US" sz="1400"/>
              <a:t>    pane.setLeft(new CustomPane("Left"));</a:t>
            </a:r>
          </a:p>
          <a:p>
            <a:r>
              <a:rPr lang="en-US" altLang="en-US" sz="1400"/>
              <a:t>    pane.setCenter(new CustomPane("Center")); </a:t>
            </a:r>
          </a:p>
          <a:p>
            <a:r>
              <a:rPr lang="en-US" altLang="en-US" sz="1400"/>
              <a:t>    </a:t>
            </a:r>
          </a:p>
          <a:p>
            <a:r>
              <a:rPr lang="en-US" altLang="en-US" sz="1400"/>
              <a:t>    // Create a scene and place it in the stage</a:t>
            </a:r>
          </a:p>
          <a:p>
            <a:r>
              <a:rPr lang="en-US" altLang="en-US" sz="1400"/>
              <a:t>    Scene scene = new Scene(pane);</a:t>
            </a:r>
          </a:p>
          <a:p>
            <a:r>
              <a:rPr lang="en-US" altLang="en-US" sz="1400"/>
              <a:t>    primaryStage.setTitle("ShowBorderPane"); // Set the stage title</a:t>
            </a:r>
          </a:p>
          <a:p>
            <a:r>
              <a:rPr lang="en-US" altLang="en-US" sz="1400"/>
              <a:t>    primaryStage.setScene(scene); // Place the scene in the stage</a:t>
            </a:r>
          </a:p>
          <a:p>
            <a:r>
              <a:rPr lang="en-US" altLang="en-US" sz="1400"/>
              <a:t>    primaryStage.show(); // Display the stage</a:t>
            </a:r>
          </a:p>
          <a:p>
            <a:r>
              <a:rPr lang="en-US" altLang="en-US" sz="1400"/>
              <a:t>  }</a:t>
            </a:r>
          </a:p>
          <a:p>
            <a:r>
              <a:rPr lang="en-US" altLang="en-US" sz="1400"/>
              <a:t>  public static void main(String[] args) {</a:t>
            </a:r>
          </a:p>
          <a:p>
            <a:r>
              <a:rPr lang="en-US" altLang="en-US" sz="1400"/>
              <a:t>    launch(args);</a:t>
            </a:r>
          </a:p>
          <a:p>
            <a:r>
              <a:rPr lang="en-US" altLang="en-US" sz="1400"/>
              <a:t>  }</a:t>
            </a:r>
          </a:p>
          <a:p>
            <a:r>
              <a:rPr lang="en-US" altLang="en-US" sz="1400"/>
              <a:t>} </a:t>
            </a:r>
          </a:p>
        </p:txBody>
      </p:sp>
      <p:sp>
        <p:nvSpPr>
          <p:cNvPr id="5" name="Rectangle 4"/>
          <p:cNvSpPr/>
          <p:nvPr/>
        </p:nvSpPr>
        <p:spPr>
          <a:xfrm>
            <a:off x="4538663" y="0"/>
            <a:ext cx="4572000" cy="2032000"/>
          </a:xfrm>
          <a:prstGeom prst="rect">
            <a:avLst/>
          </a:prstGeom>
          <a:ln>
            <a:solidFill>
              <a:schemeClr val="bg1">
                <a:lumMod val="85000"/>
              </a:schemeClr>
            </a:solidFill>
          </a:ln>
        </p:spPr>
        <p:txBody>
          <a:bodyPr>
            <a:spAutoFit/>
          </a:bodyPr>
          <a:lstStyle/>
          <a:p>
            <a:pPr>
              <a:defRPr/>
            </a:pPr>
            <a:r>
              <a:rPr lang="en-US" sz="1400" dirty="0">
                <a:latin typeface="Times New Roman" charset="0"/>
                <a:ea typeface="ＭＳ Ｐゴシック" charset="0"/>
                <a:cs typeface="ＭＳ Ｐゴシック" charset="0"/>
              </a:rPr>
              <a:t>// Define a custom pane to hold a label in the center of the pane</a:t>
            </a:r>
          </a:p>
          <a:p>
            <a:pPr>
              <a:defRPr/>
            </a:pPr>
            <a:r>
              <a:rPr lang="en-US" sz="1400" dirty="0">
                <a:latin typeface="Times New Roman" charset="0"/>
                <a:ea typeface="ＭＳ Ｐゴシック" charset="0"/>
                <a:cs typeface="ＭＳ Ｐゴシック" charset="0"/>
              </a:rPr>
              <a:t>class </a:t>
            </a:r>
            <a:r>
              <a:rPr lang="en-US" sz="1400" dirty="0" err="1">
                <a:latin typeface="Times New Roman" charset="0"/>
                <a:ea typeface="ＭＳ Ｐゴシック" charset="0"/>
                <a:cs typeface="ＭＳ Ｐゴシック" charset="0"/>
              </a:rPr>
              <a:t>CustomPane</a:t>
            </a:r>
            <a:r>
              <a:rPr lang="en-US" sz="1400" dirty="0">
                <a:latin typeface="Times New Roman" charset="0"/>
                <a:ea typeface="ＭＳ Ｐゴシック" charset="0"/>
                <a:cs typeface="ＭＳ Ｐゴシック" charset="0"/>
              </a:rPr>
              <a:t> extends </a:t>
            </a:r>
            <a:r>
              <a:rPr lang="en-US" sz="1400" dirty="0" err="1">
                <a:latin typeface="Times New Roman" charset="0"/>
                <a:ea typeface="ＭＳ Ｐゴシック" charset="0"/>
                <a:cs typeface="ＭＳ Ｐゴシック" charset="0"/>
              </a:rPr>
              <a:t>StackPane</a:t>
            </a: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  public </a:t>
            </a:r>
            <a:r>
              <a:rPr lang="en-US" sz="1400" dirty="0" err="1">
                <a:latin typeface="Times New Roman" charset="0"/>
                <a:ea typeface="ＭＳ Ｐゴシック" charset="0"/>
                <a:cs typeface="ＭＳ Ｐゴシック" charset="0"/>
              </a:rPr>
              <a:t>CustomPane</a:t>
            </a:r>
            <a:r>
              <a:rPr lang="en-US" sz="1400" dirty="0">
                <a:latin typeface="Times New Roman" charset="0"/>
                <a:ea typeface="ＭＳ Ｐゴシック" charset="0"/>
                <a:cs typeface="ＭＳ Ｐゴシック" charset="0"/>
              </a:rPr>
              <a:t>(String title) {</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getChildren</a:t>
            </a:r>
            <a:r>
              <a:rPr lang="en-US" sz="1400" dirty="0">
                <a:latin typeface="Times New Roman" charset="0"/>
                <a:ea typeface="ＭＳ Ｐゴシック" charset="0"/>
                <a:cs typeface="ＭＳ Ｐゴシック" charset="0"/>
              </a:rPr>
              <a:t>().add(new Label(title));</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setStyle</a:t>
            </a:r>
            <a:r>
              <a:rPr lang="en-US" sz="1400" dirty="0">
                <a:latin typeface="Times New Roman" charset="0"/>
                <a:ea typeface="ＭＳ Ｐゴシック" charset="0"/>
                <a:cs typeface="ＭＳ Ｐゴシック" charset="0"/>
              </a:rPr>
              <a:t>("-</a:t>
            </a:r>
            <a:r>
              <a:rPr lang="en-US" sz="1400" dirty="0" err="1">
                <a:latin typeface="Times New Roman" charset="0"/>
                <a:ea typeface="ＭＳ Ｐゴシック" charset="0"/>
                <a:cs typeface="ＭＳ Ｐゴシック" charset="0"/>
              </a:rPr>
              <a:t>fx</a:t>
            </a:r>
            <a:r>
              <a:rPr lang="en-US" sz="1400" dirty="0">
                <a:latin typeface="Times New Roman" charset="0"/>
                <a:ea typeface="ＭＳ Ｐゴシック" charset="0"/>
                <a:cs typeface="ＭＳ Ｐゴシック" charset="0"/>
              </a:rPr>
              <a:t>-border-color: red");</a:t>
            </a:r>
          </a:p>
          <a:p>
            <a:pPr>
              <a:defRPr/>
            </a:pPr>
            <a:r>
              <a:rPr lang="en-US" sz="1400" dirty="0">
                <a:latin typeface="Times New Roman" charset="0"/>
                <a:ea typeface="ＭＳ Ｐゴシック" charset="0"/>
                <a:cs typeface="ＭＳ Ｐゴシック" charset="0"/>
              </a:rPr>
              <a:t>    </a:t>
            </a:r>
            <a:r>
              <a:rPr lang="en-US" sz="1400" dirty="0" err="1">
                <a:latin typeface="Times New Roman" charset="0"/>
                <a:ea typeface="ＭＳ Ｐゴシック" charset="0"/>
                <a:cs typeface="ＭＳ Ｐゴシック" charset="0"/>
              </a:rPr>
              <a:t>setPadding</a:t>
            </a:r>
            <a:r>
              <a:rPr lang="en-US" sz="1400" dirty="0">
                <a:latin typeface="Times New Roman" charset="0"/>
                <a:ea typeface="ＭＳ Ｐゴシック" charset="0"/>
                <a:cs typeface="ＭＳ Ｐゴシック" charset="0"/>
              </a:rPr>
              <a:t>(new Insets(11.5, 12.5, 13.5, 14.5));</a:t>
            </a:r>
          </a:p>
          <a:p>
            <a:pPr>
              <a:defRPr/>
            </a:pPr>
            <a:r>
              <a:rPr lang="en-US" sz="1400" dirty="0">
                <a:latin typeface="Times New Roman" charset="0"/>
                <a:ea typeface="ＭＳ Ｐゴシック" charset="0"/>
                <a:cs typeface="ＭＳ Ｐゴシック" charset="0"/>
              </a:rPr>
              <a:t>  }</a:t>
            </a:r>
          </a:p>
          <a:p>
            <a:pPr>
              <a:defRPr/>
            </a:pPr>
            <a:r>
              <a:rPr lang="en-US" sz="1400" dirty="0">
                <a:latin typeface="Times New Roman" charset="0"/>
                <a:ea typeface="ＭＳ Ｐゴシック" charset="0"/>
                <a:cs typeface="ＭＳ Ｐゴシック" charset="0"/>
              </a:rPr>
              <a:t>}</a:t>
            </a:r>
          </a:p>
        </p:txBody>
      </p:sp>
      <p:pic>
        <p:nvPicPr>
          <p:cNvPr id="34821"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5400" y="2590800"/>
            <a:ext cx="23749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228600" y="152400"/>
            <a:ext cx="8686800" cy="762000"/>
          </a:xfrm>
        </p:spPr>
        <p:txBody>
          <a:bodyPr/>
          <a:lstStyle/>
          <a:p>
            <a:pPr algn="ctr">
              <a:defRPr/>
            </a:pP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HBox</a:t>
            </a:r>
            <a:endParaRPr lang="en-US" sz="4800" b="1" dirty="0">
              <a:solidFill>
                <a:schemeClr val="tx1"/>
              </a:solidFill>
              <a:latin typeface="Times New Roman" panose="02020603050405020304" pitchFamily="18" charset="0"/>
              <a:ea typeface="ＭＳ Ｐゴシック" charset="0"/>
              <a:cs typeface="Times New Roman" panose="02020603050405020304" pitchFamily="18" charset="0"/>
            </a:endParaRPr>
          </a:p>
        </p:txBody>
      </p:sp>
      <p:sp>
        <p:nvSpPr>
          <p:cNvPr id="35844"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45"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46"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47"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48"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49"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0"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1"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2" name="Rectangle 3"/>
          <p:cNvSpPr>
            <a:spLocks noChangeArrowheads="1"/>
          </p:cNvSpPr>
          <p:nvPr/>
        </p:nvSpPr>
        <p:spPr bwMode="auto">
          <a:xfrm>
            <a:off x="0" y="24003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3"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4" name="Rectangle 3"/>
          <p:cNvSpPr>
            <a:spLocks noChangeArrowheads="1"/>
          </p:cNvSpPr>
          <p:nvPr/>
        </p:nvSpPr>
        <p:spPr bwMode="auto">
          <a:xfrm>
            <a:off x="0" y="37179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6" name="Rectangle 3"/>
          <p:cNvSpPr>
            <a:spLocks noChangeArrowheads="1"/>
          </p:cNvSpPr>
          <p:nvPr/>
        </p:nvSpPr>
        <p:spPr bwMode="auto">
          <a:xfrm>
            <a:off x="0" y="17748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5857"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35858"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550" y="1219200"/>
            <a:ext cx="8724900" cy="2686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228600" y="152400"/>
            <a:ext cx="8686800" cy="762000"/>
          </a:xfrm>
        </p:spPr>
        <p:txBody>
          <a:bodyPr/>
          <a:lstStyle/>
          <a:p>
            <a:pPr algn="ctr">
              <a:defRPr/>
            </a:pPr>
            <a:r>
              <a:rPr lang="en-US" sz="4800" b="1" dirty="0" err="1">
                <a:solidFill>
                  <a:schemeClr val="tx1"/>
                </a:solidFill>
                <a:latin typeface="Times New Roman" panose="02020603050405020304" pitchFamily="18" charset="0"/>
                <a:ea typeface="ＭＳ Ｐゴシック" charset="0"/>
                <a:cs typeface="Times New Roman" panose="02020603050405020304" pitchFamily="18" charset="0"/>
              </a:rPr>
              <a:t>VBox</a:t>
            </a:r>
            <a:endParaRPr lang="en-US" sz="4800" b="1" dirty="0">
              <a:solidFill>
                <a:schemeClr val="tx1"/>
              </a:solidFill>
              <a:latin typeface="Times New Roman" panose="02020603050405020304" pitchFamily="18" charset="0"/>
              <a:ea typeface="ＭＳ Ｐゴシック" charset="0"/>
              <a:cs typeface="Times New Roman" panose="02020603050405020304" pitchFamily="18" charset="0"/>
            </a:endParaRPr>
          </a:p>
        </p:txBody>
      </p:sp>
      <p:sp>
        <p:nvSpPr>
          <p:cNvPr id="36868"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69" name="Rectangle 3"/>
          <p:cNvSpPr>
            <a:spLocks noChangeArrowheads="1"/>
          </p:cNvSpPr>
          <p:nvPr/>
        </p:nvSpPr>
        <p:spPr bwMode="auto">
          <a:xfrm>
            <a:off x="0" y="30321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0"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1" name="Rectangle 3"/>
          <p:cNvSpPr>
            <a:spLocks noChangeArrowheads="1"/>
          </p:cNvSpPr>
          <p:nvPr/>
        </p:nvSpPr>
        <p:spPr bwMode="auto">
          <a:xfrm>
            <a:off x="0" y="26892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2"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3" name="Rectangle 3"/>
          <p:cNvSpPr>
            <a:spLocks noChangeArrowheads="1"/>
          </p:cNvSpPr>
          <p:nvPr/>
        </p:nvSpPr>
        <p:spPr bwMode="auto">
          <a:xfrm>
            <a:off x="0" y="13716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4"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6" name="Rectangle 3"/>
          <p:cNvSpPr>
            <a:spLocks noChangeArrowheads="1"/>
          </p:cNvSpPr>
          <p:nvPr/>
        </p:nvSpPr>
        <p:spPr bwMode="auto">
          <a:xfrm>
            <a:off x="0" y="24003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7"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78" name="Rectangle 3"/>
          <p:cNvSpPr>
            <a:spLocks noChangeArrowheads="1"/>
          </p:cNvSpPr>
          <p:nvPr/>
        </p:nvSpPr>
        <p:spPr bwMode="auto">
          <a:xfrm>
            <a:off x="0" y="37179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82"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83" name="Rectangle 3"/>
          <p:cNvSpPr>
            <a:spLocks noChangeArrowheads="1"/>
          </p:cNvSpPr>
          <p:nvPr/>
        </p:nvSpPr>
        <p:spPr bwMode="auto">
          <a:xfrm>
            <a:off x="0" y="1774825"/>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84"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85" name="Rectangle 2"/>
          <p:cNvSpPr>
            <a:spLocks noChangeArrowheads="1"/>
          </p:cNvSpPr>
          <p:nvPr/>
        </p:nvSpPr>
        <p:spPr bwMode="auto">
          <a:xfrm>
            <a:off x="0" y="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36886" name="Rectangle 3"/>
          <p:cNvSpPr>
            <a:spLocks noChangeArrowheads="1"/>
          </p:cNvSpPr>
          <p:nvPr/>
        </p:nvSpPr>
        <p:spPr bwMode="auto">
          <a:xfrm>
            <a:off x="0" y="1714500"/>
            <a:ext cx="9144000" cy="0"/>
          </a:xfrm>
          <a:prstGeom prst="rect">
            <a:avLst/>
          </a:prstGeom>
          <a:noFill/>
          <a:ln>
            <a:noFill/>
          </a:ln>
          <a:effectLst>
            <a:prstShdw prst="shdw17" dist="17961" dir="2700000">
              <a:srgbClr val="7A7A7A">
                <a:alpha val="74997"/>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36887"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63" y="1524000"/>
            <a:ext cx="8743950" cy="282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4" name="Rectangle 23">
            <a:hlinkClick r:id="rId3"/>
          </p:cNvPr>
          <p:cNvSpPr>
            <a:spLocks noChangeArrowheads="1"/>
          </p:cNvSpPr>
          <p:nvPr/>
        </p:nvSpPr>
        <p:spPr bwMode="auto">
          <a:xfrm>
            <a:off x="5259388" y="55626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ShowHBoxVBox</a:t>
            </a:r>
            <a:endParaRPr lang="en-US" altLang="en-US" sz="2000" dirty="0"/>
          </a:p>
        </p:txBody>
      </p:sp>
      <p:sp>
        <p:nvSpPr>
          <p:cNvPr id="25" name="AutoShape 10">
            <a:hlinkClick r:id="rId4" action="ppaction://program" highlightClick="1"/>
          </p:cNvPr>
          <p:cNvSpPr>
            <a:spLocks noChangeArrowheads="1"/>
          </p:cNvSpPr>
          <p:nvPr/>
        </p:nvSpPr>
        <p:spPr bwMode="auto">
          <a:xfrm>
            <a:off x="7683500" y="55626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ChangeArrowheads="1"/>
          </p:cNvSpPr>
          <p:nvPr/>
        </p:nvSpPr>
        <p:spPr bwMode="auto">
          <a:xfrm>
            <a:off x="0" y="-14288"/>
            <a:ext cx="5029200" cy="612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import javafx.application.Application;</a:t>
            </a:r>
          </a:p>
          <a:p>
            <a:r>
              <a:rPr lang="en-US" altLang="en-US" sz="1400"/>
              <a:t>import javafx.geometry.Insets;</a:t>
            </a:r>
          </a:p>
          <a:p>
            <a:r>
              <a:rPr lang="en-US" altLang="en-US" sz="1400"/>
              <a:t>import javafx.scene.Scene;</a:t>
            </a:r>
          </a:p>
          <a:p>
            <a:r>
              <a:rPr lang="en-US" altLang="en-US" sz="1400"/>
              <a:t>import javafx.scene.control.Button;</a:t>
            </a:r>
          </a:p>
          <a:p>
            <a:r>
              <a:rPr lang="en-US" altLang="en-US" sz="1400"/>
              <a:t>import javafx.scene.control.Label;</a:t>
            </a:r>
          </a:p>
          <a:p>
            <a:r>
              <a:rPr lang="en-US" altLang="en-US" sz="1400"/>
              <a:t>import javafx.scene.layout.BorderPane;</a:t>
            </a:r>
          </a:p>
          <a:p>
            <a:r>
              <a:rPr lang="en-US" altLang="en-US" sz="1400"/>
              <a:t>import javafx.scene.layout.HBox;</a:t>
            </a:r>
          </a:p>
          <a:p>
            <a:r>
              <a:rPr lang="en-US" altLang="en-US" sz="1400"/>
              <a:t>import javafx.scene.layout.VBox;</a:t>
            </a:r>
          </a:p>
          <a:p>
            <a:r>
              <a:rPr lang="en-US" altLang="en-US" sz="1400"/>
              <a:t>import javafx.stage.Stage;</a:t>
            </a:r>
          </a:p>
          <a:p>
            <a:r>
              <a:rPr lang="en-US" altLang="en-US" sz="1400"/>
              <a:t>import javafx.scene.image.Image;</a:t>
            </a:r>
          </a:p>
          <a:p>
            <a:r>
              <a:rPr lang="en-US" altLang="en-US" sz="1400"/>
              <a:t>import javafx.scene.image.ImageView;</a:t>
            </a:r>
          </a:p>
          <a:p>
            <a:endParaRPr lang="en-US" altLang="en-US" sz="1400"/>
          </a:p>
          <a:p>
            <a:r>
              <a:rPr lang="en-US" altLang="en-US" sz="1400"/>
              <a:t>public class ShowHBoxVBox extends Application {</a:t>
            </a:r>
          </a:p>
          <a:p>
            <a:r>
              <a:rPr lang="en-US" altLang="en-US" sz="1400"/>
              <a:t>  @Override // Override the start method in the Application class</a:t>
            </a:r>
          </a:p>
          <a:p>
            <a:r>
              <a:rPr lang="en-US" altLang="en-US" sz="1400"/>
              <a:t>  public void start(Stage primaryStage) {</a:t>
            </a:r>
          </a:p>
          <a:p>
            <a:r>
              <a:rPr lang="en-US" altLang="en-US" sz="1400"/>
              <a:t>    // Create a border pane </a:t>
            </a:r>
          </a:p>
          <a:p>
            <a:r>
              <a:rPr lang="en-US" altLang="en-US" sz="1400"/>
              <a:t>    BorderPane pane = new BorderPane();</a:t>
            </a:r>
          </a:p>
          <a:p>
            <a:endParaRPr lang="en-US" altLang="en-US" sz="1400"/>
          </a:p>
          <a:p>
            <a:r>
              <a:rPr lang="en-US" altLang="en-US" sz="1400"/>
              <a:t>    // Place nodes in the pane</a:t>
            </a:r>
          </a:p>
          <a:p>
            <a:r>
              <a:rPr lang="en-US" altLang="en-US" sz="1400"/>
              <a:t>    pane.setTop(getHBox()); </a:t>
            </a:r>
          </a:p>
          <a:p>
            <a:r>
              <a:rPr lang="en-US" altLang="en-US" sz="1400"/>
              <a:t>    pane.setLeft(getVBox());</a:t>
            </a:r>
          </a:p>
          <a:p>
            <a:r>
              <a:rPr lang="en-US" altLang="en-US" sz="1400"/>
              <a:t>    </a:t>
            </a:r>
          </a:p>
          <a:p>
            <a:r>
              <a:rPr lang="en-US" altLang="en-US" sz="1400"/>
              <a:t>    // Create a scene and place it in the stage</a:t>
            </a:r>
          </a:p>
          <a:p>
            <a:r>
              <a:rPr lang="en-US" altLang="en-US" sz="1400"/>
              <a:t>    Scene scene = new Scene(pane);</a:t>
            </a:r>
          </a:p>
          <a:p>
            <a:r>
              <a:rPr lang="en-US" altLang="en-US" sz="1400"/>
              <a:t>    primaryStage.setTitle("ShowHBoxVBox"); // Set the stage title</a:t>
            </a:r>
          </a:p>
          <a:p>
            <a:r>
              <a:rPr lang="en-US" altLang="en-US" sz="1400"/>
              <a:t>    primaryStage.setScene(scene); // Place the scene in the stage</a:t>
            </a:r>
          </a:p>
          <a:p>
            <a:r>
              <a:rPr lang="en-US" altLang="en-US" sz="1400"/>
              <a:t>    primaryStage.show(); // Display the stage</a:t>
            </a:r>
          </a:p>
          <a:p>
            <a:r>
              <a:rPr lang="en-US" altLang="en-US" sz="1400"/>
              <a:t>  }</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ChangeArrowheads="1"/>
          </p:cNvSpPr>
          <p:nvPr/>
        </p:nvSpPr>
        <p:spPr bwMode="auto">
          <a:xfrm>
            <a:off x="0" y="0"/>
            <a:ext cx="54864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400"/>
              <a:t> private HBox getHBox() {</a:t>
            </a:r>
          </a:p>
          <a:p>
            <a:r>
              <a:rPr lang="en-US" altLang="en-US" sz="1400"/>
              <a:t>    HBox hBox = new HBox(15); </a:t>
            </a:r>
          </a:p>
          <a:p>
            <a:r>
              <a:rPr lang="en-US" altLang="en-US" sz="1400"/>
              <a:t>    hBox.setPadding(new Insets(15, 15, 15, 15));</a:t>
            </a:r>
          </a:p>
          <a:p>
            <a:r>
              <a:rPr lang="en-US" altLang="en-US" sz="1400"/>
              <a:t>    hBox.setStyle("-fx-background-color: gold");</a:t>
            </a:r>
          </a:p>
          <a:p>
            <a:r>
              <a:rPr lang="en-US" altLang="en-US" sz="1400"/>
              <a:t>    hBox.getChildren().add(new Button("Computer Science"));</a:t>
            </a:r>
          </a:p>
          <a:p>
            <a:r>
              <a:rPr lang="en-US" altLang="en-US" sz="1400"/>
              <a:t>    hBox.getChildren().add(new Button("Chemistry"));</a:t>
            </a:r>
          </a:p>
          <a:p>
            <a:r>
              <a:rPr lang="en-US" altLang="en-US" sz="1400"/>
              <a:t>    ImageView imageView = new ImageView(new Image("image/us.gif"));</a:t>
            </a:r>
          </a:p>
          <a:p>
            <a:r>
              <a:rPr lang="en-US" altLang="en-US" sz="1400"/>
              <a:t>    hBox.getChildren().add(imageView);</a:t>
            </a:r>
          </a:p>
          <a:p>
            <a:r>
              <a:rPr lang="en-US" altLang="en-US" sz="1400"/>
              <a:t>    return hBox;</a:t>
            </a:r>
          </a:p>
          <a:p>
            <a:r>
              <a:rPr lang="en-US" altLang="en-US" sz="1400"/>
              <a:t>  }</a:t>
            </a:r>
          </a:p>
          <a:p>
            <a:r>
              <a:rPr lang="en-US" altLang="en-US" sz="1400"/>
              <a:t>  </a:t>
            </a:r>
          </a:p>
          <a:p>
            <a:r>
              <a:rPr lang="en-US" altLang="en-US" sz="1400"/>
              <a:t>  private VBox getVBox() {</a:t>
            </a:r>
          </a:p>
          <a:p>
            <a:r>
              <a:rPr lang="en-US" altLang="en-US" sz="1400"/>
              <a:t>    VBox vBox = new VBox(15);</a:t>
            </a:r>
          </a:p>
          <a:p>
            <a:r>
              <a:rPr lang="en-US" altLang="en-US" sz="1400"/>
              <a:t>    vBox.setPadding(new Insets(15, 5, 5, 5));</a:t>
            </a:r>
          </a:p>
          <a:p>
            <a:r>
              <a:rPr lang="en-US" altLang="en-US" sz="1400"/>
              <a:t>    vBox.getChildren().add(new Label("Courses"));</a:t>
            </a:r>
          </a:p>
          <a:p>
            <a:r>
              <a:rPr lang="en-US" altLang="en-US" sz="1400"/>
              <a:t>    </a:t>
            </a:r>
          </a:p>
          <a:p>
            <a:r>
              <a:rPr lang="en-US" altLang="en-US" sz="1400"/>
              <a:t>    Label[] courses = {new Label("CSCI 1301"), new Label("CSCI 1302"), </a:t>
            </a:r>
          </a:p>
          <a:p>
            <a:r>
              <a:rPr lang="en-US" altLang="en-US" sz="1400"/>
              <a:t>        new Label("CSCI 2410"), new Label("CSCI 3720")};</a:t>
            </a:r>
          </a:p>
          <a:p>
            <a:endParaRPr lang="en-US" altLang="en-US" sz="1400"/>
          </a:p>
          <a:p>
            <a:r>
              <a:rPr lang="en-US" altLang="en-US" sz="1400"/>
              <a:t>    for (Label course: courses) {</a:t>
            </a:r>
          </a:p>
          <a:p>
            <a:r>
              <a:rPr lang="en-US" altLang="en-US" sz="1400"/>
              <a:t>      VBox.setMargin(course, new Insets(0, 0, 0, 15));</a:t>
            </a:r>
          </a:p>
          <a:p>
            <a:r>
              <a:rPr lang="en-US" altLang="en-US" sz="1400"/>
              <a:t>      vBox.getChildren().add(course);</a:t>
            </a:r>
          </a:p>
          <a:p>
            <a:r>
              <a:rPr lang="en-US" altLang="en-US" sz="1400"/>
              <a:t>    }   </a:t>
            </a:r>
          </a:p>
          <a:p>
            <a:r>
              <a:rPr lang="en-US" altLang="en-US" sz="1400"/>
              <a:t>    return vBox;</a:t>
            </a:r>
          </a:p>
          <a:p>
            <a:r>
              <a:rPr lang="en-US" altLang="en-US" sz="1400"/>
              <a:t>  }</a:t>
            </a:r>
          </a:p>
          <a:p>
            <a:r>
              <a:rPr lang="en-US" altLang="en-US" sz="1400"/>
              <a:t>  </a:t>
            </a:r>
          </a:p>
          <a:p>
            <a:r>
              <a:rPr lang="en-US" altLang="en-US" sz="1400"/>
              <a:t>public static void main(String[] args) {</a:t>
            </a:r>
          </a:p>
          <a:p>
            <a:r>
              <a:rPr lang="en-US" altLang="en-US" sz="1400"/>
              <a:t>    launch(args);</a:t>
            </a:r>
          </a:p>
          <a:p>
            <a:r>
              <a:rPr lang="en-US" altLang="en-US" sz="1400"/>
              <a:t>  }</a:t>
            </a:r>
          </a:p>
          <a:p>
            <a:r>
              <a:rPr lang="en-US" altLang="en-US" sz="1400"/>
              <a:t>} </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914400"/>
            <a:ext cx="55118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685800" y="228600"/>
            <a:ext cx="7772400" cy="533400"/>
          </a:xfrm>
        </p:spPr>
        <p:txBody>
          <a:bodyPr/>
          <a:lstStyle/>
          <a:p>
            <a:pPr algn="ctr">
              <a:defRPr/>
            </a:pPr>
            <a:r>
              <a:rPr lang="en-US" b="1" dirty="0">
                <a:solidFill>
                  <a:schemeClr val="tx1"/>
                </a:solidFill>
                <a:latin typeface="Times New Roman" panose="02020603050405020304" pitchFamily="18" charset="0"/>
                <a:ea typeface="ＭＳ Ｐゴシック" charset="0"/>
                <a:cs typeface="Times New Roman" panose="02020603050405020304" pitchFamily="18" charset="0"/>
              </a:rPr>
              <a:t>Frequently Used UI Controls</a:t>
            </a:r>
          </a:p>
        </p:txBody>
      </p:sp>
      <p:sp>
        <p:nvSpPr>
          <p:cNvPr id="6148" name="Rectangle 3"/>
          <p:cNvSpPr>
            <a:spLocks noChangeArrowheads="1"/>
          </p:cNvSpPr>
          <p:nvPr/>
        </p:nvSpPr>
        <p:spPr bwMode="auto">
          <a:xfrm>
            <a:off x="914400" y="1371600"/>
            <a:ext cx="7924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p>
            <a:pPr>
              <a:spcBef>
                <a:spcPct val="20000"/>
              </a:spcBef>
              <a:buClr>
                <a:schemeClr val="tx2"/>
              </a:buClr>
              <a:buSzPct val="75000"/>
              <a:buFont typeface="Monotype Sorts" charset="0"/>
              <a:buNone/>
              <a:defRPr/>
            </a:pPr>
            <a:endParaRPr lang="en-US" sz="2600">
              <a:latin typeface="Courier New" charset="0"/>
              <a:ea typeface="ＭＳ Ｐゴシック" charset="0"/>
              <a:cs typeface="ＭＳ Ｐゴシック" charset="0"/>
            </a:endParaRPr>
          </a:p>
        </p:txBody>
      </p:sp>
      <p:sp>
        <p:nvSpPr>
          <p:cNvPr id="114693"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6150" name="Rectangle 3"/>
          <p:cNvSpPr txBox="1">
            <a:spLocks noChangeArrowheads="1"/>
          </p:cNvSpPr>
          <p:nvPr/>
        </p:nvSpPr>
        <p:spPr bwMode="auto">
          <a:xfrm>
            <a:off x="228600" y="4343400"/>
            <a:ext cx="8686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a:defRPr sz="3200">
                <a:solidFill>
                  <a:schemeClr val="tx1"/>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000">
                <a:solidFill>
                  <a:schemeClr val="tx1"/>
                </a:solidFill>
                <a:latin typeface="Times New Roman" charset="0"/>
                <a:ea typeface="ＭＳ Ｐゴシック" charset="0"/>
              </a:defRPr>
            </a:lvl4pPr>
            <a:lvl5pPr>
              <a:defRPr sz="2000">
                <a:solidFill>
                  <a:schemeClr val="tx1"/>
                </a:solidFill>
                <a:latin typeface="Times New Roman" charset="0"/>
                <a:ea typeface="ＭＳ Ｐゴシック" charset="0"/>
              </a:defRPr>
            </a:lvl5pPr>
            <a:lvl6pPr eaLnBrk="0" fontAlgn="base" hangingPunct="0">
              <a:spcBef>
                <a:spcPct val="20000"/>
              </a:spcBef>
              <a:spcAft>
                <a:spcPct val="0"/>
              </a:spcAft>
              <a:buClr>
                <a:schemeClr val="tx2"/>
              </a:buClr>
              <a:defRPr sz="2000">
                <a:solidFill>
                  <a:schemeClr val="tx1"/>
                </a:solidFill>
                <a:latin typeface="Times New Roman" charset="0"/>
                <a:ea typeface="ＭＳ Ｐゴシック" charset="0"/>
              </a:defRPr>
            </a:lvl6pPr>
            <a:lvl7pPr eaLnBrk="0" fontAlgn="base" hangingPunct="0">
              <a:spcBef>
                <a:spcPct val="20000"/>
              </a:spcBef>
              <a:spcAft>
                <a:spcPct val="0"/>
              </a:spcAft>
              <a:buClr>
                <a:schemeClr val="tx2"/>
              </a:buClr>
              <a:defRPr sz="2000">
                <a:solidFill>
                  <a:schemeClr val="tx1"/>
                </a:solidFill>
                <a:latin typeface="Times New Roman" charset="0"/>
                <a:ea typeface="ＭＳ Ｐゴシック" charset="0"/>
              </a:defRPr>
            </a:lvl7pPr>
            <a:lvl8pPr eaLnBrk="0" fontAlgn="base" hangingPunct="0">
              <a:spcBef>
                <a:spcPct val="20000"/>
              </a:spcBef>
              <a:spcAft>
                <a:spcPct val="0"/>
              </a:spcAft>
              <a:buClr>
                <a:schemeClr val="tx2"/>
              </a:buClr>
              <a:defRPr sz="2000">
                <a:solidFill>
                  <a:schemeClr val="tx1"/>
                </a:solidFill>
                <a:latin typeface="Times New Roman" charset="0"/>
                <a:ea typeface="ＭＳ Ｐゴシック" charset="0"/>
              </a:defRPr>
            </a:lvl8pPr>
            <a:lvl9pPr eaLnBrk="0" fontAlgn="base" hangingPunct="0">
              <a:spcBef>
                <a:spcPct val="20000"/>
              </a:spcBef>
              <a:spcAft>
                <a:spcPct val="0"/>
              </a:spcAft>
              <a:buClr>
                <a:schemeClr val="tx2"/>
              </a:buClr>
              <a:defRPr sz="2000">
                <a:solidFill>
                  <a:schemeClr val="tx1"/>
                </a:solidFill>
                <a:latin typeface="Times New Roman" charset="0"/>
                <a:ea typeface="ＭＳ Ｐゴシック" charset="0"/>
              </a:defRPr>
            </a:lvl9pPr>
          </a:lstStyle>
          <a:p>
            <a:pPr>
              <a:spcBef>
                <a:spcPct val="20000"/>
              </a:spcBef>
              <a:buClr>
                <a:schemeClr val="tx2"/>
              </a:buClr>
              <a:buSzPct val="75000"/>
              <a:buFont typeface="Monotype Sorts" charset="0"/>
              <a:buNone/>
              <a:defRPr/>
            </a:pPr>
            <a:r>
              <a:rPr lang="en-US" sz="2400" dirty="0">
                <a:cs typeface="ＭＳ Ｐゴシック" charset="0"/>
              </a:rPr>
              <a:t>Throughout this book, the prefixes </a:t>
            </a:r>
            <a:r>
              <a:rPr lang="en-US" sz="2400" b="1" dirty="0" err="1">
                <a:cs typeface="ＭＳ Ｐゴシック" charset="0"/>
              </a:rPr>
              <a:t>lbl</a:t>
            </a:r>
            <a:r>
              <a:rPr lang="en-US" sz="2400" dirty="0">
                <a:cs typeface="ＭＳ Ｐゴシック" charset="0"/>
              </a:rPr>
              <a:t>, </a:t>
            </a:r>
            <a:r>
              <a:rPr lang="en-US" sz="2400" b="1" dirty="0" err="1">
                <a:cs typeface="ＭＳ Ｐゴシック" charset="0"/>
              </a:rPr>
              <a:t>bt</a:t>
            </a:r>
            <a:r>
              <a:rPr lang="en-US" sz="2400" dirty="0">
                <a:cs typeface="ＭＳ Ｐゴシック" charset="0"/>
              </a:rPr>
              <a:t>, </a:t>
            </a:r>
            <a:r>
              <a:rPr lang="en-US" sz="2400" b="1" dirty="0" err="1">
                <a:cs typeface="ＭＳ Ｐゴシック" charset="0"/>
              </a:rPr>
              <a:t>chk</a:t>
            </a:r>
            <a:r>
              <a:rPr lang="en-US" sz="2400" dirty="0">
                <a:cs typeface="ＭＳ Ｐゴシック" charset="0"/>
              </a:rPr>
              <a:t>, </a:t>
            </a:r>
            <a:r>
              <a:rPr lang="en-US" sz="2400" b="1" dirty="0" err="1">
                <a:cs typeface="ＭＳ Ｐゴシック" charset="0"/>
              </a:rPr>
              <a:t>rb</a:t>
            </a:r>
            <a:r>
              <a:rPr lang="en-US" sz="2400" dirty="0">
                <a:cs typeface="ＭＳ Ｐゴシック" charset="0"/>
              </a:rPr>
              <a:t>, </a:t>
            </a:r>
            <a:r>
              <a:rPr lang="en-US" sz="2400" b="1" dirty="0" err="1">
                <a:cs typeface="ＭＳ Ｐゴシック" charset="0"/>
              </a:rPr>
              <a:t>tf</a:t>
            </a:r>
            <a:r>
              <a:rPr lang="en-US" sz="2400" dirty="0">
                <a:cs typeface="ＭＳ Ｐゴシック" charset="0"/>
              </a:rPr>
              <a:t>, </a:t>
            </a:r>
            <a:r>
              <a:rPr lang="en-US" sz="2400" b="1" dirty="0">
                <a:cs typeface="ＭＳ Ｐゴシック" charset="0"/>
              </a:rPr>
              <a:t>pf</a:t>
            </a:r>
            <a:r>
              <a:rPr lang="en-US" sz="2400" dirty="0">
                <a:cs typeface="ＭＳ Ｐゴシック" charset="0"/>
              </a:rPr>
              <a:t>, </a:t>
            </a:r>
            <a:r>
              <a:rPr lang="en-US" sz="2400" b="1" dirty="0">
                <a:cs typeface="ＭＳ Ｐゴシック" charset="0"/>
              </a:rPr>
              <a:t>ta</a:t>
            </a:r>
            <a:r>
              <a:rPr lang="en-US" sz="2400" dirty="0">
                <a:cs typeface="ＭＳ Ｐゴシック" charset="0"/>
              </a:rPr>
              <a:t>, </a:t>
            </a:r>
            <a:r>
              <a:rPr lang="en-US" sz="2400" b="1" dirty="0" err="1">
                <a:cs typeface="ＭＳ Ｐゴシック" charset="0"/>
              </a:rPr>
              <a:t>cbo</a:t>
            </a:r>
            <a:r>
              <a:rPr lang="en-US" sz="2400" dirty="0">
                <a:cs typeface="ＭＳ Ｐゴシック" charset="0"/>
              </a:rPr>
              <a:t>, </a:t>
            </a:r>
            <a:r>
              <a:rPr lang="en-US" sz="2400" b="1" dirty="0">
                <a:cs typeface="ＭＳ Ｐゴシック" charset="0"/>
              </a:rPr>
              <a:t>lv</a:t>
            </a:r>
            <a:r>
              <a:rPr lang="en-US" sz="2400" dirty="0">
                <a:cs typeface="ＭＳ Ｐゴシック" charset="0"/>
              </a:rPr>
              <a:t>, </a:t>
            </a:r>
            <a:r>
              <a:rPr lang="en-US" sz="2400" b="1" dirty="0" err="1">
                <a:cs typeface="ＭＳ Ｐゴシック" charset="0"/>
              </a:rPr>
              <a:t>scb</a:t>
            </a:r>
            <a:r>
              <a:rPr lang="en-US" sz="2400" dirty="0">
                <a:cs typeface="ＭＳ Ｐゴシック" charset="0"/>
              </a:rPr>
              <a:t>, </a:t>
            </a:r>
            <a:r>
              <a:rPr lang="en-US" sz="2400" b="1" dirty="0" err="1">
                <a:cs typeface="ＭＳ Ｐゴシック" charset="0"/>
              </a:rPr>
              <a:t>sld</a:t>
            </a:r>
            <a:r>
              <a:rPr lang="en-US" sz="2400" dirty="0">
                <a:cs typeface="ＭＳ Ｐゴシック" charset="0"/>
              </a:rPr>
              <a:t>, and </a:t>
            </a:r>
            <a:r>
              <a:rPr lang="en-US" sz="2400" b="1" dirty="0" err="1">
                <a:cs typeface="ＭＳ Ｐゴシック" charset="0"/>
              </a:rPr>
              <a:t>mp</a:t>
            </a:r>
            <a:r>
              <a:rPr lang="en-US" sz="2400" dirty="0">
                <a:cs typeface="ＭＳ Ｐゴシック" charset="0"/>
              </a:rPr>
              <a:t> are used to name reference variables for </a:t>
            </a:r>
            <a:r>
              <a:rPr lang="en-US" sz="2400" b="1" dirty="0">
                <a:cs typeface="ＭＳ Ｐゴシック" charset="0"/>
              </a:rPr>
              <a:t>Label</a:t>
            </a:r>
            <a:r>
              <a:rPr lang="en-US" sz="2400" dirty="0">
                <a:cs typeface="ＭＳ Ｐゴシック" charset="0"/>
              </a:rPr>
              <a:t>, </a:t>
            </a:r>
            <a:r>
              <a:rPr lang="en-US" sz="2400" b="1" dirty="0">
                <a:cs typeface="ＭＳ Ｐゴシック" charset="0"/>
              </a:rPr>
              <a:t>Button</a:t>
            </a:r>
            <a:r>
              <a:rPr lang="en-US" sz="2400" dirty="0">
                <a:cs typeface="ＭＳ Ｐゴシック" charset="0"/>
              </a:rPr>
              <a:t>, </a:t>
            </a:r>
            <a:r>
              <a:rPr lang="en-US" sz="2400" b="1" dirty="0" err="1">
                <a:cs typeface="ＭＳ Ｐゴシック" charset="0"/>
              </a:rPr>
              <a:t>CheckBox</a:t>
            </a:r>
            <a:r>
              <a:rPr lang="en-US" sz="2400" dirty="0">
                <a:cs typeface="ＭＳ Ｐゴシック" charset="0"/>
              </a:rPr>
              <a:t>, </a:t>
            </a:r>
            <a:r>
              <a:rPr lang="en-US" sz="2400" b="1" dirty="0" err="1">
                <a:cs typeface="ＭＳ Ｐゴシック" charset="0"/>
              </a:rPr>
              <a:t>RadioButton</a:t>
            </a:r>
            <a:r>
              <a:rPr lang="en-US" sz="2400" dirty="0">
                <a:cs typeface="ＭＳ Ｐゴシック" charset="0"/>
              </a:rPr>
              <a:t>, </a:t>
            </a:r>
            <a:r>
              <a:rPr lang="en-US" sz="2400" b="1" dirty="0" err="1">
                <a:cs typeface="ＭＳ Ｐゴシック" charset="0"/>
              </a:rPr>
              <a:t>TextField</a:t>
            </a:r>
            <a:r>
              <a:rPr lang="en-US" sz="2400" dirty="0">
                <a:cs typeface="ＭＳ Ｐゴシック" charset="0"/>
              </a:rPr>
              <a:t>, </a:t>
            </a:r>
            <a:r>
              <a:rPr lang="en-US" sz="2400" b="1" dirty="0" err="1">
                <a:cs typeface="ＭＳ Ｐゴシック" charset="0"/>
              </a:rPr>
              <a:t>PasswordField</a:t>
            </a:r>
            <a:r>
              <a:rPr lang="en-US" sz="2400" dirty="0">
                <a:cs typeface="ＭＳ Ｐゴシック" charset="0"/>
              </a:rPr>
              <a:t>, </a:t>
            </a:r>
            <a:r>
              <a:rPr lang="en-US" sz="2400" b="1" dirty="0" err="1">
                <a:cs typeface="ＭＳ Ｐゴシック" charset="0"/>
              </a:rPr>
              <a:t>TextArea</a:t>
            </a:r>
            <a:r>
              <a:rPr lang="en-US" sz="2400" dirty="0">
                <a:cs typeface="ＭＳ Ｐゴシック" charset="0"/>
              </a:rPr>
              <a:t>, </a:t>
            </a:r>
            <a:r>
              <a:rPr lang="en-US" sz="2400" b="1" dirty="0" err="1">
                <a:cs typeface="ＭＳ Ｐゴシック" charset="0"/>
              </a:rPr>
              <a:t>ComboBox</a:t>
            </a:r>
            <a:r>
              <a:rPr lang="en-US" sz="2400" dirty="0">
                <a:cs typeface="ＭＳ Ｐゴシック" charset="0"/>
              </a:rPr>
              <a:t>, </a:t>
            </a:r>
            <a:r>
              <a:rPr lang="en-US" sz="2400" b="1" dirty="0" err="1">
                <a:cs typeface="ＭＳ Ｐゴシック" charset="0"/>
              </a:rPr>
              <a:t>ListView</a:t>
            </a:r>
            <a:r>
              <a:rPr lang="en-US" sz="2400" dirty="0">
                <a:cs typeface="ＭＳ Ｐゴシック" charset="0"/>
              </a:rPr>
              <a:t>, </a:t>
            </a:r>
            <a:r>
              <a:rPr lang="en-US" sz="2400" b="1" dirty="0" err="1">
                <a:cs typeface="ＭＳ Ｐゴシック" charset="0"/>
              </a:rPr>
              <a:t>ScrollBar</a:t>
            </a:r>
            <a:r>
              <a:rPr lang="en-US" sz="2400" dirty="0">
                <a:cs typeface="ＭＳ Ｐゴシック" charset="0"/>
              </a:rPr>
              <a:t>, </a:t>
            </a:r>
            <a:r>
              <a:rPr lang="en-US" sz="2400" b="1" dirty="0">
                <a:cs typeface="ＭＳ Ｐゴシック" charset="0"/>
              </a:rPr>
              <a:t>Slider</a:t>
            </a:r>
            <a:r>
              <a:rPr lang="en-US" sz="2400" dirty="0">
                <a:cs typeface="ＭＳ Ｐゴシック" charset="0"/>
              </a:rPr>
              <a:t>, and </a:t>
            </a:r>
            <a:r>
              <a:rPr lang="en-US" sz="2400" b="1" dirty="0" err="1">
                <a:cs typeface="ＭＳ Ｐゴシック" charset="0"/>
              </a:rPr>
              <a:t>MediaPlayer</a:t>
            </a:r>
            <a:r>
              <a:rPr lang="en-US" sz="2400" dirty="0">
                <a:cs typeface="ＭＳ Ｐゴシック" charset="0"/>
              </a:rPr>
              <a:t>.</a:t>
            </a:r>
          </a:p>
        </p:txBody>
      </p:sp>
      <p:pic>
        <p:nvPicPr>
          <p:cNvPr id="114695"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700" y="914400"/>
            <a:ext cx="8928100" cy="3309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685800" y="228600"/>
            <a:ext cx="7772400" cy="457200"/>
          </a:xfrm>
        </p:spPr>
        <p:txBody>
          <a:bodyPr/>
          <a:lstStyle/>
          <a:p>
            <a:pPr algn="ctr">
              <a:defRPr/>
            </a:pPr>
            <a:r>
              <a:rPr lang="en-US" sz="4200" b="1" dirty="0">
                <a:solidFill>
                  <a:schemeClr val="tx1"/>
                </a:solidFill>
                <a:latin typeface="Courier New" panose="02070309020205020404" pitchFamily="49" charset="0"/>
                <a:ea typeface="ＭＳ Ｐゴシック" charset="0"/>
                <a:cs typeface="Courier New" panose="02070309020205020404" pitchFamily="49" charset="0"/>
              </a:rPr>
              <a:t>Labeled</a:t>
            </a:r>
          </a:p>
        </p:txBody>
      </p:sp>
      <p:sp>
        <p:nvSpPr>
          <p:cNvPr id="7172" name="Rectangle 3"/>
          <p:cNvSpPr>
            <a:spLocks noGrp="1" noChangeArrowheads="1"/>
          </p:cNvSpPr>
          <p:nvPr>
            <p:ph idx="1"/>
          </p:nvPr>
        </p:nvSpPr>
        <p:spPr>
          <a:xfrm>
            <a:off x="342900" y="1090613"/>
            <a:ext cx="8458200" cy="1143000"/>
          </a:xfrm>
        </p:spPr>
        <p:txBody>
          <a:bodyPr/>
          <a:lstStyle/>
          <a:p>
            <a:pPr marL="0" indent="0">
              <a:buFont typeface="Monotype Sorts" charset="0"/>
              <a:buNone/>
              <a:defRPr/>
            </a:pPr>
            <a:r>
              <a:rPr lang="en-US" sz="2400" dirty="0">
                <a:latin typeface="Times New Roman" panose="02020603050405020304" pitchFamily="18" charset="0"/>
                <a:ea typeface="ＭＳ Ｐゴシック" charset="0"/>
                <a:cs typeface="Times New Roman" panose="02020603050405020304" pitchFamily="18" charset="0"/>
              </a:rPr>
              <a:t>A</a:t>
            </a:r>
            <a:r>
              <a:rPr lang="en-US" sz="2400" i="1" dirty="0">
                <a:latin typeface="Times New Roman" panose="02020603050405020304" pitchFamily="18" charset="0"/>
                <a:ea typeface="ＭＳ Ｐゴシック" charset="0"/>
                <a:cs typeface="Times New Roman" panose="02020603050405020304" pitchFamily="18" charset="0"/>
              </a:rPr>
              <a:t> label </a:t>
            </a:r>
            <a:r>
              <a:rPr lang="en-US" sz="2400" dirty="0">
                <a:latin typeface="Times New Roman" panose="02020603050405020304" pitchFamily="18" charset="0"/>
                <a:ea typeface="ＭＳ Ｐゴシック" charset="0"/>
                <a:cs typeface="Times New Roman" panose="02020603050405020304" pitchFamily="18" charset="0"/>
              </a:rPr>
              <a:t>is a display area for a short text, a node, or both. It is often used to label other controls (usually text fields). Labels and buttons share many common properties. These common properties are defined in the </a:t>
            </a:r>
            <a:r>
              <a:rPr lang="en-US" sz="2400" b="1" dirty="0">
                <a:latin typeface="Times New Roman" panose="02020603050405020304" pitchFamily="18" charset="0"/>
                <a:ea typeface="ＭＳ Ｐゴシック" charset="0"/>
                <a:cs typeface="Times New Roman" panose="02020603050405020304" pitchFamily="18" charset="0"/>
              </a:rPr>
              <a:t>Labeled</a:t>
            </a:r>
            <a:r>
              <a:rPr lang="en-US" sz="2400" dirty="0">
                <a:latin typeface="Times New Roman" panose="02020603050405020304" pitchFamily="18" charset="0"/>
                <a:ea typeface="ＭＳ Ｐゴシック" charset="0"/>
                <a:cs typeface="Times New Roman" panose="02020603050405020304" pitchFamily="18" charset="0"/>
              </a:rPr>
              <a:t> class.</a:t>
            </a:r>
          </a:p>
        </p:txBody>
      </p:sp>
      <p:sp>
        <p:nvSpPr>
          <p:cNvPr id="7173" name="Rectangle 12"/>
          <p:cNvSpPr>
            <a:spLocks noChangeArrowheads="1"/>
          </p:cNvSpPr>
          <p:nvPr/>
        </p:nvSpPr>
        <p:spPr bwMode="auto">
          <a:xfrm>
            <a:off x="1814513" y="1662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7174"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15719"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15720"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25" y="2743200"/>
            <a:ext cx="899795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85800" y="228600"/>
            <a:ext cx="7772400" cy="457200"/>
          </a:xfrm>
        </p:spPr>
        <p:txBody>
          <a:bodyPr/>
          <a:lstStyle/>
          <a:p>
            <a:pPr algn="ctr">
              <a:defRPr/>
            </a:pPr>
            <a:r>
              <a:rPr lang="en-US" sz="4200" b="1" dirty="0">
                <a:solidFill>
                  <a:schemeClr val="tx1"/>
                </a:solidFill>
                <a:latin typeface="Courier New" charset="0"/>
                <a:ea typeface="ＭＳ Ｐゴシック" charset="0"/>
              </a:rPr>
              <a:t>Label</a:t>
            </a:r>
            <a:endParaRPr lang="en-US" sz="4200" b="1" dirty="0">
              <a:solidFill>
                <a:schemeClr val="tx1"/>
              </a:solidFill>
              <a:ea typeface="ＭＳ Ｐゴシック" charset="0"/>
            </a:endParaRPr>
          </a:p>
        </p:txBody>
      </p:sp>
      <p:sp>
        <p:nvSpPr>
          <p:cNvPr id="8196" name="Rectangle 3"/>
          <p:cNvSpPr>
            <a:spLocks noGrp="1" noChangeArrowheads="1"/>
          </p:cNvSpPr>
          <p:nvPr>
            <p:ph idx="1"/>
          </p:nvPr>
        </p:nvSpPr>
        <p:spPr>
          <a:xfrm>
            <a:off x="304800" y="838200"/>
            <a:ext cx="8534400" cy="457200"/>
          </a:xfrm>
        </p:spPr>
        <p:txBody>
          <a:bodyPr/>
          <a:lstStyle/>
          <a:p>
            <a:pPr marL="0" indent="0">
              <a:buFont typeface="Monotype Sorts" charset="0"/>
              <a:buNone/>
              <a:defRPr/>
            </a:pPr>
            <a:r>
              <a:rPr lang="en-US" sz="2400" dirty="0">
                <a:latin typeface="Times New Roman" panose="02020603050405020304" pitchFamily="18" charset="0"/>
                <a:ea typeface="ＭＳ Ｐゴシック" charset="0"/>
                <a:cs typeface="Times New Roman" panose="02020603050405020304" pitchFamily="18" charset="0"/>
              </a:rPr>
              <a:t>The Label class defines labels. </a:t>
            </a:r>
          </a:p>
        </p:txBody>
      </p:sp>
      <p:sp>
        <p:nvSpPr>
          <p:cNvPr id="8197" name="Rectangle 12"/>
          <p:cNvSpPr>
            <a:spLocks noChangeArrowheads="1"/>
          </p:cNvSpPr>
          <p:nvPr/>
        </p:nvSpPr>
        <p:spPr bwMode="auto">
          <a:xfrm>
            <a:off x="1814513" y="1662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8198"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16743"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16744"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16748"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41550" y="1447800"/>
            <a:ext cx="66579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16749"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8763" y="3200400"/>
            <a:ext cx="847090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4" name="Rectangle 8">
            <a:hlinkClick r:id="rId5"/>
          </p:cNvPr>
          <p:cNvSpPr>
            <a:spLocks noChangeArrowheads="1"/>
          </p:cNvSpPr>
          <p:nvPr/>
        </p:nvSpPr>
        <p:spPr bwMode="auto">
          <a:xfrm>
            <a:off x="5599113" y="5867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LabelWithGraphic</a:t>
            </a:r>
            <a:endParaRPr lang="en-US" altLang="en-US" sz="2000" dirty="0"/>
          </a:p>
        </p:txBody>
      </p:sp>
      <p:sp>
        <p:nvSpPr>
          <p:cNvPr id="15" name="AutoShape 10">
            <a:hlinkClick r:id="rId6" action="ppaction://program" highlightClick="1"/>
          </p:cNvPr>
          <p:cNvSpPr>
            <a:spLocks noChangeArrowheads="1"/>
          </p:cNvSpPr>
          <p:nvPr/>
        </p:nvSpPr>
        <p:spPr bwMode="auto">
          <a:xfrm>
            <a:off x="8024813" y="5867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ChangeArrowheads="1"/>
          </p:cNvSpPr>
          <p:nvPr/>
        </p:nvSpPr>
        <p:spPr bwMode="auto">
          <a:xfrm>
            <a:off x="0" y="0"/>
            <a:ext cx="4572000"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javafx.stage.Stage;</a:t>
            </a:r>
          </a:p>
          <a:p>
            <a:r>
              <a:rPr lang="en-US" altLang="en-US" sz="1200"/>
              <a:t>import javafx.scene.Scene;</a:t>
            </a:r>
          </a:p>
          <a:p>
            <a:r>
              <a:rPr lang="en-US" altLang="en-US" sz="1200"/>
              <a:t>import javafx.scene.control.ContentDisplay;</a:t>
            </a:r>
          </a:p>
          <a:p>
            <a:r>
              <a:rPr lang="en-US" altLang="en-US" sz="1200"/>
              <a:t>import javafx.scene.control.Label;</a:t>
            </a:r>
          </a:p>
          <a:p>
            <a:r>
              <a:rPr lang="en-US" altLang="en-US" sz="1200"/>
              <a:t>import javafx.scene.image.Image;</a:t>
            </a:r>
          </a:p>
          <a:p>
            <a:r>
              <a:rPr lang="en-US" altLang="en-US" sz="1200"/>
              <a:t>import javafx.scene.image.ImageView;</a:t>
            </a:r>
          </a:p>
          <a:p>
            <a:r>
              <a:rPr lang="en-US" altLang="en-US" sz="1200"/>
              <a:t>import javafx.scene.layout.HBox;</a:t>
            </a:r>
          </a:p>
          <a:p>
            <a:r>
              <a:rPr lang="en-US" altLang="en-US" sz="1200"/>
              <a:t>import javafx.scene.layout.StackPane;</a:t>
            </a:r>
          </a:p>
          <a:p>
            <a:r>
              <a:rPr lang="en-US" altLang="en-US" sz="1200"/>
              <a:t>import javafx.scene.paint.Color;</a:t>
            </a:r>
          </a:p>
          <a:p>
            <a:r>
              <a:rPr lang="en-US" altLang="en-US" sz="1200"/>
              <a:t>import javafx.scene.shape.Circle;</a:t>
            </a:r>
          </a:p>
          <a:p>
            <a:r>
              <a:rPr lang="en-US" altLang="en-US" sz="1200"/>
              <a:t>import javafx.scene.shape.Rectangle;</a:t>
            </a:r>
          </a:p>
          <a:p>
            <a:r>
              <a:rPr lang="en-US" altLang="en-US" sz="1200"/>
              <a:t>import javafx.scene.shape.Ellipse;</a:t>
            </a:r>
          </a:p>
          <a:p>
            <a:endParaRPr lang="en-US" altLang="en-US" sz="1200"/>
          </a:p>
          <a:p>
            <a:r>
              <a:rPr lang="en-US" altLang="en-US" sz="1200"/>
              <a:t>public class LabelWithGraphic extends Application {</a:t>
            </a:r>
          </a:p>
          <a:p>
            <a:r>
              <a:rPr lang="en-US" altLang="en-US" sz="1200"/>
              <a:t>  @Override // Override the start method in the Application class</a:t>
            </a:r>
          </a:p>
          <a:p>
            <a:r>
              <a:rPr lang="en-US" altLang="en-US" sz="1200"/>
              <a:t>  public void start(Stage primaryStage) {</a:t>
            </a:r>
          </a:p>
          <a:p>
            <a:r>
              <a:rPr lang="en-US" altLang="en-US" sz="1200"/>
              <a:t>    ImageView us = new ImageView(new Image("image/us.gif"));</a:t>
            </a:r>
          </a:p>
          <a:p>
            <a:r>
              <a:rPr lang="en-US" altLang="en-US" sz="1200"/>
              <a:t>    Label lb1 = new Label("US\n50 States", us);</a:t>
            </a:r>
          </a:p>
          <a:p>
            <a:r>
              <a:rPr lang="en-US" altLang="en-US" sz="1200"/>
              <a:t>    lb1.setStyle("-fx-border-color: green; -fx-border-width: 2");</a:t>
            </a:r>
          </a:p>
          <a:p>
            <a:r>
              <a:rPr lang="en-US" altLang="en-US" sz="1200"/>
              <a:t>    lb1.setContentDisplay(ContentDisplay.BOTTOM);</a:t>
            </a:r>
          </a:p>
          <a:p>
            <a:r>
              <a:rPr lang="en-US" altLang="en-US" sz="1200"/>
              <a:t>    lb1.setTextFill(Color.RED);</a:t>
            </a:r>
          </a:p>
          <a:p>
            <a:r>
              <a:rPr lang="en-US" altLang="en-US" sz="1200"/>
              <a:t>    </a:t>
            </a:r>
          </a:p>
          <a:p>
            <a:r>
              <a:rPr lang="en-US" altLang="en-US" sz="1200"/>
              <a:t>    Label lb2 = new Label("Circle", new Circle(50, 50, 25));</a:t>
            </a:r>
          </a:p>
          <a:p>
            <a:r>
              <a:rPr lang="en-US" altLang="en-US" sz="1200"/>
              <a:t>    lb2.setContentDisplay(ContentDisplay.TOP);</a:t>
            </a:r>
          </a:p>
          <a:p>
            <a:r>
              <a:rPr lang="en-US" altLang="en-US" sz="1200"/>
              <a:t>    lb2.setTextFill(Color.ORANGE);</a:t>
            </a:r>
          </a:p>
          <a:p>
            <a:endParaRPr lang="en-US" altLang="en-US" sz="1200"/>
          </a:p>
          <a:p>
            <a:r>
              <a:rPr lang="en-US" altLang="en-US" sz="1200"/>
              <a:t>    Label lb3 = new Label("Retangle", new Rectangle(10, 10, 50, 25));</a:t>
            </a:r>
          </a:p>
          <a:p>
            <a:r>
              <a:rPr lang="en-US" altLang="en-US" sz="1200"/>
              <a:t>    lb3.setContentDisplay(ContentDisplay.RIGHT);</a:t>
            </a:r>
          </a:p>
          <a:p>
            <a:r>
              <a:rPr lang="en-US" altLang="en-US" sz="1200"/>
              <a:t>    </a:t>
            </a:r>
          </a:p>
          <a:p>
            <a:r>
              <a:rPr lang="en-US" altLang="en-US" sz="1200"/>
              <a:t>    Label lb4 = new Label("Ellipse", new Ellipse(50, 50, 50, 25));</a:t>
            </a:r>
          </a:p>
          <a:p>
            <a:r>
              <a:rPr lang="en-US" altLang="en-US" sz="1200"/>
              <a:t>    lb4.setContentDisplay(ContentDisplay.LEFT);</a:t>
            </a:r>
          </a:p>
          <a:p>
            <a:endParaRPr lang="en-US" altLang="en-US" sz="1200"/>
          </a:p>
        </p:txBody>
      </p:sp>
      <p:sp>
        <p:nvSpPr>
          <p:cNvPr id="4" name="Rectangle 3"/>
          <p:cNvSpPr/>
          <p:nvPr/>
        </p:nvSpPr>
        <p:spPr>
          <a:xfrm>
            <a:off x="4610100" y="11113"/>
            <a:ext cx="4572000" cy="4892675"/>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Ellipse ellipse = new Ellipse(50, 50, 50, 25);</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ellipse.setStroke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Color.GREEN</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ellipse.setFill</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Color.WHITE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StackPane</a:t>
            </a: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stackPane</a:t>
            </a:r>
            <a:r>
              <a:rPr lang="en-US" sz="1200" dirty="0">
                <a:latin typeface="Times New Roman" charset="0"/>
                <a:ea typeface="ＭＳ Ｐゴシック" charset="0"/>
                <a:cs typeface="ＭＳ Ｐゴシック" charset="0"/>
              </a:rPr>
              <a:t> = new </a:t>
            </a:r>
            <a:r>
              <a:rPr lang="en-US" sz="1200" dirty="0" err="1">
                <a:latin typeface="Times New Roman" charset="0"/>
                <a:ea typeface="ＭＳ Ｐゴシック" charset="0"/>
                <a:cs typeface="ＭＳ Ｐゴシック" charset="0"/>
              </a:rPr>
              <a:t>StackPane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stackPane.getChildren</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addAll</a:t>
            </a:r>
            <a:r>
              <a:rPr lang="en-US" sz="1200" dirty="0">
                <a:latin typeface="Times New Roman" charset="0"/>
                <a:ea typeface="ＭＳ Ｐゴシック" charset="0"/>
                <a:cs typeface="ＭＳ Ｐゴシック" charset="0"/>
              </a:rPr>
              <a:t>(ellipse, new Label("</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Label lb5 = new Label("A pane inside a label", </a:t>
            </a:r>
            <a:r>
              <a:rPr lang="en-US" sz="1200" dirty="0" err="1">
                <a:latin typeface="Times New Roman" charset="0"/>
                <a:ea typeface="ＭＳ Ｐゴシック" charset="0"/>
                <a:cs typeface="ＭＳ Ｐゴシック" charset="0"/>
              </a:rPr>
              <a:t>stackPane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lb5.setContentDisplay(</a:t>
            </a:r>
            <a:r>
              <a:rPr lang="en-US" sz="1200" dirty="0" err="1">
                <a:latin typeface="Times New Roman" charset="0"/>
                <a:ea typeface="ＭＳ Ｐゴシック" charset="0"/>
                <a:cs typeface="ＭＳ Ｐゴシック" charset="0"/>
              </a:rPr>
              <a:t>ContentDisplay.BOTTOM</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 pane = new </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(20);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pane.getChildren</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addAll</a:t>
            </a:r>
            <a:r>
              <a:rPr lang="en-US" sz="1200" dirty="0">
                <a:latin typeface="Times New Roman" charset="0"/>
                <a:ea typeface="ＭＳ Ｐゴシック" charset="0"/>
                <a:cs typeface="ＭＳ Ｐゴシック" charset="0"/>
              </a:rPr>
              <a:t>(lb1, lb2, lb3, lb4, lb5);</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Scene(pane, 450, 150);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LabelWithGraphic</a:t>
            </a:r>
            <a:r>
              <a:rPr lang="en-US" sz="1200" dirty="0">
                <a:latin typeface="Times New Roman" charset="0"/>
                <a:ea typeface="ＭＳ Ｐゴシック" charset="0"/>
                <a:cs typeface="ＭＳ Ｐゴシック" charset="0"/>
              </a:rPr>
              <a:t>"); // Set the stage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85800" y="228600"/>
            <a:ext cx="7772400" cy="457200"/>
          </a:xfrm>
        </p:spPr>
        <p:txBody>
          <a:bodyPr/>
          <a:lstStyle/>
          <a:p>
            <a:pPr>
              <a:defRPr/>
            </a:pPr>
            <a:r>
              <a:rPr lang="en-US" sz="4200" b="1" dirty="0" err="1">
                <a:solidFill>
                  <a:schemeClr val="tx1"/>
                </a:solidFill>
                <a:latin typeface="Courier New" charset="0"/>
                <a:ea typeface="ＭＳ Ｐゴシック" charset="0"/>
              </a:rPr>
              <a:t>ButtonBase</a:t>
            </a:r>
            <a:r>
              <a:rPr lang="en-US" sz="4200" b="1" dirty="0">
                <a:solidFill>
                  <a:schemeClr val="tx1"/>
                </a:solidFill>
                <a:latin typeface="Courier New" charset="0"/>
                <a:ea typeface="ＭＳ Ｐゴシック" charset="0"/>
              </a:rPr>
              <a:t> and Button</a:t>
            </a:r>
            <a:endParaRPr lang="en-US" sz="4200" b="1" dirty="0">
              <a:solidFill>
                <a:schemeClr val="tx1"/>
              </a:solidFill>
              <a:ea typeface="ＭＳ Ｐゴシック" charset="0"/>
            </a:endParaRPr>
          </a:p>
        </p:txBody>
      </p:sp>
      <p:sp>
        <p:nvSpPr>
          <p:cNvPr id="9220" name="Rectangle 3"/>
          <p:cNvSpPr>
            <a:spLocks noGrp="1" noChangeArrowheads="1"/>
          </p:cNvSpPr>
          <p:nvPr>
            <p:ph idx="1"/>
          </p:nvPr>
        </p:nvSpPr>
        <p:spPr>
          <a:xfrm>
            <a:off x="304800" y="838200"/>
            <a:ext cx="8458200" cy="1143000"/>
          </a:xfrm>
        </p:spPr>
        <p:txBody>
          <a:bodyPr/>
          <a:lstStyle/>
          <a:p>
            <a:pPr marL="0" indent="0">
              <a:buFont typeface="Monotype Sorts" charset="0"/>
              <a:buNone/>
              <a:defRPr/>
            </a:pPr>
            <a:r>
              <a:rPr lang="en-US" sz="2400" dirty="0">
                <a:latin typeface="Times New Roman" panose="02020603050405020304" pitchFamily="18" charset="0"/>
                <a:ea typeface="ＭＳ Ｐゴシック" charset="0"/>
                <a:cs typeface="Times New Roman" panose="02020603050405020304" pitchFamily="18" charset="0"/>
              </a:rPr>
              <a:t>A </a:t>
            </a:r>
            <a:r>
              <a:rPr lang="en-US" sz="2400" i="1" dirty="0">
                <a:latin typeface="Times New Roman" panose="02020603050405020304" pitchFamily="18" charset="0"/>
                <a:ea typeface="ＭＳ Ｐゴシック" charset="0"/>
                <a:cs typeface="Times New Roman" panose="02020603050405020304" pitchFamily="18" charset="0"/>
              </a:rPr>
              <a:t>button</a:t>
            </a:r>
            <a:r>
              <a:rPr lang="en-US" sz="2400" dirty="0">
                <a:latin typeface="Times New Roman" panose="02020603050405020304" pitchFamily="18" charset="0"/>
                <a:ea typeface="ＭＳ Ｐゴシック" charset="0"/>
                <a:cs typeface="Times New Roman" panose="02020603050405020304" pitchFamily="18" charset="0"/>
              </a:rPr>
              <a:t> is a control that triggers an action event when clicked. JavaFX provides regular buttons, toggle buttons, check box buttons, and radio buttons. The common features of these buttons are defined in </a:t>
            </a:r>
            <a:r>
              <a:rPr lang="en-US" sz="2400" b="1" dirty="0" err="1">
                <a:latin typeface="Times New Roman" panose="02020603050405020304" pitchFamily="18" charset="0"/>
                <a:ea typeface="ＭＳ Ｐゴシック" charset="0"/>
                <a:cs typeface="Times New Roman" panose="02020603050405020304" pitchFamily="18" charset="0"/>
              </a:rPr>
              <a:t>ButtonBase</a:t>
            </a:r>
            <a:r>
              <a:rPr lang="en-US" sz="2400" dirty="0">
                <a:latin typeface="Times New Roman" panose="02020603050405020304" pitchFamily="18" charset="0"/>
                <a:ea typeface="ＭＳ Ｐゴシック" charset="0"/>
                <a:cs typeface="Times New Roman" panose="02020603050405020304" pitchFamily="18" charset="0"/>
              </a:rPr>
              <a:t> and </a:t>
            </a:r>
            <a:r>
              <a:rPr lang="en-US" sz="2400" b="1" dirty="0">
                <a:latin typeface="Times New Roman" panose="02020603050405020304" pitchFamily="18" charset="0"/>
                <a:ea typeface="ＭＳ Ｐゴシック" charset="0"/>
                <a:cs typeface="Times New Roman" panose="02020603050405020304" pitchFamily="18" charset="0"/>
              </a:rPr>
              <a:t>Labeled</a:t>
            </a:r>
            <a:r>
              <a:rPr lang="en-US" sz="2400" dirty="0">
                <a:latin typeface="Times New Roman" panose="02020603050405020304" pitchFamily="18" charset="0"/>
                <a:ea typeface="ＭＳ Ｐゴシック" charset="0"/>
                <a:cs typeface="Times New Roman" panose="02020603050405020304" pitchFamily="18" charset="0"/>
              </a:rPr>
              <a:t> classes.</a:t>
            </a:r>
          </a:p>
        </p:txBody>
      </p:sp>
      <p:sp>
        <p:nvSpPr>
          <p:cNvPr id="9221" name="Rectangle 12"/>
          <p:cNvSpPr>
            <a:spLocks noChangeArrowheads="1"/>
          </p:cNvSpPr>
          <p:nvPr/>
        </p:nvSpPr>
        <p:spPr bwMode="auto">
          <a:xfrm>
            <a:off x="1814513" y="1662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9222"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18791"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18792"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18793"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18794"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2667000"/>
            <a:ext cx="8159750"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85800" y="228600"/>
            <a:ext cx="7772400" cy="457200"/>
          </a:xfrm>
        </p:spPr>
        <p:txBody>
          <a:bodyPr/>
          <a:lstStyle/>
          <a:p>
            <a:pPr algn="ctr">
              <a:defRPr/>
            </a:pPr>
            <a:r>
              <a:rPr lang="en-US" sz="4200" b="1" dirty="0">
                <a:solidFill>
                  <a:schemeClr val="tx1"/>
                </a:solidFill>
                <a:latin typeface="Courier New" charset="0"/>
                <a:ea typeface="ＭＳ Ｐゴシック" charset="0"/>
              </a:rPr>
              <a:t>Button Example</a:t>
            </a:r>
            <a:endParaRPr lang="en-US" sz="4200" b="1" dirty="0">
              <a:solidFill>
                <a:schemeClr val="tx1"/>
              </a:solidFill>
              <a:ea typeface="ＭＳ Ｐゴシック" charset="0"/>
            </a:endParaRPr>
          </a:p>
        </p:txBody>
      </p:sp>
      <p:sp>
        <p:nvSpPr>
          <p:cNvPr id="10244"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19813"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19814"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19815"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198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0325" y="2562225"/>
            <a:ext cx="3943350" cy="173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2" name="Rectangle 8">
            <a:hlinkClick r:id="rId4"/>
          </p:cNvPr>
          <p:cNvSpPr>
            <a:spLocks noChangeArrowheads="1"/>
          </p:cNvSpPr>
          <p:nvPr/>
        </p:nvSpPr>
        <p:spPr bwMode="auto">
          <a:xfrm>
            <a:off x="5651500" y="5486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ButtonDemo</a:t>
            </a:r>
          </a:p>
        </p:txBody>
      </p:sp>
      <p:sp>
        <p:nvSpPr>
          <p:cNvPr id="13" name="AutoShape 10">
            <a:hlinkClick r:id="rId5" action="ppaction://program" highlightClick="1"/>
          </p:cNvPr>
          <p:cNvSpPr>
            <a:spLocks noChangeArrowheads="1"/>
          </p:cNvSpPr>
          <p:nvPr/>
        </p:nvSpPr>
        <p:spPr bwMode="auto">
          <a:xfrm>
            <a:off x="8077200" y="5486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2"/>
          <p:cNvSpPr>
            <a:spLocks noChangeArrowheads="1"/>
          </p:cNvSpPr>
          <p:nvPr/>
        </p:nvSpPr>
        <p:spPr bwMode="auto">
          <a:xfrm>
            <a:off x="12700" y="0"/>
            <a:ext cx="4572000" cy="692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javafx.stage.Stage;</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javafx.scene.image.ImageView;</a:t>
            </a:r>
          </a:p>
          <a:p>
            <a:r>
              <a:rPr lang="en-US" altLang="en-US" sz="1200"/>
              <a:t>import javafx.scene.layout.BorderPane;</a:t>
            </a:r>
          </a:p>
          <a:p>
            <a:r>
              <a:rPr lang="en-US" altLang="en-US" sz="1200"/>
              <a:t>import javafx.scene.layout.HBox;</a:t>
            </a:r>
          </a:p>
          <a:p>
            <a:r>
              <a:rPr lang="en-US" altLang="en-US" sz="1200"/>
              <a:t>import javafx.scene.layout.Pane;</a:t>
            </a:r>
          </a:p>
          <a:p>
            <a:r>
              <a:rPr lang="en-US" altLang="en-US" sz="1200"/>
              <a:t>import javafx.scene.text.Text;</a:t>
            </a:r>
          </a:p>
          <a:p>
            <a:endParaRPr lang="en-US" altLang="en-US" sz="1200"/>
          </a:p>
          <a:p>
            <a:r>
              <a:rPr lang="en-US" altLang="en-US" sz="1200"/>
              <a:t>public class ButtonDemo extends Application {</a:t>
            </a:r>
          </a:p>
          <a:p>
            <a:r>
              <a:rPr lang="en-US" altLang="en-US" sz="1200"/>
              <a:t>  protected Text text = new Text(50, 50, "JavaFX Programming");</a:t>
            </a:r>
          </a:p>
          <a:p>
            <a:r>
              <a:rPr lang="en-US" altLang="en-US" sz="1200"/>
              <a:t>  </a:t>
            </a:r>
          </a:p>
          <a:p>
            <a:r>
              <a:rPr lang="en-US" altLang="en-US" sz="1200"/>
              <a:t>  protected BorderPane getPane() {</a:t>
            </a:r>
          </a:p>
          <a:p>
            <a:r>
              <a:rPr lang="en-US" altLang="en-US" sz="1200"/>
              <a:t>    HBox paneForButtons = new HBox(20);</a:t>
            </a:r>
          </a:p>
          <a:p>
            <a:r>
              <a:rPr lang="en-US" altLang="en-US" sz="1200"/>
              <a:t>    Button btLeft = new Button("Left", </a:t>
            </a:r>
          </a:p>
          <a:p>
            <a:r>
              <a:rPr lang="en-US" altLang="en-US" sz="1200"/>
              <a:t>      new ImageView("image/left.gif"));</a:t>
            </a:r>
          </a:p>
          <a:p>
            <a:r>
              <a:rPr lang="en-US" altLang="en-US" sz="1200"/>
              <a:t>    Button btRight = new Button("Right", </a:t>
            </a:r>
          </a:p>
          <a:p>
            <a:r>
              <a:rPr lang="en-US" altLang="en-US" sz="1200"/>
              <a:t>      new ImageView("image/right.gif"));   </a:t>
            </a:r>
          </a:p>
          <a:p>
            <a:r>
              <a:rPr lang="en-US" altLang="en-US" sz="1200"/>
              <a:t>    paneForButtons.getChildren().addAll(btLeft, btRight);</a:t>
            </a:r>
          </a:p>
          <a:p>
            <a:r>
              <a:rPr lang="en-US" altLang="en-US" sz="1200"/>
              <a:t>    paneForButtons.setAlignment(Pos.CENTER);</a:t>
            </a:r>
          </a:p>
          <a:p>
            <a:r>
              <a:rPr lang="en-US" altLang="en-US" sz="1200"/>
              <a:t>    paneForButtons.setStyle("-fx-border-color: green");</a:t>
            </a:r>
          </a:p>
          <a:p>
            <a:endParaRPr lang="en-US" altLang="en-US" sz="1200"/>
          </a:p>
          <a:p>
            <a:r>
              <a:rPr lang="en-US" altLang="en-US" sz="1200"/>
              <a:t>    BorderPane pane = new BorderPane();</a:t>
            </a:r>
          </a:p>
          <a:p>
            <a:r>
              <a:rPr lang="en-US" altLang="en-US" sz="1200"/>
              <a:t>    pane.setBottom(paneForButtons);</a:t>
            </a:r>
          </a:p>
          <a:p>
            <a:r>
              <a:rPr lang="en-US" altLang="en-US" sz="1200"/>
              <a:t>    </a:t>
            </a:r>
          </a:p>
          <a:p>
            <a:r>
              <a:rPr lang="en-US" altLang="en-US" sz="1200"/>
              <a:t>    Pane paneForText = new Pane();</a:t>
            </a:r>
          </a:p>
          <a:p>
            <a:r>
              <a:rPr lang="en-US" altLang="en-US" sz="1200"/>
              <a:t>    paneForText.getChildren().add(text);</a:t>
            </a:r>
          </a:p>
          <a:p>
            <a:r>
              <a:rPr lang="en-US" altLang="en-US" sz="1200"/>
              <a:t>    pane.setCenter(paneForText);</a:t>
            </a:r>
          </a:p>
          <a:p>
            <a:r>
              <a:rPr lang="en-US" altLang="en-US" sz="1200"/>
              <a:t>    </a:t>
            </a:r>
          </a:p>
          <a:p>
            <a:r>
              <a:rPr lang="en-US" altLang="en-US" sz="1200"/>
              <a:t>    btLeft.setOnAction(e -&gt; text.setX(text.getX() - 10));</a:t>
            </a:r>
          </a:p>
          <a:p>
            <a:r>
              <a:rPr lang="en-US" altLang="en-US" sz="1200"/>
              <a:t>    btRight.setOnAction(e -&gt; text.setX(text.getX() + 10));</a:t>
            </a:r>
          </a:p>
          <a:p>
            <a:r>
              <a:rPr lang="en-US" altLang="en-US" sz="1200"/>
              <a:t>    </a:t>
            </a:r>
          </a:p>
          <a:p>
            <a:r>
              <a:rPr lang="en-US" altLang="en-US" sz="1200"/>
              <a:t>    return pane;</a:t>
            </a:r>
          </a:p>
          <a:p>
            <a:r>
              <a:rPr lang="en-US" altLang="en-US" sz="1200"/>
              <a:t>  }</a:t>
            </a:r>
          </a:p>
          <a:p>
            <a:r>
              <a:rPr lang="en-US" altLang="en-US" sz="1200"/>
              <a:t>  </a:t>
            </a:r>
          </a:p>
        </p:txBody>
      </p:sp>
      <p:sp>
        <p:nvSpPr>
          <p:cNvPr id="4" name="Rectangle 3"/>
          <p:cNvSpPr/>
          <p:nvPr/>
        </p:nvSpPr>
        <p:spPr>
          <a:xfrm>
            <a:off x="4597400" y="0"/>
            <a:ext cx="4572000" cy="3232150"/>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@Override // Override the start method in the Application class</a:t>
            </a:r>
          </a:p>
          <a:p>
            <a:pPr>
              <a:defRPr/>
            </a:pPr>
            <a:r>
              <a:rPr lang="en-US" sz="1200" dirty="0">
                <a:latin typeface="Times New Roman" charset="0"/>
                <a:ea typeface="ＭＳ Ｐゴシック" charset="0"/>
                <a:cs typeface="ＭＳ Ｐゴシック" charset="0"/>
              </a:rPr>
              <a:t>  public void start(Stage </a:t>
            </a:r>
            <a:r>
              <a:rPr lang="en-US" sz="1200" dirty="0" err="1">
                <a:latin typeface="Times New Roman" charset="0"/>
                <a:ea typeface="ＭＳ Ｐゴシック" charset="0"/>
                <a:cs typeface="ＭＳ Ｐゴシック" charset="0"/>
              </a:rPr>
              <a:t>primaryStage</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a:t>
            </a:r>
            <a:r>
              <a:rPr lang="en-US" sz="1200" dirty="0" err="1">
                <a:latin typeface="Times New Roman" charset="0"/>
                <a:ea typeface="ＭＳ Ｐゴシック" charset="0"/>
                <a:cs typeface="ＭＳ Ｐゴシック" charset="0"/>
              </a:rPr>
              <a:t>getPane</a:t>
            </a:r>
            <a:r>
              <a:rPr lang="en-US" sz="1200" dirty="0">
                <a:latin typeface="Times New Roman" charset="0"/>
                <a:ea typeface="ＭＳ Ｐゴシック" charset="0"/>
                <a:cs typeface="ＭＳ Ｐゴシック" charset="0"/>
              </a:rPr>
              <a:t>(), 450, 200);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ButtonDemo</a:t>
            </a:r>
            <a:r>
              <a:rPr lang="en-US" sz="1200" dirty="0">
                <a:latin typeface="Times New Roman" charset="0"/>
                <a:ea typeface="ＭＳ Ｐゴシック" charset="0"/>
                <a:cs typeface="ＭＳ Ｐゴシック" charset="0"/>
              </a:rPr>
              <a:t>"); // Set the stage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85800" y="228600"/>
            <a:ext cx="7772400" cy="457200"/>
          </a:xfrm>
        </p:spPr>
        <p:txBody>
          <a:bodyPr/>
          <a:lstStyle/>
          <a:p>
            <a:pPr algn="ctr">
              <a:defRPr/>
            </a:pPr>
            <a:r>
              <a:rPr lang="en-US" sz="4200" b="1" dirty="0" err="1">
                <a:solidFill>
                  <a:schemeClr val="tx1"/>
                </a:solidFill>
                <a:latin typeface="Courier New" charset="0"/>
                <a:ea typeface="ＭＳ Ｐゴシック" charset="0"/>
              </a:rPr>
              <a:t>TextField</a:t>
            </a:r>
            <a:endParaRPr lang="en-US" sz="4200" b="1" dirty="0">
              <a:solidFill>
                <a:schemeClr val="tx1"/>
              </a:solidFill>
              <a:ea typeface="ＭＳ Ｐゴシック" charset="0"/>
            </a:endParaRPr>
          </a:p>
        </p:txBody>
      </p:sp>
      <p:sp>
        <p:nvSpPr>
          <p:cNvPr id="15364" name="Rectangle 3"/>
          <p:cNvSpPr>
            <a:spLocks noGrp="1" noChangeArrowheads="1"/>
          </p:cNvSpPr>
          <p:nvPr>
            <p:ph idx="1"/>
          </p:nvPr>
        </p:nvSpPr>
        <p:spPr>
          <a:xfrm>
            <a:off x="342900" y="1052513"/>
            <a:ext cx="8458200" cy="1219200"/>
          </a:xfrm>
        </p:spPr>
        <p:txBody>
          <a:bodyPr/>
          <a:lstStyle/>
          <a:p>
            <a:pPr marL="0" indent="0">
              <a:buFont typeface="Monotype Sorts" charset="0"/>
              <a:buNone/>
              <a:defRPr/>
            </a:pPr>
            <a:r>
              <a:rPr lang="en-US" sz="2400" dirty="0">
                <a:latin typeface="Times New Roman" panose="02020603050405020304" pitchFamily="18" charset="0"/>
                <a:ea typeface="ＭＳ Ｐゴシック" charset="0"/>
                <a:cs typeface="Times New Roman" panose="02020603050405020304" pitchFamily="18" charset="0"/>
              </a:rPr>
              <a:t>A text field can be used to enter or display a string. </a:t>
            </a:r>
            <a:r>
              <a:rPr lang="en-US" sz="2400" b="1" dirty="0" err="1">
                <a:latin typeface="Times New Roman" panose="02020603050405020304" pitchFamily="18" charset="0"/>
                <a:ea typeface="ＭＳ Ｐゴシック" charset="0"/>
                <a:cs typeface="Times New Roman" panose="02020603050405020304" pitchFamily="18" charset="0"/>
              </a:rPr>
              <a:t>TextField</a:t>
            </a:r>
            <a:r>
              <a:rPr lang="en-US" sz="2400" dirty="0">
                <a:latin typeface="Times New Roman" panose="02020603050405020304" pitchFamily="18" charset="0"/>
                <a:ea typeface="ＭＳ Ｐゴシック" charset="0"/>
                <a:cs typeface="Times New Roman" panose="02020603050405020304" pitchFamily="18" charset="0"/>
              </a:rPr>
              <a:t> is a subclass of </a:t>
            </a:r>
            <a:r>
              <a:rPr lang="en-US" sz="2400" b="1" dirty="0" err="1">
                <a:latin typeface="Times New Roman" panose="02020603050405020304" pitchFamily="18" charset="0"/>
                <a:ea typeface="ＭＳ Ｐゴシック" charset="0"/>
                <a:cs typeface="Times New Roman" panose="02020603050405020304" pitchFamily="18" charset="0"/>
              </a:rPr>
              <a:t>TextInputControl</a:t>
            </a:r>
            <a:r>
              <a:rPr lang="en-US" sz="2400" dirty="0">
                <a:latin typeface="Times New Roman" panose="02020603050405020304" pitchFamily="18" charset="0"/>
                <a:ea typeface="ＭＳ Ｐゴシック" charset="0"/>
                <a:cs typeface="Times New Roman" panose="02020603050405020304" pitchFamily="18" charset="0"/>
              </a:rPr>
              <a:t>. </a:t>
            </a:r>
          </a:p>
        </p:txBody>
      </p:sp>
      <p:sp>
        <p:nvSpPr>
          <p:cNvPr id="15365" name="Rectangle 12"/>
          <p:cNvSpPr>
            <a:spLocks noChangeArrowheads="1"/>
          </p:cNvSpPr>
          <p:nvPr/>
        </p:nvSpPr>
        <p:spPr bwMode="auto">
          <a:xfrm>
            <a:off x="1814513" y="1662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15366"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28007" name="Rectangle 9"/>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28008"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28009"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28010"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800" y="1936750"/>
            <a:ext cx="8813800" cy="407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85800" y="228600"/>
            <a:ext cx="7772400" cy="457200"/>
          </a:xfrm>
        </p:spPr>
        <p:txBody>
          <a:bodyPr/>
          <a:lstStyle/>
          <a:p>
            <a:pPr algn="ctr">
              <a:defRPr/>
            </a:pPr>
            <a:r>
              <a:rPr lang="en-US" sz="4200" b="1" dirty="0" err="1">
                <a:solidFill>
                  <a:schemeClr val="tx1"/>
                </a:solidFill>
                <a:latin typeface="Courier New" charset="0"/>
                <a:ea typeface="ＭＳ Ｐゴシック" charset="0"/>
              </a:rPr>
              <a:t>TextField</a:t>
            </a:r>
            <a:r>
              <a:rPr lang="en-US" sz="4200" b="1" dirty="0">
                <a:solidFill>
                  <a:schemeClr val="tx1"/>
                </a:solidFill>
                <a:latin typeface="Courier New" charset="0"/>
                <a:ea typeface="ＭＳ Ｐゴシック" charset="0"/>
              </a:rPr>
              <a:t> Example</a:t>
            </a:r>
            <a:endParaRPr lang="en-US" sz="4200" b="1" dirty="0">
              <a:solidFill>
                <a:schemeClr val="tx1"/>
              </a:solidFill>
              <a:ea typeface="ＭＳ Ｐゴシック" charset="0"/>
            </a:endParaRPr>
          </a:p>
        </p:txBody>
      </p:sp>
      <p:sp>
        <p:nvSpPr>
          <p:cNvPr id="16388" name="Rectangle 14"/>
          <p:cNvSpPr>
            <a:spLocks noChangeArrowheads="1"/>
          </p:cNvSpPr>
          <p:nvPr/>
        </p:nvSpPr>
        <p:spPr bwMode="auto">
          <a:xfrm>
            <a:off x="0" y="1985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29029" name="Rectangle 10"/>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29030"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129031"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129035"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2286000"/>
            <a:ext cx="420687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8">
            <a:hlinkClick r:id="rId4"/>
          </p:cNvPr>
          <p:cNvSpPr>
            <a:spLocks noChangeArrowheads="1"/>
          </p:cNvSpPr>
          <p:nvPr/>
        </p:nvSpPr>
        <p:spPr bwMode="auto">
          <a:xfrm>
            <a:off x="5651500" y="5486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TextFieldDemo</a:t>
            </a:r>
            <a:endParaRPr lang="en-US" altLang="en-US" sz="2000" dirty="0"/>
          </a:p>
        </p:txBody>
      </p:sp>
      <p:sp>
        <p:nvSpPr>
          <p:cNvPr id="13" name="AutoShape 10">
            <a:hlinkClick r:id="rId5" action="ppaction://program" highlightClick="1"/>
          </p:cNvPr>
          <p:cNvSpPr>
            <a:spLocks noChangeArrowheads="1"/>
          </p:cNvSpPr>
          <p:nvPr/>
        </p:nvSpPr>
        <p:spPr bwMode="auto">
          <a:xfrm>
            <a:off x="8077200" y="5486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1" y="424149"/>
            <a:ext cx="8229600" cy="713016"/>
          </a:xfrm>
        </p:spPr>
        <p:txBody>
          <a:bodyPr/>
          <a:lstStyle/>
          <a:p>
            <a:pPr algn="ctr"/>
            <a:r>
              <a:rPr lang="en-US" b="1" dirty="0">
                <a:solidFill>
                  <a:srgbClr val="0000FF"/>
                </a:solidFill>
              </a:rPr>
              <a:t>Summary</a:t>
            </a:r>
            <a:endParaRPr lang="en-GB" b="1" dirty="0">
              <a:solidFill>
                <a:srgbClr val="0070C0"/>
              </a:solidFill>
            </a:endParaRPr>
          </a:p>
        </p:txBody>
      </p:sp>
      <p:sp>
        <p:nvSpPr>
          <p:cNvPr id="19459" name="Content Placeholder 2"/>
          <p:cNvSpPr>
            <a:spLocks noGrp="1"/>
          </p:cNvSpPr>
          <p:nvPr>
            <p:ph idx="1"/>
          </p:nvPr>
        </p:nvSpPr>
        <p:spPr>
          <a:xfrm>
            <a:off x="327932" y="1285528"/>
            <a:ext cx="8587468" cy="4695469"/>
          </a:xfrm>
        </p:spPr>
        <p:txBody>
          <a:bodyPr/>
          <a:lstStyle/>
          <a:p>
            <a:pPr marL="343792" indent="-343792"/>
            <a:r>
              <a:rPr lang="en-GB" sz="2406" dirty="0">
                <a:latin typeface="Times New Roman" pitchFamily="18" charset="0"/>
                <a:cs typeface="Times New Roman" pitchFamily="18" charset="0"/>
              </a:rPr>
              <a:t>Layout panes – </a:t>
            </a:r>
            <a:r>
              <a:rPr lang="en-GB" sz="2406" dirty="0" err="1">
                <a:latin typeface="Times New Roman" pitchFamily="18" charset="0"/>
                <a:cs typeface="Times New Roman" pitchFamily="18" charset="0"/>
              </a:rPr>
              <a:t>FlowPane</a:t>
            </a:r>
            <a:r>
              <a:rPr lang="en-GB" sz="2406" dirty="0">
                <a:latin typeface="Times New Roman" pitchFamily="18" charset="0"/>
                <a:cs typeface="Times New Roman" pitchFamily="18" charset="0"/>
              </a:rPr>
              <a:t>, </a:t>
            </a:r>
            <a:r>
              <a:rPr lang="en-GB" sz="2406" dirty="0" err="1">
                <a:latin typeface="Times New Roman" pitchFamily="18" charset="0"/>
                <a:cs typeface="Times New Roman" pitchFamily="18" charset="0"/>
              </a:rPr>
              <a:t>GridPane</a:t>
            </a:r>
            <a:r>
              <a:rPr lang="en-GB" sz="2406" dirty="0">
                <a:latin typeface="Times New Roman" pitchFamily="18" charset="0"/>
                <a:cs typeface="Times New Roman" pitchFamily="18" charset="0"/>
              </a:rPr>
              <a:t>, </a:t>
            </a:r>
            <a:r>
              <a:rPr lang="en-GB" sz="2406" dirty="0" err="1">
                <a:latin typeface="Times New Roman" pitchFamily="18" charset="0"/>
                <a:cs typeface="Times New Roman" pitchFamily="18" charset="0"/>
              </a:rPr>
              <a:t>BorderPane</a:t>
            </a:r>
            <a:r>
              <a:rPr lang="en-GB" sz="2406" dirty="0">
                <a:latin typeface="Times New Roman" pitchFamily="18" charset="0"/>
                <a:cs typeface="Times New Roman" pitchFamily="18" charset="0"/>
              </a:rPr>
              <a:t>, </a:t>
            </a:r>
            <a:r>
              <a:rPr lang="en-GB" sz="2406" dirty="0" err="1">
                <a:latin typeface="Times New Roman" pitchFamily="18" charset="0"/>
                <a:cs typeface="Times New Roman" pitchFamily="18" charset="0"/>
              </a:rPr>
              <a:t>Hbox</a:t>
            </a:r>
            <a:r>
              <a:rPr lang="en-GB" sz="2406" dirty="0">
                <a:latin typeface="Times New Roman" pitchFamily="18" charset="0"/>
                <a:cs typeface="Times New Roman" pitchFamily="18" charset="0"/>
              </a:rPr>
              <a:t>, </a:t>
            </a:r>
            <a:r>
              <a:rPr lang="en-GB" sz="2406" dirty="0" err="1">
                <a:latin typeface="Times New Roman" pitchFamily="18" charset="0"/>
                <a:cs typeface="Times New Roman" pitchFamily="18" charset="0"/>
              </a:rPr>
              <a:t>Vbox</a:t>
            </a:r>
            <a:r>
              <a:rPr lang="en-GB" sz="2406" dirty="0">
                <a:latin typeface="Times New Roman" pitchFamily="18" charset="0"/>
                <a:cs typeface="Times New Roman" pitchFamily="18" charset="0"/>
              </a:rPr>
              <a:t> and combinations of them</a:t>
            </a:r>
          </a:p>
          <a:p>
            <a:pPr marL="668540" lvl="1" indent="-343792"/>
            <a:r>
              <a:rPr lang="en-GB" sz="2106" dirty="0">
                <a:latin typeface="Times New Roman" pitchFamily="18" charset="0"/>
                <a:cs typeface="Times New Roman" pitchFamily="18" charset="0"/>
              </a:rPr>
              <a:t>Esp. slides #20, #22, #24 and #27 – #28.</a:t>
            </a:r>
          </a:p>
          <a:p>
            <a:pPr marL="343792" indent="-343792"/>
            <a:r>
              <a:rPr lang="en-GB" sz="2406" dirty="0">
                <a:latin typeface="Times New Roman" pitchFamily="18" charset="0"/>
                <a:cs typeface="Times New Roman" pitchFamily="18" charset="0"/>
              </a:rPr>
              <a:t>Controls</a:t>
            </a:r>
            <a:r>
              <a:rPr lang="en-GB" sz="2400" dirty="0">
                <a:latin typeface="Times New Roman" pitchFamily="18" charset="0"/>
                <a:cs typeface="Times New Roman" pitchFamily="18" charset="0"/>
              </a:rPr>
              <a:t> – Label, Button, </a:t>
            </a:r>
            <a:r>
              <a:rPr lang="en-GB" sz="2400" dirty="0" err="1">
                <a:latin typeface="Times New Roman" pitchFamily="18" charset="0"/>
                <a:cs typeface="Times New Roman" pitchFamily="18" charset="0"/>
              </a:rPr>
              <a:t>TextField</a:t>
            </a:r>
            <a:endParaRPr lang="en-GB" sz="2400" dirty="0">
              <a:latin typeface="Times New Roman" pitchFamily="18" charset="0"/>
              <a:cs typeface="Times New Roman" pitchFamily="18" charset="0"/>
            </a:endParaRPr>
          </a:p>
          <a:p>
            <a:pPr marL="668540" lvl="1" indent="-343792"/>
            <a:r>
              <a:rPr lang="en-GB" sz="2110" dirty="0">
                <a:latin typeface="Times New Roman" pitchFamily="18" charset="0"/>
                <a:cs typeface="Times New Roman" pitchFamily="18" charset="0"/>
              </a:rPr>
              <a:t>Some related concepts will be covered in later chapters.</a:t>
            </a:r>
          </a:p>
          <a:p>
            <a:pPr marL="668540" lvl="1" indent="-343792"/>
            <a:endParaRPr lang="en-GB" sz="1772" dirty="0">
              <a:latin typeface="Times New Roman" pitchFamily="18" charset="0"/>
              <a:cs typeface="Times New Roman" pitchFamily="18" charset="0"/>
            </a:endParaRPr>
          </a:p>
          <a:p>
            <a:pPr marL="651506" lvl="1" indent="-343792"/>
            <a:endParaRPr lang="en-GB" sz="2005" dirty="0"/>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142735" y="1676401"/>
            <a:ext cx="6984793" cy="1295400"/>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1</a:t>
            </a:r>
          </a:p>
        </p:txBody>
      </p:sp>
    </p:spTree>
    <p:custDataLst>
      <p:tags r:id="rId1"/>
    </p:custDataLst>
    <p:extLst>
      <p:ext uri="{BB962C8B-B14F-4D97-AF65-F5344CB8AC3E}">
        <p14:creationId xmlns:p14="http://schemas.microsoft.com/office/powerpoint/2010/main" val="1354532645"/>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Composite</Template>
  <TotalTime>30226</TotalTime>
  <Words>4623</Words>
  <Application>Microsoft Office PowerPoint</Application>
  <PresentationFormat>On-screen Show (4:3)</PresentationFormat>
  <Paragraphs>601</Paragraphs>
  <Slides>40</Slides>
  <Notes>12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1" baseType="lpstr">
      <vt:lpstr>ＭＳ Ｐゴシック</vt:lpstr>
      <vt:lpstr>Arial</vt:lpstr>
      <vt:lpstr>Book Antiqua</vt:lpstr>
      <vt:lpstr>Courier New</vt:lpstr>
      <vt:lpstr>Monotype Sorts</vt:lpstr>
      <vt:lpstr>Tahoma</vt:lpstr>
      <vt:lpstr>Times New Roman</vt:lpstr>
      <vt:lpstr>Tw Cen MT Condensed Extra Bold</vt:lpstr>
      <vt:lpstr>Wingdings</vt:lpstr>
      <vt:lpstr>Blends</vt:lpstr>
      <vt:lpstr>Picture</vt:lpstr>
      <vt:lpstr>PowerPoint Presentation</vt:lpstr>
      <vt:lpstr>Motivations</vt:lpstr>
      <vt:lpstr>Objectives</vt:lpstr>
      <vt:lpstr>JavaFX vs Swing and AWT</vt:lpstr>
      <vt:lpstr>Basic Structure of JavaFX</vt:lpstr>
      <vt:lpstr>PowerPoint Presentation</vt:lpstr>
      <vt:lpstr>PowerPoint Presentation</vt:lpstr>
      <vt:lpstr>Panes, UI Controls, and Shapes</vt:lpstr>
      <vt:lpstr>PowerPoint Presentation</vt:lpstr>
      <vt:lpstr>Common Properties and Methods for Nodes </vt:lpstr>
      <vt:lpstr>PowerPoint Presentation</vt:lpstr>
      <vt:lpstr>The Color Class</vt:lpstr>
      <vt:lpstr>The Font Class</vt:lpstr>
      <vt:lpstr>PowerPoint Presentation</vt:lpstr>
      <vt:lpstr>The Image Class</vt:lpstr>
      <vt:lpstr>The ImageView Class</vt:lpstr>
      <vt:lpstr>PowerPoint Presentation</vt:lpstr>
      <vt:lpstr>Layout Panes</vt:lpstr>
      <vt:lpstr>FlowPane</vt:lpstr>
      <vt:lpstr>PowerPoint Presentation</vt:lpstr>
      <vt:lpstr>GridPane</vt:lpstr>
      <vt:lpstr>PowerPoint Presentation</vt:lpstr>
      <vt:lpstr>BorderPane</vt:lpstr>
      <vt:lpstr>PowerPoint Presentation</vt:lpstr>
      <vt:lpstr>HBox</vt:lpstr>
      <vt:lpstr>VBox</vt:lpstr>
      <vt:lpstr>PowerPoint Presentation</vt:lpstr>
      <vt:lpstr>PowerPoint Presentation</vt:lpstr>
      <vt:lpstr>PowerPoint Presentation</vt:lpstr>
      <vt:lpstr>Frequently Used UI Controls</vt:lpstr>
      <vt:lpstr>Labeled</vt:lpstr>
      <vt:lpstr>Label</vt:lpstr>
      <vt:lpstr>PowerPoint Presentation</vt:lpstr>
      <vt:lpstr>ButtonBase and Button</vt:lpstr>
      <vt:lpstr>Button Example</vt:lpstr>
      <vt:lpstr>PowerPoint Presentation</vt:lpstr>
      <vt:lpstr>TextField</vt:lpstr>
      <vt:lpstr>TextField Example</vt:lpstr>
      <vt:lpstr>Summary</vt:lpstr>
      <vt:lpstr>End of Chapter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Getting Started with Graphics Programming</dc:title>
  <dc:creator>Y. Daniel Liang</dc:creator>
  <cp:lastModifiedBy>KHAIRUL AZHAR BIN KASMIRAN</cp:lastModifiedBy>
  <cp:revision>428</cp:revision>
  <cp:lastPrinted>1998-04-22T12:52:01Z</cp:lastPrinted>
  <dcterms:created xsi:type="dcterms:W3CDTF">1995-06-10T17:31:50Z</dcterms:created>
  <dcterms:modified xsi:type="dcterms:W3CDTF">2025-10-13T02:22:02Z</dcterms:modified>
</cp:coreProperties>
</file>
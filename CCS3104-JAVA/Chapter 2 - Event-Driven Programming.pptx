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09" r:id="rId1"/>
  </p:sldMasterIdLst>
  <p:notesMasterIdLst>
    <p:notesMasterId r:id="rId45"/>
  </p:notesMasterIdLst>
  <p:handoutMasterIdLst>
    <p:handoutMasterId r:id="rId46"/>
  </p:handoutMasterIdLst>
  <p:sldIdLst>
    <p:sldId id="774" r:id="rId2"/>
    <p:sldId id="691" r:id="rId3"/>
    <p:sldId id="692" r:id="rId4"/>
    <p:sldId id="693" r:id="rId5"/>
    <p:sldId id="694" r:id="rId6"/>
    <p:sldId id="730" r:id="rId7"/>
    <p:sldId id="695" r:id="rId8"/>
    <p:sldId id="696" r:id="rId9"/>
    <p:sldId id="697" r:id="rId10"/>
    <p:sldId id="698" r:id="rId11"/>
    <p:sldId id="699" r:id="rId12"/>
    <p:sldId id="700" r:id="rId13"/>
    <p:sldId id="701" r:id="rId14"/>
    <p:sldId id="702" r:id="rId15"/>
    <p:sldId id="703" r:id="rId16"/>
    <p:sldId id="704" r:id="rId17"/>
    <p:sldId id="705" r:id="rId18"/>
    <p:sldId id="731" r:id="rId19"/>
    <p:sldId id="706" r:id="rId20"/>
    <p:sldId id="732" r:id="rId21"/>
    <p:sldId id="707" r:id="rId22"/>
    <p:sldId id="708" r:id="rId23"/>
    <p:sldId id="768" r:id="rId24"/>
    <p:sldId id="709" r:id="rId25"/>
    <p:sldId id="710" r:id="rId26"/>
    <p:sldId id="711" r:id="rId27"/>
    <p:sldId id="712" r:id="rId28"/>
    <p:sldId id="713" r:id="rId29"/>
    <p:sldId id="714" r:id="rId30"/>
    <p:sldId id="769" r:id="rId31"/>
    <p:sldId id="715" r:id="rId32"/>
    <p:sldId id="716" r:id="rId33"/>
    <p:sldId id="717" r:id="rId34"/>
    <p:sldId id="770" r:id="rId35"/>
    <p:sldId id="719" r:id="rId36"/>
    <p:sldId id="771" r:id="rId37"/>
    <p:sldId id="720" r:id="rId38"/>
    <p:sldId id="772" r:id="rId39"/>
    <p:sldId id="721" r:id="rId40"/>
    <p:sldId id="722" r:id="rId41"/>
    <p:sldId id="773" r:id="rId42"/>
    <p:sldId id="1510" r:id="rId43"/>
    <p:sldId id="802" r:id="rId4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0" autoAdjust="0"/>
    <p:restoredTop sz="94660"/>
  </p:normalViewPr>
  <p:slideViewPr>
    <p:cSldViewPr>
      <p:cViewPr varScale="1">
        <p:scale>
          <a:sx n="124" d="100"/>
          <a:sy n="124" d="100"/>
        </p:scale>
        <p:origin x="1560" y="176"/>
      </p:cViewPr>
      <p:guideLst>
        <p:guide orient="horz" pos="129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39342"/>
    </p:cViewPr>
  </p:sorterViewPr>
  <p:notesViewPr>
    <p:cSldViewPr>
      <p:cViewPr varScale="1">
        <p:scale>
          <a:sx n="37" d="100"/>
          <a:sy n="37" d="100"/>
        </p:scale>
        <p:origin x="-1470"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263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atin typeface="Times New Roman" charset="0"/>
                <a:ea typeface="ＭＳ Ｐゴシック" charset="0"/>
                <a:cs typeface="+mn-cs"/>
              </a:defRPr>
            </a:lvl1pPr>
          </a:lstStyle>
          <a:p>
            <a:pPr>
              <a:defRPr/>
            </a:pPr>
            <a:endParaRPr lang="en-US"/>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atin typeface="Times New Roman" charset="0"/>
                <a:ea typeface="ＭＳ Ｐゴシック" charset="0"/>
                <a:cs typeface="+mn-cs"/>
              </a:defRPr>
            </a:lvl1pPr>
          </a:lstStyle>
          <a:p>
            <a:pPr>
              <a:defRPr/>
            </a:pPr>
            <a:endParaRPr lang="en-US"/>
          </a:p>
        </p:txBody>
      </p:sp>
      <p:sp>
        <p:nvSpPr>
          <p:cNvPr id="38916"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 uri="{53640926-AAD7-44D8-BBD7-CCE9431645EC}">
              <a14:shadowObscured xmlns:a14="http://schemas.microsoft.com/office/drawing/2010/main" val="1"/>
            </a:ext>
            <a:ext uri="{FAA26D3D-D897-4be2-8F04-BA451C77F1D7}"/>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atin typeface="Times New Roman" charset="0"/>
                <a:ea typeface="ＭＳ Ｐゴシック" charset="0"/>
                <a:cs typeface="+mn-cs"/>
              </a:defRPr>
            </a:lvl1pPr>
          </a:lstStyle>
          <a:p>
            <a:pPr>
              <a:defRPr/>
            </a:pPr>
            <a:endParaRPr lang="en-US"/>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pPr>
              <a:defRPr/>
            </a:pPr>
            <a:fld id="{B1C0BCD0-C171-49D9-B9D8-896A518EB108}" type="slidenum">
              <a:rPr lang="en-US"/>
              <a:pPr>
                <a:defRPr/>
              </a:pPr>
              <a:t>‹#›</a:t>
            </a:fld>
            <a:endParaRPr lang="en-US"/>
          </a:p>
        </p:txBody>
      </p:sp>
    </p:spTree>
    <p:extLst>
      <p:ext uri="{BB962C8B-B14F-4D97-AF65-F5344CB8AC3E}">
        <p14:creationId xmlns:p14="http://schemas.microsoft.com/office/powerpoint/2010/main" val="91719337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fld id="{5DE2B9BC-A540-40D5-8A12-A40978FFE846}" type="slidenum">
              <a:rPr lang="en-US" altLang="en-US" sz="1000" smtClean="0"/>
              <a:pPr/>
              <a:t>1</a:t>
            </a:fld>
            <a:endParaRPr lang="en-US" altLang="en-US" sz="1000"/>
          </a:p>
        </p:txBody>
      </p:sp>
      <p:sp>
        <p:nvSpPr>
          <p:cNvPr id="73731" name="Rectangle 2"/>
          <p:cNvSpPr>
            <a:spLocks noGrp="1" noRot="1" noChangeAspect="1" noChangeArrowheads="1" noTextEdit="1"/>
          </p:cNvSpPr>
          <p:nvPr>
            <p:ph type="sldImg"/>
          </p:nvPr>
        </p:nvSpPr>
        <p:spPr>
          <a:xfrm>
            <a:off x="1150938" y="692150"/>
            <a:ext cx="4556125" cy="3416300"/>
          </a:xfrm>
          <a:ln/>
        </p:spPr>
      </p:sp>
      <p:sp>
        <p:nvSpPr>
          <p:cNvPr id="161796" name="Rectangle 3"/>
          <p:cNvSpPr>
            <a:spLocks noGrp="1" noChangeArrowheads="1"/>
          </p:cNvSpPr>
          <p:nvPr>
            <p:ph type="body" idx="1"/>
          </p:nvPr>
        </p:nvSpPr>
        <p:spPr>
          <a:noFill/>
        </p:spPr>
        <p:txBody>
          <a:bodyPr/>
          <a:lstStyle/>
          <a:p>
            <a:pPr eaLnBrk="1" hangingPunct="1"/>
            <a:endParaRPr lang="ms-MY"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defRPr/>
            </a:pPr>
            <a:fld id="{780B599C-596D-4220-A766-0F1A806F35D5}" type="slidenum">
              <a:rPr lang="en-US" sz="1000" smtClean="0"/>
              <a:pPr>
                <a:defRPr/>
              </a:pPr>
              <a:t>3</a:t>
            </a:fld>
            <a:endParaRPr lang="en-US" sz="1000"/>
          </a:p>
        </p:txBody>
      </p:sp>
      <p:sp>
        <p:nvSpPr>
          <p:cNvPr id="46083" name="Rectangle 2"/>
          <p:cNvSpPr>
            <a:spLocks noGrp="1" noRot="1" noChangeAspect="1" noChangeArrowheads="1" noTextEdit="1"/>
          </p:cNvSpPr>
          <p:nvPr>
            <p:ph type="sldImg"/>
          </p:nvPr>
        </p:nvSpPr>
        <p:spPr>
          <a:xfrm>
            <a:off x="1150938" y="692150"/>
            <a:ext cx="4556125" cy="3416300"/>
          </a:xfrm>
          <a:ln/>
        </p:spPr>
      </p:sp>
      <p:sp>
        <p:nvSpPr>
          <p:cNvPr id="4608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a:defRPr/>
            </a:pPr>
            <a:endParaRPr lang="en-US">
              <a:latin typeface="Times New Roman" charset="0"/>
              <a:ea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31863" y="755650"/>
            <a:ext cx="4970462" cy="372745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02BFE9CC-D952-411B-9EBD-7EF48EA6F8F4}" type="slidenum">
              <a:rPr lang="en-US" smtClean="0"/>
              <a:pPr>
                <a:defRPr/>
              </a:pPr>
              <a:t>42</a:t>
            </a:fld>
            <a:endParaRPr lang="en-US"/>
          </a:p>
        </p:txBody>
      </p:sp>
    </p:spTree>
    <p:extLst>
      <p:ext uri="{BB962C8B-B14F-4D97-AF65-F5344CB8AC3E}">
        <p14:creationId xmlns:p14="http://schemas.microsoft.com/office/powerpoint/2010/main" val="448980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AC48F005-04AC-4296-99F6-03AB785B97CF}" type="slidenum">
              <a:rPr lang="en-US" smtClean="0"/>
              <a:pPr/>
              <a:t>43</a:t>
            </a:fld>
            <a:endParaRPr lang="en-US"/>
          </a:p>
        </p:txBody>
      </p:sp>
      <p:sp>
        <p:nvSpPr>
          <p:cNvPr id="141315" name="Rectangle 2"/>
          <p:cNvSpPr>
            <a:spLocks noGrp="1" noRot="1" noChangeAspect="1" noChangeArrowheads="1" noTextEdit="1"/>
          </p:cNvSpPr>
          <p:nvPr>
            <p:ph type="sldImg"/>
          </p:nvPr>
        </p:nvSpPr>
        <p:spPr>
          <a:xfrm>
            <a:off x="1150938" y="692150"/>
            <a:ext cx="4556125" cy="3416300"/>
          </a:xfrm>
          <a:ln/>
        </p:spPr>
      </p:sp>
      <p:sp>
        <p:nvSpPr>
          <p:cNvPr id="1413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8"/>
          <p:cNvGrpSpPr>
            <a:grpSpLocks/>
          </p:cNvGrpSpPr>
          <p:nvPr userDrawn="1"/>
        </p:nvGrpSpPr>
        <p:grpSpPr bwMode="auto">
          <a:xfrm>
            <a:off x="134752" y="2438400"/>
            <a:ext cx="9009248" cy="1052286"/>
            <a:chOff x="0" y="1536"/>
            <a:chExt cx="5675" cy="663"/>
          </a:xfrm>
        </p:grpSpPr>
        <p:grpSp>
          <p:nvGrpSpPr>
            <p:cNvPr id="5" name="Group 19"/>
            <p:cNvGrpSpPr>
              <a:grpSpLocks/>
            </p:cNvGrpSpPr>
            <p:nvPr/>
          </p:nvGrpSpPr>
          <p:grpSpPr bwMode="auto">
            <a:xfrm>
              <a:off x="185" y="1604"/>
              <a:ext cx="449" cy="300"/>
              <a:chOff x="720" y="336"/>
              <a:chExt cx="624" cy="433"/>
            </a:xfrm>
          </p:grpSpPr>
          <p:sp>
            <p:nvSpPr>
              <p:cNvPr id="12" name="Rectangle 20"/>
              <p:cNvSpPr>
                <a:spLocks noChangeArrowheads="1"/>
              </p:cNvSpPr>
              <p:nvPr/>
            </p:nvSpPr>
            <p:spPr bwMode="auto">
              <a:xfrm>
                <a:off x="720" y="336"/>
                <a:ext cx="385" cy="433"/>
              </a:xfrm>
              <a:prstGeom prst="rect">
                <a:avLst/>
              </a:prstGeom>
              <a:solidFill>
                <a:schemeClr val="folHlink"/>
              </a:soli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13" name="Rectangle 21"/>
              <p:cNvSpPr>
                <a:spLocks noChangeArrowheads="1"/>
              </p:cNvSpPr>
              <p:nvPr/>
            </p:nvSpPr>
            <p:spPr bwMode="auto">
              <a:xfrm>
                <a:off x="1056" y="336"/>
                <a:ext cx="288" cy="43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grpSp>
        <p:grpSp>
          <p:nvGrpSpPr>
            <p:cNvPr id="6" name="Group 22"/>
            <p:cNvGrpSpPr>
              <a:grpSpLocks/>
            </p:cNvGrpSpPr>
            <p:nvPr/>
          </p:nvGrpSpPr>
          <p:grpSpPr bwMode="auto">
            <a:xfrm>
              <a:off x="262" y="1872"/>
              <a:ext cx="466" cy="300"/>
              <a:chOff x="912" y="2640"/>
              <a:chExt cx="673" cy="433"/>
            </a:xfrm>
          </p:grpSpPr>
          <p:sp>
            <p:nvSpPr>
              <p:cNvPr id="10" name="Rectangle 23"/>
              <p:cNvSpPr>
                <a:spLocks noChangeArrowheads="1"/>
              </p:cNvSpPr>
              <p:nvPr/>
            </p:nvSpPr>
            <p:spPr bwMode="auto">
              <a:xfrm>
                <a:off x="912" y="2640"/>
                <a:ext cx="384" cy="433"/>
              </a:xfrm>
              <a:prstGeom prst="rect">
                <a:avLst/>
              </a:prstGeom>
              <a:solidFill>
                <a:schemeClr val="accent2"/>
              </a:soli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11" name="Rectangle 24"/>
              <p:cNvSpPr>
                <a:spLocks noChangeArrowheads="1"/>
              </p:cNvSpPr>
              <p:nvPr/>
            </p:nvSpPr>
            <p:spPr bwMode="auto">
              <a:xfrm>
                <a:off x="1252" y="2640"/>
                <a:ext cx="333" cy="43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grpSp>
        <p:sp>
          <p:nvSpPr>
            <p:cNvPr id="7" name="Rectangle 25"/>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8" name="Rectangle 26"/>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sp>
          <p:nvSpPr>
            <p:cNvPr id="9" name="Rectangle 27"/>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GB" sz="600">
                <a:solidFill>
                  <a:srgbClr val="000000"/>
                </a:solidFill>
                <a:latin typeface="Tahoma" pitchFamily="34" charset="0"/>
                <a:ea typeface="+mn-ea"/>
              </a:endParaRPr>
            </a:p>
          </p:txBody>
        </p:sp>
      </p:grpSp>
      <p:sp>
        <p:nvSpPr>
          <p:cNvPr id="230412" name="Rectangle 12"/>
          <p:cNvSpPr>
            <a:spLocks noGrp="1" noChangeArrowheads="1"/>
          </p:cNvSpPr>
          <p:nvPr>
            <p:ph type="ctrTitle"/>
          </p:nvPr>
        </p:nvSpPr>
        <p:spPr bwMode="auto">
          <a:xfrm>
            <a:off x="1143001" y="1676403"/>
            <a:ext cx="7772400" cy="1295400"/>
          </a:xfrm>
          <a:prstGeom prst="rect">
            <a:avLst/>
          </a:prstGeom>
          <a:noFill/>
          <a:ln>
            <a:miter lim="800000"/>
            <a:headEnd/>
            <a:tailEnd/>
          </a:ln>
        </p:spPr>
        <p:txBody>
          <a:bodyPr vert="horz" wrap="square" lIns="74016" tIns="37008" rIns="74016" bIns="37008" numCol="1" anchor="b" anchorCtr="0" compatLnSpc="1">
            <a:prstTxWarp prst="textNoShape">
              <a:avLst/>
            </a:prstTxWarp>
          </a:bodyPr>
          <a:lstStyle>
            <a:lvl1pPr>
              <a:defRPr/>
            </a:lvl1pPr>
          </a:lstStyle>
          <a:p>
            <a:r>
              <a:rPr lang="en-US"/>
              <a:t>Click to edit Master title style</a:t>
            </a:r>
          </a:p>
        </p:txBody>
      </p:sp>
      <p:sp>
        <p:nvSpPr>
          <p:cNvPr id="230413" name="Rectangle 13"/>
          <p:cNvSpPr>
            <a:spLocks noGrp="1" noChangeArrowheads="1"/>
          </p:cNvSpPr>
          <p:nvPr>
            <p:ph type="subTitle" idx="1"/>
          </p:nvPr>
        </p:nvSpPr>
        <p:spPr>
          <a:xfrm>
            <a:off x="609600" y="3490686"/>
            <a:ext cx="8534400" cy="3124200"/>
          </a:xfrm>
        </p:spPr>
        <p:txBody>
          <a:bodyPr/>
          <a:lstStyle>
            <a:lvl1pPr marL="0" indent="0" algn="ctr">
              <a:buFont typeface="Wingdings" pitchFamily="2" charset="2"/>
              <a:buNone/>
              <a:defRPr/>
            </a:lvl1pPr>
          </a:lstStyle>
          <a:p>
            <a:r>
              <a:rPr lang="en-US"/>
              <a:t>Click to edit Master subtitle style</a:t>
            </a:r>
          </a:p>
        </p:txBody>
      </p:sp>
    </p:spTree>
    <p:extLst>
      <p:ext uri="{BB962C8B-B14F-4D97-AF65-F5344CB8AC3E}">
        <p14:creationId xmlns:p14="http://schemas.microsoft.com/office/powerpoint/2010/main" val="1360039418"/>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5617865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3"/>
            <a:ext cx="7772400" cy="1362075"/>
          </a:xfrm>
          <a:prstGeom prst="rect">
            <a:avLst/>
          </a:prstGeom>
        </p:spPr>
        <p:txBody>
          <a:bodyPr lIns="74016" tIns="37008" rIns="74016" bIns="37008" anchor="t"/>
          <a:lstStyle>
            <a:lvl1pPr algn="l">
              <a:defRPr sz="3200" b="1" cap="all"/>
            </a:lvl1pPr>
          </a:lstStyle>
          <a:p>
            <a:r>
              <a:rPr lang="en-US"/>
              <a:t>Click to edit Master title style</a:t>
            </a:r>
            <a:endParaRPr lang="en-GB"/>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1600"/>
            </a:lvl1pPr>
            <a:lvl2pPr marL="370079" indent="0">
              <a:buNone/>
              <a:defRPr sz="1500"/>
            </a:lvl2pPr>
            <a:lvl3pPr marL="740158" indent="0">
              <a:buNone/>
              <a:defRPr sz="1300"/>
            </a:lvl3pPr>
            <a:lvl4pPr marL="1110237" indent="0">
              <a:buNone/>
              <a:defRPr sz="1100"/>
            </a:lvl4pPr>
            <a:lvl5pPr marL="1480316" indent="0">
              <a:buNone/>
              <a:defRPr sz="1100"/>
            </a:lvl5pPr>
            <a:lvl6pPr marL="1850395" indent="0">
              <a:buNone/>
              <a:defRPr sz="1100"/>
            </a:lvl6pPr>
            <a:lvl7pPr marL="2220474" indent="0">
              <a:buNone/>
              <a:defRPr sz="1100"/>
            </a:lvl7pPr>
            <a:lvl8pPr marL="2590553" indent="0">
              <a:buNone/>
              <a:defRPr sz="1100"/>
            </a:lvl8pPr>
            <a:lvl9pPr marL="2960632" indent="0">
              <a:buNone/>
              <a:defRPr sz="1100"/>
            </a:lvl9pPr>
          </a:lstStyle>
          <a:p>
            <a:pPr lvl="0"/>
            <a:r>
              <a:rPr lang="en-US"/>
              <a:t>Click to edit Master text styles</a:t>
            </a:r>
          </a:p>
        </p:txBody>
      </p:sp>
    </p:spTree>
    <p:extLst>
      <p:ext uri="{BB962C8B-B14F-4D97-AF65-F5344CB8AC3E}">
        <p14:creationId xmlns:p14="http://schemas.microsoft.com/office/powerpoint/2010/main" val="804745834"/>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p>
            <a:r>
              <a:rPr lang="en-US"/>
              <a:t>Click to edit Master title style</a:t>
            </a:r>
            <a:endParaRPr lang="en-GB"/>
          </a:p>
        </p:txBody>
      </p:sp>
      <p:sp>
        <p:nvSpPr>
          <p:cNvPr id="3" name="Content Placeholder 2"/>
          <p:cNvSpPr>
            <a:spLocks noGrp="1"/>
          </p:cNvSpPr>
          <p:nvPr>
            <p:ph sz="half" idx="1"/>
          </p:nvPr>
        </p:nvSpPr>
        <p:spPr>
          <a:xfrm>
            <a:off x="365127" y="0"/>
            <a:ext cx="4111625" cy="652938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52" y="0"/>
            <a:ext cx="4113213" cy="6529388"/>
          </a:xfrm>
        </p:spPr>
        <p:txBody>
          <a:bodyPr/>
          <a:lstStyle>
            <a:lvl1pPr>
              <a:defRPr sz="2300"/>
            </a:lvl1pPr>
            <a:lvl2pPr>
              <a:defRPr sz="20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22771458"/>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000" b="1"/>
            </a:lvl1pPr>
            <a:lvl2pPr marL="370079" indent="0">
              <a:buNone/>
              <a:defRPr sz="1600" b="1"/>
            </a:lvl2pPr>
            <a:lvl3pPr marL="740158" indent="0">
              <a:buNone/>
              <a:defRPr sz="1500" b="1"/>
            </a:lvl3pPr>
            <a:lvl4pPr marL="1110237" indent="0">
              <a:buNone/>
              <a:defRPr sz="1300" b="1"/>
            </a:lvl4pPr>
            <a:lvl5pPr marL="1480316" indent="0">
              <a:buNone/>
              <a:defRPr sz="1300" b="1"/>
            </a:lvl5pPr>
            <a:lvl6pPr marL="1850395" indent="0">
              <a:buNone/>
              <a:defRPr sz="1300" b="1"/>
            </a:lvl6pPr>
            <a:lvl7pPr marL="2220474" indent="0">
              <a:buNone/>
              <a:defRPr sz="1300" b="1"/>
            </a:lvl7pPr>
            <a:lvl8pPr marL="2590553" indent="0">
              <a:buNone/>
              <a:defRPr sz="1300" b="1"/>
            </a:lvl8pPr>
            <a:lvl9pPr marL="2960632" indent="0">
              <a:buNone/>
              <a:defRPr sz="13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6" cy="639762"/>
          </a:xfrm>
        </p:spPr>
        <p:txBody>
          <a:bodyPr anchor="b"/>
          <a:lstStyle>
            <a:lvl1pPr marL="0" indent="0">
              <a:buNone/>
              <a:defRPr sz="2000" b="1"/>
            </a:lvl1pPr>
            <a:lvl2pPr marL="370079" indent="0">
              <a:buNone/>
              <a:defRPr sz="1600" b="1"/>
            </a:lvl2pPr>
            <a:lvl3pPr marL="740158" indent="0">
              <a:buNone/>
              <a:defRPr sz="1500" b="1"/>
            </a:lvl3pPr>
            <a:lvl4pPr marL="1110237" indent="0">
              <a:buNone/>
              <a:defRPr sz="1300" b="1"/>
            </a:lvl4pPr>
            <a:lvl5pPr marL="1480316" indent="0">
              <a:buNone/>
              <a:defRPr sz="1300" b="1"/>
            </a:lvl5pPr>
            <a:lvl6pPr marL="1850395" indent="0">
              <a:buNone/>
              <a:defRPr sz="1300" b="1"/>
            </a:lvl6pPr>
            <a:lvl7pPr marL="2220474" indent="0">
              <a:buNone/>
              <a:defRPr sz="1300" b="1"/>
            </a:lvl7pPr>
            <a:lvl8pPr marL="2590553" indent="0">
              <a:buNone/>
              <a:defRPr sz="1300" b="1"/>
            </a:lvl8pPr>
            <a:lvl9pPr marL="2960632" indent="0">
              <a:buNone/>
              <a:defRPr sz="13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6" cy="3951288"/>
          </a:xfrm>
        </p:spPr>
        <p:txBody>
          <a:bodyPr/>
          <a:lstStyle>
            <a:lvl1pPr>
              <a:defRPr sz="2000"/>
            </a:lvl1pPr>
            <a:lvl2pPr>
              <a:defRPr sz="16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776674085"/>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p>
            <a:r>
              <a:rPr lang="en-US"/>
              <a:t>Click to edit Master title style</a:t>
            </a:r>
            <a:endParaRPr lang="en-GB"/>
          </a:p>
        </p:txBody>
      </p:sp>
    </p:spTree>
    <p:extLst>
      <p:ext uri="{BB962C8B-B14F-4D97-AF65-F5344CB8AC3E}">
        <p14:creationId xmlns:p14="http://schemas.microsoft.com/office/powerpoint/2010/main" val="3510335096"/>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1712385"/>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3"/>
            <a:ext cx="3008313" cy="1162050"/>
          </a:xfrm>
          <a:prstGeom prst="rect">
            <a:avLst/>
          </a:prstGeom>
        </p:spPr>
        <p:txBody>
          <a:bodyPr lIns="74016" tIns="37008" rIns="74016" bIns="37008" anchor="b"/>
          <a:lstStyle>
            <a:lvl1pPr algn="l">
              <a:defRPr sz="1600" b="1"/>
            </a:lvl1pPr>
          </a:lstStyle>
          <a:p>
            <a:r>
              <a:rPr lang="en-US"/>
              <a:t>Click to edit Master title style</a:t>
            </a:r>
            <a:endParaRPr lang="en-GB"/>
          </a:p>
        </p:txBody>
      </p:sp>
      <p:sp>
        <p:nvSpPr>
          <p:cNvPr id="3" name="Content Placeholder 2"/>
          <p:cNvSpPr>
            <a:spLocks noGrp="1"/>
          </p:cNvSpPr>
          <p:nvPr>
            <p:ph idx="1"/>
          </p:nvPr>
        </p:nvSpPr>
        <p:spPr>
          <a:xfrm>
            <a:off x="3575051" y="273053"/>
            <a:ext cx="5111751" cy="5853113"/>
          </a:xfrm>
        </p:spPr>
        <p:txBody>
          <a:bodyPr/>
          <a:lstStyle>
            <a:lvl1pPr>
              <a:defRPr sz="2600"/>
            </a:lvl1pPr>
            <a:lvl2pPr>
              <a:defRPr sz="2300"/>
            </a:lvl2pPr>
            <a:lvl3pPr>
              <a:defRPr sz="20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100"/>
            </a:lvl1pPr>
            <a:lvl2pPr marL="370079" indent="0">
              <a:buNone/>
              <a:defRPr sz="1000"/>
            </a:lvl2pPr>
            <a:lvl3pPr marL="740158" indent="0">
              <a:buNone/>
              <a:defRPr sz="800"/>
            </a:lvl3pPr>
            <a:lvl4pPr marL="1110237" indent="0">
              <a:buNone/>
              <a:defRPr sz="700"/>
            </a:lvl4pPr>
            <a:lvl5pPr marL="1480316" indent="0">
              <a:buNone/>
              <a:defRPr sz="700"/>
            </a:lvl5pPr>
            <a:lvl6pPr marL="1850395" indent="0">
              <a:buNone/>
              <a:defRPr sz="700"/>
            </a:lvl6pPr>
            <a:lvl7pPr marL="2220474" indent="0">
              <a:buNone/>
              <a:defRPr sz="700"/>
            </a:lvl7pPr>
            <a:lvl8pPr marL="2590553" indent="0">
              <a:buNone/>
              <a:defRPr sz="700"/>
            </a:lvl8pPr>
            <a:lvl9pPr marL="2960632" indent="0">
              <a:buNone/>
              <a:defRPr sz="700"/>
            </a:lvl9pPr>
          </a:lstStyle>
          <a:p>
            <a:pPr lvl="0"/>
            <a:r>
              <a:rPr lang="en-US"/>
              <a:t>Click to edit Master text styles</a:t>
            </a:r>
          </a:p>
        </p:txBody>
      </p:sp>
    </p:spTree>
    <p:extLst>
      <p:ext uri="{BB962C8B-B14F-4D97-AF65-F5344CB8AC3E}">
        <p14:creationId xmlns:p14="http://schemas.microsoft.com/office/powerpoint/2010/main" val="3740678774"/>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4800600"/>
            <a:ext cx="5486400" cy="566738"/>
          </a:xfrm>
          <a:prstGeom prst="rect">
            <a:avLst/>
          </a:prstGeom>
        </p:spPr>
        <p:txBody>
          <a:bodyPr lIns="74016" tIns="37008" rIns="74016" bIns="37008" anchor="b"/>
          <a:lstStyle>
            <a:lvl1pPr algn="l">
              <a:defRPr sz="1600" b="1"/>
            </a:lvl1pPr>
          </a:lstStyle>
          <a:p>
            <a:r>
              <a:rPr lang="en-US"/>
              <a:t>Click to edit Master title style</a:t>
            </a:r>
            <a:endParaRPr lang="en-GB"/>
          </a:p>
        </p:txBody>
      </p:sp>
      <p:sp>
        <p:nvSpPr>
          <p:cNvPr id="3" name="Picture Placeholder 2"/>
          <p:cNvSpPr>
            <a:spLocks noGrp="1"/>
          </p:cNvSpPr>
          <p:nvPr>
            <p:ph type="pic" idx="1"/>
          </p:nvPr>
        </p:nvSpPr>
        <p:spPr>
          <a:xfrm>
            <a:off x="1792289" y="612778"/>
            <a:ext cx="5486400" cy="4114800"/>
          </a:xfrm>
        </p:spPr>
        <p:txBody>
          <a:bodyPr/>
          <a:lstStyle>
            <a:lvl1pPr marL="0" indent="0">
              <a:buNone/>
              <a:defRPr sz="2600"/>
            </a:lvl1pPr>
            <a:lvl2pPr marL="370079" indent="0">
              <a:buNone/>
              <a:defRPr sz="2300"/>
            </a:lvl2pPr>
            <a:lvl3pPr marL="740158" indent="0">
              <a:buNone/>
              <a:defRPr sz="2000"/>
            </a:lvl3pPr>
            <a:lvl4pPr marL="1110237" indent="0">
              <a:buNone/>
              <a:defRPr sz="1600"/>
            </a:lvl4pPr>
            <a:lvl5pPr marL="1480316" indent="0">
              <a:buNone/>
              <a:defRPr sz="1600"/>
            </a:lvl5pPr>
            <a:lvl6pPr marL="1850395" indent="0">
              <a:buNone/>
              <a:defRPr sz="1600"/>
            </a:lvl6pPr>
            <a:lvl7pPr marL="2220474" indent="0">
              <a:buNone/>
              <a:defRPr sz="1600"/>
            </a:lvl7pPr>
            <a:lvl8pPr marL="2590553" indent="0">
              <a:buNone/>
              <a:defRPr sz="1600"/>
            </a:lvl8pPr>
            <a:lvl9pPr marL="2960632" indent="0">
              <a:buNone/>
              <a:defRPr sz="1600"/>
            </a:lvl9pPr>
          </a:lstStyle>
          <a:p>
            <a:pPr lvl="0"/>
            <a:endParaRPr lang="en-GB" noProof="0"/>
          </a:p>
        </p:txBody>
      </p:sp>
      <p:sp>
        <p:nvSpPr>
          <p:cNvPr id="4" name="Text Placeholder 3"/>
          <p:cNvSpPr>
            <a:spLocks noGrp="1"/>
          </p:cNvSpPr>
          <p:nvPr>
            <p:ph type="body" sz="half" idx="2"/>
          </p:nvPr>
        </p:nvSpPr>
        <p:spPr>
          <a:xfrm>
            <a:off x="1792289" y="5367340"/>
            <a:ext cx="5486400" cy="804862"/>
          </a:xfrm>
        </p:spPr>
        <p:txBody>
          <a:bodyPr/>
          <a:lstStyle>
            <a:lvl1pPr marL="0" indent="0">
              <a:buNone/>
              <a:defRPr sz="1100"/>
            </a:lvl1pPr>
            <a:lvl2pPr marL="370079" indent="0">
              <a:buNone/>
              <a:defRPr sz="1000"/>
            </a:lvl2pPr>
            <a:lvl3pPr marL="740158" indent="0">
              <a:buNone/>
              <a:defRPr sz="800"/>
            </a:lvl3pPr>
            <a:lvl4pPr marL="1110237" indent="0">
              <a:buNone/>
              <a:defRPr sz="700"/>
            </a:lvl4pPr>
            <a:lvl5pPr marL="1480316" indent="0">
              <a:buNone/>
              <a:defRPr sz="700"/>
            </a:lvl5pPr>
            <a:lvl6pPr marL="1850395" indent="0">
              <a:buNone/>
              <a:defRPr sz="700"/>
            </a:lvl6pPr>
            <a:lvl7pPr marL="2220474" indent="0">
              <a:buNone/>
              <a:defRPr sz="700"/>
            </a:lvl7pPr>
            <a:lvl8pPr marL="2590553" indent="0">
              <a:buNone/>
              <a:defRPr sz="700"/>
            </a:lvl8pPr>
            <a:lvl9pPr marL="2960632" indent="0">
              <a:buNone/>
              <a:defRPr sz="700"/>
            </a:lvl9pPr>
          </a:lstStyle>
          <a:p>
            <a:pPr lvl="0"/>
            <a:r>
              <a:rPr lang="en-US"/>
              <a:t>Click to edit Master text styles</a:t>
            </a:r>
          </a:p>
        </p:txBody>
      </p:sp>
    </p:spTree>
    <p:extLst>
      <p:ext uri="{BB962C8B-B14F-4D97-AF65-F5344CB8AC3E}">
        <p14:creationId xmlns:p14="http://schemas.microsoft.com/office/powerpoint/2010/main" val="69392740"/>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2" y="274638"/>
            <a:ext cx="8229600" cy="1143000"/>
          </a:xfrm>
          <a:prstGeom prst="rect">
            <a:avLst/>
          </a:prstGeom>
        </p:spPr>
        <p:txBody>
          <a:bodyPr lIns="74016" tIns="37008" rIns="74016" bIns="37008"/>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045392"/>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2" y="0"/>
            <a:ext cx="2093912" cy="6529388"/>
          </a:xfrm>
          <a:prstGeom prst="rect">
            <a:avLst/>
          </a:prstGeom>
        </p:spPr>
        <p:txBody>
          <a:bodyPr vert="eaVert" lIns="74016" tIns="37008" rIns="74016" bIns="37008"/>
          <a:lstStyle/>
          <a:p>
            <a:r>
              <a:rPr lang="en-US"/>
              <a:t>Click to edit Master title style</a:t>
            </a:r>
            <a:endParaRPr lang="en-GB"/>
          </a:p>
        </p:txBody>
      </p:sp>
      <p:sp>
        <p:nvSpPr>
          <p:cNvPr id="3" name="Vertical Text Placeholder 2"/>
          <p:cNvSpPr>
            <a:spLocks noGrp="1"/>
          </p:cNvSpPr>
          <p:nvPr>
            <p:ph type="body" orient="vert" idx="1"/>
          </p:nvPr>
        </p:nvSpPr>
        <p:spPr>
          <a:xfrm>
            <a:off x="365125" y="0"/>
            <a:ext cx="6130926" cy="6529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33104931"/>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429" y="285448"/>
            <a:ext cx="7773143" cy="1143000"/>
          </a:xfrm>
          <a:prstGeom prst="rect">
            <a:avLst/>
          </a:prstGeom>
        </p:spPr>
        <p:txBody>
          <a:bodyPr lIns="64502" tIns="32251" rIns="64502" bIns="32251"/>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2"/>
          <p:cNvSpPr>
            <a:spLocks noGrp="1" noChangeArrowheads="1"/>
          </p:cNvSpPr>
          <p:nvPr>
            <p:ph type="dt" sz="half" idx="10"/>
          </p:nvPr>
        </p:nvSpPr>
        <p:spPr>
          <a:xfrm>
            <a:off x="685429" y="6400800"/>
            <a:ext cx="1905619" cy="457200"/>
          </a:xfrm>
          <a:prstGeom prst="rect">
            <a:avLst/>
          </a:prstGeom>
          <a:ln/>
        </p:spPr>
        <p:txBody>
          <a:bodyPr lIns="64502" tIns="32251" rIns="64502" bIns="32251"/>
          <a:lstStyle>
            <a:lvl1pPr>
              <a:defRPr/>
            </a:lvl1pPr>
          </a:lstStyle>
          <a:p>
            <a:pPr>
              <a:defRPr/>
            </a:pPr>
            <a:endParaRPr lang="en-US" sz="600">
              <a:solidFill>
                <a:srgbClr val="000000"/>
              </a:solidFill>
              <a:latin typeface="Tahoma" pitchFamily="34" charset="0"/>
              <a:ea typeface="+mn-ea"/>
            </a:endParaRPr>
          </a:p>
        </p:txBody>
      </p:sp>
      <p:sp>
        <p:nvSpPr>
          <p:cNvPr id="5" name="Rectangle 34"/>
          <p:cNvSpPr>
            <a:spLocks noGrp="1" noChangeArrowheads="1"/>
          </p:cNvSpPr>
          <p:nvPr>
            <p:ph type="sldNum" sz="quarter" idx="11"/>
          </p:nvPr>
        </p:nvSpPr>
        <p:spPr>
          <a:xfrm>
            <a:off x="6552952" y="6399591"/>
            <a:ext cx="1905619" cy="457200"/>
          </a:xfrm>
          <a:prstGeom prst="rect">
            <a:avLst/>
          </a:prstGeom>
          <a:ln/>
        </p:spPr>
        <p:txBody>
          <a:bodyPr lIns="64502" tIns="32251" rIns="64502" bIns="32251"/>
          <a:lstStyle>
            <a:lvl1pPr>
              <a:defRPr/>
            </a:lvl1pPr>
          </a:lstStyle>
          <a:p>
            <a:pPr>
              <a:defRPr/>
            </a:pPr>
            <a:fld id="{C7CEB0B8-E327-4A51-B1B2-05DF9D4D2C03}" type="slidenum">
              <a:rPr lang="en-US" sz="600">
                <a:solidFill>
                  <a:srgbClr val="000000"/>
                </a:solidFill>
                <a:latin typeface="Tahoma" pitchFamily="34" charset="0"/>
                <a:ea typeface="+mn-ea"/>
              </a:rPr>
              <a:pPr>
                <a:defRPr/>
              </a:pPr>
              <a:t>‹#›</a:t>
            </a:fld>
            <a:endParaRPr lang="en-US" sz="600">
              <a:solidFill>
                <a:srgbClr val="000000"/>
              </a:solidFill>
              <a:latin typeface="Tahoma" pitchFamily="34" charset="0"/>
              <a:ea typeface="+mn-ea"/>
            </a:endParaRPr>
          </a:p>
        </p:txBody>
      </p:sp>
    </p:spTree>
    <p:extLst>
      <p:ext uri="{BB962C8B-B14F-4D97-AF65-F5344CB8AC3E}">
        <p14:creationId xmlns:p14="http://schemas.microsoft.com/office/powerpoint/2010/main" val="2524762185"/>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body" idx="1"/>
          </p:nvPr>
        </p:nvSpPr>
        <p:spPr bwMode="auto">
          <a:xfrm>
            <a:off x="393645" y="33867"/>
            <a:ext cx="8376871" cy="6529010"/>
          </a:xfrm>
          <a:prstGeom prst="rect">
            <a:avLst/>
          </a:prstGeom>
          <a:noFill/>
          <a:ln w="9525">
            <a:noFill/>
            <a:miter lim="800000"/>
            <a:headEnd/>
            <a:tailEnd/>
          </a:ln>
        </p:spPr>
        <p:txBody>
          <a:bodyPr vert="horz" wrap="square" lIns="74016" tIns="37008" rIns="74016" bIns="3700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9393" name="Rectangle 17"/>
          <p:cNvSpPr>
            <a:spLocks noChangeArrowheads="1"/>
          </p:cNvSpPr>
          <p:nvPr/>
        </p:nvSpPr>
        <p:spPr bwMode="auto">
          <a:xfrm>
            <a:off x="0" y="6400800"/>
            <a:ext cx="1904558" cy="457200"/>
          </a:xfrm>
          <a:prstGeom prst="rect">
            <a:avLst/>
          </a:prstGeom>
          <a:noFill/>
          <a:ln w="12700" cap="sq">
            <a:noFill/>
            <a:miter lim="800000"/>
            <a:headEnd type="none" w="sm" len="sm"/>
            <a:tailEnd type="none" w="sm" len="sm"/>
          </a:ln>
          <a:effectLst/>
        </p:spPr>
        <p:txBody>
          <a:bodyPr lIns="74016" tIns="37008" rIns="74016" bIns="37008" anchor="b"/>
          <a:lstStyle/>
          <a:p>
            <a:pPr eaLnBrk="1" hangingPunct="1">
              <a:defRPr/>
            </a:pPr>
            <a:fld id="{A489F54B-69BB-4115-9FC9-7565FFDEE19E}" type="slidenum">
              <a:rPr lang="en-US" sz="1100">
                <a:solidFill>
                  <a:srgbClr val="080808"/>
                </a:solidFill>
                <a:ea typeface="+mn-ea"/>
              </a:rPr>
              <a:pPr eaLnBrk="1" hangingPunct="1">
                <a:defRPr/>
              </a:pPr>
              <a:t>‹#›</a:t>
            </a:fld>
            <a:endParaRPr lang="en-US" sz="1100" dirty="0">
              <a:solidFill>
                <a:srgbClr val="080808"/>
              </a:solidFill>
              <a:ea typeface="+mn-ea"/>
            </a:endParaRPr>
          </a:p>
        </p:txBody>
      </p:sp>
      <p:sp>
        <p:nvSpPr>
          <p:cNvPr id="229396" name="Rectangle 20"/>
          <p:cNvSpPr>
            <a:spLocks noChangeArrowheads="1"/>
          </p:cNvSpPr>
          <p:nvPr userDrawn="1"/>
        </p:nvSpPr>
        <p:spPr bwMode="ltGray">
          <a:xfrm>
            <a:off x="8033097" y="5913362"/>
            <a:ext cx="327859" cy="474133"/>
          </a:xfrm>
          <a:prstGeom prst="rect">
            <a:avLst/>
          </a:prstGeom>
          <a:gradFill rotWithShape="0">
            <a:gsLst>
              <a:gs pos="0">
                <a:schemeClr val="bg1"/>
              </a:gs>
              <a:gs pos="100000">
                <a:schemeClr val="accent2"/>
              </a:gs>
            </a:gsLst>
            <a:lin ang="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400" name="Rectangle 24"/>
          <p:cNvSpPr>
            <a:spLocks noChangeArrowheads="1"/>
          </p:cNvSpPr>
          <p:nvPr userDrawn="1"/>
        </p:nvSpPr>
        <p:spPr bwMode="ltGray">
          <a:xfrm flipH="1">
            <a:off x="7880308" y="6335486"/>
            <a:ext cx="368179" cy="475343"/>
          </a:xfrm>
          <a:prstGeom prst="rect">
            <a:avLst/>
          </a:prstGeom>
          <a:gradFill rotWithShape="0">
            <a:gsLst>
              <a:gs pos="0">
                <a:schemeClr val="bg1"/>
              </a:gs>
              <a:gs pos="100000">
                <a:schemeClr val="folHlink"/>
              </a:gs>
            </a:gsLst>
            <a:lin ang="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398" name="Rectangle 22"/>
          <p:cNvSpPr>
            <a:spLocks noChangeArrowheads="1"/>
          </p:cNvSpPr>
          <p:nvPr userDrawn="1"/>
        </p:nvSpPr>
        <p:spPr bwMode="ltGray">
          <a:xfrm>
            <a:off x="8353530" y="5913362"/>
            <a:ext cx="438207" cy="474133"/>
          </a:xfrm>
          <a:prstGeom prst="rect">
            <a:avLst/>
          </a:prstGeom>
          <a:solidFill>
            <a:schemeClr val="accent2"/>
          </a:soli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399" name="Rectangle 23"/>
          <p:cNvSpPr>
            <a:spLocks noChangeArrowheads="1"/>
          </p:cNvSpPr>
          <p:nvPr userDrawn="1"/>
        </p:nvSpPr>
        <p:spPr bwMode="ltGray">
          <a:xfrm flipH="1">
            <a:off x="8245304" y="6335486"/>
            <a:ext cx="422292" cy="475343"/>
          </a:xfrm>
          <a:prstGeom prst="rect">
            <a:avLst/>
          </a:prstGeom>
          <a:solidFill>
            <a:schemeClr val="folHlink"/>
          </a:soli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401" name="Rectangle 25"/>
          <p:cNvSpPr>
            <a:spLocks noChangeArrowheads="1"/>
          </p:cNvSpPr>
          <p:nvPr userDrawn="1"/>
        </p:nvSpPr>
        <p:spPr bwMode="ltGray">
          <a:xfrm flipH="1">
            <a:off x="8521173" y="6262914"/>
            <a:ext cx="561287" cy="422124"/>
          </a:xfrm>
          <a:prstGeom prst="rect">
            <a:avLst/>
          </a:prstGeom>
          <a:gradFill rotWithShape="0">
            <a:gsLst>
              <a:gs pos="0">
                <a:schemeClr val="hlink"/>
              </a:gs>
              <a:gs pos="100000">
                <a:schemeClr val="bg1"/>
              </a:gs>
            </a:gsLst>
            <a:lin ang="270000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384" name="Rectangle 8"/>
          <p:cNvSpPr>
            <a:spLocks noChangeArrowheads="1"/>
          </p:cNvSpPr>
          <p:nvPr userDrawn="1"/>
        </p:nvSpPr>
        <p:spPr bwMode="gray">
          <a:xfrm>
            <a:off x="549616" y="6595534"/>
            <a:ext cx="8226205" cy="32657"/>
          </a:xfrm>
          <a:prstGeom prst="rect">
            <a:avLst/>
          </a:prstGeom>
          <a:gradFill rotWithShape="0">
            <a:gsLst>
              <a:gs pos="0">
                <a:schemeClr val="bg1"/>
              </a:gs>
              <a:gs pos="100000">
                <a:schemeClr val="tx1"/>
              </a:gs>
            </a:gsLst>
            <a:lin ang="0" scaled="1"/>
          </a:gradFill>
          <a:ln w="9525">
            <a:noFill/>
            <a:miter lim="800000"/>
            <a:headEnd/>
            <a:tailEnd/>
          </a:ln>
          <a:effectLst/>
        </p:spPr>
        <p:txBody>
          <a:bodyPr wrap="none" lIns="74016" tIns="37008" rIns="74016" bIns="37008" anchor="ctr"/>
          <a:lstStyle/>
          <a:p>
            <a:pPr algn="ctr" eaLnBrk="1" hangingPunct="1">
              <a:defRPr/>
            </a:pPr>
            <a:endParaRPr kumimoji="1" lang="en-US" sz="2000" dirty="0">
              <a:solidFill>
                <a:srgbClr val="000000"/>
              </a:solidFill>
              <a:latin typeface="Tahoma" pitchFamily="34" charset="0"/>
              <a:ea typeface="+mn-ea"/>
            </a:endParaRPr>
          </a:p>
        </p:txBody>
      </p:sp>
      <p:sp>
        <p:nvSpPr>
          <p:cNvPr id="229416" name="Text Box 40"/>
          <p:cNvSpPr txBox="1">
            <a:spLocks noChangeArrowheads="1"/>
          </p:cNvSpPr>
          <p:nvPr userDrawn="1"/>
        </p:nvSpPr>
        <p:spPr bwMode="auto">
          <a:xfrm>
            <a:off x="377729" y="6582229"/>
            <a:ext cx="8393849" cy="228627"/>
          </a:xfrm>
          <a:prstGeom prst="rect">
            <a:avLst/>
          </a:prstGeom>
          <a:noFill/>
          <a:ln w="12700" cap="sq">
            <a:noFill/>
            <a:miter lim="800000"/>
            <a:headEnd type="none" w="sm" len="sm"/>
            <a:tailEnd type="none" w="sm" len="sm"/>
          </a:ln>
          <a:effectLst/>
        </p:spPr>
        <p:txBody>
          <a:bodyPr lIns="74016" tIns="37008" rIns="74016" bIns="37008">
            <a:spAutoFit/>
          </a:bodyPr>
          <a:lstStyle/>
          <a:p>
            <a:pPr>
              <a:spcBef>
                <a:spcPct val="50000"/>
              </a:spcBef>
              <a:defRPr/>
            </a:pPr>
            <a:r>
              <a:rPr lang="en-US" sz="1000" dirty="0">
                <a:solidFill>
                  <a:srgbClr val="000000"/>
                </a:solidFill>
                <a:latin typeface="Tahoma" pitchFamily="34" charset="0"/>
                <a:ea typeface="+mn-ea"/>
              </a:rPr>
              <a:t>Chapter 2 Event-Driven </a:t>
            </a:r>
            <a:r>
              <a:rPr lang="en-US" sz="1000">
                <a:solidFill>
                  <a:srgbClr val="000000"/>
                </a:solidFill>
                <a:latin typeface="Tahoma" pitchFamily="34" charset="0"/>
                <a:ea typeface="+mn-ea"/>
              </a:rPr>
              <a:t>Programming                                                                                              CCS3104 </a:t>
            </a:r>
            <a:r>
              <a:rPr lang="en-US" sz="1000" dirty="0">
                <a:solidFill>
                  <a:srgbClr val="000000"/>
                </a:solidFill>
                <a:latin typeface="Tahoma" pitchFamily="34" charset="0"/>
                <a:ea typeface="+mn-ea"/>
              </a:rPr>
              <a:t>Advanced Programming</a:t>
            </a:r>
          </a:p>
        </p:txBody>
      </p:sp>
    </p:spTree>
    <p:extLst>
      <p:ext uri="{BB962C8B-B14F-4D97-AF65-F5344CB8AC3E}">
        <p14:creationId xmlns:p14="http://schemas.microsoft.com/office/powerpoint/2010/main" val="855775763"/>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Lst>
  <p:transition>
    <p:random/>
  </p:transition>
  <p:txStyles>
    <p:titleStyle>
      <a:lvl1pPr algn="l" rtl="0" eaLnBrk="0" fontAlgn="base" hangingPunct="0">
        <a:spcBef>
          <a:spcPct val="0"/>
        </a:spcBef>
        <a:spcAft>
          <a:spcPct val="0"/>
        </a:spcAft>
        <a:defRPr sz="3500">
          <a:solidFill>
            <a:schemeClr val="tx2"/>
          </a:solidFill>
          <a:latin typeface="+mj-lt"/>
          <a:ea typeface="+mj-ea"/>
          <a:cs typeface="+mj-cs"/>
        </a:defRPr>
      </a:lvl1pPr>
      <a:lvl2pPr algn="l" rtl="0" eaLnBrk="0" fontAlgn="base" hangingPunct="0">
        <a:spcBef>
          <a:spcPct val="0"/>
        </a:spcBef>
        <a:spcAft>
          <a:spcPct val="0"/>
        </a:spcAft>
        <a:defRPr sz="3500">
          <a:solidFill>
            <a:schemeClr val="tx2"/>
          </a:solidFill>
          <a:latin typeface="Tahoma" pitchFamily="34" charset="0"/>
        </a:defRPr>
      </a:lvl2pPr>
      <a:lvl3pPr algn="l" rtl="0" eaLnBrk="0" fontAlgn="base" hangingPunct="0">
        <a:spcBef>
          <a:spcPct val="0"/>
        </a:spcBef>
        <a:spcAft>
          <a:spcPct val="0"/>
        </a:spcAft>
        <a:defRPr sz="3500">
          <a:solidFill>
            <a:schemeClr val="tx2"/>
          </a:solidFill>
          <a:latin typeface="Tahoma" pitchFamily="34" charset="0"/>
        </a:defRPr>
      </a:lvl3pPr>
      <a:lvl4pPr algn="l" rtl="0" eaLnBrk="0" fontAlgn="base" hangingPunct="0">
        <a:spcBef>
          <a:spcPct val="0"/>
        </a:spcBef>
        <a:spcAft>
          <a:spcPct val="0"/>
        </a:spcAft>
        <a:defRPr sz="3500">
          <a:solidFill>
            <a:schemeClr val="tx2"/>
          </a:solidFill>
          <a:latin typeface="Tahoma" pitchFamily="34" charset="0"/>
        </a:defRPr>
      </a:lvl4pPr>
      <a:lvl5pPr algn="l" rtl="0" eaLnBrk="0" fontAlgn="base" hangingPunct="0">
        <a:spcBef>
          <a:spcPct val="0"/>
        </a:spcBef>
        <a:spcAft>
          <a:spcPct val="0"/>
        </a:spcAft>
        <a:defRPr sz="3500">
          <a:solidFill>
            <a:schemeClr val="tx2"/>
          </a:solidFill>
          <a:latin typeface="Tahoma" pitchFamily="34" charset="0"/>
        </a:defRPr>
      </a:lvl5pPr>
      <a:lvl6pPr marL="370079" algn="l" rtl="0" fontAlgn="base">
        <a:spcBef>
          <a:spcPct val="0"/>
        </a:spcBef>
        <a:spcAft>
          <a:spcPct val="0"/>
        </a:spcAft>
        <a:defRPr sz="3500">
          <a:solidFill>
            <a:schemeClr val="tx2"/>
          </a:solidFill>
          <a:latin typeface="Tahoma" pitchFamily="34" charset="0"/>
        </a:defRPr>
      </a:lvl6pPr>
      <a:lvl7pPr marL="740158" algn="l" rtl="0" fontAlgn="base">
        <a:spcBef>
          <a:spcPct val="0"/>
        </a:spcBef>
        <a:spcAft>
          <a:spcPct val="0"/>
        </a:spcAft>
        <a:defRPr sz="3500">
          <a:solidFill>
            <a:schemeClr val="tx2"/>
          </a:solidFill>
          <a:latin typeface="Tahoma" pitchFamily="34" charset="0"/>
        </a:defRPr>
      </a:lvl7pPr>
      <a:lvl8pPr marL="1110237" algn="l" rtl="0" fontAlgn="base">
        <a:spcBef>
          <a:spcPct val="0"/>
        </a:spcBef>
        <a:spcAft>
          <a:spcPct val="0"/>
        </a:spcAft>
        <a:defRPr sz="3500">
          <a:solidFill>
            <a:schemeClr val="tx2"/>
          </a:solidFill>
          <a:latin typeface="Tahoma" pitchFamily="34" charset="0"/>
        </a:defRPr>
      </a:lvl8pPr>
      <a:lvl9pPr marL="1480316" algn="l" rtl="0" fontAlgn="base">
        <a:spcBef>
          <a:spcPct val="0"/>
        </a:spcBef>
        <a:spcAft>
          <a:spcPct val="0"/>
        </a:spcAft>
        <a:defRPr sz="3500">
          <a:solidFill>
            <a:schemeClr val="tx2"/>
          </a:solidFill>
          <a:latin typeface="Tahoma" pitchFamily="34" charset="0"/>
        </a:defRPr>
      </a:lvl9pPr>
    </p:titleStyle>
    <p:bodyStyle>
      <a:lvl1pPr marL="276597" indent="-276597" algn="l" rtl="0" eaLnBrk="0" fontAlgn="base" hangingPunct="0">
        <a:spcBef>
          <a:spcPct val="20000"/>
        </a:spcBef>
        <a:spcAft>
          <a:spcPct val="0"/>
        </a:spcAft>
        <a:buClr>
          <a:schemeClr val="folHlink"/>
        </a:buClr>
        <a:buSzPct val="60000"/>
        <a:buFont typeface="Wingdings" pitchFamily="2" charset="2"/>
        <a:buChar char="n"/>
        <a:defRPr sz="2600">
          <a:solidFill>
            <a:schemeClr val="tx1"/>
          </a:solidFill>
          <a:latin typeface="+mn-lt"/>
          <a:ea typeface="+mn-ea"/>
          <a:cs typeface="+mn-cs"/>
        </a:defRPr>
      </a:lvl1pPr>
      <a:lvl2pPr marL="601345" indent="-230683" algn="l" rtl="0" eaLnBrk="0" fontAlgn="base" hangingPunct="0">
        <a:spcBef>
          <a:spcPct val="20000"/>
        </a:spcBef>
        <a:spcAft>
          <a:spcPct val="0"/>
        </a:spcAft>
        <a:buClr>
          <a:schemeClr val="hlink"/>
        </a:buClr>
        <a:buSzPct val="55000"/>
        <a:buFont typeface="Wingdings" pitchFamily="2" charset="2"/>
        <a:buChar char="n"/>
        <a:defRPr sz="2300">
          <a:solidFill>
            <a:schemeClr val="tx1"/>
          </a:solidFill>
          <a:latin typeface="+mn-lt"/>
        </a:defRPr>
      </a:lvl2pPr>
      <a:lvl3pPr marL="924973" indent="-184771"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defRPr>
      </a:lvl3pPr>
      <a:lvl4pPr marL="1294515" indent="-184771" algn="l" rtl="0" eaLnBrk="0" fontAlgn="base" hangingPunct="0">
        <a:spcBef>
          <a:spcPct val="20000"/>
        </a:spcBef>
        <a:spcAft>
          <a:spcPct val="0"/>
        </a:spcAft>
        <a:buClr>
          <a:schemeClr val="accent2"/>
        </a:buClr>
        <a:buSzPct val="55000"/>
        <a:buFont typeface="Wingdings" pitchFamily="2" charset="2"/>
        <a:buChar char="n"/>
        <a:defRPr sz="1600">
          <a:solidFill>
            <a:schemeClr val="tx1"/>
          </a:solidFill>
          <a:latin typeface="+mn-lt"/>
        </a:defRPr>
      </a:lvl4pPr>
      <a:lvl5pPr marL="1665176" indent="-184771" algn="l" rtl="0" eaLnBrk="0" fontAlgn="base" hangingPunct="0">
        <a:spcBef>
          <a:spcPct val="20000"/>
        </a:spcBef>
        <a:spcAft>
          <a:spcPct val="0"/>
        </a:spcAft>
        <a:buClr>
          <a:schemeClr val="accent1"/>
        </a:buClr>
        <a:buSzPct val="50000"/>
        <a:buFont typeface="Wingdings" pitchFamily="2" charset="2"/>
        <a:buChar char="n"/>
        <a:defRPr sz="1600">
          <a:solidFill>
            <a:schemeClr val="tx1"/>
          </a:solidFill>
          <a:latin typeface="+mn-lt"/>
        </a:defRPr>
      </a:lvl5pPr>
      <a:lvl6pPr marL="2035435"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6pPr>
      <a:lvl7pPr marL="2405513"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7pPr>
      <a:lvl8pPr marL="2775592"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8pPr>
      <a:lvl9pPr marL="3145671" indent="-185040" algn="l" rtl="0" fontAlgn="base">
        <a:spcBef>
          <a:spcPct val="20000"/>
        </a:spcBef>
        <a:spcAft>
          <a:spcPct val="0"/>
        </a:spcAft>
        <a:buClr>
          <a:schemeClr val="accent1"/>
        </a:buClr>
        <a:buSzPct val="50000"/>
        <a:buFont typeface="Wingdings" pitchFamily="2" charset="2"/>
        <a:buChar char="n"/>
        <a:defRPr sz="1600">
          <a:solidFill>
            <a:schemeClr val="tx1"/>
          </a:solidFill>
          <a:latin typeface="+mn-lt"/>
        </a:defRPr>
      </a:lvl9pPr>
    </p:bodyStyle>
    <p:otherStyle>
      <a:defPPr>
        <a:defRPr lang="en-US"/>
      </a:defPPr>
      <a:lvl1pPr marL="0" algn="l" defTabSz="740158" rtl="0" eaLnBrk="1" latinLnBrk="0" hangingPunct="1">
        <a:defRPr sz="1500" kern="1200">
          <a:solidFill>
            <a:schemeClr val="tx1"/>
          </a:solidFill>
          <a:latin typeface="+mn-lt"/>
          <a:ea typeface="+mn-ea"/>
          <a:cs typeface="+mn-cs"/>
        </a:defRPr>
      </a:lvl1pPr>
      <a:lvl2pPr marL="370079" algn="l" defTabSz="740158" rtl="0" eaLnBrk="1" latinLnBrk="0" hangingPunct="1">
        <a:defRPr sz="1500" kern="1200">
          <a:solidFill>
            <a:schemeClr val="tx1"/>
          </a:solidFill>
          <a:latin typeface="+mn-lt"/>
          <a:ea typeface="+mn-ea"/>
          <a:cs typeface="+mn-cs"/>
        </a:defRPr>
      </a:lvl2pPr>
      <a:lvl3pPr marL="740158" algn="l" defTabSz="740158" rtl="0" eaLnBrk="1" latinLnBrk="0" hangingPunct="1">
        <a:defRPr sz="1500" kern="1200">
          <a:solidFill>
            <a:schemeClr val="tx1"/>
          </a:solidFill>
          <a:latin typeface="+mn-lt"/>
          <a:ea typeface="+mn-ea"/>
          <a:cs typeface="+mn-cs"/>
        </a:defRPr>
      </a:lvl3pPr>
      <a:lvl4pPr marL="1110237" algn="l" defTabSz="740158" rtl="0" eaLnBrk="1" latinLnBrk="0" hangingPunct="1">
        <a:defRPr sz="1500" kern="1200">
          <a:solidFill>
            <a:schemeClr val="tx1"/>
          </a:solidFill>
          <a:latin typeface="+mn-lt"/>
          <a:ea typeface="+mn-ea"/>
          <a:cs typeface="+mn-cs"/>
        </a:defRPr>
      </a:lvl4pPr>
      <a:lvl5pPr marL="1480316" algn="l" defTabSz="740158" rtl="0" eaLnBrk="1" latinLnBrk="0" hangingPunct="1">
        <a:defRPr sz="1500" kern="1200">
          <a:solidFill>
            <a:schemeClr val="tx1"/>
          </a:solidFill>
          <a:latin typeface="+mn-lt"/>
          <a:ea typeface="+mn-ea"/>
          <a:cs typeface="+mn-cs"/>
        </a:defRPr>
      </a:lvl5pPr>
      <a:lvl6pPr marL="1850395" algn="l" defTabSz="740158" rtl="0" eaLnBrk="1" latinLnBrk="0" hangingPunct="1">
        <a:defRPr sz="1500" kern="1200">
          <a:solidFill>
            <a:schemeClr val="tx1"/>
          </a:solidFill>
          <a:latin typeface="+mn-lt"/>
          <a:ea typeface="+mn-ea"/>
          <a:cs typeface="+mn-cs"/>
        </a:defRPr>
      </a:lvl6pPr>
      <a:lvl7pPr marL="2220474" algn="l" defTabSz="740158" rtl="0" eaLnBrk="1" latinLnBrk="0" hangingPunct="1">
        <a:defRPr sz="1500" kern="1200">
          <a:solidFill>
            <a:schemeClr val="tx1"/>
          </a:solidFill>
          <a:latin typeface="+mn-lt"/>
          <a:ea typeface="+mn-ea"/>
          <a:cs typeface="+mn-cs"/>
        </a:defRPr>
      </a:lvl7pPr>
      <a:lvl8pPr marL="2590553" algn="l" defTabSz="740158" rtl="0" eaLnBrk="1" latinLnBrk="0" hangingPunct="1">
        <a:defRPr sz="1500" kern="1200">
          <a:solidFill>
            <a:schemeClr val="tx1"/>
          </a:solidFill>
          <a:latin typeface="+mn-lt"/>
          <a:ea typeface="+mn-ea"/>
          <a:cs typeface="+mn-cs"/>
        </a:defRPr>
      </a:lvl8pPr>
      <a:lvl9pPr marL="2960632" algn="l" defTabSz="740158"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hyperlink" Target="https://liveexample.pearsoncmg.com/html/LoanCalculator.html" TargetMode="External"/><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hyperlink" Target="html/LoanCalculator.bat"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hyperlink" Target="html/HandleEvent.bat" TargetMode="External"/><Relationship Id="rId4" Type="http://schemas.openxmlformats.org/officeDocument/2006/relationships/hyperlink" Target="https://liveexample.pearsoncmg.com/html/HandleEvent.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winword%20TestCircleWithConstructors.java"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s://liveexample.pearsoncmg.com/html/ControlCircleWithoutEventHandling.html" TargetMode="External"/><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hyperlink" Target="html/ControlCircleWithoutEventHandling.ba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5" Type="http://schemas.openxmlformats.org/officeDocument/2006/relationships/hyperlink" Target="html/ControlCircle.bat" TargetMode="External"/><Relationship Id="rId4" Type="http://schemas.openxmlformats.org/officeDocument/2006/relationships/hyperlink" Target="https://liveexample.pearsoncmg.com/html/ControlCircle.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hyperlink" Target="https://liveexample.pearsoncmg.com/html/ShowInnerClass.html" TargetMode="Externa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5" Type="http://schemas.openxmlformats.org/officeDocument/2006/relationships/hyperlink" Target="html/AnonymousHandlerDemo.bat" TargetMode="External"/><Relationship Id="rId4" Type="http://schemas.openxmlformats.org/officeDocument/2006/relationships/hyperlink" Target="https://liveexample.pearsoncmg.com/html/AnonymousHandlerDemo.html"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hyperlink" Target="html/AnonymousHandlerDemo.bat" TargetMode="External"/><Relationship Id="rId2" Type="http://schemas.openxmlformats.org/officeDocument/2006/relationships/hyperlink" Target="https://liveexample.pearsoncmg.com/html/LambdaHandlerDemo.html" TargetMode="Externa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liveexample.pearsoncmg.com/html/MouseEventDemo.html" TargetMode="External"/><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hyperlink" Target="html/MouseEventDemo.bat"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liveexample.pearsoncmg.com/html/KeyEventDemo.html" TargetMode="External"/><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hyperlink" Target="html/KeyEventDemo.bat"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hyperlink" Target="https://liveexample.pearsoncmg.com/html/ControlCircleWithMouseAndKey.html" TargetMode="External"/><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hyperlink" Target="html/ControlCircleWithMouseAndKey.ba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1028700" y="1866900"/>
            <a:ext cx="7881938" cy="130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74016" tIns="37008" rIns="74016" bIns="37008"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r>
              <a:rPr lang="en-US" altLang="en-US" sz="3600" b="1" dirty="0">
                <a:cs typeface="Times New Roman" panose="02020603050405020304" pitchFamily="18" charset="0"/>
              </a:rPr>
              <a:t>CCS3104 </a:t>
            </a:r>
          </a:p>
          <a:p>
            <a:pPr eaLnBrk="1" hangingPunct="1"/>
            <a:r>
              <a:rPr lang="en-US" altLang="en-US" sz="3600" b="1" dirty="0">
                <a:cs typeface="Times New Roman" panose="02020603050405020304" pitchFamily="18" charset="0"/>
              </a:rPr>
              <a:t>ADVANCED PROGRAMMING</a:t>
            </a:r>
            <a:br>
              <a:rPr lang="pl-PL" altLang="en-US" sz="3600" b="1" dirty="0">
                <a:cs typeface="Times New Roman" panose="02020603050405020304" pitchFamily="18" charset="0"/>
              </a:rPr>
            </a:br>
            <a:r>
              <a:rPr lang="en-US" altLang="en-US" sz="3600" b="1" dirty="0">
                <a:cs typeface="Times New Roman" panose="02020603050405020304" pitchFamily="18" charset="0"/>
              </a:rPr>
              <a:t>Chapter 2 Event-Driven Programming</a:t>
            </a:r>
          </a:p>
        </p:txBody>
      </p:sp>
      <p:sp>
        <p:nvSpPr>
          <p:cNvPr id="3075" name="Rectangle 3"/>
          <p:cNvSpPr>
            <a:spLocks noChangeArrowheads="1"/>
          </p:cNvSpPr>
          <p:nvPr/>
        </p:nvSpPr>
        <p:spPr bwMode="auto">
          <a:xfrm>
            <a:off x="533400" y="3733800"/>
            <a:ext cx="76200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74016" tIns="37008" rIns="74016" bIns="37008"/>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spcBef>
                <a:spcPct val="20000"/>
              </a:spcBef>
              <a:buClr>
                <a:schemeClr val="folHlink"/>
              </a:buClr>
              <a:buSzPct val="60000"/>
              <a:buFont typeface="Wingdings" pitchFamily="2" charset="2"/>
              <a:buNone/>
            </a:pPr>
            <a:endParaRPr lang="en-US" altLang="en-US" sz="1100" dirty="0">
              <a:latin typeface="Tw Cen MT Condensed Extra Bold" pitchFamily="34" charset="0"/>
            </a:endParaRPr>
          </a:p>
          <a:p>
            <a:pPr algn="ctr" eaLnBrk="1" hangingPunct="1">
              <a:spcBef>
                <a:spcPct val="20000"/>
              </a:spcBef>
              <a:buClr>
                <a:schemeClr val="folHlink"/>
              </a:buClr>
              <a:buSzPct val="60000"/>
              <a:buFont typeface="Wingdings" pitchFamily="2" charset="2"/>
              <a:buNone/>
            </a:pPr>
            <a:endParaRPr lang="pl-PL" altLang="en-US" sz="1100" dirty="0"/>
          </a:p>
        </p:txBody>
      </p:sp>
    </p:spTree>
    <p:custDataLst>
      <p:tags r:id="rId1"/>
    </p:custData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152400" y="228600"/>
            <a:ext cx="8763000" cy="10668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Motivations</a:t>
            </a:r>
          </a:p>
        </p:txBody>
      </p:sp>
      <p:sp>
        <p:nvSpPr>
          <p:cNvPr id="4100" name="Rectangle 3"/>
          <p:cNvSpPr>
            <a:spLocks noGrp="1" noChangeArrowheads="1"/>
          </p:cNvSpPr>
          <p:nvPr>
            <p:ph idx="1"/>
          </p:nvPr>
        </p:nvSpPr>
        <p:spPr>
          <a:xfrm>
            <a:off x="228600" y="1295400"/>
            <a:ext cx="5257800" cy="4648200"/>
          </a:xfrm>
        </p:spPr>
        <p:txBody>
          <a:bodyPr/>
          <a:lstStyle/>
          <a:p>
            <a:pPr marL="0" indent="0">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Suppose you want to write a GUI program that lets the user enter a loan amount, annual interest rate, and number of years and click the </a:t>
            </a:r>
            <a:r>
              <a:rPr lang="en-US" sz="2800" i="1" dirty="0">
                <a:latin typeface="Times New Roman" panose="02020603050405020304" pitchFamily="18" charset="0"/>
                <a:ea typeface="ＭＳ Ｐゴシック" charset="0"/>
                <a:cs typeface="Times New Roman" panose="02020603050405020304" pitchFamily="18" charset="0"/>
              </a:rPr>
              <a:t>Compute Payment</a:t>
            </a:r>
            <a:r>
              <a:rPr lang="en-US" sz="2800" dirty="0">
                <a:latin typeface="Times New Roman" panose="02020603050405020304" pitchFamily="18" charset="0"/>
                <a:ea typeface="ＭＳ Ｐゴシック" charset="0"/>
                <a:cs typeface="Times New Roman" panose="02020603050405020304" pitchFamily="18" charset="0"/>
              </a:rPr>
              <a:t> button to obtain the monthly payment and total payment. How do you accomplish the task? You have to use </a:t>
            </a:r>
            <a:r>
              <a:rPr lang="en-US" sz="2800" i="1" dirty="0">
                <a:latin typeface="Times New Roman" panose="02020603050405020304" pitchFamily="18" charset="0"/>
                <a:ea typeface="ＭＳ Ｐゴシック" charset="0"/>
                <a:cs typeface="Times New Roman" panose="02020603050405020304" pitchFamily="18" charset="0"/>
              </a:rPr>
              <a:t>event-driven programming</a:t>
            </a:r>
            <a:r>
              <a:rPr lang="en-US" sz="2800" dirty="0">
                <a:latin typeface="Times New Roman" panose="02020603050405020304" pitchFamily="18" charset="0"/>
                <a:ea typeface="ＭＳ Ｐゴシック" charset="0"/>
                <a:cs typeface="Times New Roman" panose="02020603050405020304" pitchFamily="18" charset="0"/>
              </a:rPr>
              <a:t> to write the code to respond to the button-clicking event.</a:t>
            </a:r>
          </a:p>
        </p:txBody>
      </p:sp>
      <p:pic>
        <p:nvPicPr>
          <p:cNvPr id="5837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10200" y="1376363"/>
            <a:ext cx="3506788" cy="243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hlinkClick r:id="rId3"/>
          </p:cNvPr>
          <p:cNvSpPr>
            <a:spLocks noChangeArrowheads="1"/>
          </p:cNvSpPr>
          <p:nvPr/>
        </p:nvSpPr>
        <p:spPr bwMode="auto">
          <a:xfrm>
            <a:off x="5651500" y="54864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LoanCalculator</a:t>
            </a:r>
            <a:endParaRPr lang="en-US" altLang="en-US" sz="2000" dirty="0"/>
          </a:p>
        </p:txBody>
      </p:sp>
      <p:sp>
        <p:nvSpPr>
          <p:cNvPr id="10" name="AutoShape 10">
            <a:hlinkClick r:id="rId4" action="ppaction://program" highlightClick="1"/>
          </p:cNvPr>
          <p:cNvSpPr>
            <a:spLocks noChangeArrowheads="1"/>
          </p:cNvSpPr>
          <p:nvPr/>
        </p:nvSpPr>
        <p:spPr bwMode="auto">
          <a:xfrm>
            <a:off x="8077200" y="54864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533400" y="152400"/>
            <a:ext cx="7772400" cy="457200"/>
          </a:xfrm>
        </p:spPr>
        <p:txBody>
          <a:bodyPr/>
          <a:lstStyle/>
          <a:p>
            <a:pPr algn="ctr">
              <a:defRPr/>
            </a:pPr>
            <a:r>
              <a:rPr lang="en-US" sz="3600" b="1" dirty="0">
                <a:solidFill>
                  <a:schemeClr val="tx1"/>
                </a:solidFill>
                <a:latin typeface="Times New Roman" panose="02020603050405020304" pitchFamily="18" charset="0"/>
                <a:ea typeface="ＭＳ Ｐゴシック" charset="0"/>
                <a:cs typeface="Times New Roman" panose="02020603050405020304" pitchFamily="18" charset="0"/>
              </a:rPr>
              <a:t>Objectives</a:t>
            </a:r>
          </a:p>
        </p:txBody>
      </p:sp>
      <p:sp>
        <p:nvSpPr>
          <p:cNvPr id="5124" name="Rectangle 3"/>
          <p:cNvSpPr>
            <a:spLocks noGrp="1" noChangeArrowheads="1"/>
          </p:cNvSpPr>
          <p:nvPr>
            <p:ph idx="1"/>
          </p:nvPr>
        </p:nvSpPr>
        <p:spPr>
          <a:xfrm>
            <a:off x="190500" y="990600"/>
            <a:ext cx="8991600" cy="5562600"/>
          </a:xfrm>
        </p:spPr>
        <p:txBody>
          <a:bodyPr/>
          <a:lstStyle/>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get a taste of event-driven programming (§15.1).</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describe events, event sources, and event classes (§15.2).</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define handler classes, register handler objects with the source object, and write the code to handle events (§15.3).</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define handler classes using inner classes (§15.4).</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define handler classes using anonymous inner classes (§15.5).</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simplify event handling using lambda expressions (§15.6).</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develop a GUI application for a loan calculator (§15.7).</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write programs to deal with </a:t>
            </a:r>
            <a:r>
              <a:rPr lang="en-US" sz="2000" b="1" dirty="0" err="1">
                <a:latin typeface="Times New Roman" panose="02020603050405020304" pitchFamily="18" charset="0"/>
                <a:cs typeface="Times New Roman" panose="02020603050405020304" pitchFamily="18" charset="0"/>
              </a:rPr>
              <a:t>MouseEvent</a:t>
            </a:r>
            <a:r>
              <a:rPr lang="en-US" sz="2000" dirty="0" err="1">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 (§15.8).</a:t>
            </a:r>
          </a:p>
          <a:p>
            <a:pPr>
              <a:buFont typeface="Wingdings" pitchFamily="2" charset="2"/>
              <a:buChar char="§"/>
              <a:defRPr/>
            </a:pPr>
            <a:r>
              <a:rPr lang="en-US" sz="2000" dirty="0">
                <a:latin typeface="Times New Roman" panose="02020603050405020304" pitchFamily="18" charset="0"/>
                <a:cs typeface="Times New Roman" panose="02020603050405020304" pitchFamily="18" charset="0"/>
              </a:rPr>
              <a:t>To write programs to deal with </a:t>
            </a:r>
            <a:r>
              <a:rPr lang="en-US" sz="2000" b="1" dirty="0" err="1">
                <a:latin typeface="Times New Roman" panose="02020603050405020304" pitchFamily="18" charset="0"/>
                <a:cs typeface="Times New Roman" panose="02020603050405020304" pitchFamily="18" charset="0"/>
              </a:rPr>
              <a:t>KeyEvent</a:t>
            </a:r>
            <a:r>
              <a:rPr lang="en-US" sz="2000" dirty="0" err="1">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 (§15.9).</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685800" y="304800"/>
            <a:ext cx="7772400" cy="11239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Procedural vs. Event-Driven Programming</a:t>
            </a:r>
          </a:p>
        </p:txBody>
      </p:sp>
      <p:sp>
        <p:nvSpPr>
          <p:cNvPr id="6148" name="Rectangle 3"/>
          <p:cNvSpPr>
            <a:spLocks noGrp="1" noChangeArrowheads="1"/>
          </p:cNvSpPr>
          <p:nvPr>
            <p:ph idx="1"/>
          </p:nvPr>
        </p:nvSpPr>
        <p:spPr>
          <a:xfrm>
            <a:off x="381000" y="2286000"/>
            <a:ext cx="8305800" cy="2590800"/>
          </a:xfrm>
        </p:spPr>
        <p:txBody>
          <a:bodyPr/>
          <a:lstStyle/>
          <a:p>
            <a:pPr>
              <a:buFont typeface="Wingdings" charset="0"/>
              <a:buChar char="§"/>
              <a:defRPr/>
            </a:pPr>
            <a:r>
              <a:rPr lang="en-US" sz="3200" i="1" dirty="0">
                <a:latin typeface="Times New Roman" panose="02020603050405020304" pitchFamily="18" charset="0"/>
                <a:ea typeface="ＭＳ Ｐゴシック" charset="0"/>
                <a:cs typeface="Times New Roman" panose="02020603050405020304" pitchFamily="18" charset="0"/>
              </a:rPr>
              <a:t>Procedural programming</a:t>
            </a:r>
            <a:r>
              <a:rPr lang="en-US" sz="3200" dirty="0">
                <a:latin typeface="Times New Roman" panose="02020603050405020304" pitchFamily="18" charset="0"/>
                <a:ea typeface="ＭＳ Ｐゴシック" charset="0"/>
                <a:cs typeface="Times New Roman" panose="02020603050405020304" pitchFamily="18" charset="0"/>
              </a:rPr>
              <a:t> is executed in procedural order.</a:t>
            </a:r>
          </a:p>
          <a:p>
            <a:pPr>
              <a:spcBef>
                <a:spcPct val="100000"/>
              </a:spcBef>
              <a:buFont typeface="Wingdings" charset="0"/>
              <a:buChar char="§"/>
              <a:defRPr/>
            </a:pPr>
            <a:r>
              <a:rPr lang="en-US" sz="3200" dirty="0">
                <a:latin typeface="Times New Roman" panose="02020603050405020304" pitchFamily="18" charset="0"/>
                <a:ea typeface="ＭＳ Ｐゴシック" charset="0"/>
                <a:cs typeface="Times New Roman" panose="02020603050405020304" pitchFamily="18" charset="0"/>
              </a:rPr>
              <a:t>In event-driven programming, code is executed upon activation of events. </a:t>
            </a: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304800" y="304800"/>
            <a:ext cx="8534400" cy="114300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Taste of Event-Driven Programming</a:t>
            </a:r>
          </a:p>
        </p:txBody>
      </p:sp>
      <p:sp>
        <p:nvSpPr>
          <p:cNvPr id="7172" name="Rectangle 3"/>
          <p:cNvSpPr>
            <a:spLocks noGrp="1" noChangeArrowheads="1"/>
          </p:cNvSpPr>
          <p:nvPr>
            <p:ph idx="1"/>
          </p:nvPr>
        </p:nvSpPr>
        <p:spPr>
          <a:xfrm>
            <a:off x="304800" y="2133600"/>
            <a:ext cx="8305800" cy="1524000"/>
          </a:xfrm>
        </p:spPr>
        <p:txBody>
          <a:bodyPr/>
          <a:lstStyle/>
          <a:p>
            <a:pPr marL="0" indent="0">
              <a:lnSpc>
                <a:spcPct val="90000"/>
              </a:lnSpc>
              <a:buFont typeface="Monotype Sorts" charset="0"/>
              <a:buNone/>
              <a:defRPr/>
            </a:pPr>
            <a:r>
              <a:rPr lang="en-US" sz="3200" dirty="0">
                <a:latin typeface="Times New Roman" panose="02020603050405020304" pitchFamily="18" charset="0"/>
                <a:ea typeface="ＭＳ Ｐゴシック" charset="0"/>
                <a:cs typeface="Times New Roman" panose="02020603050405020304" pitchFamily="18" charset="0"/>
              </a:rPr>
              <a:t>The example displays a button in the frame. A message is displayed on the console when a button is clicked. </a:t>
            </a:r>
          </a:p>
        </p:txBody>
      </p:sp>
      <p:pic>
        <p:nvPicPr>
          <p:cNvPr id="7175" name="Picture 7"/>
          <p:cNvPicPr>
            <a:picLocks noChangeAspect="1" noChangeArrowheads="1"/>
          </p:cNvPicPr>
          <p:nvPr/>
        </p:nvPicPr>
        <p:blipFill>
          <a:blip r:embed="rId2" cstate="print"/>
          <a:srcRect/>
          <a:stretch>
            <a:fillRect/>
          </a:stretch>
        </p:blipFill>
        <p:spPr bwMode="auto">
          <a:xfrm>
            <a:off x="4267200" y="3657600"/>
            <a:ext cx="43434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7176" name="Picture 8"/>
          <p:cNvPicPr>
            <a:picLocks noChangeAspect="1" noChangeArrowheads="1"/>
          </p:cNvPicPr>
          <p:nvPr/>
        </p:nvPicPr>
        <p:blipFill>
          <a:blip r:embed="rId3" cstate="print"/>
          <a:srcRect/>
          <a:stretch>
            <a:fillRect/>
          </a:stretch>
        </p:blipFill>
        <p:spPr bwMode="auto">
          <a:xfrm>
            <a:off x="6324600" y="4724400"/>
            <a:ext cx="2438400"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0" name="Rectangle 9">
            <a:hlinkClick r:id="rId4"/>
          </p:cNvPr>
          <p:cNvSpPr>
            <a:spLocks noChangeArrowheads="1"/>
          </p:cNvSpPr>
          <p:nvPr/>
        </p:nvSpPr>
        <p:spPr bwMode="auto">
          <a:xfrm>
            <a:off x="584200" y="5599113"/>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a:t>HandleEvent</a:t>
            </a:r>
          </a:p>
        </p:txBody>
      </p:sp>
      <p:sp>
        <p:nvSpPr>
          <p:cNvPr id="11" name="AutoShape 10">
            <a:hlinkClick r:id="rId5" action="ppaction://program" highlightClick="1"/>
          </p:cNvPr>
          <p:cNvSpPr>
            <a:spLocks noChangeArrowheads="1"/>
          </p:cNvSpPr>
          <p:nvPr/>
        </p:nvSpPr>
        <p:spPr bwMode="auto">
          <a:xfrm>
            <a:off x="3009900" y="5599113"/>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ChangeArrowheads="1"/>
          </p:cNvSpPr>
          <p:nvPr/>
        </p:nvSpPr>
        <p:spPr bwMode="auto">
          <a:xfrm>
            <a:off x="0" y="-33338"/>
            <a:ext cx="4572000" cy="563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javafx.geometry.Pos;</a:t>
            </a:r>
          </a:p>
          <a:p>
            <a:r>
              <a:rPr lang="en-US" altLang="en-US" sz="1200"/>
              <a:t>import javafx.scene.Scene;</a:t>
            </a:r>
          </a:p>
          <a:p>
            <a:r>
              <a:rPr lang="en-US" altLang="en-US" sz="1200"/>
              <a:t>import javafx.scene.control.Button;</a:t>
            </a:r>
          </a:p>
          <a:p>
            <a:r>
              <a:rPr lang="en-US" altLang="en-US" sz="1200"/>
              <a:t>import javafx.scene.layout.HBox;</a:t>
            </a:r>
          </a:p>
          <a:p>
            <a:r>
              <a:rPr lang="en-US" altLang="en-US" sz="1200"/>
              <a:t>import javafx.stage.Stage;</a:t>
            </a:r>
          </a:p>
          <a:p>
            <a:r>
              <a:rPr lang="en-US" altLang="en-US" sz="1200"/>
              <a:t>import javafx.event.ActionEvent;</a:t>
            </a:r>
          </a:p>
          <a:p>
            <a:r>
              <a:rPr lang="en-US" altLang="en-US" sz="1200"/>
              <a:t>import javafx.event.EventHandler;</a:t>
            </a:r>
          </a:p>
          <a:p>
            <a:endParaRPr lang="en-US" altLang="en-US" sz="1200"/>
          </a:p>
          <a:p>
            <a:r>
              <a:rPr lang="en-US" altLang="en-US" sz="1200"/>
              <a:t>public class HandleEvent extends Application {</a:t>
            </a:r>
          </a:p>
          <a:p>
            <a:r>
              <a:rPr lang="en-US" altLang="en-US" sz="1200"/>
              <a:t>  @Override // Override the start method in the Application class</a:t>
            </a:r>
          </a:p>
          <a:p>
            <a:r>
              <a:rPr lang="en-US" altLang="en-US" sz="1200"/>
              <a:t>  public void start(Stage primaryStage) {</a:t>
            </a:r>
          </a:p>
          <a:p>
            <a:r>
              <a:rPr lang="en-US" altLang="en-US" sz="1200"/>
              <a:t>    // Create a pane and set its properties</a:t>
            </a:r>
          </a:p>
          <a:p>
            <a:r>
              <a:rPr lang="en-US" altLang="en-US" sz="1200"/>
              <a:t>    HBox pane = new HBox(10);</a:t>
            </a:r>
          </a:p>
          <a:p>
            <a:r>
              <a:rPr lang="en-US" altLang="en-US" sz="1200"/>
              <a:t>    pane.setAlignment(Pos.CENTER);</a:t>
            </a:r>
          </a:p>
          <a:p>
            <a:r>
              <a:rPr lang="en-US" altLang="en-US" sz="1200"/>
              <a:t>    Button btOK = new Button("OK");</a:t>
            </a:r>
          </a:p>
          <a:p>
            <a:r>
              <a:rPr lang="en-US" altLang="en-US" sz="1200"/>
              <a:t>    Button btCancel = new Button("Cancel");</a:t>
            </a:r>
          </a:p>
          <a:p>
            <a:r>
              <a:rPr lang="en-US" altLang="en-US" sz="1200"/>
              <a:t>    OKHandlerClass handler1 = new OKHandlerClass();</a:t>
            </a:r>
          </a:p>
          <a:p>
            <a:r>
              <a:rPr lang="en-US" altLang="en-US" sz="1200"/>
              <a:t>    btOK.setOnAction(handler1);</a:t>
            </a:r>
          </a:p>
          <a:p>
            <a:r>
              <a:rPr lang="en-US" altLang="en-US" sz="1200"/>
              <a:t>    CancelHandlerClass handler2 = new CancelHandlerClass();</a:t>
            </a:r>
          </a:p>
          <a:p>
            <a:r>
              <a:rPr lang="en-US" altLang="en-US" sz="1200"/>
              <a:t>    btCancel.setOnAction(handler2);</a:t>
            </a:r>
          </a:p>
          <a:p>
            <a:r>
              <a:rPr lang="en-US" altLang="en-US" sz="1200"/>
              <a:t>    pane.getChildren().addAll(btOK, btCancel);</a:t>
            </a:r>
          </a:p>
          <a:p>
            <a:r>
              <a:rPr lang="en-US" altLang="en-US" sz="1200"/>
              <a:t>    </a:t>
            </a:r>
          </a:p>
          <a:p>
            <a:r>
              <a:rPr lang="en-US" altLang="en-US" sz="1200"/>
              <a:t>    // Create a scene and place it in the stage</a:t>
            </a:r>
          </a:p>
          <a:p>
            <a:r>
              <a:rPr lang="en-US" altLang="en-US" sz="1200"/>
              <a:t>    Scene scene = new Scene(pane);</a:t>
            </a:r>
          </a:p>
          <a:p>
            <a:r>
              <a:rPr lang="en-US" altLang="en-US" sz="1200"/>
              <a:t>    primaryStage.setTitle("HandleEvent"); // Set the stage title</a:t>
            </a:r>
          </a:p>
          <a:p>
            <a:r>
              <a:rPr lang="en-US" altLang="en-US" sz="1200"/>
              <a:t>    primaryStage.setScene(scene); // Place the scene in the stage</a:t>
            </a:r>
          </a:p>
          <a:p>
            <a:r>
              <a:rPr lang="en-US" altLang="en-US" sz="1200"/>
              <a:t>    primaryStage.show(); // Display the stage</a:t>
            </a:r>
          </a:p>
          <a:p>
            <a:r>
              <a:rPr lang="en-US" altLang="en-US" sz="1200"/>
              <a:t>  }</a:t>
            </a:r>
          </a:p>
          <a:p>
            <a:endParaRPr lang="en-US" altLang="en-US" sz="1200"/>
          </a:p>
        </p:txBody>
      </p:sp>
      <p:sp>
        <p:nvSpPr>
          <p:cNvPr id="4" name="Rectangle 3"/>
          <p:cNvSpPr/>
          <p:nvPr/>
        </p:nvSpPr>
        <p:spPr>
          <a:xfrm>
            <a:off x="4608513" y="0"/>
            <a:ext cx="4572000" cy="4154488"/>
          </a:xfrm>
          <a:prstGeom prst="rect">
            <a:avLst/>
          </a:prstGeom>
          <a:ln>
            <a:solidFill>
              <a:schemeClr val="bg1">
                <a:lumMod val="75000"/>
              </a:schemeClr>
            </a:solidFill>
          </a:ln>
        </p:spPr>
        <p:txBody>
          <a:bodyPr>
            <a:spAutoFit/>
          </a:bodyPr>
          <a:lstStyle/>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The main method is only needed for the IDE with limited</a:t>
            </a:r>
          </a:p>
          <a:p>
            <a:pPr>
              <a:defRPr/>
            </a:pP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 support. Not needed for running from the command line.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public static void main(String[] </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launch(</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endParaRPr lang="en-US" sz="1200" dirty="0">
              <a:latin typeface="Times New Roman" charset="0"/>
              <a:ea typeface="ＭＳ Ｐゴシック" charset="0"/>
              <a:cs typeface="ＭＳ Ｐゴシック" charset="0"/>
            </a:endParaRPr>
          </a:p>
          <a:p>
            <a:pPr>
              <a:defRPr/>
            </a:pPr>
            <a:r>
              <a:rPr lang="en-US" sz="1200" dirty="0">
                <a:latin typeface="Times New Roman" charset="0"/>
                <a:ea typeface="ＭＳ Ｐゴシック" charset="0"/>
                <a:cs typeface="ＭＳ Ｐゴシック" charset="0"/>
              </a:rPr>
              <a:t>class </a:t>
            </a:r>
            <a:r>
              <a:rPr lang="en-US" sz="1200" dirty="0" err="1">
                <a:latin typeface="Times New Roman" charset="0"/>
                <a:ea typeface="ＭＳ Ｐゴシック" charset="0"/>
                <a:cs typeface="ＭＳ Ｐゴシック" charset="0"/>
              </a:rPr>
              <a:t>OKHandlerClass</a:t>
            </a:r>
            <a:r>
              <a:rPr lang="en-US" sz="1200" dirty="0">
                <a:latin typeface="Times New Roman" charset="0"/>
                <a:ea typeface="ＭＳ Ｐゴシック" charset="0"/>
                <a:cs typeface="ＭＳ Ｐゴシック" charset="0"/>
              </a:rPr>
              <a:t> implements </a:t>
            </a:r>
            <a:r>
              <a:rPr lang="en-US" sz="1200" dirty="0" err="1">
                <a:latin typeface="Times New Roman" charset="0"/>
                <a:ea typeface="ＭＳ Ｐゴシック" charset="0"/>
                <a:cs typeface="ＭＳ Ｐゴシック" charset="0"/>
              </a:rPr>
              <a:t>EventHandler</a:t>
            </a:r>
            <a:r>
              <a:rPr lang="en-US" sz="1200" dirty="0">
                <a:latin typeface="Times New Roman" charset="0"/>
                <a:ea typeface="ＭＳ Ｐゴシック" charset="0"/>
                <a:cs typeface="ＭＳ Ｐゴシック" charset="0"/>
              </a:rPr>
              <a:t>&lt;</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&gt; {</a:t>
            </a:r>
          </a:p>
          <a:p>
            <a:pPr>
              <a:defRPr/>
            </a:pPr>
            <a:r>
              <a:rPr lang="en-US" sz="1200" dirty="0">
                <a:latin typeface="Times New Roman" charset="0"/>
                <a:ea typeface="ＭＳ Ｐゴシック" charset="0"/>
                <a:cs typeface="ＭＳ Ｐゴシック" charset="0"/>
              </a:rPr>
              <a:t>  @Override</a:t>
            </a:r>
          </a:p>
          <a:p>
            <a:pPr>
              <a:defRPr/>
            </a:pPr>
            <a:r>
              <a:rPr lang="en-US" sz="1200" dirty="0">
                <a:latin typeface="Times New Roman" charset="0"/>
                <a:ea typeface="ＭＳ Ｐゴシック" charset="0"/>
                <a:cs typeface="ＭＳ Ｐゴシック" charset="0"/>
              </a:rPr>
              <a:t>  public void handle(</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 e)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System.out.println</a:t>
            </a:r>
            <a:r>
              <a:rPr lang="en-US" sz="1200" dirty="0">
                <a:latin typeface="Times New Roman" charset="0"/>
                <a:ea typeface="ＭＳ Ｐゴシック" charset="0"/>
                <a:cs typeface="ＭＳ Ｐゴシック" charset="0"/>
              </a:rPr>
              <a:t>("OK button clicked");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a:p>
            <a:pPr>
              <a:defRPr/>
            </a:pPr>
            <a:endParaRPr lang="en-US" sz="1200" dirty="0">
              <a:latin typeface="Times New Roman" charset="0"/>
              <a:ea typeface="ＭＳ Ｐゴシック" charset="0"/>
              <a:cs typeface="ＭＳ Ｐゴシック" charset="0"/>
            </a:endParaRPr>
          </a:p>
          <a:p>
            <a:pPr>
              <a:defRPr/>
            </a:pPr>
            <a:r>
              <a:rPr lang="en-US" sz="1200" dirty="0">
                <a:latin typeface="Times New Roman" charset="0"/>
                <a:ea typeface="ＭＳ Ｐゴシック" charset="0"/>
                <a:cs typeface="ＭＳ Ｐゴシック" charset="0"/>
              </a:rPr>
              <a:t>class </a:t>
            </a:r>
            <a:r>
              <a:rPr lang="en-US" sz="1200" dirty="0" err="1">
                <a:latin typeface="Times New Roman" charset="0"/>
                <a:ea typeface="ＭＳ Ｐゴシック" charset="0"/>
                <a:cs typeface="ＭＳ Ｐゴシック" charset="0"/>
              </a:rPr>
              <a:t>CancelHandlerClass</a:t>
            </a:r>
            <a:r>
              <a:rPr lang="en-US" sz="1200" dirty="0">
                <a:latin typeface="Times New Roman" charset="0"/>
                <a:ea typeface="ＭＳ Ｐゴシック" charset="0"/>
                <a:cs typeface="ＭＳ Ｐゴシック" charset="0"/>
              </a:rPr>
              <a:t> implements </a:t>
            </a:r>
            <a:r>
              <a:rPr lang="en-US" sz="1200" dirty="0" err="1">
                <a:latin typeface="Times New Roman" charset="0"/>
                <a:ea typeface="ＭＳ Ｐゴシック" charset="0"/>
                <a:cs typeface="ＭＳ Ｐゴシック" charset="0"/>
              </a:rPr>
              <a:t>EventHandler</a:t>
            </a:r>
            <a:r>
              <a:rPr lang="en-US" sz="1200" dirty="0">
                <a:latin typeface="Times New Roman" charset="0"/>
                <a:ea typeface="ＭＳ Ｐゴシック" charset="0"/>
                <a:cs typeface="ＭＳ Ｐゴシック" charset="0"/>
              </a:rPr>
              <a:t>&lt;</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&gt; {</a:t>
            </a:r>
          </a:p>
          <a:p>
            <a:pPr>
              <a:defRPr/>
            </a:pPr>
            <a:r>
              <a:rPr lang="en-US" sz="1200" dirty="0">
                <a:latin typeface="Times New Roman" charset="0"/>
                <a:ea typeface="ＭＳ Ｐゴシック" charset="0"/>
                <a:cs typeface="ＭＳ Ｐゴシック" charset="0"/>
              </a:rPr>
              <a:t>  @Override</a:t>
            </a:r>
          </a:p>
          <a:p>
            <a:pPr>
              <a:defRPr/>
            </a:pPr>
            <a:r>
              <a:rPr lang="en-US" sz="1200" dirty="0">
                <a:latin typeface="Times New Roman" charset="0"/>
                <a:ea typeface="ＭＳ Ｐゴシック" charset="0"/>
                <a:cs typeface="ＭＳ Ｐゴシック" charset="0"/>
              </a:rPr>
              <a:t>  public void handle(</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 e)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System.out.println</a:t>
            </a:r>
            <a:r>
              <a:rPr lang="en-US" sz="1200" dirty="0">
                <a:latin typeface="Times New Roman" charset="0"/>
                <a:ea typeface="ＭＳ Ｐゴシック" charset="0"/>
                <a:cs typeface="ＭＳ Ｐゴシック" charset="0"/>
              </a:rPr>
              <a:t>("Cancel button clicked");</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idx="4294967295"/>
          </p:nvPr>
        </p:nvSpPr>
        <p:spPr>
          <a:xfrm>
            <a:off x="2035175" y="381000"/>
            <a:ext cx="7108825" cy="685800"/>
          </a:xfrm>
          <a:prstGeom prst="rect">
            <a:avLst/>
          </a:prstGeom>
        </p:spPr>
        <p:txBody>
          <a:bodyPr/>
          <a:lstStyle/>
          <a:p>
            <a:pP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Handling GUI Events</a:t>
            </a:r>
            <a:endParaRPr lang="en-US" sz="4000" b="1" dirty="0">
              <a:solidFill>
                <a:schemeClr val="tx1"/>
              </a:solidFill>
              <a:latin typeface="Times New Roman" panose="02020603050405020304" pitchFamily="18" charset="0"/>
              <a:ea typeface="ＭＳ Ｐゴシック" charset="0"/>
              <a:cs typeface="Times New Roman" panose="02020603050405020304" pitchFamily="18" charset="0"/>
              <a:hlinkClick r:id="rId2" action="ppaction://program"/>
            </a:endParaRPr>
          </a:p>
        </p:txBody>
      </p:sp>
      <p:sp>
        <p:nvSpPr>
          <p:cNvPr id="8197" name="Rectangle 3"/>
          <p:cNvSpPr>
            <a:spLocks noGrp="1" noChangeArrowheads="1"/>
          </p:cNvSpPr>
          <p:nvPr>
            <p:ph type="body" idx="4294967295"/>
          </p:nvPr>
        </p:nvSpPr>
        <p:spPr>
          <a:xfrm>
            <a:off x="685800" y="1524000"/>
            <a:ext cx="8458200" cy="1905000"/>
          </a:xfrm>
        </p:spPr>
        <p:txBody>
          <a:bodyPr/>
          <a:lstStyle/>
          <a:p>
            <a:pPr>
              <a:buFont typeface="Monotype Sorts" charset="0"/>
              <a:buNone/>
              <a:defRPr/>
            </a:pPr>
            <a:r>
              <a:rPr lang="en-US" sz="3200" dirty="0">
                <a:latin typeface="Times New Roman" panose="02020603050405020304" pitchFamily="18" charset="0"/>
                <a:ea typeface="ＭＳ Ｐゴシック" charset="0"/>
                <a:cs typeface="Times New Roman" panose="02020603050405020304" pitchFamily="18" charset="0"/>
              </a:rPr>
              <a:t>Source object (e.g., button)</a:t>
            </a:r>
          </a:p>
          <a:p>
            <a:pPr>
              <a:buFont typeface="Monotype Sorts" charset="0"/>
              <a:buNone/>
              <a:defRPr/>
            </a:pPr>
            <a:r>
              <a:rPr lang="en-US" sz="3200" dirty="0">
                <a:latin typeface="Times New Roman" panose="02020603050405020304" pitchFamily="18" charset="0"/>
                <a:ea typeface="ＭＳ Ｐゴシック" charset="0"/>
                <a:cs typeface="Times New Roman" panose="02020603050405020304" pitchFamily="18" charset="0"/>
              </a:rPr>
              <a:t>Listener object contains a method for processing the event.</a:t>
            </a:r>
          </a:p>
        </p:txBody>
      </p:sp>
      <p:pic>
        <p:nvPicPr>
          <p:cNvPr id="63494"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3733800"/>
            <a:ext cx="7899400" cy="167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idx="4294967295"/>
          </p:nvPr>
        </p:nvSpPr>
        <p:spPr>
          <a:xfrm>
            <a:off x="2895600" y="228600"/>
            <a:ext cx="6248400" cy="457200"/>
          </a:xfrm>
          <a:prstGeom prst="rect">
            <a:avLst/>
          </a:prstGeom>
        </p:spPr>
        <p:txBody>
          <a:bodyPr/>
          <a:lstStyle/>
          <a:p>
            <a:pP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Trace Execution</a:t>
            </a:r>
          </a:p>
        </p:txBody>
      </p:sp>
      <p:sp>
        <p:nvSpPr>
          <p:cNvPr id="64517" name="Text Box 3"/>
          <p:cNvSpPr txBox="1">
            <a:spLocks noChangeArrowheads="1"/>
          </p:cNvSpPr>
          <p:nvPr/>
        </p:nvSpPr>
        <p:spPr bwMode="auto">
          <a:xfrm>
            <a:off x="228600" y="838200"/>
            <a:ext cx="8686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2000" dirty="0">
                <a:solidFill>
                  <a:schemeClr val="bg2"/>
                </a:solidFill>
              </a:rPr>
              <a:t>public class </a:t>
            </a:r>
            <a:r>
              <a:rPr lang="en-US" altLang="en-US" sz="2000" dirty="0" err="1">
                <a:solidFill>
                  <a:schemeClr val="bg2"/>
                </a:solidFill>
              </a:rPr>
              <a:t>HandleEvent</a:t>
            </a:r>
            <a:r>
              <a:rPr lang="en-US" altLang="en-US" sz="2000" dirty="0">
                <a:solidFill>
                  <a:schemeClr val="bg2"/>
                </a:solidFill>
              </a:rPr>
              <a:t> extends Application {</a:t>
            </a:r>
          </a:p>
          <a:p>
            <a:r>
              <a:rPr lang="en-US" altLang="en-US" sz="2000" dirty="0">
                <a:solidFill>
                  <a:schemeClr val="bg2"/>
                </a:solidFill>
              </a:rPr>
              <a:t>  public void start(Stage </a:t>
            </a:r>
            <a:r>
              <a:rPr lang="en-US" altLang="en-US" sz="2000" dirty="0" err="1">
                <a:solidFill>
                  <a:schemeClr val="bg2"/>
                </a:solidFill>
              </a:rPr>
              <a:t>primaryStage</a:t>
            </a:r>
            <a:r>
              <a:rPr lang="en-US" altLang="en-US" sz="2000" dirty="0">
                <a:solidFill>
                  <a:schemeClr val="bg2"/>
                </a:solidFill>
              </a:rPr>
              <a:t>) {</a:t>
            </a:r>
          </a:p>
          <a:p>
            <a:r>
              <a:rPr lang="en-US" altLang="en-US" sz="2000" dirty="0">
                <a:solidFill>
                  <a:schemeClr val="bg2"/>
                </a:solidFill>
              </a:rPr>
              <a:t>    …</a:t>
            </a:r>
          </a:p>
          <a:p>
            <a:r>
              <a:rPr lang="en-US" altLang="en-US" sz="2000" dirty="0">
                <a:solidFill>
                  <a:schemeClr val="bg2"/>
                </a:solidFill>
              </a:rPr>
              <a:t>    </a:t>
            </a:r>
            <a:r>
              <a:rPr lang="en-US" altLang="en-US" sz="2000" dirty="0" err="1">
                <a:solidFill>
                  <a:schemeClr val="bg2"/>
                </a:solidFill>
              </a:rPr>
              <a:t>OKHandlerClass</a:t>
            </a:r>
            <a:r>
              <a:rPr lang="en-US" altLang="en-US" sz="2000" dirty="0">
                <a:solidFill>
                  <a:schemeClr val="bg2"/>
                </a:solidFill>
              </a:rPr>
              <a:t> handler1 = new </a:t>
            </a:r>
            <a:r>
              <a:rPr lang="en-US" altLang="en-US" sz="2000" dirty="0" err="1">
                <a:solidFill>
                  <a:schemeClr val="bg2"/>
                </a:solidFill>
              </a:rPr>
              <a:t>OKHandlerClass</a:t>
            </a:r>
            <a:r>
              <a:rPr lang="en-US" altLang="en-US" sz="2000" dirty="0">
                <a:solidFill>
                  <a:schemeClr val="bg2"/>
                </a:solidFill>
              </a:rPr>
              <a:t>();</a:t>
            </a:r>
          </a:p>
          <a:p>
            <a:r>
              <a:rPr lang="en-US" altLang="en-US" sz="2000" dirty="0">
                <a:solidFill>
                  <a:schemeClr val="bg2"/>
                </a:solidFill>
              </a:rPr>
              <a:t>    </a:t>
            </a:r>
            <a:r>
              <a:rPr lang="en-US" altLang="en-US" sz="2000" dirty="0" err="1">
                <a:solidFill>
                  <a:schemeClr val="bg2"/>
                </a:solidFill>
              </a:rPr>
              <a:t>btOK.setOnAction</a:t>
            </a:r>
            <a:r>
              <a:rPr lang="en-US" altLang="en-US" sz="2000" dirty="0">
                <a:solidFill>
                  <a:schemeClr val="bg2"/>
                </a:solidFill>
              </a:rPr>
              <a:t>(handler1);</a:t>
            </a:r>
          </a:p>
          <a:p>
            <a:r>
              <a:rPr lang="en-US" altLang="en-US" sz="2000" dirty="0">
                <a:solidFill>
                  <a:schemeClr val="bg2"/>
                </a:solidFill>
              </a:rPr>
              <a:t>    </a:t>
            </a:r>
            <a:r>
              <a:rPr lang="en-US" altLang="en-US" sz="2000" dirty="0" err="1">
                <a:solidFill>
                  <a:schemeClr val="bg2"/>
                </a:solidFill>
              </a:rPr>
              <a:t>CancelHandlerClass</a:t>
            </a:r>
            <a:r>
              <a:rPr lang="en-US" altLang="en-US" sz="2000" dirty="0">
                <a:solidFill>
                  <a:schemeClr val="bg2"/>
                </a:solidFill>
              </a:rPr>
              <a:t> handler2 = new </a:t>
            </a:r>
            <a:r>
              <a:rPr lang="en-US" altLang="en-US" sz="2000" dirty="0" err="1">
                <a:solidFill>
                  <a:schemeClr val="bg2"/>
                </a:solidFill>
              </a:rPr>
              <a:t>CancelHandlerClass</a:t>
            </a:r>
            <a:r>
              <a:rPr lang="en-US" altLang="en-US" sz="2000" dirty="0">
                <a:solidFill>
                  <a:schemeClr val="bg2"/>
                </a:solidFill>
              </a:rPr>
              <a:t>();</a:t>
            </a:r>
          </a:p>
          <a:p>
            <a:r>
              <a:rPr lang="en-US" altLang="en-US" sz="2000" dirty="0">
                <a:solidFill>
                  <a:schemeClr val="bg2"/>
                </a:solidFill>
              </a:rPr>
              <a:t>    </a:t>
            </a:r>
            <a:r>
              <a:rPr lang="en-US" altLang="en-US" sz="2000" dirty="0" err="1">
                <a:solidFill>
                  <a:schemeClr val="bg2"/>
                </a:solidFill>
              </a:rPr>
              <a:t>btCancel.setOnAction</a:t>
            </a:r>
            <a:r>
              <a:rPr lang="en-US" altLang="en-US" sz="2000" dirty="0">
                <a:solidFill>
                  <a:schemeClr val="bg2"/>
                </a:solidFill>
              </a:rPr>
              <a:t>(handler2);</a:t>
            </a:r>
          </a:p>
          <a:p>
            <a:r>
              <a:rPr lang="en-US" altLang="en-US" sz="2000" dirty="0">
                <a:solidFill>
                  <a:schemeClr val="bg2"/>
                </a:solidFill>
              </a:rPr>
              <a:t>    …    </a:t>
            </a:r>
          </a:p>
          <a:p>
            <a:r>
              <a:rPr lang="en-US" altLang="en-US" sz="2000" dirty="0">
                <a:solidFill>
                  <a:schemeClr val="bg2"/>
                </a:solidFill>
              </a:rPr>
              <a:t>    </a:t>
            </a:r>
            <a:r>
              <a:rPr lang="en-US" altLang="en-US" sz="2000" dirty="0" err="1">
                <a:solidFill>
                  <a:schemeClr val="bg2"/>
                </a:solidFill>
              </a:rPr>
              <a:t>primaryStage.show</a:t>
            </a:r>
            <a:r>
              <a:rPr lang="en-US" altLang="en-US" sz="2000" dirty="0">
                <a:solidFill>
                  <a:schemeClr val="bg2"/>
                </a:solidFill>
              </a:rPr>
              <a:t>(); // Display the stage</a:t>
            </a:r>
          </a:p>
          <a:p>
            <a:r>
              <a:rPr lang="en-US" altLang="en-US" sz="2000" dirty="0">
                <a:solidFill>
                  <a:schemeClr val="bg2"/>
                </a:solidFill>
              </a:rPr>
              <a:t>  }</a:t>
            </a:r>
          </a:p>
          <a:p>
            <a:r>
              <a:rPr lang="en-US" altLang="en-US" sz="2000" dirty="0">
                <a:solidFill>
                  <a:schemeClr val="bg2"/>
                </a:solidFill>
              </a:rPr>
              <a:t>} </a:t>
            </a:r>
          </a:p>
          <a:p>
            <a:endParaRPr lang="en-US" altLang="en-US" sz="2000" dirty="0">
              <a:solidFill>
                <a:schemeClr val="bg2"/>
              </a:solidFill>
            </a:endParaRPr>
          </a:p>
          <a:p>
            <a:r>
              <a:rPr lang="en-US" altLang="en-US" sz="2000" dirty="0">
                <a:solidFill>
                  <a:schemeClr val="bg2"/>
                </a:solidFill>
              </a:rPr>
              <a:t>class </a:t>
            </a:r>
            <a:r>
              <a:rPr lang="en-US" altLang="en-US" sz="2000" dirty="0" err="1">
                <a:solidFill>
                  <a:schemeClr val="bg2"/>
                </a:solidFill>
              </a:rPr>
              <a:t>OKHandlerClass</a:t>
            </a:r>
            <a:r>
              <a:rPr lang="en-US" altLang="en-US" sz="2000" dirty="0">
                <a:solidFill>
                  <a:schemeClr val="bg2"/>
                </a:solidFill>
              </a:rPr>
              <a:t> implements </a:t>
            </a:r>
            <a:r>
              <a:rPr lang="en-US" altLang="en-US" sz="2000" dirty="0" err="1">
                <a:solidFill>
                  <a:schemeClr val="bg2"/>
                </a:solidFill>
              </a:rPr>
              <a:t>EventHandler</a:t>
            </a:r>
            <a:r>
              <a:rPr lang="en-US" altLang="en-US" sz="2000" dirty="0">
                <a:solidFill>
                  <a:schemeClr val="bg2"/>
                </a:solidFill>
              </a:rPr>
              <a:t>&lt;</a:t>
            </a:r>
            <a:r>
              <a:rPr lang="en-US" altLang="en-US" sz="2000" dirty="0" err="1">
                <a:solidFill>
                  <a:schemeClr val="bg2"/>
                </a:solidFill>
              </a:rPr>
              <a:t>ActionEvent</a:t>
            </a:r>
            <a:r>
              <a:rPr lang="en-US" altLang="en-US" sz="2000" dirty="0">
                <a:solidFill>
                  <a:schemeClr val="bg2"/>
                </a:solidFill>
              </a:rPr>
              <a:t>&gt; {</a:t>
            </a:r>
          </a:p>
          <a:p>
            <a:r>
              <a:rPr lang="en-US" altLang="en-US" sz="2000" dirty="0">
                <a:solidFill>
                  <a:schemeClr val="bg2"/>
                </a:solidFill>
              </a:rPr>
              <a:t>  @Override</a:t>
            </a:r>
          </a:p>
          <a:p>
            <a:r>
              <a:rPr lang="en-US" altLang="en-US" sz="2000" dirty="0">
                <a:solidFill>
                  <a:schemeClr val="bg2"/>
                </a:solidFill>
              </a:rPr>
              <a:t>  public void handle(</a:t>
            </a:r>
            <a:r>
              <a:rPr lang="en-US" altLang="en-US" sz="2000" dirty="0" err="1">
                <a:solidFill>
                  <a:schemeClr val="bg2"/>
                </a:solidFill>
              </a:rPr>
              <a:t>ActionEvent</a:t>
            </a:r>
            <a:r>
              <a:rPr lang="en-US" altLang="en-US" sz="2000" dirty="0">
                <a:solidFill>
                  <a:schemeClr val="bg2"/>
                </a:solidFill>
              </a:rPr>
              <a:t> e) {</a:t>
            </a:r>
          </a:p>
          <a:p>
            <a:r>
              <a:rPr lang="en-US" altLang="en-US" sz="2000" dirty="0">
                <a:solidFill>
                  <a:schemeClr val="bg2"/>
                </a:solidFill>
              </a:rPr>
              <a:t>    </a:t>
            </a:r>
            <a:r>
              <a:rPr lang="en-US" altLang="en-US" sz="2000" dirty="0" err="1">
                <a:solidFill>
                  <a:schemeClr val="bg2"/>
                </a:solidFill>
              </a:rPr>
              <a:t>System.out.println</a:t>
            </a:r>
            <a:r>
              <a:rPr lang="en-US" altLang="en-US" sz="2000" dirty="0">
                <a:solidFill>
                  <a:schemeClr val="bg2"/>
                </a:solidFill>
              </a:rPr>
              <a:t>("OK button clicked"); </a:t>
            </a:r>
          </a:p>
          <a:p>
            <a:r>
              <a:rPr lang="en-US" altLang="en-US" sz="2000" dirty="0">
                <a:solidFill>
                  <a:schemeClr val="bg2"/>
                </a:solidFill>
              </a:rPr>
              <a:t>  }</a:t>
            </a:r>
          </a:p>
          <a:p>
            <a:r>
              <a:rPr lang="en-US" altLang="en-US" sz="2000" dirty="0">
                <a:solidFill>
                  <a:schemeClr val="bg2"/>
                </a:solidFill>
              </a:rPr>
              <a:t>}</a:t>
            </a:r>
          </a:p>
        </p:txBody>
      </p:sp>
      <p:sp>
        <p:nvSpPr>
          <p:cNvPr id="64518" name="Rectangle 4"/>
          <p:cNvSpPr>
            <a:spLocks noChangeArrowheads="1"/>
          </p:cNvSpPr>
          <p:nvPr/>
        </p:nvSpPr>
        <p:spPr bwMode="auto">
          <a:xfrm>
            <a:off x="381000" y="1219200"/>
            <a:ext cx="4191000" cy="22860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64519" name="AutoShape 5"/>
          <p:cNvSpPr>
            <a:spLocks noChangeArrowheads="1"/>
          </p:cNvSpPr>
          <p:nvPr/>
        </p:nvSpPr>
        <p:spPr bwMode="auto">
          <a:xfrm>
            <a:off x="6172200" y="990600"/>
            <a:ext cx="2514600" cy="1371600"/>
          </a:xfrm>
          <a:prstGeom prst="wedgeRoundRectCallout">
            <a:avLst>
              <a:gd name="adj1" fmla="val -118208"/>
              <a:gd name="adj2" fmla="val -22963"/>
              <a:gd name="adj3" fmla="val 16667"/>
            </a:avLst>
          </a:prstGeom>
          <a:solidFill>
            <a:schemeClr val="accent1"/>
          </a:solidFill>
          <a:ln w="12700">
            <a:solidFill>
              <a:schemeClr val="tx1"/>
            </a:solidFill>
            <a:miter lim="800000"/>
            <a:headEnd type="none" w="sm" len="sm"/>
            <a:tailEnd type="none" w="sm" len="sm"/>
          </a:ln>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a:r>
              <a:rPr lang="en-US" altLang="en-US" sz="2000"/>
              <a:t>1. Start from the main method to create a window and display it</a:t>
            </a:r>
          </a:p>
        </p:txBody>
      </p:sp>
      <p:sp>
        <p:nvSpPr>
          <p:cNvPr id="64520" name="Rectangle 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a:r>
              <a:rPr lang="en-US" altLang="en-US" sz="1800">
                <a:solidFill>
                  <a:schemeClr val="bg2"/>
                </a:solidFill>
                <a:latin typeface="Forte" pitchFamily="66" charset="0"/>
              </a:rPr>
              <a:t>animation</a:t>
            </a:r>
            <a:endParaRPr lang="en-US" altLang="en-US"/>
          </a:p>
        </p:txBody>
      </p:sp>
      <p:pic>
        <p:nvPicPr>
          <p:cNvPr id="6452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81800" y="2752725"/>
            <a:ext cx="1905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64522" name="Line 8"/>
          <p:cNvSpPr>
            <a:spLocks noChangeShapeType="1"/>
          </p:cNvSpPr>
          <p:nvPr/>
        </p:nvSpPr>
        <p:spPr bwMode="auto">
          <a:xfrm flipV="1">
            <a:off x="2667000" y="2971800"/>
            <a:ext cx="4114800" cy="381000"/>
          </a:xfrm>
          <a:prstGeom prst="line">
            <a:avLst/>
          </a:prstGeom>
          <a:noFill/>
          <a:ln w="4445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MY"/>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idx="4294967295"/>
          </p:nvPr>
        </p:nvSpPr>
        <p:spPr>
          <a:xfrm>
            <a:off x="2895600" y="228600"/>
            <a:ext cx="6248400" cy="457200"/>
          </a:xfrm>
          <a:prstGeom prst="rect">
            <a:avLst/>
          </a:prstGeom>
        </p:spPr>
        <p:txBody>
          <a:bodyPr/>
          <a:lstStyle/>
          <a:p>
            <a:pP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Trace Execution</a:t>
            </a:r>
          </a:p>
        </p:txBody>
      </p:sp>
      <p:sp>
        <p:nvSpPr>
          <p:cNvPr id="65541" name="Text Box 3"/>
          <p:cNvSpPr txBox="1">
            <a:spLocks noChangeArrowheads="1"/>
          </p:cNvSpPr>
          <p:nvPr/>
        </p:nvSpPr>
        <p:spPr bwMode="auto">
          <a:xfrm>
            <a:off x="228600" y="838200"/>
            <a:ext cx="8686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2000" dirty="0">
                <a:solidFill>
                  <a:schemeClr val="bg2"/>
                </a:solidFill>
              </a:rPr>
              <a:t>public class </a:t>
            </a:r>
            <a:r>
              <a:rPr lang="en-US" altLang="en-US" sz="2000" dirty="0" err="1">
                <a:solidFill>
                  <a:schemeClr val="bg2"/>
                </a:solidFill>
              </a:rPr>
              <a:t>HandleEvent</a:t>
            </a:r>
            <a:r>
              <a:rPr lang="en-US" altLang="en-US" sz="2000" dirty="0">
                <a:solidFill>
                  <a:schemeClr val="bg2"/>
                </a:solidFill>
              </a:rPr>
              <a:t> extends Application {</a:t>
            </a:r>
          </a:p>
          <a:p>
            <a:r>
              <a:rPr lang="en-US" altLang="en-US" sz="2000" dirty="0">
                <a:solidFill>
                  <a:schemeClr val="bg2"/>
                </a:solidFill>
              </a:rPr>
              <a:t>  public void start(Stage </a:t>
            </a:r>
            <a:r>
              <a:rPr lang="en-US" altLang="en-US" sz="2000" dirty="0" err="1">
                <a:solidFill>
                  <a:schemeClr val="bg2"/>
                </a:solidFill>
              </a:rPr>
              <a:t>primaryStage</a:t>
            </a:r>
            <a:r>
              <a:rPr lang="en-US" altLang="en-US" sz="2000" dirty="0">
                <a:solidFill>
                  <a:schemeClr val="bg2"/>
                </a:solidFill>
              </a:rPr>
              <a:t>) {</a:t>
            </a:r>
          </a:p>
          <a:p>
            <a:r>
              <a:rPr lang="en-US" altLang="en-US" sz="2000" dirty="0">
                <a:solidFill>
                  <a:schemeClr val="bg2"/>
                </a:solidFill>
              </a:rPr>
              <a:t>    …</a:t>
            </a:r>
          </a:p>
          <a:p>
            <a:r>
              <a:rPr lang="en-US" altLang="en-US" sz="2000" dirty="0">
                <a:solidFill>
                  <a:schemeClr val="bg2"/>
                </a:solidFill>
              </a:rPr>
              <a:t>    </a:t>
            </a:r>
            <a:r>
              <a:rPr lang="en-US" altLang="en-US" sz="2000" dirty="0" err="1">
                <a:solidFill>
                  <a:schemeClr val="bg2"/>
                </a:solidFill>
              </a:rPr>
              <a:t>OKHandlerClass</a:t>
            </a:r>
            <a:r>
              <a:rPr lang="en-US" altLang="en-US" sz="2000" dirty="0">
                <a:solidFill>
                  <a:schemeClr val="bg2"/>
                </a:solidFill>
              </a:rPr>
              <a:t> handler1 = new </a:t>
            </a:r>
            <a:r>
              <a:rPr lang="en-US" altLang="en-US" sz="2000" dirty="0" err="1">
                <a:solidFill>
                  <a:schemeClr val="bg2"/>
                </a:solidFill>
              </a:rPr>
              <a:t>OKHandlerClass</a:t>
            </a:r>
            <a:r>
              <a:rPr lang="en-US" altLang="en-US" sz="2000" dirty="0">
                <a:solidFill>
                  <a:schemeClr val="bg2"/>
                </a:solidFill>
              </a:rPr>
              <a:t>();</a:t>
            </a:r>
          </a:p>
          <a:p>
            <a:r>
              <a:rPr lang="en-US" altLang="en-US" sz="2000" dirty="0">
                <a:solidFill>
                  <a:schemeClr val="bg2"/>
                </a:solidFill>
              </a:rPr>
              <a:t>    </a:t>
            </a:r>
            <a:r>
              <a:rPr lang="en-US" altLang="en-US" sz="2000" dirty="0" err="1">
                <a:solidFill>
                  <a:schemeClr val="bg2"/>
                </a:solidFill>
              </a:rPr>
              <a:t>btOK.setOnAction</a:t>
            </a:r>
            <a:r>
              <a:rPr lang="en-US" altLang="en-US" sz="2000" dirty="0">
                <a:solidFill>
                  <a:schemeClr val="bg2"/>
                </a:solidFill>
              </a:rPr>
              <a:t>(handler1);</a:t>
            </a:r>
          </a:p>
          <a:p>
            <a:r>
              <a:rPr lang="en-US" altLang="en-US" sz="2000" dirty="0">
                <a:solidFill>
                  <a:schemeClr val="bg2"/>
                </a:solidFill>
              </a:rPr>
              <a:t>    </a:t>
            </a:r>
            <a:r>
              <a:rPr lang="en-US" altLang="en-US" sz="2000" dirty="0" err="1">
                <a:solidFill>
                  <a:schemeClr val="bg2"/>
                </a:solidFill>
              </a:rPr>
              <a:t>CancelHandlerClass</a:t>
            </a:r>
            <a:r>
              <a:rPr lang="en-US" altLang="en-US" sz="2000" dirty="0">
                <a:solidFill>
                  <a:schemeClr val="bg2"/>
                </a:solidFill>
              </a:rPr>
              <a:t> handler2 = new </a:t>
            </a:r>
            <a:r>
              <a:rPr lang="en-US" altLang="en-US" sz="2000" dirty="0" err="1">
                <a:solidFill>
                  <a:schemeClr val="bg2"/>
                </a:solidFill>
              </a:rPr>
              <a:t>CancelHandlerClass</a:t>
            </a:r>
            <a:r>
              <a:rPr lang="en-US" altLang="en-US" sz="2000" dirty="0">
                <a:solidFill>
                  <a:schemeClr val="bg2"/>
                </a:solidFill>
              </a:rPr>
              <a:t>();</a:t>
            </a:r>
          </a:p>
          <a:p>
            <a:r>
              <a:rPr lang="en-US" altLang="en-US" sz="2000" dirty="0">
                <a:solidFill>
                  <a:schemeClr val="bg2"/>
                </a:solidFill>
              </a:rPr>
              <a:t>    </a:t>
            </a:r>
            <a:r>
              <a:rPr lang="en-US" altLang="en-US" sz="2000" dirty="0" err="1">
                <a:solidFill>
                  <a:schemeClr val="bg2"/>
                </a:solidFill>
              </a:rPr>
              <a:t>btCancel.setOnAction</a:t>
            </a:r>
            <a:r>
              <a:rPr lang="en-US" altLang="en-US" sz="2000" dirty="0">
                <a:solidFill>
                  <a:schemeClr val="bg2"/>
                </a:solidFill>
              </a:rPr>
              <a:t>(handler2);</a:t>
            </a:r>
          </a:p>
          <a:p>
            <a:r>
              <a:rPr lang="en-US" altLang="en-US" sz="2000" dirty="0">
                <a:solidFill>
                  <a:schemeClr val="bg2"/>
                </a:solidFill>
              </a:rPr>
              <a:t>    …    </a:t>
            </a:r>
          </a:p>
          <a:p>
            <a:r>
              <a:rPr lang="en-US" altLang="en-US" sz="2000" dirty="0">
                <a:solidFill>
                  <a:schemeClr val="bg2"/>
                </a:solidFill>
              </a:rPr>
              <a:t>    </a:t>
            </a:r>
            <a:r>
              <a:rPr lang="en-US" altLang="en-US" sz="2000" dirty="0" err="1">
                <a:solidFill>
                  <a:schemeClr val="bg2"/>
                </a:solidFill>
              </a:rPr>
              <a:t>primaryStage.show</a:t>
            </a:r>
            <a:r>
              <a:rPr lang="en-US" altLang="en-US" sz="2000" dirty="0">
                <a:solidFill>
                  <a:schemeClr val="bg2"/>
                </a:solidFill>
              </a:rPr>
              <a:t>(); // Display the stage</a:t>
            </a:r>
          </a:p>
          <a:p>
            <a:r>
              <a:rPr lang="en-US" altLang="en-US" sz="2000" dirty="0">
                <a:solidFill>
                  <a:schemeClr val="bg2"/>
                </a:solidFill>
              </a:rPr>
              <a:t>  }</a:t>
            </a:r>
          </a:p>
          <a:p>
            <a:r>
              <a:rPr lang="en-US" altLang="en-US" sz="2000" dirty="0">
                <a:solidFill>
                  <a:schemeClr val="bg2"/>
                </a:solidFill>
              </a:rPr>
              <a:t>} </a:t>
            </a:r>
          </a:p>
          <a:p>
            <a:endParaRPr lang="en-US" altLang="en-US" sz="2000" dirty="0">
              <a:solidFill>
                <a:schemeClr val="bg2"/>
              </a:solidFill>
            </a:endParaRPr>
          </a:p>
          <a:p>
            <a:r>
              <a:rPr lang="en-US" altLang="en-US" sz="2000" dirty="0">
                <a:solidFill>
                  <a:schemeClr val="bg2"/>
                </a:solidFill>
              </a:rPr>
              <a:t>class </a:t>
            </a:r>
            <a:r>
              <a:rPr lang="en-US" altLang="en-US" sz="2000" dirty="0" err="1">
                <a:solidFill>
                  <a:schemeClr val="bg2"/>
                </a:solidFill>
              </a:rPr>
              <a:t>OKHandlerClass</a:t>
            </a:r>
            <a:r>
              <a:rPr lang="en-US" altLang="en-US" sz="2000" dirty="0">
                <a:solidFill>
                  <a:schemeClr val="bg2"/>
                </a:solidFill>
              </a:rPr>
              <a:t> implements </a:t>
            </a:r>
            <a:r>
              <a:rPr lang="en-US" altLang="en-US" sz="2000" dirty="0" err="1">
                <a:solidFill>
                  <a:schemeClr val="bg2"/>
                </a:solidFill>
              </a:rPr>
              <a:t>EventHandler</a:t>
            </a:r>
            <a:r>
              <a:rPr lang="en-US" altLang="en-US" sz="2000" dirty="0">
                <a:solidFill>
                  <a:schemeClr val="bg2"/>
                </a:solidFill>
              </a:rPr>
              <a:t>&lt;</a:t>
            </a:r>
            <a:r>
              <a:rPr lang="en-US" altLang="en-US" sz="2000" dirty="0" err="1">
                <a:solidFill>
                  <a:schemeClr val="bg2"/>
                </a:solidFill>
              </a:rPr>
              <a:t>ActionEvent</a:t>
            </a:r>
            <a:r>
              <a:rPr lang="en-US" altLang="en-US" sz="2000" dirty="0">
                <a:solidFill>
                  <a:schemeClr val="bg2"/>
                </a:solidFill>
              </a:rPr>
              <a:t>&gt; {</a:t>
            </a:r>
          </a:p>
          <a:p>
            <a:r>
              <a:rPr lang="en-US" altLang="en-US" sz="2000" dirty="0">
                <a:solidFill>
                  <a:schemeClr val="bg2"/>
                </a:solidFill>
              </a:rPr>
              <a:t>  @Override</a:t>
            </a:r>
          </a:p>
          <a:p>
            <a:r>
              <a:rPr lang="en-US" altLang="en-US" sz="2000" dirty="0">
                <a:solidFill>
                  <a:schemeClr val="bg2"/>
                </a:solidFill>
              </a:rPr>
              <a:t>  public void handle(</a:t>
            </a:r>
            <a:r>
              <a:rPr lang="en-US" altLang="en-US" sz="2000" dirty="0" err="1">
                <a:solidFill>
                  <a:schemeClr val="bg2"/>
                </a:solidFill>
              </a:rPr>
              <a:t>ActionEvent</a:t>
            </a:r>
            <a:r>
              <a:rPr lang="en-US" altLang="en-US" sz="2000" dirty="0">
                <a:solidFill>
                  <a:schemeClr val="bg2"/>
                </a:solidFill>
              </a:rPr>
              <a:t> e) {</a:t>
            </a:r>
          </a:p>
          <a:p>
            <a:r>
              <a:rPr lang="en-US" altLang="en-US" sz="2000" dirty="0">
                <a:solidFill>
                  <a:schemeClr val="bg2"/>
                </a:solidFill>
              </a:rPr>
              <a:t>    </a:t>
            </a:r>
            <a:r>
              <a:rPr lang="en-US" altLang="en-US" sz="2000" dirty="0" err="1">
                <a:solidFill>
                  <a:schemeClr val="bg2"/>
                </a:solidFill>
              </a:rPr>
              <a:t>System.out.println</a:t>
            </a:r>
            <a:r>
              <a:rPr lang="en-US" altLang="en-US" sz="2000" dirty="0">
                <a:solidFill>
                  <a:schemeClr val="bg2"/>
                </a:solidFill>
              </a:rPr>
              <a:t>("OK button clicked"); </a:t>
            </a:r>
          </a:p>
          <a:p>
            <a:r>
              <a:rPr lang="en-US" altLang="en-US" sz="2000" dirty="0">
                <a:solidFill>
                  <a:schemeClr val="bg2"/>
                </a:solidFill>
              </a:rPr>
              <a:t>  }</a:t>
            </a:r>
          </a:p>
          <a:p>
            <a:r>
              <a:rPr lang="en-US" altLang="en-US" sz="2000" dirty="0">
                <a:solidFill>
                  <a:schemeClr val="bg2"/>
                </a:solidFill>
              </a:rPr>
              <a:t>}</a:t>
            </a:r>
          </a:p>
        </p:txBody>
      </p:sp>
      <p:sp>
        <p:nvSpPr>
          <p:cNvPr id="65542" name="Rectangle 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a:r>
              <a:rPr lang="en-US" altLang="en-US" sz="1800">
                <a:solidFill>
                  <a:schemeClr val="bg2"/>
                </a:solidFill>
                <a:latin typeface="Forte" pitchFamily="66" charset="0"/>
              </a:rPr>
              <a:t>animation</a:t>
            </a:r>
            <a:endParaRPr lang="en-US" altLang="en-US"/>
          </a:p>
        </p:txBody>
      </p:sp>
      <p:pic>
        <p:nvPicPr>
          <p:cNvPr id="65543"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3276600"/>
            <a:ext cx="1905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65544" name="AutoShape 5"/>
          <p:cNvSpPr>
            <a:spLocks noChangeArrowheads="1"/>
          </p:cNvSpPr>
          <p:nvPr/>
        </p:nvSpPr>
        <p:spPr bwMode="auto">
          <a:xfrm>
            <a:off x="6172200" y="990600"/>
            <a:ext cx="2514600" cy="1371600"/>
          </a:xfrm>
          <a:prstGeom prst="wedgeRoundRectCallout">
            <a:avLst>
              <a:gd name="adj1" fmla="val -12375"/>
              <a:gd name="adj2" fmla="val 144444"/>
              <a:gd name="adj3" fmla="val 16667"/>
            </a:avLst>
          </a:prstGeom>
          <a:solidFill>
            <a:schemeClr val="accent1"/>
          </a:solidFill>
          <a:ln w="12700">
            <a:solidFill>
              <a:schemeClr val="tx1"/>
            </a:solidFill>
            <a:miter lim="800000"/>
            <a:headEnd type="none" w="sm" len="sm"/>
            <a:tailEnd type="none" w="sm" len="sm"/>
          </a:ln>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a:r>
              <a:rPr lang="en-US" altLang="en-US" sz="2000"/>
              <a:t>2. Click OK</a:t>
            </a: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idx="4294967295"/>
          </p:nvPr>
        </p:nvSpPr>
        <p:spPr>
          <a:xfrm>
            <a:off x="2895600" y="190500"/>
            <a:ext cx="6248400" cy="457200"/>
          </a:xfrm>
          <a:prstGeom prst="rect">
            <a:avLst/>
          </a:prstGeom>
        </p:spPr>
        <p:txBody>
          <a:bodyPr/>
          <a:lstStyle/>
          <a:p>
            <a:pP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Trace Execution</a:t>
            </a:r>
          </a:p>
        </p:txBody>
      </p:sp>
      <p:sp>
        <p:nvSpPr>
          <p:cNvPr id="66565" name="Text Box 3"/>
          <p:cNvSpPr txBox="1">
            <a:spLocks noChangeArrowheads="1"/>
          </p:cNvSpPr>
          <p:nvPr/>
        </p:nvSpPr>
        <p:spPr bwMode="auto">
          <a:xfrm>
            <a:off x="228600" y="838200"/>
            <a:ext cx="8686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2000" dirty="0">
                <a:solidFill>
                  <a:schemeClr val="bg2"/>
                </a:solidFill>
              </a:rPr>
              <a:t>public class </a:t>
            </a:r>
            <a:r>
              <a:rPr lang="en-US" altLang="en-US" sz="2000" dirty="0" err="1">
                <a:solidFill>
                  <a:schemeClr val="bg2"/>
                </a:solidFill>
              </a:rPr>
              <a:t>HandleEvent</a:t>
            </a:r>
            <a:r>
              <a:rPr lang="en-US" altLang="en-US" sz="2000" dirty="0">
                <a:solidFill>
                  <a:schemeClr val="bg2"/>
                </a:solidFill>
              </a:rPr>
              <a:t> extends Application {</a:t>
            </a:r>
          </a:p>
          <a:p>
            <a:r>
              <a:rPr lang="en-US" altLang="en-US" sz="2000" dirty="0">
                <a:solidFill>
                  <a:schemeClr val="bg2"/>
                </a:solidFill>
              </a:rPr>
              <a:t>  public void start(Stage </a:t>
            </a:r>
            <a:r>
              <a:rPr lang="en-US" altLang="en-US" sz="2000" dirty="0" err="1">
                <a:solidFill>
                  <a:schemeClr val="bg2"/>
                </a:solidFill>
              </a:rPr>
              <a:t>primaryStage</a:t>
            </a:r>
            <a:r>
              <a:rPr lang="en-US" altLang="en-US" sz="2000" dirty="0">
                <a:solidFill>
                  <a:schemeClr val="bg2"/>
                </a:solidFill>
              </a:rPr>
              <a:t>) {</a:t>
            </a:r>
          </a:p>
          <a:p>
            <a:r>
              <a:rPr lang="en-US" altLang="en-US" sz="2000" dirty="0">
                <a:solidFill>
                  <a:schemeClr val="bg2"/>
                </a:solidFill>
              </a:rPr>
              <a:t>    …</a:t>
            </a:r>
          </a:p>
          <a:p>
            <a:r>
              <a:rPr lang="en-US" altLang="en-US" sz="2000" dirty="0">
                <a:solidFill>
                  <a:schemeClr val="bg2"/>
                </a:solidFill>
              </a:rPr>
              <a:t>    </a:t>
            </a:r>
            <a:r>
              <a:rPr lang="en-US" altLang="en-US" sz="2000" dirty="0" err="1">
                <a:solidFill>
                  <a:schemeClr val="bg2"/>
                </a:solidFill>
              </a:rPr>
              <a:t>OKHandlerClass</a:t>
            </a:r>
            <a:r>
              <a:rPr lang="en-US" altLang="en-US" sz="2000" dirty="0">
                <a:solidFill>
                  <a:schemeClr val="bg2"/>
                </a:solidFill>
              </a:rPr>
              <a:t> handler1 = new </a:t>
            </a:r>
            <a:r>
              <a:rPr lang="en-US" altLang="en-US" sz="2000" dirty="0" err="1">
                <a:solidFill>
                  <a:schemeClr val="bg2"/>
                </a:solidFill>
              </a:rPr>
              <a:t>OKHandlerClass</a:t>
            </a:r>
            <a:r>
              <a:rPr lang="en-US" altLang="en-US" sz="2000" dirty="0">
                <a:solidFill>
                  <a:schemeClr val="bg2"/>
                </a:solidFill>
              </a:rPr>
              <a:t>();</a:t>
            </a:r>
          </a:p>
          <a:p>
            <a:r>
              <a:rPr lang="en-US" altLang="en-US" sz="2000" dirty="0">
                <a:solidFill>
                  <a:schemeClr val="bg2"/>
                </a:solidFill>
              </a:rPr>
              <a:t>    </a:t>
            </a:r>
            <a:r>
              <a:rPr lang="en-US" altLang="en-US" sz="2000" dirty="0" err="1">
                <a:solidFill>
                  <a:schemeClr val="bg2"/>
                </a:solidFill>
              </a:rPr>
              <a:t>btOK.setOnAction</a:t>
            </a:r>
            <a:r>
              <a:rPr lang="en-US" altLang="en-US" sz="2000" dirty="0">
                <a:solidFill>
                  <a:schemeClr val="bg2"/>
                </a:solidFill>
              </a:rPr>
              <a:t>(handler1);</a:t>
            </a:r>
          </a:p>
          <a:p>
            <a:r>
              <a:rPr lang="en-US" altLang="en-US" sz="2000" dirty="0">
                <a:solidFill>
                  <a:schemeClr val="bg2"/>
                </a:solidFill>
              </a:rPr>
              <a:t>    </a:t>
            </a:r>
            <a:r>
              <a:rPr lang="en-US" altLang="en-US" sz="2000" dirty="0" err="1">
                <a:solidFill>
                  <a:schemeClr val="bg2"/>
                </a:solidFill>
              </a:rPr>
              <a:t>CancelHandlerClass</a:t>
            </a:r>
            <a:r>
              <a:rPr lang="en-US" altLang="en-US" sz="2000" dirty="0">
                <a:solidFill>
                  <a:schemeClr val="bg2"/>
                </a:solidFill>
              </a:rPr>
              <a:t> handler2 = new </a:t>
            </a:r>
            <a:r>
              <a:rPr lang="en-US" altLang="en-US" sz="2000" dirty="0" err="1">
                <a:solidFill>
                  <a:schemeClr val="bg2"/>
                </a:solidFill>
              </a:rPr>
              <a:t>CancelHandlerClass</a:t>
            </a:r>
            <a:r>
              <a:rPr lang="en-US" altLang="en-US" sz="2000" dirty="0">
                <a:solidFill>
                  <a:schemeClr val="bg2"/>
                </a:solidFill>
              </a:rPr>
              <a:t>();</a:t>
            </a:r>
          </a:p>
          <a:p>
            <a:r>
              <a:rPr lang="en-US" altLang="en-US" sz="2000" dirty="0">
                <a:solidFill>
                  <a:schemeClr val="bg2"/>
                </a:solidFill>
              </a:rPr>
              <a:t>    </a:t>
            </a:r>
            <a:r>
              <a:rPr lang="en-US" altLang="en-US" sz="2000" dirty="0" err="1">
                <a:solidFill>
                  <a:schemeClr val="bg2"/>
                </a:solidFill>
              </a:rPr>
              <a:t>btCancel.setOnAction</a:t>
            </a:r>
            <a:r>
              <a:rPr lang="en-US" altLang="en-US" sz="2000" dirty="0">
                <a:solidFill>
                  <a:schemeClr val="bg2"/>
                </a:solidFill>
              </a:rPr>
              <a:t>(handler2);</a:t>
            </a:r>
          </a:p>
          <a:p>
            <a:r>
              <a:rPr lang="en-US" altLang="en-US" sz="2000" dirty="0">
                <a:solidFill>
                  <a:schemeClr val="bg2"/>
                </a:solidFill>
              </a:rPr>
              <a:t>    …    </a:t>
            </a:r>
          </a:p>
          <a:p>
            <a:r>
              <a:rPr lang="en-US" altLang="en-US" sz="2000" dirty="0">
                <a:solidFill>
                  <a:schemeClr val="bg2"/>
                </a:solidFill>
              </a:rPr>
              <a:t>    </a:t>
            </a:r>
            <a:r>
              <a:rPr lang="en-US" altLang="en-US" sz="2000" dirty="0" err="1">
                <a:solidFill>
                  <a:schemeClr val="bg2"/>
                </a:solidFill>
              </a:rPr>
              <a:t>primaryStage.show</a:t>
            </a:r>
            <a:r>
              <a:rPr lang="en-US" altLang="en-US" sz="2000" dirty="0">
                <a:solidFill>
                  <a:schemeClr val="bg2"/>
                </a:solidFill>
              </a:rPr>
              <a:t>(); // Display the stage</a:t>
            </a:r>
          </a:p>
          <a:p>
            <a:r>
              <a:rPr lang="en-US" altLang="en-US" sz="2000" dirty="0">
                <a:solidFill>
                  <a:schemeClr val="bg2"/>
                </a:solidFill>
              </a:rPr>
              <a:t>  }</a:t>
            </a:r>
          </a:p>
          <a:p>
            <a:r>
              <a:rPr lang="en-US" altLang="en-US" sz="2000" dirty="0">
                <a:solidFill>
                  <a:schemeClr val="bg2"/>
                </a:solidFill>
              </a:rPr>
              <a:t>} </a:t>
            </a:r>
          </a:p>
          <a:p>
            <a:endParaRPr lang="en-US" altLang="en-US" sz="2000" dirty="0">
              <a:solidFill>
                <a:schemeClr val="bg2"/>
              </a:solidFill>
            </a:endParaRPr>
          </a:p>
          <a:p>
            <a:r>
              <a:rPr lang="en-US" altLang="en-US" sz="2000" dirty="0">
                <a:solidFill>
                  <a:schemeClr val="bg2"/>
                </a:solidFill>
              </a:rPr>
              <a:t>class </a:t>
            </a:r>
            <a:r>
              <a:rPr lang="en-US" altLang="en-US" sz="2000" dirty="0" err="1">
                <a:solidFill>
                  <a:schemeClr val="bg2"/>
                </a:solidFill>
              </a:rPr>
              <a:t>OKHandlerClass</a:t>
            </a:r>
            <a:r>
              <a:rPr lang="en-US" altLang="en-US" sz="2000" dirty="0">
                <a:solidFill>
                  <a:schemeClr val="bg2"/>
                </a:solidFill>
              </a:rPr>
              <a:t> implements </a:t>
            </a:r>
            <a:r>
              <a:rPr lang="en-US" altLang="en-US" sz="2000" dirty="0" err="1">
                <a:solidFill>
                  <a:schemeClr val="bg2"/>
                </a:solidFill>
              </a:rPr>
              <a:t>EventHandler</a:t>
            </a:r>
            <a:r>
              <a:rPr lang="en-US" altLang="en-US" sz="2000" dirty="0">
                <a:solidFill>
                  <a:schemeClr val="bg2"/>
                </a:solidFill>
              </a:rPr>
              <a:t>&lt;</a:t>
            </a:r>
            <a:r>
              <a:rPr lang="en-US" altLang="en-US" sz="2000" dirty="0" err="1">
                <a:solidFill>
                  <a:schemeClr val="bg2"/>
                </a:solidFill>
              </a:rPr>
              <a:t>ActionEvent</a:t>
            </a:r>
            <a:r>
              <a:rPr lang="en-US" altLang="en-US" sz="2000" dirty="0">
                <a:solidFill>
                  <a:schemeClr val="bg2"/>
                </a:solidFill>
              </a:rPr>
              <a:t>&gt; {</a:t>
            </a:r>
          </a:p>
          <a:p>
            <a:r>
              <a:rPr lang="en-US" altLang="en-US" sz="2000" dirty="0">
                <a:solidFill>
                  <a:schemeClr val="bg2"/>
                </a:solidFill>
              </a:rPr>
              <a:t>  @Override</a:t>
            </a:r>
          </a:p>
          <a:p>
            <a:r>
              <a:rPr lang="en-US" altLang="en-US" sz="2000" dirty="0">
                <a:solidFill>
                  <a:schemeClr val="bg2"/>
                </a:solidFill>
              </a:rPr>
              <a:t>  public void handle(</a:t>
            </a:r>
            <a:r>
              <a:rPr lang="en-US" altLang="en-US" sz="2000" dirty="0" err="1">
                <a:solidFill>
                  <a:schemeClr val="bg2"/>
                </a:solidFill>
              </a:rPr>
              <a:t>ActionEvent</a:t>
            </a:r>
            <a:r>
              <a:rPr lang="en-US" altLang="en-US" sz="2000" dirty="0">
                <a:solidFill>
                  <a:schemeClr val="bg2"/>
                </a:solidFill>
              </a:rPr>
              <a:t> e) {</a:t>
            </a:r>
          </a:p>
          <a:p>
            <a:r>
              <a:rPr lang="en-US" altLang="en-US" sz="2000" dirty="0">
                <a:solidFill>
                  <a:schemeClr val="bg2"/>
                </a:solidFill>
              </a:rPr>
              <a:t>    </a:t>
            </a:r>
            <a:r>
              <a:rPr lang="en-US" altLang="en-US" sz="2000" dirty="0" err="1">
                <a:solidFill>
                  <a:schemeClr val="bg2"/>
                </a:solidFill>
              </a:rPr>
              <a:t>System.out.println</a:t>
            </a:r>
            <a:r>
              <a:rPr lang="en-US" altLang="en-US" sz="2000" dirty="0">
                <a:solidFill>
                  <a:schemeClr val="bg2"/>
                </a:solidFill>
              </a:rPr>
              <a:t>("OK button clicked"); </a:t>
            </a:r>
          </a:p>
          <a:p>
            <a:r>
              <a:rPr lang="en-US" altLang="en-US" sz="2000" dirty="0">
                <a:solidFill>
                  <a:schemeClr val="bg2"/>
                </a:solidFill>
              </a:rPr>
              <a:t>  }</a:t>
            </a:r>
          </a:p>
          <a:p>
            <a:r>
              <a:rPr lang="en-US" altLang="en-US" sz="2000" dirty="0">
                <a:solidFill>
                  <a:schemeClr val="bg2"/>
                </a:solidFill>
              </a:rPr>
              <a:t>}</a:t>
            </a:r>
          </a:p>
        </p:txBody>
      </p:sp>
      <p:sp>
        <p:nvSpPr>
          <p:cNvPr id="66566" name="Rectangle 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a:r>
              <a:rPr lang="en-US" altLang="en-US" sz="1800">
                <a:solidFill>
                  <a:schemeClr val="bg2"/>
                </a:solidFill>
                <a:latin typeface="Forte" pitchFamily="66" charset="0"/>
              </a:rPr>
              <a:t>animation</a:t>
            </a:r>
            <a:endParaRPr lang="en-US" altLang="en-US"/>
          </a:p>
        </p:txBody>
      </p:sp>
      <p:sp>
        <p:nvSpPr>
          <p:cNvPr id="66567" name="Rectangle 4"/>
          <p:cNvSpPr>
            <a:spLocks noChangeArrowheads="1"/>
          </p:cNvSpPr>
          <p:nvPr/>
        </p:nvSpPr>
        <p:spPr bwMode="auto">
          <a:xfrm>
            <a:off x="533400" y="5486400"/>
            <a:ext cx="4343400" cy="22860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66568"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3276600"/>
            <a:ext cx="1905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66569" name="AutoShape 7"/>
          <p:cNvSpPr>
            <a:spLocks noChangeArrowheads="1"/>
          </p:cNvSpPr>
          <p:nvPr/>
        </p:nvSpPr>
        <p:spPr bwMode="auto">
          <a:xfrm>
            <a:off x="6172200" y="990600"/>
            <a:ext cx="2514600" cy="1371600"/>
          </a:xfrm>
          <a:prstGeom prst="wedgeRoundRectCallout">
            <a:avLst>
              <a:gd name="adj1" fmla="val -121856"/>
              <a:gd name="adj2" fmla="val 273245"/>
              <a:gd name="adj3" fmla="val 16667"/>
            </a:avLst>
          </a:prstGeom>
          <a:solidFill>
            <a:schemeClr val="accent1"/>
          </a:solidFill>
          <a:ln w="12700">
            <a:solidFill>
              <a:schemeClr val="tx1"/>
            </a:solidFill>
            <a:miter lim="800000"/>
            <a:headEnd type="none" w="sm" len="sm"/>
            <a:tailEnd type="none" w="sm" len="sm"/>
          </a:ln>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a:r>
              <a:rPr lang="en-US" altLang="en-US" sz="2000"/>
              <a:t>3. Click OK. The JVM invokes the listener’s handle method</a:t>
            </a:r>
          </a:p>
        </p:txBody>
      </p:sp>
      <p:pic>
        <p:nvPicPr>
          <p:cNvPr id="66570"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2200" y="5257800"/>
            <a:ext cx="2378075"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66571" name="Line 9"/>
          <p:cNvSpPr>
            <a:spLocks noChangeShapeType="1"/>
          </p:cNvSpPr>
          <p:nvPr/>
        </p:nvSpPr>
        <p:spPr bwMode="auto">
          <a:xfrm>
            <a:off x="4800600" y="5638800"/>
            <a:ext cx="1447800" cy="0"/>
          </a:xfrm>
          <a:prstGeom prst="line">
            <a:avLst/>
          </a:prstGeom>
          <a:noFill/>
          <a:ln w="4445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MY"/>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685800" y="0"/>
            <a:ext cx="7772400" cy="14287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Events</a:t>
            </a:r>
          </a:p>
        </p:txBody>
      </p:sp>
      <p:sp>
        <p:nvSpPr>
          <p:cNvPr id="12292" name="Rectangle 3"/>
          <p:cNvSpPr>
            <a:spLocks noGrp="1" noChangeArrowheads="1"/>
          </p:cNvSpPr>
          <p:nvPr>
            <p:ph idx="1"/>
          </p:nvPr>
        </p:nvSpPr>
        <p:spPr>
          <a:xfrm>
            <a:off x="381000" y="1371600"/>
            <a:ext cx="8229600" cy="4495800"/>
          </a:xfrm>
        </p:spPr>
        <p:txBody>
          <a:bodyPr/>
          <a:lstStyle/>
          <a:p>
            <a:pPr>
              <a:buFont typeface="Wingdings" charset="0"/>
              <a:buChar char="q"/>
              <a:defRPr/>
            </a:pPr>
            <a:r>
              <a:rPr lang="en-US" sz="3400" dirty="0">
                <a:latin typeface="Times New Roman" panose="02020603050405020304" pitchFamily="18" charset="0"/>
                <a:ea typeface="ＭＳ Ｐゴシック" charset="0"/>
                <a:cs typeface="Times New Roman" panose="02020603050405020304" pitchFamily="18" charset="0"/>
              </a:rPr>
              <a:t>An </a:t>
            </a:r>
            <a:r>
              <a:rPr lang="en-US" sz="3400" i="1" dirty="0">
                <a:latin typeface="Times New Roman" panose="02020603050405020304" pitchFamily="18" charset="0"/>
                <a:ea typeface="ＭＳ Ｐゴシック" charset="0"/>
                <a:cs typeface="Times New Roman" panose="02020603050405020304" pitchFamily="18" charset="0"/>
              </a:rPr>
              <a:t>event</a:t>
            </a:r>
            <a:r>
              <a:rPr lang="en-US" sz="3400" dirty="0">
                <a:latin typeface="Times New Roman" panose="02020603050405020304" pitchFamily="18" charset="0"/>
                <a:ea typeface="ＭＳ Ｐゴシック" charset="0"/>
                <a:cs typeface="Times New Roman" panose="02020603050405020304" pitchFamily="18" charset="0"/>
              </a:rPr>
              <a:t> can be defined as a type of signal to the program that something has happened. </a:t>
            </a:r>
          </a:p>
          <a:p>
            <a:pPr>
              <a:spcBef>
                <a:spcPct val="100000"/>
              </a:spcBef>
              <a:buFont typeface="Wingdings" charset="0"/>
              <a:buChar char="q"/>
              <a:defRPr/>
            </a:pPr>
            <a:r>
              <a:rPr lang="en-US" sz="3400" dirty="0">
                <a:latin typeface="Times New Roman" panose="02020603050405020304" pitchFamily="18" charset="0"/>
                <a:ea typeface="ＭＳ Ｐゴシック" charset="0"/>
                <a:cs typeface="Times New Roman" panose="02020603050405020304" pitchFamily="18" charset="0"/>
              </a:rPr>
              <a:t>The event is generated by external user actions such as mouse movements, mouse clicks, or keystrokes.</a:t>
            </a: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685800" y="0"/>
            <a:ext cx="7772400" cy="14287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Event Classes</a:t>
            </a:r>
          </a:p>
        </p:txBody>
      </p:sp>
      <p:sp>
        <p:nvSpPr>
          <p:cNvPr id="68612" name="Rectangle 4"/>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68613"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657350"/>
            <a:ext cx="8767763"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685800" y="0"/>
            <a:ext cx="7772400" cy="14287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Event Information</a:t>
            </a:r>
          </a:p>
        </p:txBody>
      </p:sp>
      <p:sp>
        <p:nvSpPr>
          <p:cNvPr id="14340" name="Rectangle 3"/>
          <p:cNvSpPr>
            <a:spLocks noGrp="1" noChangeArrowheads="1"/>
          </p:cNvSpPr>
          <p:nvPr>
            <p:ph idx="1"/>
          </p:nvPr>
        </p:nvSpPr>
        <p:spPr>
          <a:xfrm>
            <a:off x="381000" y="1371600"/>
            <a:ext cx="8534400" cy="4724400"/>
          </a:xfrm>
        </p:spPr>
        <p:txBody>
          <a:bodyPr/>
          <a:lstStyle/>
          <a:p>
            <a:pPr marL="0" indent="0" algn="just">
              <a:buFont typeface="Monotype Sorts" charset="2"/>
              <a:buNone/>
              <a:defRPr/>
            </a:pPr>
            <a:r>
              <a:rPr lang="en-US" sz="2800" dirty="0">
                <a:latin typeface="Times New Roman" panose="02020603050405020304" pitchFamily="18" charset="0"/>
                <a:cs typeface="Times New Roman" panose="02020603050405020304" pitchFamily="18" charset="0"/>
              </a:rPr>
              <a:t>An event object contains whatever properties are pertinent to the event. You can identify the source object of the event using the </a:t>
            </a:r>
            <a:r>
              <a:rPr lang="en-US" sz="2800" dirty="0" err="1">
                <a:latin typeface="Times New Roman" panose="02020603050405020304" pitchFamily="18" charset="0"/>
                <a:cs typeface="Times New Roman" panose="02020603050405020304" pitchFamily="18" charset="0"/>
              </a:rPr>
              <a:t>getSource</a:t>
            </a:r>
            <a:r>
              <a:rPr lang="en-US" sz="2800" dirty="0">
                <a:latin typeface="Times New Roman" panose="02020603050405020304" pitchFamily="18" charset="0"/>
                <a:cs typeface="Times New Roman" panose="02020603050405020304" pitchFamily="18" charset="0"/>
              </a:rPr>
              <a:t>() instance method in the </a:t>
            </a:r>
            <a:r>
              <a:rPr lang="en-US" sz="2800" dirty="0" err="1">
                <a:latin typeface="Times New Roman" panose="02020603050405020304" pitchFamily="18" charset="0"/>
                <a:cs typeface="Times New Roman" panose="02020603050405020304" pitchFamily="18" charset="0"/>
              </a:rPr>
              <a:t>EventObject</a:t>
            </a:r>
            <a:r>
              <a:rPr lang="en-US" sz="2800" dirty="0">
                <a:latin typeface="Times New Roman" panose="02020603050405020304" pitchFamily="18" charset="0"/>
                <a:cs typeface="Times New Roman" panose="02020603050405020304" pitchFamily="18" charset="0"/>
              </a:rPr>
              <a:t> class. The subclasses of </a:t>
            </a:r>
            <a:r>
              <a:rPr lang="en-US" sz="2800" dirty="0" err="1">
                <a:latin typeface="Times New Roman" panose="02020603050405020304" pitchFamily="18" charset="0"/>
                <a:cs typeface="Times New Roman" panose="02020603050405020304" pitchFamily="18" charset="0"/>
              </a:rPr>
              <a:t>EventObject</a:t>
            </a:r>
            <a:r>
              <a:rPr lang="en-US" sz="2800" dirty="0">
                <a:latin typeface="Times New Roman" panose="02020603050405020304" pitchFamily="18" charset="0"/>
                <a:cs typeface="Times New Roman" panose="02020603050405020304" pitchFamily="18" charset="0"/>
              </a:rPr>
              <a:t> deal with special types of events, such as button actions, window events, component events, mouse movements, and keystrokes. Table 16.1 lists external user actions, source objects, and event types generated.</a:t>
            </a: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381000" y="228600"/>
            <a:ext cx="8382000" cy="990600"/>
          </a:xfrm>
        </p:spPr>
        <p:txBody>
          <a:bodyPr/>
          <a:lstStyle/>
          <a:p>
            <a:pPr algn="ct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Selected User Actions and Handlers</a:t>
            </a:r>
          </a:p>
        </p:txBody>
      </p:sp>
      <p:pic>
        <p:nvPicPr>
          <p:cNvPr id="7066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676400"/>
            <a:ext cx="9144000" cy="433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85800" y="152400"/>
            <a:ext cx="7772400" cy="68580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The Delegation Model</a:t>
            </a:r>
          </a:p>
        </p:txBody>
      </p:sp>
      <p:sp>
        <p:nvSpPr>
          <p:cNvPr id="16388" name="Rectangle 5"/>
          <p:cNvSpPr>
            <a:spLocks noChangeArrowheads="1"/>
          </p:cNvSpPr>
          <p:nvPr/>
        </p:nvSpPr>
        <p:spPr bwMode="auto">
          <a:xfrm>
            <a:off x="1970088" y="2255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16389" name="Rectangle 7"/>
          <p:cNvSpPr>
            <a:spLocks noChangeArrowheads="1"/>
          </p:cNvSpPr>
          <p:nvPr/>
        </p:nvSpPr>
        <p:spPr bwMode="auto">
          <a:xfrm>
            <a:off x="0" y="2647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defRPr/>
            </a:pPr>
            <a:endParaRPr lang="en-US">
              <a:latin typeface="Times New Roman" charset="0"/>
              <a:ea typeface="ＭＳ Ｐゴシック" charset="0"/>
              <a:cs typeface="ＭＳ Ｐゴシック" charset="0"/>
            </a:endParaRPr>
          </a:p>
        </p:txBody>
      </p:sp>
      <p:sp>
        <p:nvSpPr>
          <p:cNvPr id="16390" name="Rectangle 9"/>
          <p:cNvSpPr>
            <a:spLocks noChangeArrowheads="1"/>
          </p:cNvSpPr>
          <p:nvPr/>
        </p:nvSpPr>
        <p:spPr bwMode="auto">
          <a:xfrm>
            <a:off x="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6391" name="Rectangle 12"/>
          <p:cNvSpPr>
            <a:spLocks noChangeArrowheads="1"/>
          </p:cNvSpPr>
          <p:nvPr/>
        </p:nvSpPr>
        <p:spPr bwMode="auto">
          <a:xfrm>
            <a:off x="0" y="2647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6392" name="Rectangle 13"/>
          <p:cNvSpPr>
            <a:spLocks noChangeArrowheads="1"/>
          </p:cNvSpPr>
          <p:nvPr/>
        </p:nvSpPr>
        <p:spPr bwMode="auto">
          <a:xfrm>
            <a:off x="0" y="39814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16393" name="Rectangle 15"/>
          <p:cNvSpPr>
            <a:spLocks noChangeArrowheads="1"/>
          </p:cNvSpPr>
          <p:nvPr/>
        </p:nvSpPr>
        <p:spPr bwMode="auto">
          <a:xfrm>
            <a:off x="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sp>
        <p:nvSpPr>
          <p:cNvPr id="71690" name="Rectangle 5"/>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71691" name="Rectangle 7"/>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71692" name="Rectangle 9"/>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71693" name="Rectangle 11"/>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71694" name="Picture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117600"/>
            <a:ext cx="9144000" cy="406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85800" y="0"/>
            <a:ext cx="7772400" cy="14287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The Delegation Model: Example</a:t>
            </a:r>
          </a:p>
        </p:txBody>
      </p:sp>
      <p:sp>
        <p:nvSpPr>
          <p:cNvPr id="17412" name="Rectangle 3"/>
          <p:cNvSpPr>
            <a:spLocks noChangeArrowheads="1"/>
          </p:cNvSpPr>
          <p:nvPr/>
        </p:nvSpPr>
        <p:spPr bwMode="auto">
          <a:xfrm>
            <a:off x="1970088" y="2255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17413" name="Rectangle 6"/>
          <p:cNvSpPr>
            <a:spLocks noChangeArrowheads="1"/>
          </p:cNvSpPr>
          <p:nvPr/>
        </p:nvSpPr>
        <p:spPr bwMode="auto">
          <a:xfrm>
            <a:off x="1971675"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72710" name="Text Box 7"/>
          <p:cNvSpPr txBox="1">
            <a:spLocks noChangeArrowheads="1"/>
          </p:cNvSpPr>
          <p:nvPr/>
        </p:nvSpPr>
        <p:spPr bwMode="auto">
          <a:xfrm>
            <a:off x="228600" y="2667000"/>
            <a:ext cx="8610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spcBef>
                <a:spcPct val="50000"/>
              </a:spcBef>
            </a:pPr>
            <a:r>
              <a:rPr lang="en-US" altLang="en-US" dirty="0">
                <a:solidFill>
                  <a:schemeClr val="bg2"/>
                </a:solidFill>
                <a:latin typeface="Courier New" panose="02070309020205020404" pitchFamily="49" charset="0"/>
                <a:cs typeface="Courier New" pitchFamily="49" charset="0"/>
              </a:rPr>
              <a:t>Button </a:t>
            </a:r>
            <a:r>
              <a:rPr lang="en-US" altLang="en-US" dirty="0" err="1">
                <a:solidFill>
                  <a:schemeClr val="bg2"/>
                </a:solidFill>
                <a:latin typeface="Courier New" pitchFamily="49" charset="0"/>
                <a:cs typeface="Courier New" pitchFamily="49" charset="0"/>
              </a:rPr>
              <a:t>btOK</a:t>
            </a:r>
            <a:r>
              <a:rPr lang="en-US" altLang="en-US" dirty="0">
                <a:solidFill>
                  <a:schemeClr val="bg2"/>
                </a:solidFill>
                <a:latin typeface="Courier New" pitchFamily="49" charset="0"/>
                <a:cs typeface="Courier New" pitchFamily="49" charset="0"/>
              </a:rPr>
              <a:t> = new Button("OK");</a:t>
            </a:r>
          </a:p>
          <a:p>
            <a:pPr>
              <a:spcBef>
                <a:spcPct val="50000"/>
              </a:spcBef>
            </a:pPr>
            <a:r>
              <a:rPr lang="en-US" altLang="en-US" dirty="0" err="1">
                <a:solidFill>
                  <a:schemeClr val="bg2"/>
                </a:solidFill>
                <a:latin typeface="Courier New" pitchFamily="49" charset="0"/>
                <a:cs typeface="Courier New" pitchFamily="49" charset="0"/>
              </a:rPr>
              <a:t>OKHandlerClass</a:t>
            </a:r>
            <a:r>
              <a:rPr lang="en-US" altLang="en-US" dirty="0">
                <a:solidFill>
                  <a:schemeClr val="bg2"/>
                </a:solidFill>
                <a:latin typeface="Courier New" pitchFamily="49" charset="0"/>
                <a:cs typeface="Courier New" pitchFamily="49" charset="0"/>
              </a:rPr>
              <a:t> handler = new </a:t>
            </a:r>
            <a:r>
              <a:rPr lang="en-US" altLang="en-US" dirty="0" err="1">
                <a:solidFill>
                  <a:schemeClr val="bg2"/>
                </a:solidFill>
                <a:latin typeface="Courier New" pitchFamily="49" charset="0"/>
                <a:cs typeface="Courier New" pitchFamily="49" charset="0"/>
              </a:rPr>
              <a:t>OKHandlerClass</a:t>
            </a:r>
            <a:r>
              <a:rPr lang="en-US" altLang="en-US" dirty="0">
                <a:solidFill>
                  <a:schemeClr val="bg2"/>
                </a:solidFill>
                <a:latin typeface="Courier New" pitchFamily="49" charset="0"/>
                <a:cs typeface="Courier New" pitchFamily="49" charset="0"/>
              </a:rPr>
              <a:t>();</a:t>
            </a:r>
          </a:p>
          <a:p>
            <a:pPr>
              <a:spcBef>
                <a:spcPct val="50000"/>
              </a:spcBef>
            </a:pPr>
            <a:r>
              <a:rPr lang="en-US" altLang="en-US" dirty="0" err="1">
                <a:solidFill>
                  <a:schemeClr val="bg2"/>
                </a:solidFill>
                <a:latin typeface="Courier New" pitchFamily="49" charset="0"/>
                <a:cs typeface="Courier New" pitchFamily="49" charset="0"/>
              </a:rPr>
              <a:t>btOK.setOnAction</a:t>
            </a:r>
            <a:r>
              <a:rPr lang="en-US" altLang="en-US" dirty="0">
                <a:solidFill>
                  <a:schemeClr val="bg2"/>
                </a:solidFill>
                <a:latin typeface="Courier New" pitchFamily="49" charset="0"/>
                <a:cs typeface="Courier New" pitchFamily="49" charset="0"/>
              </a:rPr>
              <a:t>(handler);</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85800" y="0"/>
            <a:ext cx="7772400" cy="142875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Example: First Version for </a:t>
            </a:r>
            <a:r>
              <a:rPr lang="en-US" sz="4000" b="1" dirty="0" err="1">
                <a:solidFill>
                  <a:schemeClr val="tx1"/>
                </a:solidFill>
                <a:latin typeface="Times New Roman" panose="02020603050405020304" pitchFamily="18" charset="0"/>
                <a:ea typeface="ＭＳ Ｐゴシック" charset="0"/>
                <a:cs typeface="Times New Roman" panose="02020603050405020304" pitchFamily="18" charset="0"/>
              </a:rPr>
              <a:t>ControlCircle</a:t>
            </a: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 (no listeners)</a:t>
            </a:r>
          </a:p>
        </p:txBody>
      </p:sp>
      <p:sp>
        <p:nvSpPr>
          <p:cNvPr id="18436" name="Rectangle 3"/>
          <p:cNvSpPr>
            <a:spLocks noGrp="1" noChangeArrowheads="1"/>
          </p:cNvSpPr>
          <p:nvPr>
            <p:ph idx="1"/>
          </p:nvPr>
        </p:nvSpPr>
        <p:spPr>
          <a:xfrm>
            <a:off x="609600" y="1600200"/>
            <a:ext cx="8077200" cy="1219200"/>
          </a:xfrm>
        </p:spPr>
        <p:txBody>
          <a:bodyPr/>
          <a:lstStyle/>
          <a:p>
            <a:pPr marL="0" indent="0">
              <a:spcBef>
                <a:spcPct val="50000"/>
              </a:spcBef>
              <a:buFont typeface="Monotype Sorts" charset="0"/>
              <a:buNone/>
              <a:defRPr/>
            </a:pPr>
            <a:r>
              <a:rPr lang="en-US" dirty="0">
                <a:latin typeface="Times New Roman" panose="02020603050405020304" pitchFamily="18" charset="0"/>
                <a:ea typeface="ＭＳ Ｐゴシック" charset="0"/>
                <a:cs typeface="Times New Roman" panose="02020603050405020304" pitchFamily="18" charset="0"/>
              </a:rPr>
              <a:t>Now let us consider to write a program that uses two buttons to control the size of a circle. </a:t>
            </a:r>
          </a:p>
        </p:txBody>
      </p:sp>
      <p:pic>
        <p:nvPicPr>
          <p:cNvPr id="18439" name="Picture 8"/>
          <p:cNvPicPr>
            <a:picLocks noChangeAspect="1" noChangeArrowheads="1"/>
          </p:cNvPicPr>
          <p:nvPr/>
        </p:nvPicPr>
        <p:blipFill>
          <a:blip r:embed="rId2" cstate="print"/>
          <a:srcRect/>
          <a:stretch>
            <a:fillRect/>
          </a:stretch>
        </p:blipFill>
        <p:spPr bwMode="auto">
          <a:xfrm>
            <a:off x="2667000" y="2819400"/>
            <a:ext cx="3248025"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9" name="Rectangle 8">
            <a:hlinkClick r:id="rId3"/>
          </p:cNvPr>
          <p:cNvSpPr>
            <a:spLocks noChangeArrowheads="1"/>
          </p:cNvSpPr>
          <p:nvPr/>
        </p:nvSpPr>
        <p:spPr bwMode="auto">
          <a:xfrm>
            <a:off x="1600200" y="5791200"/>
            <a:ext cx="41148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ControlCircleWithoutEventHandling</a:t>
            </a:r>
            <a:endParaRPr lang="en-US" altLang="en-US" sz="2000" dirty="0"/>
          </a:p>
        </p:txBody>
      </p:sp>
      <p:sp>
        <p:nvSpPr>
          <p:cNvPr id="10" name="AutoShape 10">
            <a:hlinkClick r:id="rId4" action="ppaction://program" highlightClick="1"/>
          </p:cNvPr>
          <p:cNvSpPr>
            <a:spLocks noChangeArrowheads="1"/>
          </p:cNvSpPr>
          <p:nvPr/>
        </p:nvSpPr>
        <p:spPr bwMode="auto">
          <a:xfrm>
            <a:off x="5784850" y="57912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dirty="0">
                <a:latin typeface="Book Antiqua" pitchFamily="18" charset="0"/>
              </a:rPr>
              <a:t>Run</a:t>
            </a:r>
            <a:endParaRPr lang="en-US" altLang="en-US" sz="1800" dirty="0"/>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ChangeArrowheads="1"/>
          </p:cNvSpPr>
          <p:nvPr/>
        </p:nvSpPr>
        <p:spPr bwMode="auto">
          <a:xfrm>
            <a:off x="0" y="0"/>
            <a:ext cx="4572000"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javafx.geometry.Pos;</a:t>
            </a:r>
          </a:p>
          <a:p>
            <a:r>
              <a:rPr lang="en-US" altLang="en-US" sz="1200"/>
              <a:t>import javafx.scene.Scene;</a:t>
            </a:r>
          </a:p>
          <a:p>
            <a:r>
              <a:rPr lang="en-US" altLang="en-US" sz="1200"/>
              <a:t>import javafx.scene.control.Button;</a:t>
            </a:r>
          </a:p>
          <a:p>
            <a:r>
              <a:rPr lang="en-US" altLang="en-US" sz="1200"/>
              <a:t>import javafx.scene.layout.StackPane;</a:t>
            </a:r>
          </a:p>
          <a:p>
            <a:r>
              <a:rPr lang="en-US" altLang="en-US" sz="1200"/>
              <a:t>import javafx.scene.layout.HBox;</a:t>
            </a:r>
          </a:p>
          <a:p>
            <a:r>
              <a:rPr lang="en-US" altLang="en-US" sz="1200"/>
              <a:t>import javafx.scene.layout.BorderPane;</a:t>
            </a:r>
          </a:p>
          <a:p>
            <a:r>
              <a:rPr lang="en-US" altLang="en-US" sz="1200"/>
              <a:t>import javafx.scene.paint.Color;</a:t>
            </a:r>
          </a:p>
          <a:p>
            <a:r>
              <a:rPr lang="en-US" altLang="en-US" sz="1200"/>
              <a:t>import javafx.scene.shape.Circle;</a:t>
            </a:r>
          </a:p>
          <a:p>
            <a:r>
              <a:rPr lang="en-US" altLang="en-US" sz="1200"/>
              <a:t>import javafx.stage.Stage;</a:t>
            </a:r>
          </a:p>
          <a:p>
            <a:endParaRPr lang="en-US" altLang="en-US" sz="1200"/>
          </a:p>
          <a:p>
            <a:r>
              <a:rPr lang="en-US" altLang="en-US" sz="1200"/>
              <a:t>public class ControlCircleWithoutEventHandling extends Application {</a:t>
            </a:r>
          </a:p>
          <a:p>
            <a:r>
              <a:rPr lang="en-US" altLang="en-US" sz="1200"/>
              <a:t>  @Override // Override the start method in the Application class</a:t>
            </a:r>
          </a:p>
          <a:p>
            <a:r>
              <a:rPr lang="en-US" altLang="en-US" sz="1200"/>
              <a:t>  public void start(Stage primaryStage) {</a:t>
            </a:r>
          </a:p>
          <a:p>
            <a:r>
              <a:rPr lang="en-US" altLang="en-US" sz="1200"/>
              <a:t>    StackPane pane = new StackPane();</a:t>
            </a:r>
          </a:p>
          <a:p>
            <a:r>
              <a:rPr lang="en-US" altLang="en-US" sz="1200"/>
              <a:t>    Circle circle = new Circle(50);</a:t>
            </a:r>
          </a:p>
          <a:p>
            <a:r>
              <a:rPr lang="en-US" altLang="en-US" sz="1200"/>
              <a:t>    circle.setStroke(Color.BLACK);</a:t>
            </a:r>
          </a:p>
          <a:p>
            <a:r>
              <a:rPr lang="en-US" altLang="en-US" sz="1200"/>
              <a:t>    circle.setFill(Color.WHITE);</a:t>
            </a:r>
          </a:p>
          <a:p>
            <a:r>
              <a:rPr lang="en-US" altLang="en-US" sz="1200"/>
              <a:t>    pane.getChildren().add(circle);</a:t>
            </a:r>
          </a:p>
          <a:p>
            <a:r>
              <a:rPr lang="en-US" altLang="en-US" sz="1200"/>
              <a:t>    </a:t>
            </a:r>
          </a:p>
          <a:p>
            <a:r>
              <a:rPr lang="en-US" altLang="en-US" sz="1200"/>
              <a:t>    HBox hBox = new HBox();</a:t>
            </a:r>
          </a:p>
          <a:p>
            <a:r>
              <a:rPr lang="en-US" altLang="en-US" sz="1200"/>
              <a:t>    hBox.setSpacing(10);</a:t>
            </a:r>
          </a:p>
          <a:p>
            <a:r>
              <a:rPr lang="en-US" altLang="en-US" sz="1200"/>
              <a:t>    hBox.setAlignment(Pos.CENTER);</a:t>
            </a:r>
          </a:p>
          <a:p>
            <a:r>
              <a:rPr lang="en-US" altLang="en-US" sz="1200"/>
              <a:t>    Button btEnlarge = new Button("Enlarge");</a:t>
            </a:r>
          </a:p>
          <a:p>
            <a:r>
              <a:rPr lang="en-US" altLang="en-US" sz="1200"/>
              <a:t>    Button btShrink = new Button("Shrink");</a:t>
            </a:r>
          </a:p>
          <a:p>
            <a:r>
              <a:rPr lang="en-US" altLang="en-US" sz="1200"/>
              <a:t>    hBox.getChildren().add(btEnlarge);</a:t>
            </a:r>
          </a:p>
          <a:p>
            <a:r>
              <a:rPr lang="en-US" altLang="en-US" sz="1200"/>
              <a:t>    hBox.getChildren().add(btShrink);</a:t>
            </a:r>
          </a:p>
          <a:p>
            <a:endParaRPr lang="en-US" altLang="en-US" sz="1200"/>
          </a:p>
          <a:p>
            <a:r>
              <a:rPr lang="en-US" altLang="en-US" sz="1200"/>
              <a:t>    BorderPane borderPane = new BorderPane();</a:t>
            </a:r>
          </a:p>
          <a:p>
            <a:r>
              <a:rPr lang="en-US" altLang="en-US" sz="1200"/>
              <a:t>    borderPane.setCenter(pane);</a:t>
            </a:r>
          </a:p>
          <a:p>
            <a:r>
              <a:rPr lang="en-US" altLang="en-US" sz="1200"/>
              <a:t>    borderPane.setBottom(hBox);</a:t>
            </a:r>
          </a:p>
          <a:p>
            <a:r>
              <a:rPr lang="en-US" altLang="en-US" sz="1200"/>
              <a:t>    BorderPane.setAlignment(hBox, Pos.CENTER);</a:t>
            </a:r>
          </a:p>
          <a:p>
            <a:r>
              <a:rPr lang="en-US" altLang="en-US" sz="1200"/>
              <a:t>    </a:t>
            </a:r>
          </a:p>
        </p:txBody>
      </p:sp>
      <p:sp>
        <p:nvSpPr>
          <p:cNvPr id="4" name="Rectangle 3"/>
          <p:cNvSpPr/>
          <p:nvPr/>
        </p:nvSpPr>
        <p:spPr>
          <a:xfrm>
            <a:off x="4572000" y="0"/>
            <a:ext cx="4572000" cy="2862263"/>
          </a:xfrm>
          <a:prstGeom prst="rect">
            <a:avLst/>
          </a:prstGeom>
          <a:ln>
            <a:solidFill>
              <a:schemeClr val="bg1">
                <a:lumMod val="75000"/>
              </a:schemeClr>
            </a:solidFill>
          </a:ln>
        </p:spPr>
        <p:txBody>
          <a:bodyPr>
            <a:spAutoFit/>
          </a:bodyPr>
          <a:lstStyle/>
          <a:p>
            <a:pPr>
              <a:defRPr/>
            </a:pPr>
            <a:r>
              <a:rPr lang="en-US" sz="1200" dirty="0">
                <a:latin typeface="Times New Roman" charset="0"/>
                <a:ea typeface="ＭＳ Ｐゴシック" charset="0"/>
                <a:cs typeface="ＭＳ Ｐゴシック" charset="0"/>
              </a:rPr>
              <a:t> // Create a scene and place it in the stage</a:t>
            </a:r>
          </a:p>
          <a:p>
            <a:pPr>
              <a:defRPr/>
            </a:pPr>
            <a:r>
              <a:rPr lang="en-US" sz="1200" dirty="0">
                <a:latin typeface="Times New Roman" charset="0"/>
                <a:ea typeface="ＭＳ Ｐゴシック" charset="0"/>
                <a:cs typeface="ＭＳ Ｐゴシック" charset="0"/>
              </a:rPr>
              <a:t>    Scene scene = new Scene(</a:t>
            </a:r>
            <a:r>
              <a:rPr lang="en-US" sz="1200" dirty="0" err="1">
                <a:latin typeface="Times New Roman" charset="0"/>
                <a:ea typeface="ＭＳ Ｐゴシック" charset="0"/>
                <a:cs typeface="ＭＳ Ｐゴシック" charset="0"/>
              </a:rPr>
              <a:t>borderPane</a:t>
            </a:r>
            <a:r>
              <a:rPr lang="en-US" sz="1200" dirty="0">
                <a:latin typeface="Times New Roman" charset="0"/>
                <a:ea typeface="ＭＳ Ｐゴシック" charset="0"/>
                <a:cs typeface="ＭＳ Ｐゴシック" charset="0"/>
              </a:rPr>
              <a:t>, 200, 150);</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primaryStage.setTitle</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ControlCircle</a:t>
            </a:r>
            <a:r>
              <a:rPr lang="en-US" sz="1200" dirty="0">
                <a:latin typeface="Times New Roman" charset="0"/>
                <a:ea typeface="ＭＳ Ｐゴシック" charset="0"/>
                <a:cs typeface="ＭＳ Ｐゴシック" charset="0"/>
              </a:rPr>
              <a:t>"); // Set the stage title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primaryStage.setScene</a:t>
            </a:r>
            <a:r>
              <a:rPr lang="en-US" sz="1200" dirty="0">
                <a:latin typeface="Times New Roman" charset="0"/>
                <a:ea typeface="ＭＳ Ｐゴシック" charset="0"/>
                <a:cs typeface="ＭＳ Ｐゴシック" charset="0"/>
              </a:rPr>
              <a:t>(scene); // Place the scene in the stage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primaryStage.show</a:t>
            </a:r>
            <a:r>
              <a:rPr lang="en-US" sz="1200" dirty="0">
                <a:latin typeface="Times New Roman" charset="0"/>
                <a:ea typeface="ＭＳ Ｐゴシック" charset="0"/>
                <a:cs typeface="ＭＳ Ｐゴシック" charset="0"/>
              </a:rPr>
              <a:t>(); // Display the stage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The main method is only needed for the IDE with limited</a:t>
            </a:r>
          </a:p>
          <a:p>
            <a:pPr>
              <a:defRPr/>
            </a:pP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 support. Not needed for running from the command line.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public static void main(String[] </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launch(</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0" y="152400"/>
            <a:ext cx="8991600" cy="137160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Example: Second Version for </a:t>
            </a:r>
            <a:r>
              <a:rPr lang="en-US" sz="4000" b="1" dirty="0" err="1">
                <a:solidFill>
                  <a:schemeClr val="tx1"/>
                </a:solidFill>
                <a:latin typeface="Times New Roman" panose="02020603050405020304" pitchFamily="18" charset="0"/>
                <a:ea typeface="ＭＳ Ｐゴシック" charset="0"/>
                <a:cs typeface="Times New Roman" panose="02020603050405020304" pitchFamily="18" charset="0"/>
              </a:rPr>
              <a:t>ControlCircle</a:t>
            </a: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 (with listener for Enlarge)</a:t>
            </a:r>
          </a:p>
        </p:txBody>
      </p:sp>
      <p:sp>
        <p:nvSpPr>
          <p:cNvPr id="19460" name="Rectangle 3"/>
          <p:cNvSpPr>
            <a:spLocks noGrp="1" noChangeArrowheads="1"/>
          </p:cNvSpPr>
          <p:nvPr>
            <p:ph idx="1"/>
          </p:nvPr>
        </p:nvSpPr>
        <p:spPr>
          <a:xfrm>
            <a:off x="609600" y="1752600"/>
            <a:ext cx="8077200" cy="1219200"/>
          </a:xfrm>
        </p:spPr>
        <p:txBody>
          <a:bodyPr/>
          <a:lstStyle/>
          <a:p>
            <a:pPr marL="0" indent="0">
              <a:spcBef>
                <a:spcPct val="50000"/>
              </a:spcBef>
              <a:buFont typeface="Monotype Sorts" charset="0"/>
              <a:buNone/>
              <a:defRPr/>
            </a:pPr>
            <a:r>
              <a:rPr lang="en-US" sz="3200" dirty="0">
                <a:latin typeface="Times New Roman" panose="02020603050405020304" pitchFamily="18" charset="0"/>
                <a:ea typeface="ＭＳ Ｐゴシック" charset="0"/>
                <a:cs typeface="Times New Roman" panose="02020603050405020304" pitchFamily="18" charset="0"/>
              </a:rPr>
              <a:t>Now let us consider to write a program that uses two buttons to control the size of a circle. </a:t>
            </a:r>
          </a:p>
        </p:txBody>
      </p:sp>
      <p:pic>
        <p:nvPicPr>
          <p:cNvPr id="19463" name="Picture 8"/>
          <p:cNvPicPr>
            <a:picLocks noChangeAspect="1" noChangeArrowheads="1"/>
          </p:cNvPicPr>
          <p:nvPr/>
        </p:nvPicPr>
        <p:blipFill>
          <a:blip r:embed="rId2" cstate="print"/>
          <a:srcRect/>
          <a:stretch>
            <a:fillRect/>
          </a:stretch>
        </p:blipFill>
        <p:spPr bwMode="auto">
          <a:xfrm>
            <a:off x="1219200" y="3200400"/>
            <a:ext cx="207645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9464" name="Picture 9"/>
          <p:cNvPicPr>
            <a:picLocks noChangeAspect="1" noChangeArrowheads="1"/>
          </p:cNvPicPr>
          <p:nvPr/>
        </p:nvPicPr>
        <p:blipFill>
          <a:blip r:embed="rId3" cstate="print"/>
          <a:srcRect/>
          <a:stretch>
            <a:fillRect/>
          </a:stretch>
        </p:blipFill>
        <p:spPr bwMode="auto">
          <a:xfrm>
            <a:off x="3505200" y="3200400"/>
            <a:ext cx="207645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0" name="Rectangle 9">
            <a:hlinkClick r:id="rId4"/>
          </p:cNvPr>
          <p:cNvSpPr>
            <a:spLocks noChangeArrowheads="1"/>
          </p:cNvSpPr>
          <p:nvPr/>
        </p:nvSpPr>
        <p:spPr bwMode="auto">
          <a:xfrm>
            <a:off x="4356100" y="56388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ControlCircle</a:t>
            </a:r>
            <a:endParaRPr lang="en-US" altLang="en-US" sz="2000" dirty="0"/>
          </a:p>
        </p:txBody>
      </p:sp>
      <p:sp>
        <p:nvSpPr>
          <p:cNvPr id="11" name="AutoShape 10">
            <a:hlinkClick r:id="rId5" action="ppaction://program" highlightClick="1"/>
          </p:cNvPr>
          <p:cNvSpPr>
            <a:spLocks noChangeArrowheads="1"/>
          </p:cNvSpPr>
          <p:nvPr/>
        </p:nvSpPr>
        <p:spPr bwMode="auto">
          <a:xfrm>
            <a:off x="6781800" y="56388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1"/>
          <p:cNvSpPr>
            <a:spLocks noGrp="1"/>
          </p:cNvSpPr>
          <p:nvPr>
            <p:ph type="sldNum" sz="quarter" idx="4294967295"/>
          </p:nvPr>
        </p:nvSpPr>
        <p:spPr>
          <a:xfrm>
            <a:off x="8610600" y="6400800"/>
            <a:ext cx="533400" cy="152400"/>
          </a:xfrm>
          <a:prstGeom prst="rect">
            <a:avLst/>
          </a:prstGeom>
          <a:noFill/>
        </p:spPr>
        <p:txBody>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fld id="{1BC35877-4ACD-4DCC-8FF6-191F4117E45A}" type="slidenum">
              <a:rPr lang="en-US" altLang="en-US" sz="1400" smtClean="0"/>
              <a:pPr/>
              <a:t>20</a:t>
            </a:fld>
            <a:endParaRPr lang="en-US" altLang="en-US" sz="1400"/>
          </a:p>
        </p:txBody>
      </p:sp>
      <p:sp>
        <p:nvSpPr>
          <p:cNvPr id="76803" name="Rectangle 2"/>
          <p:cNvSpPr>
            <a:spLocks noChangeArrowheads="1"/>
          </p:cNvSpPr>
          <p:nvPr/>
        </p:nvSpPr>
        <p:spPr bwMode="auto">
          <a:xfrm>
            <a:off x="0" y="0"/>
            <a:ext cx="4572000" cy="674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dirty="0"/>
              <a:t>import </a:t>
            </a:r>
            <a:r>
              <a:rPr lang="en-US" altLang="en-US" sz="1200" dirty="0" err="1"/>
              <a:t>javafx.application.Application</a:t>
            </a:r>
            <a:r>
              <a:rPr lang="en-US" altLang="en-US" sz="1200" dirty="0"/>
              <a:t>;</a:t>
            </a:r>
          </a:p>
          <a:p>
            <a:r>
              <a:rPr lang="en-US" altLang="en-US" sz="1200" dirty="0"/>
              <a:t>import </a:t>
            </a:r>
            <a:r>
              <a:rPr lang="en-US" altLang="en-US" sz="1200" dirty="0" err="1"/>
              <a:t>javafx.event.ActionEvent</a:t>
            </a:r>
            <a:r>
              <a:rPr lang="en-US" altLang="en-US" sz="1200" dirty="0"/>
              <a:t>;</a:t>
            </a:r>
          </a:p>
          <a:p>
            <a:r>
              <a:rPr lang="en-US" altLang="en-US" sz="1200" dirty="0"/>
              <a:t>import </a:t>
            </a:r>
            <a:r>
              <a:rPr lang="en-US" altLang="en-US" sz="1200" dirty="0" err="1"/>
              <a:t>javafx.event.EventHandler</a:t>
            </a:r>
            <a:r>
              <a:rPr lang="en-US" altLang="en-US" sz="1200" dirty="0"/>
              <a:t>;</a:t>
            </a:r>
          </a:p>
          <a:p>
            <a:r>
              <a:rPr lang="en-US" altLang="en-US" sz="1200" dirty="0"/>
              <a:t>import </a:t>
            </a:r>
            <a:r>
              <a:rPr lang="en-US" altLang="en-US" sz="1200" dirty="0" err="1"/>
              <a:t>javafx.geometry.Pos</a:t>
            </a:r>
            <a:r>
              <a:rPr lang="en-US" altLang="en-US" sz="1200" dirty="0"/>
              <a:t>;</a:t>
            </a:r>
          </a:p>
          <a:p>
            <a:r>
              <a:rPr lang="en-US" altLang="en-US" sz="1200" dirty="0"/>
              <a:t>import </a:t>
            </a:r>
            <a:r>
              <a:rPr lang="en-US" altLang="en-US" sz="1200" dirty="0" err="1"/>
              <a:t>javafx.scene.Scene</a:t>
            </a:r>
            <a:r>
              <a:rPr lang="en-US" altLang="en-US" sz="1200" dirty="0"/>
              <a:t>;</a:t>
            </a:r>
          </a:p>
          <a:p>
            <a:r>
              <a:rPr lang="en-US" altLang="en-US" sz="1200" dirty="0"/>
              <a:t>import </a:t>
            </a:r>
            <a:r>
              <a:rPr lang="en-US" altLang="en-US" sz="1200" dirty="0" err="1"/>
              <a:t>javafx.scene.control.Button</a:t>
            </a:r>
            <a:r>
              <a:rPr lang="en-US" altLang="en-US" sz="1200" dirty="0"/>
              <a:t>;</a:t>
            </a:r>
          </a:p>
          <a:p>
            <a:r>
              <a:rPr lang="en-US" altLang="en-US" sz="1200" dirty="0"/>
              <a:t>import </a:t>
            </a:r>
            <a:r>
              <a:rPr lang="en-US" altLang="en-US" sz="1200" dirty="0" err="1"/>
              <a:t>javafx.scene.layout.StackPane</a:t>
            </a:r>
            <a:r>
              <a:rPr lang="en-US" altLang="en-US" sz="1200" dirty="0"/>
              <a:t>;</a:t>
            </a:r>
          </a:p>
          <a:p>
            <a:r>
              <a:rPr lang="en-US" altLang="en-US" sz="1200" dirty="0"/>
              <a:t>import </a:t>
            </a:r>
            <a:r>
              <a:rPr lang="en-US" altLang="en-US" sz="1200" dirty="0" err="1"/>
              <a:t>javafx.scene.layout.HBox</a:t>
            </a:r>
            <a:r>
              <a:rPr lang="en-US" altLang="en-US" sz="1200" dirty="0"/>
              <a:t>;</a:t>
            </a:r>
          </a:p>
          <a:p>
            <a:r>
              <a:rPr lang="en-US" altLang="en-US" sz="1200" dirty="0"/>
              <a:t>import </a:t>
            </a:r>
            <a:r>
              <a:rPr lang="en-US" altLang="en-US" sz="1200" dirty="0" err="1"/>
              <a:t>javafx.scene.layout.BorderPane</a:t>
            </a:r>
            <a:r>
              <a:rPr lang="en-US" altLang="en-US" sz="1200" dirty="0"/>
              <a:t>;</a:t>
            </a:r>
          </a:p>
          <a:p>
            <a:r>
              <a:rPr lang="en-US" altLang="en-US" sz="1200" dirty="0"/>
              <a:t>import </a:t>
            </a:r>
            <a:r>
              <a:rPr lang="en-US" altLang="en-US" sz="1200" dirty="0" err="1"/>
              <a:t>javafx.scene.paint.Color</a:t>
            </a:r>
            <a:r>
              <a:rPr lang="en-US" altLang="en-US" sz="1200" dirty="0"/>
              <a:t>;</a:t>
            </a:r>
          </a:p>
          <a:p>
            <a:r>
              <a:rPr lang="en-US" altLang="en-US" sz="1200" dirty="0"/>
              <a:t>import </a:t>
            </a:r>
            <a:r>
              <a:rPr lang="en-US" altLang="en-US" sz="1200" dirty="0" err="1"/>
              <a:t>javafx.scene.shape.Circle</a:t>
            </a:r>
            <a:r>
              <a:rPr lang="en-US" altLang="en-US" sz="1200" dirty="0"/>
              <a:t>;</a:t>
            </a:r>
          </a:p>
          <a:p>
            <a:r>
              <a:rPr lang="en-US" altLang="en-US" sz="1200" dirty="0"/>
              <a:t>import </a:t>
            </a:r>
            <a:r>
              <a:rPr lang="en-US" altLang="en-US" sz="1200" dirty="0" err="1"/>
              <a:t>javafx.stage.Stage</a:t>
            </a:r>
            <a:r>
              <a:rPr lang="en-US" altLang="en-US" sz="1200" dirty="0"/>
              <a:t>;</a:t>
            </a:r>
          </a:p>
          <a:p>
            <a:endParaRPr lang="en-US" altLang="en-US" sz="1200" dirty="0"/>
          </a:p>
          <a:p>
            <a:r>
              <a:rPr lang="en-US" altLang="en-US" sz="1200" dirty="0"/>
              <a:t>public class </a:t>
            </a:r>
            <a:r>
              <a:rPr lang="en-US" altLang="en-US" sz="1200" dirty="0" err="1"/>
              <a:t>ControlCircle</a:t>
            </a:r>
            <a:r>
              <a:rPr lang="en-US" altLang="en-US" sz="1200" dirty="0"/>
              <a:t> extends Application {</a:t>
            </a:r>
          </a:p>
          <a:p>
            <a:r>
              <a:rPr lang="en-US" altLang="en-US" sz="1200" dirty="0"/>
              <a:t>  private </a:t>
            </a:r>
            <a:r>
              <a:rPr lang="en-US" altLang="en-US" sz="1200" dirty="0" err="1"/>
              <a:t>CirclePane</a:t>
            </a:r>
            <a:r>
              <a:rPr lang="en-US" altLang="en-US" sz="1200" dirty="0"/>
              <a:t> </a:t>
            </a:r>
            <a:r>
              <a:rPr lang="en-US" altLang="en-US" sz="1200" dirty="0" err="1"/>
              <a:t>circlePane</a:t>
            </a:r>
            <a:r>
              <a:rPr lang="en-US" altLang="en-US" sz="1200" dirty="0"/>
              <a:t> = new </a:t>
            </a:r>
            <a:r>
              <a:rPr lang="en-US" altLang="en-US" sz="1200" dirty="0" err="1"/>
              <a:t>CirclePane</a:t>
            </a:r>
            <a:r>
              <a:rPr lang="en-US" altLang="en-US" sz="1200" dirty="0"/>
              <a:t>();</a:t>
            </a:r>
          </a:p>
          <a:p>
            <a:endParaRPr lang="en-US" altLang="en-US" sz="1200" dirty="0"/>
          </a:p>
          <a:p>
            <a:r>
              <a:rPr lang="en-US" altLang="en-US" sz="1200" dirty="0"/>
              <a:t>  @Override // Override the start method in the Application class</a:t>
            </a:r>
          </a:p>
          <a:p>
            <a:r>
              <a:rPr lang="en-US" altLang="en-US" sz="1200" dirty="0"/>
              <a:t>  public void start(Stage </a:t>
            </a:r>
            <a:r>
              <a:rPr lang="en-US" altLang="en-US" sz="1200" dirty="0" err="1"/>
              <a:t>primaryStage</a:t>
            </a:r>
            <a:r>
              <a:rPr lang="en-US" altLang="en-US" sz="1200" dirty="0"/>
              <a:t>) {</a:t>
            </a:r>
          </a:p>
          <a:p>
            <a:r>
              <a:rPr lang="en-US" altLang="en-US" sz="1200" dirty="0"/>
              <a:t>    // Hold two buttons in an </a:t>
            </a:r>
            <a:r>
              <a:rPr lang="en-US" altLang="en-US" sz="1200" dirty="0" err="1"/>
              <a:t>HBox</a:t>
            </a:r>
            <a:endParaRPr lang="en-US" altLang="en-US" sz="1200" dirty="0"/>
          </a:p>
          <a:p>
            <a:r>
              <a:rPr lang="en-US" altLang="en-US" sz="1200" dirty="0"/>
              <a:t>    </a:t>
            </a:r>
            <a:r>
              <a:rPr lang="en-US" altLang="en-US" sz="1200" dirty="0" err="1"/>
              <a:t>HBox</a:t>
            </a:r>
            <a:r>
              <a:rPr lang="en-US" altLang="en-US" sz="1200" dirty="0"/>
              <a:t> </a:t>
            </a:r>
            <a:r>
              <a:rPr lang="en-US" altLang="en-US" sz="1200" dirty="0" err="1"/>
              <a:t>hBox</a:t>
            </a:r>
            <a:r>
              <a:rPr lang="en-US" altLang="en-US" sz="1200" dirty="0"/>
              <a:t> = new </a:t>
            </a:r>
            <a:r>
              <a:rPr lang="en-US" altLang="en-US" sz="1200" dirty="0" err="1"/>
              <a:t>HBox</a:t>
            </a:r>
            <a:r>
              <a:rPr lang="en-US" altLang="en-US" sz="1200" dirty="0"/>
              <a:t>();</a:t>
            </a:r>
          </a:p>
          <a:p>
            <a:r>
              <a:rPr lang="en-US" altLang="en-US" sz="1200" dirty="0"/>
              <a:t>    </a:t>
            </a:r>
            <a:r>
              <a:rPr lang="en-US" altLang="en-US" sz="1200" dirty="0" err="1"/>
              <a:t>hBox.setSpacing</a:t>
            </a:r>
            <a:r>
              <a:rPr lang="en-US" altLang="en-US" sz="1200" dirty="0"/>
              <a:t>(10);</a:t>
            </a:r>
          </a:p>
          <a:p>
            <a:r>
              <a:rPr lang="en-US" altLang="en-US" sz="1200" dirty="0"/>
              <a:t>    </a:t>
            </a:r>
            <a:r>
              <a:rPr lang="en-US" altLang="en-US" sz="1200" dirty="0" err="1"/>
              <a:t>hBox.setAlignment</a:t>
            </a:r>
            <a:r>
              <a:rPr lang="en-US" altLang="en-US" sz="1200" dirty="0"/>
              <a:t>(</a:t>
            </a:r>
            <a:r>
              <a:rPr lang="en-US" altLang="en-US" sz="1200" dirty="0" err="1"/>
              <a:t>Pos.CENTER</a:t>
            </a:r>
            <a:r>
              <a:rPr lang="en-US" altLang="en-US" sz="1200" dirty="0"/>
              <a:t>);</a:t>
            </a:r>
          </a:p>
          <a:p>
            <a:r>
              <a:rPr lang="en-US" altLang="en-US" sz="1200" dirty="0"/>
              <a:t>    Button </a:t>
            </a:r>
            <a:r>
              <a:rPr lang="en-US" altLang="en-US" sz="1200" dirty="0" err="1"/>
              <a:t>btEnlarge</a:t>
            </a:r>
            <a:r>
              <a:rPr lang="en-US" altLang="en-US" sz="1200" dirty="0"/>
              <a:t> = new Button("Enlarge");</a:t>
            </a:r>
          </a:p>
          <a:p>
            <a:r>
              <a:rPr lang="en-US" altLang="en-US" sz="1200" dirty="0"/>
              <a:t>    Button </a:t>
            </a:r>
            <a:r>
              <a:rPr lang="en-US" altLang="en-US" sz="1200" dirty="0" err="1"/>
              <a:t>btShrink</a:t>
            </a:r>
            <a:r>
              <a:rPr lang="en-US" altLang="en-US" sz="1200" dirty="0"/>
              <a:t> = new Button("Shrink");</a:t>
            </a:r>
          </a:p>
          <a:p>
            <a:r>
              <a:rPr lang="en-US" altLang="en-US" sz="1200" dirty="0"/>
              <a:t>    </a:t>
            </a:r>
            <a:r>
              <a:rPr lang="en-US" altLang="en-US" sz="1200" dirty="0" err="1"/>
              <a:t>hBox.getChildren</a:t>
            </a:r>
            <a:r>
              <a:rPr lang="en-US" altLang="en-US" sz="1200" dirty="0"/>
              <a:t>().add(</a:t>
            </a:r>
            <a:r>
              <a:rPr lang="en-US" altLang="en-US" sz="1200" dirty="0" err="1"/>
              <a:t>btEnlarge</a:t>
            </a:r>
            <a:r>
              <a:rPr lang="en-US" altLang="en-US" sz="1200" dirty="0"/>
              <a:t>);</a:t>
            </a:r>
          </a:p>
          <a:p>
            <a:r>
              <a:rPr lang="en-US" altLang="en-US" sz="1200" dirty="0"/>
              <a:t>    </a:t>
            </a:r>
            <a:r>
              <a:rPr lang="en-US" altLang="en-US" sz="1200" dirty="0" err="1"/>
              <a:t>hBox.getChildren</a:t>
            </a:r>
            <a:r>
              <a:rPr lang="en-US" altLang="en-US" sz="1200" dirty="0"/>
              <a:t>().add(</a:t>
            </a:r>
            <a:r>
              <a:rPr lang="en-US" altLang="en-US" sz="1200" dirty="0" err="1"/>
              <a:t>btShrink</a:t>
            </a:r>
            <a:r>
              <a:rPr lang="en-US" altLang="en-US" sz="1200" dirty="0"/>
              <a:t>);</a:t>
            </a:r>
          </a:p>
          <a:p>
            <a:r>
              <a:rPr lang="en-US" altLang="en-US" sz="1200" dirty="0"/>
              <a:t>    </a:t>
            </a:r>
          </a:p>
          <a:p>
            <a:r>
              <a:rPr lang="en-US" altLang="en-US" sz="1200" dirty="0"/>
              <a:t>    // Create and register the handler</a:t>
            </a:r>
          </a:p>
          <a:p>
            <a:r>
              <a:rPr lang="en-US" altLang="en-US" sz="1200" dirty="0"/>
              <a:t>    </a:t>
            </a:r>
            <a:r>
              <a:rPr lang="en-US" altLang="en-US" sz="1200" dirty="0" err="1"/>
              <a:t>btEnlarge.setOnAction</a:t>
            </a:r>
            <a:r>
              <a:rPr lang="en-US" altLang="en-US" sz="1200" dirty="0"/>
              <a:t>(new </a:t>
            </a:r>
            <a:r>
              <a:rPr lang="en-US" altLang="en-US" sz="1200" dirty="0" err="1"/>
              <a:t>EnlargeHandler</a:t>
            </a:r>
            <a:r>
              <a:rPr lang="en-US" altLang="en-US" sz="1200" dirty="0"/>
              <a:t>());</a:t>
            </a:r>
          </a:p>
          <a:p>
            <a:endParaRPr lang="en-US" altLang="en-US" sz="1200" dirty="0"/>
          </a:p>
          <a:p>
            <a:r>
              <a:rPr lang="en-US" altLang="en-US" sz="1200" dirty="0"/>
              <a:t>    </a:t>
            </a:r>
            <a:r>
              <a:rPr lang="en-US" altLang="en-US" sz="1200" dirty="0" err="1"/>
              <a:t>BorderPane</a:t>
            </a:r>
            <a:r>
              <a:rPr lang="en-US" altLang="en-US" sz="1200" dirty="0"/>
              <a:t> </a:t>
            </a:r>
            <a:r>
              <a:rPr lang="en-US" altLang="en-US" sz="1200" dirty="0" err="1"/>
              <a:t>borderPane</a:t>
            </a:r>
            <a:r>
              <a:rPr lang="en-US" altLang="en-US" sz="1200" dirty="0"/>
              <a:t> = new </a:t>
            </a:r>
            <a:r>
              <a:rPr lang="en-US" altLang="en-US" sz="1200" dirty="0" err="1"/>
              <a:t>BorderPane</a:t>
            </a:r>
            <a:r>
              <a:rPr lang="en-US" altLang="en-US" sz="1200" dirty="0"/>
              <a:t>();</a:t>
            </a:r>
          </a:p>
          <a:p>
            <a:r>
              <a:rPr lang="en-US" altLang="en-US" sz="1200" dirty="0"/>
              <a:t>    </a:t>
            </a:r>
            <a:r>
              <a:rPr lang="en-US" altLang="en-US" sz="1200" dirty="0" err="1"/>
              <a:t>borderPane.setCenter</a:t>
            </a:r>
            <a:r>
              <a:rPr lang="en-US" altLang="en-US" sz="1200" dirty="0"/>
              <a:t>(</a:t>
            </a:r>
            <a:r>
              <a:rPr lang="en-US" altLang="en-US" sz="1200" dirty="0" err="1"/>
              <a:t>circlePane</a:t>
            </a:r>
            <a:r>
              <a:rPr lang="en-US" altLang="en-US" sz="1200" dirty="0"/>
              <a:t>);</a:t>
            </a:r>
          </a:p>
          <a:p>
            <a:r>
              <a:rPr lang="en-US" altLang="en-US" sz="1200" dirty="0"/>
              <a:t>    </a:t>
            </a:r>
            <a:r>
              <a:rPr lang="en-US" altLang="en-US" sz="1200" dirty="0" err="1"/>
              <a:t>borderPane.setBottom</a:t>
            </a:r>
            <a:r>
              <a:rPr lang="en-US" altLang="en-US" sz="1200" dirty="0"/>
              <a:t>(</a:t>
            </a:r>
            <a:r>
              <a:rPr lang="en-US" altLang="en-US" sz="1200" dirty="0" err="1"/>
              <a:t>hBox</a:t>
            </a:r>
            <a:r>
              <a:rPr lang="en-US" altLang="en-US" sz="1200" dirty="0"/>
              <a:t>);</a:t>
            </a:r>
          </a:p>
          <a:p>
            <a:r>
              <a:rPr lang="en-US" altLang="en-US" sz="1200" dirty="0"/>
              <a:t>    </a:t>
            </a:r>
            <a:r>
              <a:rPr lang="en-US" altLang="en-US" sz="1200" dirty="0" err="1"/>
              <a:t>BorderPane.setAlignment</a:t>
            </a:r>
            <a:r>
              <a:rPr lang="en-US" altLang="en-US" sz="1200" dirty="0"/>
              <a:t>(</a:t>
            </a:r>
            <a:r>
              <a:rPr lang="en-US" altLang="en-US" sz="1200" dirty="0" err="1"/>
              <a:t>hBox</a:t>
            </a:r>
            <a:r>
              <a:rPr lang="en-US" altLang="en-US" sz="1200" dirty="0"/>
              <a:t>, </a:t>
            </a:r>
            <a:r>
              <a:rPr lang="en-US" altLang="en-US" sz="1200" dirty="0" err="1"/>
              <a:t>Pos.CENTER</a:t>
            </a:r>
            <a:r>
              <a:rPr lang="en-US" altLang="en-US" sz="1200" dirty="0"/>
              <a:t>);</a:t>
            </a:r>
          </a:p>
          <a:p>
            <a:r>
              <a:rPr lang="en-US" altLang="en-US" sz="1200" dirty="0"/>
              <a:t>    </a:t>
            </a:r>
          </a:p>
          <a:p>
            <a:r>
              <a:rPr lang="en-US" altLang="en-US" sz="1200" dirty="0"/>
              <a:t> </a:t>
            </a:r>
          </a:p>
        </p:txBody>
      </p:sp>
      <p:sp>
        <p:nvSpPr>
          <p:cNvPr id="76804" name="Rectangle 3"/>
          <p:cNvSpPr>
            <a:spLocks noChangeArrowheads="1"/>
          </p:cNvSpPr>
          <p:nvPr/>
        </p:nvSpPr>
        <p:spPr bwMode="auto">
          <a:xfrm>
            <a:off x="4572000" y="0"/>
            <a:ext cx="4572000" cy="6924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dirty="0"/>
              <a:t> // Create a scene and place it in the stage</a:t>
            </a:r>
          </a:p>
          <a:p>
            <a:r>
              <a:rPr lang="en-US" altLang="en-US" sz="1200" dirty="0"/>
              <a:t>    Scene </a:t>
            </a:r>
            <a:r>
              <a:rPr lang="en-US" altLang="en-US" sz="1200" dirty="0" err="1"/>
              <a:t>scene</a:t>
            </a:r>
            <a:r>
              <a:rPr lang="en-US" altLang="en-US" sz="1200" dirty="0"/>
              <a:t> = new Scene(</a:t>
            </a:r>
            <a:r>
              <a:rPr lang="en-US" altLang="en-US" sz="1200" dirty="0" err="1"/>
              <a:t>borderPane</a:t>
            </a:r>
            <a:r>
              <a:rPr lang="en-US" altLang="en-US" sz="1200" dirty="0"/>
              <a:t>, 200, 150);</a:t>
            </a:r>
          </a:p>
          <a:p>
            <a:r>
              <a:rPr lang="en-US" altLang="en-US" sz="1200" dirty="0"/>
              <a:t>    </a:t>
            </a:r>
            <a:r>
              <a:rPr lang="en-US" altLang="en-US" sz="1200" dirty="0" err="1"/>
              <a:t>primaryStage.setTitle</a:t>
            </a:r>
            <a:r>
              <a:rPr lang="en-US" altLang="en-US" sz="1200" dirty="0"/>
              <a:t>("</a:t>
            </a:r>
            <a:r>
              <a:rPr lang="en-US" altLang="en-US" sz="1200" dirty="0" err="1"/>
              <a:t>ControlCircle</a:t>
            </a:r>
            <a:r>
              <a:rPr lang="en-US" altLang="en-US" sz="1200" dirty="0"/>
              <a:t>"); // Set the stage title</a:t>
            </a:r>
          </a:p>
          <a:p>
            <a:r>
              <a:rPr lang="en-US" altLang="en-US" sz="1200" dirty="0"/>
              <a:t>    </a:t>
            </a:r>
            <a:r>
              <a:rPr lang="en-US" altLang="en-US" sz="1200" dirty="0" err="1"/>
              <a:t>primaryStage.setScene</a:t>
            </a:r>
            <a:r>
              <a:rPr lang="en-US" altLang="en-US" sz="1200" dirty="0"/>
              <a:t>(scene); // Place the scene in the stage</a:t>
            </a:r>
          </a:p>
          <a:p>
            <a:r>
              <a:rPr lang="en-US" altLang="en-US" sz="1200" dirty="0"/>
              <a:t>    </a:t>
            </a:r>
            <a:r>
              <a:rPr lang="en-US" altLang="en-US" sz="1200" dirty="0" err="1"/>
              <a:t>primaryStage.show</a:t>
            </a:r>
            <a:r>
              <a:rPr lang="en-US" altLang="en-US" sz="1200" dirty="0"/>
              <a:t>(); // Display the stage</a:t>
            </a:r>
          </a:p>
          <a:p>
            <a:r>
              <a:rPr lang="en-US" altLang="en-US" sz="1200" dirty="0"/>
              <a:t>  }</a:t>
            </a:r>
          </a:p>
          <a:p>
            <a:r>
              <a:rPr lang="en-US" altLang="en-US" sz="1200" dirty="0"/>
              <a:t>  </a:t>
            </a:r>
          </a:p>
          <a:p>
            <a:r>
              <a:rPr lang="en-US" altLang="en-US" sz="1200" dirty="0"/>
              <a:t>  class </a:t>
            </a:r>
            <a:r>
              <a:rPr lang="en-US" altLang="en-US" sz="1200" dirty="0" err="1"/>
              <a:t>EnlargeHandler</a:t>
            </a:r>
            <a:r>
              <a:rPr lang="en-US" altLang="en-US" sz="1200" dirty="0"/>
              <a:t> implements </a:t>
            </a:r>
            <a:r>
              <a:rPr lang="en-US" altLang="en-US" sz="1200" dirty="0" err="1"/>
              <a:t>EventHandler</a:t>
            </a:r>
            <a:r>
              <a:rPr lang="en-US" altLang="en-US" sz="1200" dirty="0"/>
              <a:t>&lt;</a:t>
            </a:r>
            <a:r>
              <a:rPr lang="en-US" altLang="en-US" sz="1200" dirty="0" err="1"/>
              <a:t>ActionEvent</a:t>
            </a:r>
            <a:r>
              <a:rPr lang="en-US" altLang="en-US" sz="1200" dirty="0"/>
              <a:t>&gt; {</a:t>
            </a:r>
          </a:p>
          <a:p>
            <a:r>
              <a:rPr lang="en-US" altLang="en-US" sz="1200" dirty="0"/>
              <a:t>    @Override // Override the handle method</a:t>
            </a:r>
          </a:p>
          <a:p>
            <a:r>
              <a:rPr lang="en-US" altLang="en-US" sz="1200" dirty="0"/>
              <a:t>    public void handle(</a:t>
            </a:r>
            <a:r>
              <a:rPr lang="en-US" altLang="en-US" sz="1200" dirty="0" err="1"/>
              <a:t>ActionEvent</a:t>
            </a:r>
            <a:r>
              <a:rPr lang="en-US" altLang="en-US" sz="1200" dirty="0"/>
              <a:t> e) {</a:t>
            </a:r>
          </a:p>
          <a:p>
            <a:r>
              <a:rPr lang="en-US" altLang="en-US" sz="1200" dirty="0"/>
              <a:t>      </a:t>
            </a:r>
            <a:r>
              <a:rPr lang="en-US" altLang="en-US" sz="1200" dirty="0" err="1"/>
              <a:t>circlePane.enlarge</a:t>
            </a:r>
            <a:r>
              <a:rPr lang="en-US" altLang="en-US" sz="1200" dirty="0"/>
              <a:t>();</a:t>
            </a:r>
          </a:p>
          <a:p>
            <a:r>
              <a:rPr lang="en-US" altLang="en-US" sz="1200" dirty="0"/>
              <a:t>    }</a:t>
            </a:r>
          </a:p>
          <a:p>
            <a:r>
              <a:rPr lang="en-US" altLang="en-US" sz="1200" dirty="0"/>
              <a:t>  }  </a:t>
            </a:r>
          </a:p>
          <a:p>
            <a:r>
              <a:rPr lang="en-US" altLang="en-US" sz="1200" dirty="0"/>
              <a:t>public static void main(String[] </a:t>
            </a:r>
            <a:r>
              <a:rPr lang="en-US" altLang="en-US" sz="1200" dirty="0" err="1"/>
              <a:t>args</a:t>
            </a:r>
            <a:r>
              <a:rPr lang="en-US" altLang="en-US" sz="1200" dirty="0"/>
              <a:t>) {</a:t>
            </a:r>
          </a:p>
          <a:p>
            <a:r>
              <a:rPr lang="en-US" altLang="en-US" sz="1200" dirty="0"/>
              <a:t>    launch(</a:t>
            </a:r>
            <a:r>
              <a:rPr lang="en-US" altLang="en-US" sz="1200" dirty="0" err="1"/>
              <a:t>args</a:t>
            </a:r>
            <a:r>
              <a:rPr lang="en-US" altLang="en-US" sz="1200" dirty="0"/>
              <a:t>);</a:t>
            </a:r>
          </a:p>
          <a:p>
            <a:r>
              <a:rPr lang="en-US" altLang="en-US" sz="1200" dirty="0"/>
              <a:t>  }</a:t>
            </a:r>
          </a:p>
          <a:p>
            <a:r>
              <a:rPr lang="en-US" altLang="en-US" sz="1200" dirty="0"/>
              <a:t>}</a:t>
            </a:r>
          </a:p>
          <a:p>
            <a:endParaRPr lang="en-US" altLang="en-US" sz="1200" dirty="0"/>
          </a:p>
          <a:p>
            <a:r>
              <a:rPr lang="en-US" altLang="en-US" sz="1200" dirty="0"/>
              <a:t>class </a:t>
            </a:r>
            <a:r>
              <a:rPr lang="en-US" altLang="en-US" sz="1200" dirty="0" err="1"/>
              <a:t>CirclePane</a:t>
            </a:r>
            <a:r>
              <a:rPr lang="en-US" altLang="en-US" sz="1200" dirty="0"/>
              <a:t> extends </a:t>
            </a:r>
            <a:r>
              <a:rPr lang="en-US" altLang="en-US" sz="1200" dirty="0" err="1"/>
              <a:t>StackPane</a:t>
            </a:r>
            <a:r>
              <a:rPr lang="en-US" altLang="en-US" sz="1200" dirty="0"/>
              <a:t> {</a:t>
            </a:r>
          </a:p>
          <a:p>
            <a:r>
              <a:rPr lang="en-US" altLang="en-US" sz="1200" dirty="0"/>
              <a:t>  private Circle </a:t>
            </a:r>
            <a:r>
              <a:rPr lang="en-US" altLang="en-US" sz="1200" dirty="0" err="1"/>
              <a:t>circle</a:t>
            </a:r>
            <a:r>
              <a:rPr lang="en-US" altLang="en-US" sz="1200" dirty="0"/>
              <a:t> = new Circle(50); </a:t>
            </a:r>
          </a:p>
          <a:p>
            <a:r>
              <a:rPr lang="en-US" altLang="en-US" sz="1200" dirty="0"/>
              <a:t>  </a:t>
            </a:r>
          </a:p>
          <a:p>
            <a:r>
              <a:rPr lang="en-US" altLang="en-US" sz="1200" dirty="0"/>
              <a:t>  public </a:t>
            </a:r>
            <a:r>
              <a:rPr lang="en-US" altLang="en-US" sz="1200" dirty="0" err="1"/>
              <a:t>CirclePane</a:t>
            </a:r>
            <a:r>
              <a:rPr lang="en-US" altLang="en-US" sz="1200" dirty="0"/>
              <a:t>() {</a:t>
            </a:r>
          </a:p>
          <a:p>
            <a:r>
              <a:rPr lang="en-US" altLang="en-US" sz="1200" dirty="0"/>
              <a:t>    </a:t>
            </a:r>
            <a:r>
              <a:rPr lang="en-US" altLang="en-US" sz="1200" dirty="0" err="1"/>
              <a:t>getChildren</a:t>
            </a:r>
            <a:r>
              <a:rPr lang="en-US" altLang="en-US" sz="1200" dirty="0"/>
              <a:t>().add(circle);</a:t>
            </a:r>
          </a:p>
          <a:p>
            <a:r>
              <a:rPr lang="en-US" altLang="en-US" sz="1200" dirty="0"/>
              <a:t>    </a:t>
            </a:r>
            <a:r>
              <a:rPr lang="en-US" altLang="en-US" sz="1200" dirty="0" err="1"/>
              <a:t>circle.setStroke</a:t>
            </a:r>
            <a:r>
              <a:rPr lang="en-US" altLang="en-US" sz="1200" dirty="0"/>
              <a:t>(</a:t>
            </a:r>
            <a:r>
              <a:rPr lang="en-US" altLang="en-US" sz="1200" dirty="0" err="1"/>
              <a:t>Color.BLACK</a:t>
            </a:r>
            <a:r>
              <a:rPr lang="en-US" altLang="en-US" sz="1200" dirty="0"/>
              <a:t>);</a:t>
            </a:r>
          </a:p>
          <a:p>
            <a:r>
              <a:rPr lang="en-US" altLang="en-US" sz="1200" dirty="0"/>
              <a:t>    </a:t>
            </a:r>
            <a:r>
              <a:rPr lang="en-US" altLang="en-US" sz="1200" dirty="0" err="1"/>
              <a:t>circle.setFill</a:t>
            </a:r>
            <a:r>
              <a:rPr lang="en-US" altLang="en-US" sz="1200" dirty="0"/>
              <a:t>(</a:t>
            </a:r>
            <a:r>
              <a:rPr lang="en-US" altLang="en-US" sz="1200" dirty="0" err="1"/>
              <a:t>Color.WHITE</a:t>
            </a:r>
            <a:r>
              <a:rPr lang="en-US" altLang="en-US" sz="1200" dirty="0"/>
              <a:t>);</a:t>
            </a:r>
          </a:p>
          <a:p>
            <a:r>
              <a:rPr lang="en-US" altLang="en-US" sz="1200" dirty="0"/>
              <a:t>  }</a:t>
            </a:r>
          </a:p>
          <a:p>
            <a:r>
              <a:rPr lang="en-US" altLang="en-US" sz="1200" dirty="0"/>
              <a:t>  </a:t>
            </a:r>
          </a:p>
          <a:p>
            <a:r>
              <a:rPr lang="en-US" altLang="en-US" sz="1200" dirty="0"/>
              <a:t>  public void enlarge() {</a:t>
            </a:r>
          </a:p>
          <a:p>
            <a:r>
              <a:rPr lang="en-US" altLang="en-US" sz="1200" dirty="0"/>
              <a:t>    </a:t>
            </a:r>
            <a:r>
              <a:rPr lang="en-US" altLang="en-US" sz="1200" dirty="0" err="1"/>
              <a:t>circle.setRadius</a:t>
            </a:r>
            <a:r>
              <a:rPr lang="en-US" altLang="en-US" sz="1200" dirty="0"/>
              <a:t>(</a:t>
            </a:r>
            <a:r>
              <a:rPr lang="en-US" altLang="en-US" sz="1200" dirty="0" err="1"/>
              <a:t>circle.getRadius</a:t>
            </a:r>
            <a:r>
              <a:rPr lang="en-US" altLang="en-US" sz="1200" dirty="0"/>
              <a:t>() + 2);</a:t>
            </a:r>
          </a:p>
          <a:p>
            <a:r>
              <a:rPr lang="en-US" altLang="en-US" sz="1200" dirty="0"/>
              <a:t>  }</a:t>
            </a:r>
          </a:p>
          <a:p>
            <a:r>
              <a:rPr lang="en-US" altLang="en-US" sz="1200" dirty="0"/>
              <a:t>  </a:t>
            </a:r>
          </a:p>
          <a:p>
            <a:r>
              <a:rPr lang="en-US" altLang="en-US" sz="1200" dirty="0"/>
              <a:t>  public void shrink() {</a:t>
            </a:r>
          </a:p>
          <a:p>
            <a:r>
              <a:rPr lang="en-US" altLang="en-US" sz="1200" dirty="0"/>
              <a:t>    </a:t>
            </a:r>
            <a:r>
              <a:rPr lang="en-US" altLang="en-US" sz="1200" dirty="0" err="1"/>
              <a:t>circle.setRadius</a:t>
            </a:r>
            <a:r>
              <a:rPr lang="en-US" altLang="en-US" sz="1200" dirty="0"/>
              <a:t>(</a:t>
            </a:r>
            <a:r>
              <a:rPr lang="en-US" altLang="en-US" sz="1200" dirty="0" err="1"/>
              <a:t>circle.getRadius</a:t>
            </a:r>
            <a:r>
              <a:rPr lang="en-US" altLang="en-US" sz="1200" dirty="0"/>
              <a:t>() &gt; 2 ? </a:t>
            </a:r>
          </a:p>
          <a:p>
            <a:r>
              <a:rPr lang="en-US" altLang="en-US" sz="1200" dirty="0"/>
              <a:t>      </a:t>
            </a:r>
            <a:r>
              <a:rPr lang="en-US" altLang="en-US" sz="1200" dirty="0" err="1"/>
              <a:t>circle.getRadius</a:t>
            </a:r>
            <a:r>
              <a:rPr lang="en-US" altLang="en-US" sz="1200" dirty="0"/>
              <a:t>() - 2 : </a:t>
            </a:r>
            <a:r>
              <a:rPr lang="en-US" altLang="en-US" sz="1200" dirty="0" err="1"/>
              <a:t>circle.getRadius</a:t>
            </a:r>
            <a:r>
              <a:rPr lang="en-US" altLang="en-US" sz="1200" dirty="0"/>
              <a:t>());</a:t>
            </a:r>
          </a:p>
          <a:p>
            <a:r>
              <a:rPr lang="en-US" altLang="en-US" sz="1200" dirty="0"/>
              <a:t>  }</a:t>
            </a:r>
          </a:p>
          <a:p>
            <a:r>
              <a:rPr lang="en-US" altLang="en-US" sz="1200" dirty="0"/>
              <a:t>}</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685800" y="0"/>
            <a:ext cx="7772400" cy="14287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Inner Class Listeners</a:t>
            </a:r>
          </a:p>
        </p:txBody>
      </p:sp>
      <p:sp>
        <p:nvSpPr>
          <p:cNvPr id="20484" name="Rectangle 3"/>
          <p:cNvSpPr>
            <a:spLocks noGrp="1" noChangeArrowheads="1"/>
          </p:cNvSpPr>
          <p:nvPr>
            <p:ph idx="1"/>
          </p:nvPr>
        </p:nvSpPr>
        <p:spPr>
          <a:xfrm>
            <a:off x="609600" y="1371600"/>
            <a:ext cx="8077200" cy="3657600"/>
          </a:xfrm>
        </p:spPr>
        <p:txBody>
          <a:bodyPr/>
          <a:lstStyle/>
          <a:p>
            <a:pPr marL="0" indent="0" algn="just">
              <a:spcBef>
                <a:spcPct val="50000"/>
              </a:spcBef>
              <a:buFont typeface="Monotype Sorts" charset="0"/>
              <a:buNone/>
              <a:defRPr/>
            </a:pPr>
            <a:r>
              <a:rPr lang="en-US" sz="3600" dirty="0">
                <a:latin typeface="Times New Roman" panose="02020603050405020304" pitchFamily="18" charset="0"/>
                <a:ea typeface="ＭＳ Ｐゴシック" charset="0"/>
                <a:cs typeface="Times New Roman" panose="02020603050405020304" pitchFamily="18" charset="0"/>
              </a:rPr>
              <a:t>A listener class is designed specifically to create a listener object for a GUI component (e.g., a button). It will not be shared by other applications. So, it is appropriate to define the listener class inside the frame class as an inner class. </a:t>
            </a: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685800" y="0"/>
            <a:ext cx="7772400" cy="14287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Inner Classes</a:t>
            </a:r>
          </a:p>
        </p:txBody>
      </p:sp>
      <p:sp>
        <p:nvSpPr>
          <p:cNvPr id="22532" name="Rectangle 3"/>
          <p:cNvSpPr>
            <a:spLocks noGrp="1" noChangeArrowheads="1"/>
          </p:cNvSpPr>
          <p:nvPr>
            <p:ph idx="1"/>
          </p:nvPr>
        </p:nvSpPr>
        <p:spPr>
          <a:xfrm>
            <a:off x="685800" y="1371600"/>
            <a:ext cx="7467600" cy="4953000"/>
          </a:xfrm>
        </p:spPr>
        <p:txBody>
          <a:bodyPr/>
          <a:lstStyle/>
          <a:p>
            <a:pPr algn="just">
              <a:spcBef>
                <a:spcPct val="50000"/>
              </a:spcBef>
              <a:buFont typeface="Monotype Sorts"/>
              <a:buNone/>
              <a:defRPr/>
            </a:pPr>
            <a:r>
              <a:rPr lang="en-US" altLang="en-US" sz="2800" dirty="0">
                <a:latin typeface="Times New Roman" panose="02020603050405020304" pitchFamily="18" charset="0"/>
                <a:cs typeface="Times New Roman" panose="02020603050405020304" pitchFamily="18" charset="0"/>
              </a:rPr>
              <a:t>Inner class: A class is a member of another class.</a:t>
            </a:r>
          </a:p>
          <a:p>
            <a:pPr algn="just">
              <a:spcBef>
                <a:spcPct val="50000"/>
              </a:spcBef>
              <a:buFont typeface="Monotype Sorts"/>
              <a:buNone/>
              <a:defRPr/>
            </a:pPr>
            <a:r>
              <a:rPr lang="en-US" altLang="en-US" sz="2800" dirty="0">
                <a:latin typeface="Times New Roman" panose="02020603050405020304" pitchFamily="18" charset="0"/>
                <a:cs typeface="Times New Roman" panose="02020603050405020304" pitchFamily="18" charset="0"/>
              </a:rPr>
              <a:t>Advantages: In some applications, you can use an inner class to make programs simple.</a:t>
            </a:r>
          </a:p>
          <a:p>
            <a:pPr marL="0" indent="0" algn="just">
              <a:spcBef>
                <a:spcPct val="50000"/>
              </a:spcBef>
              <a:buFont typeface="Monotype Sorts"/>
              <a:buNone/>
              <a:defRPr/>
            </a:pPr>
            <a:r>
              <a:rPr lang="en-US" altLang="en-US" sz="2800" dirty="0">
                <a:latin typeface="Times New Roman" panose="02020603050405020304" pitchFamily="18" charset="0"/>
                <a:cs typeface="Times New Roman" panose="02020603050405020304" pitchFamily="18" charset="0"/>
              </a:rPr>
              <a:t>An inner class can reference the data and methods defined in the outer class in which it nests, so you do not need to pass the reference of the outer class to the constructor of the inner class.</a:t>
            </a:r>
          </a:p>
        </p:txBody>
      </p:sp>
      <p:sp>
        <p:nvSpPr>
          <p:cNvPr id="7" name="Rectangle 6">
            <a:hlinkClick r:id="rId2"/>
          </p:cNvPr>
          <p:cNvSpPr>
            <a:spLocks noChangeArrowheads="1"/>
          </p:cNvSpPr>
          <p:nvPr/>
        </p:nvSpPr>
        <p:spPr bwMode="auto">
          <a:xfrm>
            <a:off x="4819650" y="546735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ShowInnerClass</a:t>
            </a:r>
            <a:endParaRPr lang="en-US" altLang="en-US" sz="2000" dirty="0"/>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0" y="685800"/>
            <a:ext cx="6477000" cy="5016500"/>
          </a:xfrm>
          <a:prstGeom prst="rect">
            <a:avLst/>
          </a:prstGeom>
          <a:ln>
            <a:solidFill>
              <a:schemeClr val="bg1">
                <a:lumMod val="75000"/>
              </a:schemeClr>
            </a:solidFill>
          </a:ln>
        </p:spPr>
        <p:txBody>
          <a:bodyPr>
            <a:spAutoFit/>
          </a:bodyPr>
          <a:lstStyle/>
          <a:p>
            <a:pPr>
              <a:defRPr/>
            </a:pPr>
            <a:r>
              <a:rPr lang="en-US" sz="1600" dirty="0">
                <a:latin typeface="Times New Roman" charset="0"/>
                <a:ea typeface="ＭＳ Ｐゴシック" charset="0"/>
                <a:cs typeface="ＭＳ Ｐゴシック" charset="0"/>
              </a:rPr>
              <a:t>// </a:t>
            </a:r>
            <a:r>
              <a:rPr lang="en-US" sz="1600" dirty="0" err="1">
                <a:latin typeface="Times New Roman" charset="0"/>
                <a:ea typeface="ＭＳ Ｐゴシック" charset="0"/>
                <a:cs typeface="ＭＳ Ｐゴシック" charset="0"/>
              </a:rPr>
              <a:t>ShowInnerClass.java</a:t>
            </a:r>
            <a:r>
              <a:rPr lang="en-US" sz="1600" dirty="0">
                <a:latin typeface="Times New Roman" charset="0"/>
                <a:ea typeface="ＭＳ Ｐゴシック" charset="0"/>
                <a:cs typeface="ＭＳ Ｐゴシック" charset="0"/>
              </a:rPr>
              <a:t>: Demonstrate using inner classes</a:t>
            </a:r>
          </a:p>
          <a:p>
            <a:pPr>
              <a:defRPr/>
            </a:pPr>
            <a:r>
              <a:rPr lang="en-US" sz="1600" dirty="0">
                <a:latin typeface="Times New Roman" charset="0"/>
                <a:ea typeface="ＭＳ Ｐゴシック" charset="0"/>
                <a:cs typeface="ＭＳ Ｐゴシック" charset="0"/>
              </a:rPr>
              <a:t>public class </a:t>
            </a:r>
            <a:r>
              <a:rPr lang="en-US" sz="1600" dirty="0" err="1">
                <a:latin typeface="Times New Roman" charset="0"/>
                <a:ea typeface="ＭＳ Ｐゴシック" charset="0"/>
                <a:cs typeface="ＭＳ Ｐゴシック" charset="0"/>
              </a:rPr>
              <a:t>ShowInnerClass</a:t>
            </a:r>
            <a:r>
              <a:rPr lang="en-US" sz="1600" dirty="0">
                <a:latin typeface="Times New Roman" charset="0"/>
                <a:ea typeface="ＭＳ Ｐゴシック" charset="0"/>
                <a:cs typeface="ＭＳ Ｐゴシック" charset="0"/>
              </a:rPr>
              <a:t> {</a:t>
            </a:r>
          </a:p>
          <a:p>
            <a:pPr lvl="1">
              <a:defRPr/>
            </a:pPr>
            <a:r>
              <a:rPr lang="en-US" sz="1600" dirty="0">
                <a:latin typeface="Times New Roman" charset="0"/>
                <a:ea typeface="ＭＳ Ｐゴシック" charset="0"/>
                <a:cs typeface="ＭＳ Ｐゴシック" charset="0"/>
              </a:rPr>
              <a:t>  private </a:t>
            </a:r>
            <a:r>
              <a:rPr lang="en-US" sz="1600" dirty="0" err="1">
                <a:latin typeface="Times New Roman" charset="0"/>
                <a:ea typeface="ＭＳ Ｐゴシック" charset="0"/>
                <a:cs typeface="ＭＳ Ｐゴシック" charset="0"/>
              </a:rPr>
              <a:t>int</a:t>
            </a:r>
            <a:r>
              <a:rPr lang="en-US" sz="1600" dirty="0">
                <a:latin typeface="Times New Roman" charset="0"/>
                <a:ea typeface="ＭＳ Ｐゴシック" charset="0"/>
                <a:cs typeface="ＭＳ Ｐゴシック" charset="0"/>
              </a:rPr>
              <a:t> data;</a:t>
            </a:r>
          </a:p>
          <a:p>
            <a:pPr lvl="1">
              <a:defRPr/>
            </a:pPr>
            <a:endParaRPr lang="en-US" sz="1600" dirty="0">
              <a:latin typeface="Times New Roman" charset="0"/>
              <a:ea typeface="ＭＳ Ｐゴシック" charset="0"/>
              <a:cs typeface="ＭＳ Ｐゴシック" charset="0"/>
            </a:endParaRPr>
          </a:p>
          <a:p>
            <a:pPr lvl="1">
              <a:defRPr/>
            </a:pPr>
            <a:r>
              <a:rPr lang="en-US" sz="1600" dirty="0">
                <a:latin typeface="Times New Roman" charset="0"/>
                <a:ea typeface="ＭＳ Ｐゴシック" charset="0"/>
                <a:cs typeface="ＭＳ Ｐゴシック" charset="0"/>
              </a:rPr>
              <a:t>  /** A method in the outer class */</a:t>
            </a:r>
          </a:p>
          <a:p>
            <a:pPr lvl="1">
              <a:defRPr/>
            </a:pPr>
            <a:r>
              <a:rPr lang="en-US" sz="1600" dirty="0">
                <a:latin typeface="Times New Roman" charset="0"/>
                <a:ea typeface="ＭＳ Ｐゴシック" charset="0"/>
                <a:cs typeface="ＭＳ Ｐゴシック" charset="0"/>
              </a:rPr>
              <a:t>  public void m() {</a:t>
            </a:r>
          </a:p>
          <a:p>
            <a:pPr lvl="2">
              <a:defRPr/>
            </a:pPr>
            <a:r>
              <a:rPr lang="en-US" sz="1600" dirty="0">
                <a:latin typeface="Times New Roman" charset="0"/>
                <a:ea typeface="ＭＳ Ｐゴシック" charset="0"/>
                <a:cs typeface="ＭＳ Ｐゴシック" charset="0"/>
              </a:rPr>
              <a:t>    // Do something</a:t>
            </a:r>
          </a:p>
          <a:p>
            <a:pPr lvl="2">
              <a:defRPr/>
            </a:pPr>
            <a:r>
              <a:rPr lang="en-US" sz="1600" dirty="0">
                <a:latin typeface="Times New Roman" charset="0"/>
                <a:ea typeface="ＭＳ Ｐゴシック" charset="0"/>
                <a:cs typeface="ＭＳ Ｐゴシック" charset="0"/>
              </a:rPr>
              <a:t>    </a:t>
            </a:r>
            <a:r>
              <a:rPr lang="en-US" sz="1600" dirty="0" err="1">
                <a:latin typeface="Times New Roman" charset="0"/>
                <a:ea typeface="ＭＳ Ｐゴシック" charset="0"/>
                <a:cs typeface="ＭＳ Ｐゴシック" charset="0"/>
              </a:rPr>
              <a:t>InnerClass</a:t>
            </a:r>
            <a:r>
              <a:rPr lang="en-US" sz="1600" dirty="0">
                <a:latin typeface="Times New Roman" charset="0"/>
                <a:ea typeface="ＭＳ Ｐゴシック" charset="0"/>
                <a:cs typeface="ＭＳ Ｐゴシック" charset="0"/>
              </a:rPr>
              <a:t> instance = new </a:t>
            </a:r>
            <a:r>
              <a:rPr lang="en-US" sz="1600" dirty="0" err="1">
                <a:latin typeface="Times New Roman" charset="0"/>
                <a:ea typeface="ＭＳ Ｐゴシック" charset="0"/>
                <a:cs typeface="ＭＳ Ｐゴシック" charset="0"/>
              </a:rPr>
              <a:t>InnerClass</a:t>
            </a:r>
            <a:r>
              <a:rPr lang="en-US" sz="1600" dirty="0">
                <a:latin typeface="Times New Roman" charset="0"/>
                <a:ea typeface="ＭＳ Ｐゴシック" charset="0"/>
                <a:cs typeface="ＭＳ Ｐゴシック" charset="0"/>
              </a:rPr>
              <a:t>();</a:t>
            </a:r>
          </a:p>
          <a:p>
            <a:pPr lvl="1">
              <a:defRPr/>
            </a:pPr>
            <a:r>
              <a:rPr lang="en-US" sz="1600" dirty="0">
                <a:latin typeface="Times New Roman" charset="0"/>
                <a:ea typeface="ＭＳ Ｐゴシック" charset="0"/>
                <a:cs typeface="ＭＳ Ｐゴシック" charset="0"/>
              </a:rPr>
              <a:t>  }</a:t>
            </a:r>
          </a:p>
          <a:p>
            <a:pPr lvl="1">
              <a:defRPr/>
            </a:pPr>
            <a:endParaRPr lang="en-US" sz="1600" dirty="0">
              <a:latin typeface="Times New Roman" charset="0"/>
              <a:ea typeface="ＭＳ Ｐゴシック" charset="0"/>
              <a:cs typeface="ＭＳ Ｐゴシック" charset="0"/>
            </a:endParaRPr>
          </a:p>
          <a:p>
            <a:pPr lvl="1">
              <a:defRPr/>
            </a:pPr>
            <a:r>
              <a:rPr lang="en-US" sz="1600" dirty="0">
                <a:latin typeface="Times New Roman" charset="0"/>
                <a:ea typeface="ＭＳ Ｐゴシック" charset="0"/>
                <a:cs typeface="ＭＳ Ｐゴシック" charset="0"/>
              </a:rPr>
              <a:t>  // An inner class</a:t>
            </a:r>
          </a:p>
          <a:p>
            <a:pPr lvl="1">
              <a:defRPr/>
            </a:pPr>
            <a:r>
              <a:rPr lang="en-US" sz="1600" dirty="0">
                <a:latin typeface="Times New Roman" charset="0"/>
                <a:ea typeface="ＭＳ Ｐゴシック" charset="0"/>
                <a:cs typeface="ＭＳ Ｐゴシック" charset="0"/>
              </a:rPr>
              <a:t>  class </a:t>
            </a:r>
            <a:r>
              <a:rPr lang="en-US" sz="1600" dirty="0" err="1">
                <a:latin typeface="Times New Roman" charset="0"/>
                <a:ea typeface="ＭＳ Ｐゴシック" charset="0"/>
                <a:cs typeface="ＭＳ Ｐゴシック" charset="0"/>
              </a:rPr>
              <a:t>InnerClass</a:t>
            </a:r>
            <a:r>
              <a:rPr lang="en-US" sz="1600" dirty="0">
                <a:latin typeface="Times New Roman" charset="0"/>
                <a:ea typeface="ＭＳ Ｐゴシック" charset="0"/>
                <a:cs typeface="ＭＳ Ｐゴシック" charset="0"/>
              </a:rPr>
              <a:t> {</a:t>
            </a:r>
          </a:p>
          <a:p>
            <a:pPr lvl="2">
              <a:defRPr/>
            </a:pPr>
            <a:r>
              <a:rPr lang="en-US" sz="1600" dirty="0">
                <a:latin typeface="Times New Roman" charset="0"/>
                <a:ea typeface="ＭＳ Ｐゴシック" charset="0"/>
                <a:cs typeface="ＭＳ Ｐゴシック" charset="0"/>
              </a:rPr>
              <a:t>    /** A method in the inner class */</a:t>
            </a:r>
          </a:p>
          <a:p>
            <a:pPr lvl="2">
              <a:defRPr/>
            </a:pPr>
            <a:r>
              <a:rPr lang="en-US" sz="1600" dirty="0">
                <a:latin typeface="Times New Roman" charset="0"/>
                <a:ea typeface="ＭＳ Ｐゴシック" charset="0"/>
                <a:cs typeface="ＭＳ Ｐゴシック" charset="0"/>
              </a:rPr>
              <a:t>    public void mi() {</a:t>
            </a:r>
          </a:p>
          <a:p>
            <a:pPr lvl="2">
              <a:defRPr/>
            </a:pPr>
            <a:r>
              <a:rPr lang="en-US" sz="1600" dirty="0">
                <a:latin typeface="Times New Roman" charset="0"/>
                <a:ea typeface="ＭＳ Ｐゴシック" charset="0"/>
                <a:cs typeface="ＭＳ Ｐゴシック" charset="0"/>
              </a:rPr>
              <a:t>      // Directly reference data and method defined in its outer class</a:t>
            </a:r>
          </a:p>
          <a:p>
            <a:pPr lvl="2">
              <a:defRPr/>
            </a:pPr>
            <a:r>
              <a:rPr lang="nl-NL" sz="1600" dirty="0">
                <a:latin typeface="Times New Roman" charset="0"/>
                <a:ea typeface="ＭＳ Ｐゴシック" charset="0"/>
                <a:cs typeface="ＭＳ Ｐゴシック" charset="0"/>
              </a:rPr>
              <a:t>      data++;</a:t>
            </a:r>
          </a:p>
          <a:p>
            <a:pPr lvl="2">
              <a:defRPr/>
            </a:pPr>
            <a:r>
              <a:rPr lang="nl-NL" sz="1600" dirty="0">
                <a:latin typeface="Times New Roman" charset="0"/>
                <a:ea typeface="ＭＳ Ｐゴシック" charset="0"/>
                <a:cs typeface="ＭＳ Ｐゴシック" charset="0"/>
              </a:rPr>
              <a:t>      m();</a:t>
            </a:r>
          </a:p>
          <a:p>
            <a:pPr lvl="2">
              <a:defRPr/>
            </a:pPr>
            <a:r>
              <a:rPr lang="nl-NL" sz="1600" dirty="0">
                <a:latin typeface="Times New Roman" charset="0"/>
                <a:ea typeface="ＭＳ Ｐゴシック" charset="0"/>
                <a:cs typeface="ＭＳ Ｐゴシック" charset="0"/>
              </a:rPr>
              <a:t>    }</a:t>
            </a:r>
          </a:p>
          <a:p>
            <a:pPr lvl="1">
              <a:defRPr/>
            </a:pPr>
            <a:r>
              <a:rPr lang="nl-NL" sz="1600" dirty="0">
                <a:latin typeface="Times New Roman" charset="0"/>
                <a:ea typeface="ＭＳ Ｐゴシック" charset="0"/>
                <a:cs typeface="ＭＳ Ｐゴシック" charset="0"/>
              </a:rPr>
              <a:t>  }</a:t>
            </a:r>
          </a:p>
          <a:p>
            <a:pPr>
              <a:defRPr/>
            </a:pPr>
            <a:r>
              <a:rPr lang="nl-NL" sz="1600" dirty="0">
                <a:latin typeface="Times New Roman" charset="0"/>
                <a:ea typeface="ＭＳ Ｐゴシック" charset="0"/>
                <a:cs typeface="ＭＳ Ｐゴシック" charset="0"/>
              </a:rPr>
              <a:t>}</a:t>
            </a:r>
            <a:endParaRPr lang="en-US" sz="1600" dirty="0">
              <a:latin typeface="Times New Roman" charset="0"/>
              <a:ea typeface="ＭＳ Ｐゴシック" charset="0"/>
              <a:cs typeface="ＭＳ Ｐゴシック" charset="0"/>
            </a:endParaRP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85800" y="304800"/>
            <a:ext cx="7772400" cy="60960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Inner Classes, cont.</a:t>
            </a:r>
          </a:p>
        </p:txBody>
      </p:sp>
      <p:sp>
        <p:nvSpPr>
          <p:cNvPr id="22532" name="Rectangle 7"/>
          <p:cNvSpPr>
            <a:spLocks noChangeArrowheads="1"/>
          </p:cNvSpPr>
          <p:nvPr/>
        </p:nvSpPr>
        <p:spPr bwMode="auto">
          <a:xfrm>
            <a:off x="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defRPr/>
            </a:pPr>
            <a:endParaRPr lang="en-US">
              <a:latin typeface="Times New Roman" charset="0"/>
              <a:ea typeface="ＭＳ Ｐゴシック" charset="0"/>
              <a:cs typeface="ＭＳ Ｐゴシック" charset="0"/>
            </a:endParaRPr>
          </a:p>
        </p:txBody>
      </p:sp>
      <p:pic>
        <p:nvPicPr>
          <p:cNvPr id="8090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066800"/>
            <a:ext cx="8763000" cy="516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685800" y="0"/>
            <a:ext cx="7772400" cy="1428750"/>
          </a:xfrm>
        </p:spPr>
        <p:txBody>
          <a:bodyPr/>
          <a:lstStyle/>
          <a:p>
            <a:pPr algn="ctr">
              <a:defRPr/>
            </a:pPr>
            <a:r>
              <a:rPr lang="en-US" sz="4800" b="1">
                <a:solidFill>
                  <a:schemeClr val="tx1"/>
                </a:solidFill>
                <a:latin typeface="Times New Roman" panose="02020603050405020304" pitchFamily="18" charset="0"/>
                <a:ea typeface="ＭＳ Ｐゴシック" charset="0"/>
                <a:cs typeface="Times New Roman" panose="02020603050405020304" pitchFamily="18" charset="0"/>
              </a:rPr>
              <a:t>Inner Classes (cont.)</a:t>
            </a:r>
          </a:p>
        </p:txBody>
      </p:sp>
      <p:sp>
        <p:nvSpPr>
          <p:cNvPr id="23556" name="Rectangle 3"/>
          <p:cNvSpPr>
            <a:spLocks noGrp="1" noChangeArrowheads="1"/>
          </p:cNvSpPr>
          <p:nvPr>
            <p:ph idx="1"/>
          </p:nvPr>
        </p:nvSpPr>
        <p:spPr>
          <a:xfrm>
            <a:off x="685800" y="1371600"/>
            <a:ext cx="7467600" cy="4953000"/>
          </a:xfrm>
        </p:spPr>
        <p:txBody>
          <a:bodyPr/>
          <a:lstStyle/>
          <a:p>
            <a:pPr marL="0" indent="0">
              <a:spcBef>
                <a:spcPct val="50000"/>
              </a:spcBef>
              <a:buFont typeface="Monotype Sorts" charset="0"/>
              <a:buNone/>
              <a:defRPr/>
            </a:pPr>
            <a:r>
              <a:rPr lang="en-US" sz="3200" dirty="0">
                <a:latin typeface="Times New Roman" panose="02020603050405020304" pitchFamily="18" charset="0"/>
                <a:ea typeface="ＭＳ Ｐゴシック" charset="0"/>
                <a:cs typeface="Times New Roman" panose="02020603050405020304" pitchFamily="18" charset="0"/>
              </a:rPr>
              <a:t>Inner classes can make programs simple and concise. </a:t>
            </a:r>
          </a:p>
          <a:p>
            <a:pPr marL="0" indent="0">
              <a:spcBef>
                <a:spcPct val="50000"/>
              </a:spcBef>
              <a:buFont typeface="Monotype Sorts" charset="0"/>
              <a:buNone/>
              <a:defRPr/>
            </a:pPr>
            <a:r>
              <a:rPr lang="en-US" sz="3200" dirty="0">
                <a:latin typeface="Times New Roman" panose="02020603050405020304" pitchFamily="18" charset="0"/>
                <a:ea typeface="ＭＳ Ｐゴシック" charset="0"/>
                <a:cs typeface="Times New Roman" panose="02020603050405020304" pitchFamily="18" charset="0"/>
              </a:rPr>
              <a:t>An inner class supports the work of its containing outer class and is compiled into a class named </a:t>
            </a:r>
            <a:r>
              <a:rPr lang="en-US" sz="3200" i="1" dirty="0" err="1">
                <a:latin typeface="Times New Roman" panose="02020603050405020304" pitchFamily="18" charset="0"/>
                <a:ea typeface="ＭＳ Ｐゴシック" charset="0"/>
                <a:cs typeface="Times New Roman" panose="02020603050405020304" pitchFamily="18" charset="0"/>
              </a:rPr>
              <a:t>OuterClassName</a:t>
            </a:r>
            <a:r>
              <a:rPr lang="en-US" sz="3200" dirty="0" err="1">
                <a:latin typeface="Times New Roman" panose="02020603050405020304" pitchFamily="18" charset="0"/>
                <a:ea typeface="ＭＳ Ｐゴシック" charset="0"/>
                <a:cs typeface="Times New Roman" panose="02020603050405020304" pitchFamily="18" charset="0"/>
              </a:rPr>
              <a:t>$</a:t>
            </a:r>
            <a:r>
              <a:rPr lang="en-US" sz="3200" i="1" dirty="0" err="1">
                <a:latin typeface="Times New Roman" panose="02020603050405020304" pitchFamily="18" charset="0"/>
                <a:ea typeface="ＭＳ Ｐゴシック" charset="0"/>
                <a:cs typeface="Times New Roman" panose="02020603050405020304" pitchFamily="18" charset="0"/>
              </a:rPr>
              <a:t>InnerClassName</a:t>
            </a:r>
            <a:r>
              <a:rPr lang="en-US" sz="3200" dirty="0" err="1">
                <a:latin typeface="Times New Roman" panose="02020603050405020304" pitchFamily="18" charset="0"/>
                <a:ea typeface="ＭＳ Ｐゴシック" charset="0"/>
                <a:cs typeface="Times New Roman" panose="02020603050405020304" pitchFamily="18" charset="0"/>
              </a:rPr>
              <a:t>.class</a:t>
            </a:r>
            <a:r>
              <a:rPr lang="en-US" sz="3200" dirty="0">
                <a:latin typeface="Times New Roman" panose="02020603050405020304" pitchFamily="18" charset="0"/>
                <a:ea typeface="ＭＳ Ｐゴシック" charset="0"/>
                <a:cs typeface="Times New Roman" panose="02020603050405020304" pitchFamily="18" charset="0"/>
              </a:rPr>
              <a:t>. For example, the inner class </a:t>
            </a:r>
            <a:r>
              <a:rPr lang="en-US" sz="3200" dirty="0" err="1">
                <a:latin typeface="Times New Roman" panose="02020603050405020304" pitchFamily="18" charset="0"/>
                <a:ea typeface="ＭＳ Ｐゴシック" charset="0"/>
                <a:cs typeface="Times New Roman" panose="02020603050405020304" pitchFamily="18" charset="0"/>
              </a:rPr>
              <a:t>InnerClass</a:t>
            </a:r>
            <a:r>
              <a:rPr lang="en-US" sz="3200" dirty="0">
                <a:latin typeface="Times New Roman" panose="02020603050405020304" pitchFamily="18" charset="0"/>
                <a:ea typeface="ＭＳ Ｐゴシック" charset="0"/>
                <a:cs typeface="Times New Roman" panose="02020603050405020304" pitchFamily="18" charset="0"/>
              </a:rPr>
              <a:t> in </a:t>
            </a:r>
            <a:r>
              <a:rPr lang="en-US" sz="3200" dirty="0" err="1">
                <a:latin typeface="Times New Roman" panose="02020603050405020304" pitchFamily="18" charset="0"/>
                <a:ea typeface="ＭＳ Ｐゴシック" charset="0"/>
                <a:cs typeface="Times New Roman" panose="02020603050405020304" pitchFamily="18" charset="0"/>
              </a:rPr>
              <a:t>OuterClass</a:t>
            </a:r>
            <a:r>
              <a:rPr lang="en-US" sz="3200" dirty="0">
                <a:latin typeface="Times New Roman" panose="02020603050405020304" pitchFamily="18" charset="0"/>
                <a:ea typeface="ＭＳ Ｐゴシック" charset="0"/>
                <a:cs typeface="Times New Roman" panose="02020603050405020304" pitchFamily="18" charset="0"/>
              </a:rPr>
              <a:t> is compiled into </a:t>
            </a:r>
            <a:r>
              <a:rPr lang="en-US" sz="3200" i="1" dirty="0" err="1">
                <a:latin typeface="Times New Roman" panose="02020603050405020304" pitchFamily="18" charset="0"/>
                <a:ea typeface="ＭＳ Ｐゴシック" charset="0"/>
                <a:cs typeface="Times New Roman" panose="02020603050405020304" pitchFamily="18" charset="0"/>
              </a:rPr>
              <a:t>OuterClass$InnerClass</a:t>
            </a:r>
            <a:r>
              <a:rPr lang="en-US" sz="3200" dirty="0" err="1">
                <a:latin typeface="Times New Roman" panose="02020603050405020304" pitchFamily="18" charset="0"/>
                <a:ea typeface="ＭＳ Ｐゴシック" charset="0"/>
                <a:cs typeface="Times New Roman" panose="02020603050405020304" pitchFamily="18" charset="0"/>
              </a:rPr>
              <a:t>.class</a:t>
            </a:r>
            <a:r>
              <a:rPr lang="en-US" sz="3200" dirty="0">
                <a:latin typeface="Times New Roman" panose="02020603050405020304" pitchFamily="18" charset="0"/>
                <a:ea typeface="ＭＳ Ｐゴシック" charset="0"/>
                <a:cs typeface="Times New Roman" panose="02020603050405020304" pitchFamily="18" charset="0"/>
              </a:rPr>
              <a:t>.</a:t>
            </a: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685800" y="0"/>
            <a:ext cx="7772400" cy="1428750"/>
          </a:xfrm>
        </p:spPr>
        <p:txBody>
          <a:bodyPr/>
          <a:lstStyle/>
          <a:p>
            <a:pPr algn="ctr">
              <a:defRPr/>
            </a:pPr>
            <a:r>
              <a:rPr lang="en-US" sz="4800" b="1" dirty="0">
                <a:solidFill>
                  <a:schemeClr val="tx1"/>
                </a:solidFill>
                <a:latin typeface="Times New Roman" panose="02020603050405020304" pitchFamily="18" charset="0"/>
                <a:ea typeface="ＭＳ Ｐゴシック" charset="0"/>
                <a:cs typeface="Times New Roman" panose="02020603050405020304" pitchFamily="18" charset="0"/>
              </a:rPr>
              <a:t>Inner Classes (cont.)</a:t>
            </a:r>
          </a:p>
        </p:txBody>
      </p:sp>
      <p:sp>
        <p:nvSpPr>
          <p:cNvPr id="24580" name="Rectangle 3"/>
          <p:cNvSpPr>
            <a:spLocks noGrp="1" noChangeArrowheads="1"/>
          </p:cNvSpPr>
          <p:nvPr>
            <p:ph idx="1"/>
          </p:nvPr>
        </p:nvSpPr>
        <p:spPr>
          <a:xfrm>
            <a:off x="685800" y="1371600"/>
            <a:ext cx="7467600" cy="4953000"/>
          </a:xfrm>
        </p:spPr>
        <p:txBody>
          <a:bodyPr/>
          <a:lstStyle/>
          <a:p>
            <a:pPr>
              <a:spcBef>
                <a:spcPct val="50000"/>
              </a:spcBef>
              <a:buFont typeface="Wingdings" charset="0"/>
              <a:buChar char="q"/>
              <a:defRPr/>
            </a:pPr>
            <a:r>
              <a:rPr lang="en-US" sz="3200" dirty="0">
                <a:latin typeface="Times New Roman" panose="02020603050405020304" pitchFamily="18" charset="0"/>
                <a:ea typeface="ＭＳ Ｐゴシック" charset="0"/>
                <a:cs typeface="Times New Roman" panose="02020603050405020304" pitchFamily="18" charset="0"/>
              </a:rPr>
              <a:t>An inner class can be declared public, protected, or private subject to the same visibility rules applied to a member of the class. </a:t>
            </a:r>
          </a:p>
          <a:p>
            <a:pPr>
              <a:spcBef>
                <a:spcPct val="50000"/>
              </a:spcBef>
              <a:buFont typeface="Wingdings" charset="0"/>
              <a:buChar char="q"/>
              <a:defRPr/>
            </a:pPr>
            <a:r>
              <a:rPr lang="en-US" sz="3200" dirty="0">
                <a:latin typeface="Times New Roman" panose="02020603050405020304" pitchFamily="18" charset="0"/>
                <a:ea typeface="ＭＳ Ｐゴシック" charset="0"/>
                <a:cs typeface="Times New Roman" panose="02020603050405020304" pitchFamily="18" charset="0"/>
              </a:rPr>
              <a:t>An inner class can be declared static. A static inner class can be accessed using the outer class name. A static inner class cannot access </a:t>
            </a:r>
            <a:r>
              <a:rPr lang="en-US" sz="3200" dirty="0" err="1">
                <a:latin typeface="Times New Roman" panose="02020603050405020304" pitchFamily="18" charset="0"/>
                <a:ea typeface="ＭＳ Ｐゴシック" charset="0"/>
                <a:cs typeface="Times New Roman" panose="02020603050405020304" pitchFamily="18" charset="0"/>
              </a:rPr>
              <a:t>nonstatic</a:t>
            </a:r>
            <a:r>
              <a:rPr lang="en-US" sz="3200" dirty="0">
                <a:latin typeface="Times New Roman" panose="02020603050405020304" pitchFamily="18" charset="0"/>
                <a:ea typeface="ＭＳ Ｐゴシック" charset="0"/>
                <a:cs typeface="Times New Roman" panose="02020603050405020304" pitchFamily="18" charset="0"/>
              </a:rPr>
              <a:t> members of the outer class </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685800" y="381000"/>
            <a:ext cx="7772400" cy="666750"/>
          </a:xfrm>
        </p:spPr>
        <p:txBody>
          <a:bodyPr/>
          <a:lstStyle/>
          <a:p>
            <a:pPr algn="ct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Anonymous Inner Classes</a:t>
            </a:r>
          </a:p>
        </p:txBody>
      </p:sp>
      <p:sp>
        <p:nvSpPr>
          <p:cNvPr id="25604" name="Rectangle 3"/>
          <p:cNvSpPr>
            <a:spLocks noGrp="1" noChangeArrowheads="1"/>
          </p:cNvSpPr>
          <p:nvPr>
            <p:ph idx="1"/>
          </p:nvPr>
        </p:nvSpPr>
        <p:spPr>
          <a:xfrm>
            <a:off x="304800" y="1295400"/>
            <a:ext cx="8382000" cy="4953000"/>
          </a:xfrm>
        </p:spPr>
        <p:txBody>
          <a:bodyPr/>
          <a:lstStyle/>
          <a:p>
            <a:pPr algn="just">
              <a:buFont typeface="Wingdings" charset="0"/>
              <a:buChar char="q"/>
              <a:defRPr/>
            </a:pPr>
            <a:r>
              <a:rPr lang="en-US" sz="2400" dirty="0">
                <a:latin typeface="Times New Roman" panose="02020603050405020304" pitchFamily="18" charset="0"/>
                <a:ea typeface="ＭＳ Ｐゴシック" charset="0"/>
                <a:cs typeface="Times New Roman" panose="02020603050405020304" pitchFamily="18" charset="0"/>
              </a:rPr>
              <a:t>An anonymous inner class must always extend a superclass or implement an interface, but it cannot have an explicit extends or implements clause. </a:t>
            </a:r>
          </a:p>
          <a:p>
            <a:pPr algn="just">
              <a:buFont typeface="Wingdings" charset="0"/>
              <a:buChar char="q"/>
              <a:defRPr/>
            </a:pPr>
            <a:r>
              <a:rPr lang="en-US" sz="2400" dirty="0">
                <a:latin typeface="Times New Roman" panose="02020603050405020304" pitchFamily="18" charset="0"/>
                <a:ea typeface="ＭＳ Ｐゴシック" charset="0"/>
                <a:cs typeface="Times New Roman" panose="02020603050405020304" pitchFamily="18" charset="0"/>
              </a:rPr>
              <a:t>An anonymous inner class must implement all the abstract methods in the superclass or in the interface. </a:t>
            </a:r>
          </a:p>
          <a:p>
            <a:pPr algn="just">
              <a:buFont typeface="Wingdings" charset="0"/>
              <a:buChar char="q"/>
              <a:defRPr/>
            </a:pPr>
            <a:r>
              <a:rPr lang="en-US" sz="2400" dirty="0">
                <a:latin typeface="Times New Roman" panose="02020603050405020304" pitchFamily="18" charset="0"/>
                <a:ea typeface="ＭＳ Ｐゴシック" charset="0"/>
                <a:cs typeface="Times New Roman" panose="02020603050405020304" pitchFamily="18" charset="0"/>
              </a:rPr>
              <a:t>An anonymous inner class always uses the no-</a:t>
            </a:r>
            <a:r>
              <a:rPr lang="en-US" sz="2400" dirty="0" err="1">
                <a:latin typeface="Times New Roman" panose="02020603050405020304" pitchFamily="18" charset="0"/>
                <a:ea typeface="ＭＳ Ｐゴシック" charset="0"/>
                <a:cs typeface="Times New Roman" panose="02020603050405020304" pitchFamily="18" charset="0"/>
              </a:rPr>
              <a:t>arg</a:t>
            </a:r>
            <a:r>
              <a:rPr lang="en-US" sz="2400" dirty="0">
                <a:latin typeface="Times New Roman" panose="02020603050405020304" pitchFamily="18" charset="0"/>
                <a:ea typeface="ＭＳ Ｐゴシック" charset="0"/>
                <a:cs typeface="Times New Roman" panose="02020603050405020304" pitchFamily="18" charset="0"/>
              </a:rPr>
              <a:t> constructor from its superclass to create an instance. If an anonymous inner class implements an interface, the constructor is Object().</a:t>
            </a:r>
          </a:p>
          <a:p>
            <a:pPr algn="just">
              <a:buFont typeface="Wingdings" charset="0"/>
              <a:buChar char="q"/>
              <a:defRPr/>
            </a:pPr>
            <a:r>
              <a:rPr lang="en-US" sz="2400" dirty="0">
                <a:latin typeface="Times New Roman" panose="02020603050405020304" pitchFamily="18" charset="0"/>
                <a:ea typeface="ＭＳ Ｐゴシック" charset="0"/>
                <a:cs typeface="Times New Roman" panose="02020603050405020304" pitchFamily="18" charset="0"/>
              </a:rPr>
              <a:t>An anonymous inner class is compiled into a class named </a:t>
            </a:r>
            <a:r>
              <a:rPr lang="en-US" sz="2400" dirty="0" err="1">
                <a:latin typeface="Times New Roman" panose="02020603050405020304" pitchFamily="18" charset="0"/>
                <a:ea typeface="ＭＳ Ｐゴシック" charset="0"/>
                <a:cs typeface="Times New Roman" panose="02020603050405020304" pitchFamily="18" charset="0"/>
              </a:rPr>
              <a:t>OuterClassName$</a:t>
            </a:r>
            <a:r>
              <a:rPr lang="en-US" sz="2400" i="1" dirty="0" err="1">
                <a:latin typeface="Times New Roman" panose="02020603050405020304" pitchFamily="18" charset="0"/>
                <a:ea typeface="ＭＳ Ｐゴシック" charset="0"/>
                <a:cs typeface="Times New Roman" panose="02020603050405020304" pitchFamily="18" charset="0"/>
              </a:rPr>
              <a:t>n</a:t>
            </a:r>
            <a:r>
              <a:rPr lang="en-US" sz="2400" dirty="0" err="1">
                <a:latin typeface="Times New Roman" panose="02020603050405020304" pitchFamily="18" charset="0"/>
                <a:ea typeface="ＭＳ Ｐゴシック" charset="0"/>
                <a:cs typeface="Times New Roman" panose="02020603050405020304" pitchFamily="18" charset="0"/>
              </a:rPr>
              <a:t>.class</a:t>
            </a:r>
            <a:r>
              <a:rPr lang="en-US" sz="2400" dirty="0">
                <a:latin typeface="Times New Roman" panose="02020603050405020304" pitchFamily="18" charset="0"/>
                <a:ea typeface="ＭＳ Ｐゴシック" charset="0"/>
                <a:cs typeface="Times New Roman" panose="02020603050405020304" pitchFamily="18" charset="0"/>
              </a:rPr>
              <a:t>. For example, if the outer class Test has two anonymous inner classes, these two classes are compiled into Test$1.class and Test$2.class.</a:t>
            </a: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685800" y="381000"/>
            <a:ext cx="7772400" cy="66675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Anonymous Inner Classes (cont.)</a:t>
            </a:r>
          </a:p>
        </p:txBody>
      </p:sp>
      <p:sp>
        <p:nvSpPr>
          <p:cNvPr id="26628" name="Rectangle 3"/>
          <p:cNvSpPr>
            <a:spLocks noGrp="1" noChangeArrowheads="1"/>
          </p:cNvSpPr>
          <p:nvPr>
            <p:ph idx="1"/>
          </p:nvPr>
        </p:nvSpPr>
        <p:spPr>
          <a:xfrm>
            <a:off x="304800" y="1295400"/>
            <a:ext cx="8382000" cy="2590800"/>
          </a:xfrm>
        </p:spPr>
        <p:txBody>
          <a:bodyPr/>
          <a:lstStyle/>
          <a:p>
            <a:pPr algn="just">
              <a:spcBef>
                <a:spcPct val="0"/>
              </a:spcBef>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	Inner class listeners can be shortened using anonymous inner classes. An </a:t>
            </a:r>
            <a:r>
              <a:rPr lang="en-US" sz="2800" i="1" dirty="0">
                <a:latin typeface="Times New Roman" panose="02020603050405020304" pitchFamily="18" charset="0"/>
                <a:ea typeface="ＭＳ Ｐゴシック" charset="0"/>
                <a:cs typeface="Times New Roman" panose="02020603050405020304" pitchFamily="18" charset="0"/>
              </a:rPr>
              <a:t>anonymous inner class</a:t>
            </a:r>
            <a:r>
              <a:rPr lang="en-US" sz="2800" dirty="0">
                <a:latin typeface="Times New Roman" panose="02020603050405020304" pitchFamily="18" charset="0"/>
                <a:ea typeface="ＭＳ Ｐゴシック" charset="0"/>
                <a:cs typeface="Times New Roman" panose="02020603050405020304" pitchFamily="18" charset="0"/>
              </a:rPr>
              <a:t> is an inner class without a name. It combines declaring an inner class and creating an instance of the class in one step. An anonymous inner class is declared as follows:</a:t>
            </a:r>
          </a:p>
        </p:txBody>
      </p:sp>
      <p:sp>
        <p:nvSpPr>
          <p:cNvPr id="84997" name="Text Box 4"/>
          <p:cNvSpPr txBox="1">
            <a:spLocks noChangeArrowheads="1"/>
          </p:cNvSpPr>
          <p:nvPr/>
        </p:nvSpPr>
        <p:spPr bwMode="auto">
          <a:xfrm>
            <a:off x="533400" y="3978275"/>
            <a:ext cx="80772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b="1" dirty="0">
                <a:solidFill>
                  <a:schemeClr val="bg2"/>
                </a:solidFill>
                <a:latin typeface="Courier New" panose="02070309020205020404" pitchFamily="49" charset="0"/>
                <a:cs typeface="Courier New" panose="02070309020205020404" pitchFamily="49" charset="0"/>
              </a:rPr>
              <a:t>new</a:t>
            </a:r>
            <a:r>
              <a:rPr lang="en-US" altLang="en-US" dirty="0">
                <a:solidFill>
                  <a:schemeClr val="bg2"/>
                </a:solidFill>
                <a:latin typeface="Courier New" panose="02070309020205020404" pitchFamily="49" charset="0"/>
                <a:cs typeface="Courier New" panose="02070309020205020404" pitchFamily="49" charset="0"/>
              </a:rPr>
              <a:t> </a:t>
            </a:r>
            <a:r>
              <a:rPr lang="en-US" altLang="en-US" dirty="0" err="1">
                <a:solidFill>
                  <a:schemeClr val="bg2"/>
                </a:solidFill>
                <a:latin typeface="Courier New" panose="02070309020205020404" pitchFamily="49" charset="0"/>
                <a:cs typeface="Courier New" panose="02070309020205020404" pitchFamily="49" charset="0"/>
              </a:rPr>
              <a:t>SuperClassName</a:t>
            </a:r>
            <a:r>
              <a:rPr lang="en-US" altLang="en-US" dirty="0">
                <a:solidFill>
                  <a:schemeClr val="bg2"/>
                </a:solidFill>
                <a:latin typeface="Courier New" panose="02070309020205020404" pitchFamily="49" charset="0"/>
                <a:cs typeface="Courier New" panose="02070309020205020404" pitchFamily="49" charset="0"/>
              </a:rPr>
              <a:t>/</a:t>
            </a:r>
            <a:r>
              <a:rPr lang="en-US" altLang="en-US" dirty="0" err="1">
                <a:solidFill>
                  <a:schemeClr val="bg2"/>
                </a:solidFill>
                <a:latin typeface="Courier New" panose="02070309020205020404" pitchFamily="49" charset="0"/>
                <a:cs typeface="Courier New" panose="02070309020205020404" pitchFamily="49" charset="0"/>
              </a:rPr>
              <a:t>InterfaceName</a:t>
            </a:r>
            <a:r>
              <a:rPr lang="en-US" altLang="en-US" dirty="0">
                <a:solidFill>
                  <a:schemeClr val="bg2"/>
                </a:solidFill>
                <a:latin typeface="Courier New" panose="02070309020205020404" pitchFamily="49" charset="0"/>
                <a:cs typeface="Courier New" panose="02070309020205020404" pitchFamily="49" charset="0"/>
              </a:rPr>
              <a:t>() {</a:t>
            </a:r>
          </a:p>
          <a:p>
            <a:r>
              <a:rPr lang="en-US" altLang="en-US" dirty="0">
                <a:solidFill>
                  <a:schemeClr val="bg2"/>
                </a:solidFill>
                <a:latin typeface="Courier New" panose="02070309020205020404" pitchFamily="49" charset="0"/>
                <a:cs typeface="Courier New" panose="02070309020205020404" pitchFamily="49" charset="0"/>
              </a:rPr>
              <a:t>  // Implement or override methods in superclass or interface</a:t>
            </a:r>
          </a:p>
          <a:p>
            <a:r>
              <a:rPr lang="en-US" altLang="en-US" dirty="0">
                <a:solidFill>
                  <a:schemeClr val="bg2"/>
                </a:solidFill>
                <a:latin typeface="Courier New" panose="02070309020205020404" pitchFamily="49" charset="0"/>
                <a:cs typeface="Courier New" panose="02070309020205020404" pitchFamily="49" charset="0"/>
              </a:rPr>
              <a:t>  // Other methods if necessary</a:t>
            </a:r>
          </a:p>
          <a:p>
            <a:r>
              <a:rPr lang="en-US" altLang="en-US" dirty="0">
                <a:solidFill>
                  <a:schemeClr val="bg2"/>
                </a:solidFill>
                <a:latin typeface="Courier New" panose="02070309020205020404" pitchFamily="49" charset="0"/>
                <a:cs typeface="Courier New" panose="02070309020205020404" pitchFamily="49" charset="0"/>
              </a:rPr>
              <a:t>}</a:t>
            </a: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685800" y="381000"/>
            <a:ext cx="7772400" cy="666750"/>
          </a:xfrm>
        </p:spPr>
        <p:txBody>
          <a:bodyPr/>
          <a:lstStyle/>
          <a:p>
            <a:pP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Anonymous Inner Classes (cont.)</a:t>
            </a:r>
          </a:p>
        </p:txBody>
      </p:sp>
      <p:sp>
        <p:nvSpPr>
          <p:cNvPr id="86020"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86021" name="Rectangle 5"/>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86025"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4495800"/>
            <a:ext cx="2838450" cy="1019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86026"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 y="1371600"/>
            <a:ext cx="9067800" cy="283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1" name="Rectangle 10">
            <a:hlinkClick r:id="rId4"/>
          </p:cNvPr>
          <p:cNvSpPr>
            <a:spLocks noChangeArrowheads="1"/>
          </p:cNvSpPr>
          <p:nvPr/>
        </p:nvSpPr>
        <p:spPr bwMode="auto">
          <a:xfrm>
            <a:off x="3733800" y="5791200"/>
            <a:ext cx="300196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a:t>AnonymousHandlerDemo</a:t>
            </a:r>
          </a:p>
        </p:txBody>
      </p:sp>
      <p:sp>
        <p:nvSpPr>
          <p:cNvPr id="12" name="AutoShape 10">
            <a:hlinkClick r:id="rId5" action="ppaction://program" highlightClick="1"/>
          </p:cNvPr>
          <p:cNvSpPr>
            <a:spLocks noChangeArrowheads="1"/>
          </p:cNvSpPr>
          <p:nvPr/>
        </p:nvSpPr>
        <p:spPr bwMode="auto">
          <a:xfrm>
            <a:off x="6858000" y="5775325"/>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p:cNvSpPr>
            <a:spLocks noChangeArrowheads="1"/>
          </p:cNvSpPr>
          <p:nvPr/>
        </p:nvSpPr>
        <p:spPr bwMode="auto">
          <a:xfrm>
            <a:off x="6350" y="0"/>
            <a:ext cx="4572000" cy="711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javafx.event.ActionEvent;</a:t>
            </a:r>
          </a:p>
          <a:p>
            <a:r>
              <a:rPr lang="en-US" altLang="en-US" sz="1200"/>
              <a:t>import javafx.event.EventHandler;</a:t>
            </a:r>
          </a:p>
          <a:p>
            <a:r>
              <a:rPr lang="en-US" altLang="en-US" sz="1200"/>
              <a:t>import javafx.geometry.Pos;</a:t>
            </a:r>
          </a:p>
          <a:p>
            <a:r>
              <a:rPr lang="en-US" altLang="en-US" sz="1200"/>
              <a:t>import javafx.scene.Scene;</a:t>
            </a:r>
          </a:p>
          <a:p>
            <a:r>
              <a:rPr lang="en-US" altLang="en-US" sz="1200"/>
              <a:t>import javafx.scene.control.Button;</a:t>
            </a:r>
          </a:p>
          <a:p>
            <a:r>
              <a:rPr lang="en-US" altLang="en-US" sz="1200"/>
              <a:t>import javafx.scene.layout.HBox;</a:t>
            </a:r>
          </a:p>
          <a:p>
            <a:r>
              <a:rPr lang="en-US" altLang="en-US" sz="1200"/>
              <a:t>import javafx.stage.Stage;</a:t>
            </a:r>
          </a:p>
          <a:p>
            <a:endParaRPr lang="en-US" altLang="en-US" sz="1200"/>
          </a:p>
          <a:p>
            <a:r>
              <a:rPr lang="en-US" altLang="en-US" sz="1200"/>
              <a:t>public class AnonymousHandlerDemo extends Application {</a:t>
            </a:r>
          </a:p>
          <a:p>
            <a:r>
              <a:rPr lang="en-US" altLang="en-US" sz="1200"/>
              <a:t>  @Override // Override the start method in the Application class</a:t>
            </a:r>
          </a:p>
          <a:p>
            <a:r>
              <a:rPr lang="en-US" altLang="en-US" sz="1200"/>
              <a:t>  public void start(Stage primaryStage) {</a:t>
            </a:r>
          </a:p>
          <a:p>
            <a:r>
              <a:rPr lang="en-US" altLang="en-US" sz="1200"/>
              <a:t>    // Hold two buttons in an HBox</a:t>
            </a:r>
          </a:p>
          <a:p>
            <a:r>
              <a:rPr lang="en-US" altLang="en-US" sz="1200"/>
              <a:t>    HBox hBox = new HBox();</a:t>
            </a:r>
          </a:p>
          <a:p>
            <a:r>
              <a:rPr lang="en-US" altLang="en-US" sz="1200"/>
              <a:t>    hBox.setSpacing(10);</a:t>
            </a:r>
          </a:p>
          <a:p>
            <a:r>
              <a:rPr lang="en-US" altLang="en-US" sz="1200"/>
              <a:t>    hBox.setAlignment(Pos.CENTER);</a:t>
            </a:r>
          </a:p>
          <a:p>
            <a:r>
              <a:rPr lang="en-US" altLang="en-US" sz="1200"/>
              <a:t>    Button btNew = new Button("New");</a:t>
            </a:r>
          </a:p>
          <a:p>
            <a:r>
              <a:rPr lang="en-US" altLang="en-US" sz="1200"/>
              <a:t>    Button btOpen = new Button("Open");</a:t>
            </a:r>
          </a:p>
          <a:p>
            <a:r>
              <a:rPr lang="en-US" altLang="en-US" sz="1200"/>
              <a:t>    Button btSave = new Button("Save");</a:t>
            </a:r>
          </a:p>
          <a:p>
            <a:r>
              <a:rPr lang="en-US" altLang="en-US" sz="1200"/>
              <a:t>    Button btPrint = new Button("Print");</a:t>
            </a:r>
          </a:p>
          <a:p>
            <a:r>
              <a:rPr lang="en-US" altLang="en-US" sz="1200"/>
              <a:t>    hBox.getChildren().addAll(btNew, btOpen, btSave, btPrint);</a:t>
            </a:r>
          </a:p>
          <a:p>
            <a:r>
              <a:rPr lang="en-US" altLang="en-US" sz="1200"/>
              <a:t>    </a:t>
            </a:r>
          </a:p>
          <a:p>
            <a:r>
              <a:rPr lang="en-US" altLang="en-US" sz="1200"/>
              <a:t>    // Create and register the handler</a:t>
            </a:r>
          </a:p>
          <a:p>
            <a:r>
              <a:rPr lang="en-US" altLang="en-US" sz="1200"/>
              <a:t>    btNew.setOnAction(new EventHandler&lt;ActionEvent&gt;() {</a:t>
            </a:r>
          </a:p>
          <a:p>
            <a:r>
              <a:rPr lang="en-US" altLang="en-US" sz="1200"/>
              <a:t>      @Override // Override the handle method</a:t>
            </a:r>
          </a:p>
          <a:p>
            <a:r>
              <a:rPr lang="en-US" altLang="en-US" sz="1200"/>
              <a:t>      public void handle(ActionEvent e) {</a:t>
            </a:r>
          </a:p>
          <a:p>
            <a:r>
              <a:rPr lang="en-US" altLang="en-US" sz="1200"/>
              <a:t>        System.out.println("Process New");</a:t>
            </a:r>
          </a:p>
          <a:p>
            <a:r>
              <a:rPr lang="en-US" altLang="en-US" sz="1200"/>
              <a:t>      }</a:t>
            </a:r>
          </a:p>
          <a:p>
            <a:r>
              <a:rPr lang="en-US" altLang="en-US" sz="1200"/>
              <a:t>    });</a:t>
            </a:r>
          </a:p>
          <a:p>
            <a:endParaRPr lang="en-US" altLang="en-US" sz="1200"/>
          </a:p>
          <a:p>
            <a:r>
              <a:rPr lang="en-US" altLang="en-US" sz="1200"/>
              <a:t>    btOpen.setOnAction(new EventHandler&lt;ActionEvent&gt;() {</a:t>
            </a:r>
          </a:p>
          <a:p>
            <a:r>
              <a:rPr lang="en-US" altLang="en-US" sz="1200"/>
              <a:t>      @Override // Override the handle method</a:t>
            </a:r>
          </a:p>
          <a:p>
            <a:r>
              <a:rPr lang="en-US" altLang="en-US" sz="1200"/>
              <a:t>      public void handle(ActionEvent e) {</a:t>
            </a:r>
          </a:p>
          <a:p>
            <a:r>
              <a:rPr lang="en-US" altLang="en-US" sz="1200"/>
              <a:t>        System.out.println("Process Open");</a:t>
            </a:r>
          </a:p>
          <a:p>
            <a:r>
              <a:rPr lang="en-US" altLang="en-US" sz="1200"/>
              <a:t>      }</a:t>
            </a:r>
          </a:p>
          <a:p>
            <a:r>
              <a:rPr lang="en-US" altLang="en-US" sz="1200"/>
              <a:t>    });</a:t>
            </a:r>
          </a:p>
          <a:p>
            <a:r>
              <a:rPr lang="en-US" altLang="en-US" sz="1200"/>
              <a:t>    </a:t>
            </a:r>
          </a:p>
        </p:txBody>
      </p:sp>
      <p:sp>
        <p:nvSpPr>
          <p:cNvPr id="4" name="Rectangle 3"/>
          <p:cNvSpPr/>
          <p:nvPr/>
        </p:nvSpPr>
        <p:spPr>
          <a:xfrm>
            <a:off x="4572000" y="0"/>
            <a:ext cx="4572000" cy="5448300"/>
          </a:xfrm>
          <a:prstGeom prst="rect">
            <a:avLst/>
          </a:prstGeom>
          <a:solidFill>
            <a:schemeClr val="bg1"/>
          </a:solidFill>
          <a:ln>
            <a:solidFill>
              <a:schemeClr val="bg1">
                <a:lumMod val="75000"/>
              </a:schemeClr>
            </a:solidFill>
          </a:ln>
        </p:spPr>
        <p:txBody>
          <a:bodyPr>
            <a:spAutoFit/>
          </a:bodyPr>
          <a:lstStyle/>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btSave.setOnAction</a:t>
            </a:r>
            <a:r>
              <a:rPr lang="en-US" sz="1200" dirty="0">
                <a:latin typeface="Times New Roman" charset="0"/>
                <a:ea typeface="ＭＳ Ｐゴシック" charset="0"/>
                <a:cs typeface="ＭＳ Ｐゴシック" charset="0"/>
              </a:rPr>
              <a:t>(new </a:t>
            </a:r>
            <a:r>
              <a:rPr lang="en-US" sz="1200" dirty="0" err="1">
                <a:latin typeface="Times New Roman" charset="0"/>
                <a:ea typeface="ＭＳ Ｐゴシック" charset="0"/>
                <a:cs typeface="ＭＳ Ｐゴシック" charset="0"/>
              </a:rPr>
              <a:t>EventHandler</a:t>
            </a:r>
            <a:r>
              <a:rPr lang="en-US" sz="1200" dirty="0">
                <a:latin typeface="Times New Roman" charset="0"/>
                <a:ea typeface="ＭＳ Ｐゴシック" charset="0"/>
                <a:cs typeface="ＭＳ Ｐゴシック" charset="0"/>
              </a:rPr>
              <a:t>&lt;</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&gt;() {</a:t>
            </a:r>
          </a:p>
          <a:p>
            <a:pPr>
              <a:defRPr/>
            </a:pPr>
            <a:r>
              <a:rPr lang="en-US" sz="1200" dirty="0">
                <a:latin typeface="Times New Roman" charset="0"/>
                <a:ea typeface="ＭＳ Ｐゴシック" charset="0"/>
                <a:cs typeface="ＭＳ Ｐゴシック" charset="0"/>
              </a:rPr>
              <a:t>      @Override // Override the handle method</a:t>
            </a:r>
          </a:p>
          <a:p>
            <a:pPr>
              <a:defRPr/>
            </a:pPr>
            <a:r>
              <a:rPr lang="en-US" sz="1200" dirty="0">
                <a:latin typeface="Times New Roman" charset="0"/>
                <a:ea typeface="ＭＳ Ｐゴシック" charset="0"/>
                <a:cs typeface="ＭＳ Ｐゴシック" charset="0"/>
              </a:rPr>
              <a:t>      public void handle(</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 e)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System.out.println</a:t>
            </a:r>
            <a:r>
              <a:rPr lang="en-US" sz="1200" dirty="0">
                <a:latin typeface="Times New Roman" charset="0"/>
                <a:ea typeface="ＭＳ Ｐゴシック" charset="0"/>
                <a:cs typeface="ＭＳ Ｐゴシック" charset="0"/>
              </a:rPr>
              <a:t>("Process Save");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btPrint.setOnAction</a:t>
            </a:r>
            <a:r>
              <a:rPr lang="en-US" sz="1200" dirty="0">
                <a:latin typeface="Times New Roman" charset="0"/>
                <a:ea typeface="ＭＳ Ｐゴシック" charset="0"/>
                <a:cs typeface="ＭＳ Ｐゴシック" charset="0"/>
              </a:rPr>
              <a:t>(new </a:t>
            </a:r>
            <a:r>
              <a:rPr lang="en-US" sz="1200" dirty="0" err="1">
                <a:latin typeface="Times New Roman" charset="0"/>
                <a:ea typeface="ＭＳ Ｐゴシック" charset="0"/>
                <a:cs typeface="ＭＳ Ｐゴシック" charset="0"/>
              </a:rPr>
              <a:t>EventHandler</a:t>
            </a:r>
            <a:r>
              <a:rPr lang="en-US" sz="1200" dirty="0">
                <a:latin typeface="Times New Roman" charset="0"/>
                <a:ea typeface="ＭＳ Ｐゴシック" charset="0"/>
                <a:cs typeface="ＭＳ Ｐゴシック" charset="0"/>
              </a:rPr>
              <a:t>&lt;</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&gt;() {</a:t>
            </a:r>
          </a:p>
          <a:p>
            <a:pPr>
              <a:defRPr/>
            </a:pPr>
            <a:r>
              <a:rPr lang="en-US" sz="1200" dirty="0">
                <a:latin typeface="Times New Roman" charset="0"/>
                <a:ea typeface="ＭＳ Ｐゴシック" charset="0"/>
                <a:cs typeface="ＭＳ Ｐゴシック" charset="0"/>
              </a:rPr>
              <a:t>      @Override // Override the handle method</a:t>
            </a:r>
          </a:p>
          <a:p>
            <a:pPr>
              <a:defRPr/>
            </a:pPr>
            <a:r>
              <a:rPr lang="en-US" sz="1200" dirty="0">
                <a:latin typeface="Times New Roman" charset="0"/>
                <a:ea typeface="ＭＳ Ｐゴシック" charset="0"/>
                <a:cs typeface="ＭＳ Ｐゴシック" charset="0"/>
              </a:rPr>
              <a:t>      public void handle(</a:t>
            </a:r>
            <a:r>
              <a:rPr lang="en-US" sz="1200" dirty="0" err="1">
                <a:latin typeface="Times New Roman" charset="0"/>
                <a:ea typeface="ＭＳ Ｐゴシック" charset="0"/>
                <a:cs typeface="ＭＳ Ｐゴシック" charset="0"/>
              </a:rPr>
              <a:t>ActionEvent</a:t>
            </a:r>
            <a:r>
              <a:rPr lang="en-US" sz="1200" dirty="0">
                <a:latin typeface="Times New Roman" charset="0"/>
                <a:ea typeface="ＭＳ Ｐゴシック" charset="0"/>
                <a:cs typeface="ＭＳ Ｐゴシック" charset="0"/>
              </a:rPr>
              <a:t> e)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System.out.println</a:t>
            </a:r>
            <a:r>
              <a:rPr lang="en-US" sz="1200" dirty="0">
                <a:latin typeface="Times New Roman" charset="0"/>
                <a:ea typeface="ＭＳ Ｐゴシック" charset="0"/>
                <a:cs typeface="ＭＳ Ｐゴシック" charset="0"/>
              </a:rPr>
              <a:t>("Process Print");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endParaRPr lang="en-US" sz="1200" dirty="0">
              <a:latin typeface="Times New Roman" charset="0"/>
              <a:ea typeface="ＭＳ Ｐゴシック" charset="0"/>
              <a:cs typeface="ＭＳ Ｐゴシック" charset="0"/>
            </a:endParaRPr>
          </a:p>
          <a:p>
            <a:pPr>
              <a:defRPr/>
            </a:pPr>
            <a:r>
              <a:rPr lang="en-US" sz="1200" dirty="0">
                <a:latin typeface="Times New Roman" charset="0"/>
                <a:ea typeface="ＭＳ Ｐゴシック" charset="0"/>
                <a:cs typeface="ＭＳ Ｐゴシック" charset="0"/>
              </a:rPr>
              <a:t>    // Create a scene and place it in the stage</a:t>
            </a:r>
          </a:p>
          <a:p>
            <a:pPr>
              <a:defRPr/>
            </a:pPr>
            <a:r>
              <a:rPr lang="en-US" sz="1200" dirty="0">
                <a:latin typeface="Times New Roman" charset="0"/>
                <a:ea typeface="ＭＳ Ｐゴシック" charset="0"/>
                <a:cs typeface="ＭＳ Ｐゴシック" charset="0"/>
              </a:rPr>
              <a:t>    Scene scene = new Scene(</a:t>
            </a:r>
            <a:r>
              <a:rPr lang="en-US" sz="1200" dirty="0" err="1">
                <a:latin typeface="Times New Roman" charset="0"/>
                <a:ea typeface="ＭＳ Ｐゴシック" charset="0"/>
                <a:cs typeface="ＭＳ Ｐゴシック" charset="0"/>
              </a:rPr>
              <a:t>hBox</a:t>
            </a:r>
            <a:r>
              <a:rPr lang="en-US" sz="1200" dirty="0">
                <a:latin typeface="Times New Roman" charset="0"/>
                <a:ea typeface="ＭＳ Ｐゴシック" charset="0"/>
                <a:cs typeface="ＭＳ Ｐゴシック" charset="0"/>
              </a:rPr>
              <a:t>, 300, 50);</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primaryStage.setTitle</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AnonymousHandlerDemo</a:t>
            </a:r>
            <a:r>
              <a:rPr lang="en-US" sz="1200" dirty="0">
                <a:latin typeface="Times New Roman" charset="0"/>
                <a:ea typeface="ＭＳ Ｐゴシック" charset="0"/>
                <a:cs typeface="ＭＳ Ｐゴシック" charset="0"/>
              </a:rPr>
              <a:t>"); // Set title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primaryStage.setScene</a:t>
            </a:r>
            <a:r>
              <a:rPr lang="en-US" sz="1200" dirty="0">
                <a:latin typeface="Times New Roman" charset="0"/>
                <a:ea typeface="ＭＳ Ｐゴシック" charset="0"/>
                <a:cs typeface="ＭＳ Ｐゴシック" charset="0"/>
              </a:rPr>
              <a:t>(scene); // Place the scene in the stage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primaryStage.show</a:t>
            </a:r>
            <a:r>
              <a:rPr lang="en-US" sz="1200" dirty="0">
                <a:latin typeface="Times New Roman" charset="0"/>
                <a:ea typeface="ＭＳ Ｐゴシック" charset="0"/>
                <a:cs typeface="ＭＳ Ｐゴシック" charset="0"/>
              </a:rPr>
              <a:t>(); // Display the stage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The main method is only needed for the IDE with limited</a:t>
            </a:r>
          </a:p>
          <a:p>
            <a:pPr>
              <a:defRPr/>
            </a:pP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 support. Not needed for running from the command line.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public static void main(String[] </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launch(</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p:txBody>
      </p:sp>
      <p:pic>
        <p:nvPicPr>
          <p:cNvPr id="5" name="Picture 4"/>
          <p:cNvPicPr>
            <a:picLocks noChangeAspect="1"/>
          </p:cNvPicPr>
          <p:nvPr/>
        </p:nvPicPr>
        <p:blipFill>
          <a:blip r:embed="rId2" cstate="print"/>
          <a:stretch>
            <a:fillRect/>
          </a:stretch>
        </p:blipFill>
        <p:spPr>
          <a:xfrm>
            <a:off x="4876800" y="5486400"/>
            <a:ext cx="3810000" cy="914400"/>
          </a:xfrm>
          <a:prstGeom prst="rect">
            <a:avLst/>
          </a:prstGeom>
          <a:ln>
            <a:solidFill>
              <a:schemeClr val="bg1">
                <a:lumMod val="75000"/>
              </a:schemeClr>
            </a:solidFill>
          </a:ln>
        </p:spPr>
      </p:pic>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304800" y="228600"/>
            <a:ext cx="8458200" cy="129540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Simplifying Event Handing Using Lambda Expressions</a:t>
            </a:r>
          </a:p>
        </p:txBody>
      </p:sp>
      <p:sp>
        <p:nvSpPr>
          <p:cNvPr id="28676" name="Rectangle 3"/>
          <p:cNvSpPr>
            <a:spLocks noGrp="1" noChangeArrowheads="1"/>
          </p:cNvSpPr>
          <p:nvPr>
            <p:ph idx="1"/>
          </p:nvPr>
        </p:nvSpPr>
        <p:spPr>
          <a:xfrm>
            <a:off x="228600" y="1676400"/>
            <a:ext cx="8686800" cy="2667000"/>
          </a:xfrm>
        </p:spPr>
        <p:txBody>
          <a:bodyPr/>
          <a:lstStyle/>
          <a:p>
            <a:pPr marL="0" indent="0">
              <a:buFont typeface="Monotype Sorts" charset="0"/>
              <a:buNone/>
              <a:defRPr/>
            </a:pPr>
            <a:r>
              <a:rPr lang="en-US" sz="2800" i="1" dirty="0">
                <a:latin typeface="Times New Roman" panose="02020603050405020304" pitchFamily="18" charset="0"/>
                <a:ea typeface="ＭＳ Ｐゴシック" charset="0"/>
                <a:cs typeface="Times New Roman" panose="02020603050405020304" pitchFamily="18" charset="0"/>
              </a:rPr>
              <a:t>Lambda expression</a:t>
            </a:r>
            <a:r>
              <a:rPr lang="en-US" sz="2800" dirty="0">
                <a:latin typeface="Times New Roman" panose="02020603050405020304" pitchFamily="18" charset="0"/>
                <a:ea typeface="ＭＳ Ｐゴシック" charset="0"/>
                <a:cs typeface="Times New Roman" panose="02020603050405020304" pitchFamily="18" charset="0"/>
              </a:rPr>
              <a:t> is a new feature in Java 8. Lambda expressions can be viewed as an anonymous method with a concise syntax. For example, the following code in (a) can be greatly simplified using a lambda expression in (b) in three lines.</a:t>
            </a:r>
          </a:p>
        </p:txBody>
      </p:sp>
      <p:sp>
        <p:nvSpPr>
          <p:cNvPr id="88069" name="Rectangle 2"/>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sp>
        <p:nvSpPr>
          <p:cNvPr id="88070" name="Rectangle 4"/>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graphicFrame>
        <p:nvGraphicFramePr>
          <p:cNvPr id="2" name="Object 1"/>
          <p:cNvGraphicFramePr>
            <a:graphicFrameLocks noChangeAspect="1"/>
          </p:cNvGraphicFramePr>
          <p:nvPr/>
        </p:nvGraphicFramePr>
        <p:xfrm>
          <a:off x="128588" y="3886200"/>
          <a:ext cx="8886825" cy="2438400"/>
        </p:xfrm>
        <a:graphic>
          <a:graphicData uri="http://schemas.openxmlformats.org/presentationml/2006/ole">
            <mc:AlternateContent xmlns:mc="http://schemas.openxmlformats.org/markup-compatibility/2006">
              <mc:Choice xmlns:v="urn:schemas-microsoft-com:vml" Requires="v">
                <p:oleObj name="Picture" r:id="rId2" imgW="4799841" imgH="1312361" progId="Word.Picture.8">
                  <p:embed/>
                </p:oleObj>
              </mc:Choice>
              <mc:Fallback>
                <p:oleObj name="Picture" r:id="rId2" imgW="4799841" imgH="1312361" progId="Word.Picture.8">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8" y="3886200"/>
                        <a:ext cx="8886825" cy="2438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152400" y="381000"/>
            <a:ext cx="8763000" cy="66675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Basic Syntax for a Lambda Expression</a:t>
            </a:r>
          </a:p>
        </p:txBody>
      </p:sp>
      <p:sp>
        <p:nvSpPr>
          <p:cNvPr id="29700" name="Rectangle 3"/>
          <p:cNvSpPr>
            <a:spLocks noGrp="1" noChangeArrowheads="1"/>
          </p:cNvSpPr>
          <p:nvPr>
            <p:ph idx="1"/>
          </p:nvPr>
        </p:nvSpPr>
        <p:spPr>
          <a:xfrm>
            <a:off x="76200" y="1447800"/>
            <a:ext cx="8915400" cy="4724400"/>
          </a:xfrm>
        </p:spPr>
        <p:txBody>
          <a:bodyPr/>
          <a:lstStyle/>
          <a:p>
            <a:pPr marL="0" indent="0">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The basic syntax for a lambda expression is either</a:t>
            </a:r>
          </a:p>
          <a:p>
            <a:pPr marL="0" indent="0">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  (type1 param1, type2 param2, ...) -&gt; expression</a:t>
            </a:r>
          </a:p>
          <a:p>
            <a:pPr marL="0" indent="0">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or</a:t>
            </a:r>
          </a:p>
          <a:p>
            <a:pPr marL="0" indent="0">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  (type1 param1, type2 param2, ...) -&gt; { statements; }</a:t>
            </a:r>
          </a:p>
          <a:p>
            <a:pPr marL="0" indent="0">
              <a:buFont typeface="Monotype Sorts" charset="0"/>
              <a:buNone/>
              <a:defRPr/>
            </a:pPr>
            <a:endParaRPr lang="en-US" sz="2800" dirty="0">
              <a:latin typeface="Times New Roman" panose="02020603050405020304" pitchFamily="18" charset="0"/>
              <a:ea typeface="ＭＳ Ｐゴシック" charset="0"/>
              <a:cs typeface="Times New Roman" panose="02020603050405020304" pitchFamily="18" charset="0"/>
            </a:endParaRPr>
          </a:p>
          <a:p>
            <a:pPr marL="0" indent="0">
              <a:buFont typeface="Monotype Sorts" charset="0"/>
              <a:buNone/>
              <a:defRPr/>
            </a:pPr>
            <a:r>
              <a:rPr lang="en-US" sz="2800" dirty="0">
                <a:latin typeface="Times New Roman" panose="02020603050405020304" pitchFamily="18" charset="0"/>
                <a:ea typeface="ＭＳ Ｐゴシック" charset="0"/>
                <a:cs typeface="Times New Roman" panose="02020603050405020304" pitchFamily="18" charset="0"/>
              </a:rPr>
              <a:t>The data type for a parameter may be explicitly declared or implicitly inferred by the compiler. The parentheses can be omitted if there is only one parameter without an explicit data type. </a:t>
            </a: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76200" y="381000"/>
            <a:ext cx="8991600" cy="66675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Single Abstract Method Interface (SAM)</a:t>
            </a:r>
          </a:p>
        </p:txBody>
      </p:sp>
      <p:sp>
        <p:nvSpPr>
          <p:cNvPr id="30724" name="Rectangle 3"/>
          <p:cNvSpPr>
            <a:spLocks noGrp="1" noChangeArrowheads="1"/>
          </p:cNvSpPr>
          <p:nvPr>
            <p:ph idx="1"/>
          </p:nvPr>
        </p:nvSpPr>
        <p:spPr>
          <a:xfrm>
            <a:off x="38100" y="1752600"/>
            <a:ext cx="8915400" cy="4724400"/>
          </a:xfrm>
        </p:spPr>
        <p:txBody>
          <a:bodyPr/>
          <a:lstStyle/>
          <a:p>
            <a:pPr marL="0" indent="0">
              <a:buFont typeface="Monotype Sorts" charset="2"/>
              <a:buNone/>
              <a:defRPr/>
            </a:pPr>
            <a:r>
              <a:rPr lang="en-US" sz="2800" dirty="0">
                <a:latin typeface="Times New Roman" panose="02020603050405020304" pitchFamily="18" charset="0"/>
                <a:cs typeface="Times New Roman" panose="02020603050405020304" pitchFamily="18" charset="0"/>
              </a:rPr>
              <a:t>The statements in the lambda expression is all for that method. If it contains multiple methods, the compiler will not be able to compile the lambda expression. So, for the compiler to understand lambda expressions, the interface must contain exactly one abstract method. Such an interface is known as a </a:t>
            </a:r>
            <a:r>
              <a:rPr lang="en-US" sz="2800" i="1" dirty="0">
                <a:latin typeface="Times New Roman" panose="02020603050405020304" pitchFamily="18" charset="0"/>
                <a:cs typeface="Times New Roman" panose="02020603050405020304" pitchFamily="18" charset="0"/>
              </a:rPr>
              <a:t>functional interface</a:t>
            </a:r>
            <a:r>
              <a:rPr lang="en-US" sz="2800" dirty="0">
                <a:latin typeface="Times New Roman" panose="02020603050405020304" pitchFamily="18" charset="0"/>
                <a:cs typeface="Times New Roman" panose="02020603050405020304" pitchFamily="18" charset="0"/>
              </a:rPr>
              <a:t>, or a </a:t>
            </a:r>
            <a:r>
              <a:rPr lang="en-US" sz="2800" i="1" dirty="0">
                <a:latin typeface="Times New Roman" panose="02020603050405020304" pitchFamily="18" charset="0"/>
                <a:cs typeface="Times New Roman" panose="02020603050405020304" pitchFamily="18" charset="0"/>
              </a:rPr>
              <a:t>Single Abstract Method</a:t>
            </a:r>
            <a:r>
              <a:rPr lang="en-US" sz="2800" dirty="0">
                <a:latin typeface="Times New Roman" panose="02020603050405020304" pitchFamily="18" charset="0"/>
                <a:cs typeface="Times New Roman" panose="02020603050405020304" pitchFamily="18" charset="0"/>
              </a:rPr>
              <a:t> (SAM) interface. </a:t>
            </a:r>
          </a:p>
        </p:txBody>
      </p:sp>
      <p:sp>
        <p:nvSpPr>
          <p:cNvPr id="9" name="Rectangle 8">
            <a:hlinkClick r:id="rId2"/>
          </p:cNvPr>
          <p:cNvSpPr>
            <a:spLocks noChangeArrowheads="1"/>
          </p:cNvSpPr>
          <p:nvPr/>
        </p:nvSpPr>
        <p:spPr bwMode="auto">
          <a:xfrm>
            <a:off x="3790950" y="5638800"/>
            <a:ext cx="31496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LambdaHandlerDemo</a:t>
            </a:r>
            <a:endParaRPr lang="en-US" altLang="en-US" sz="2000" dirty="0"/>
          </a:p>
        </p:txBody>
      </p:sp>
      <p:sp>
        <p:nvSpPr>
          <p:cNvPr id="10" name="AutoShape 10">
            <a:hlinkClick r:id="rId3" action="ppaction://program" highlightClick="1"/>
          </p:cNvPr>
          <p:cNvSpPr>
            <a:spLocks noChangeArrowheads="1"/>
          </p:cNvSpPr>
          <p:nvPr/>
        </p:nvSpPr>
        <p:spPr bwMode="auto">
          <a:xfrm>
            <a:off x="7042150" y="56388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dirty="0">
                <a:latin typeface="Book Antiqua" pitchFamily="18" charset="0"/>
              </a:rPr>
              <a:t>Run</a:t>
            </a:r>
            <a:endParaRPr lang="en-US" altLang="en-US" sz="1800" dirty="0"/>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ChangeArrowheads="1"/>
          </p:cNvSpPr>
          <p:nvPr/>
        </p:nvSpPr>
        <p:spPr bwMode="auto">
          <a:xfrm>
            <a:off x="0" y="-11113"/>
            <a:ext cx="4572000" cy="637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javafx.event.ActionEvent;</a:t>
            </a:r>
          </a:p>
          <a:p>
            <a:r>
              <a:rPr lang="en-US" altLang="en-US" sz="1200"/>
              <a:t>import javafx.geometry.Pos;</a:t>
            </a:r>
          </a:p>
          <a:p>
            <a:r>
              <a:rPr lang="en-US" altLang="en-US" sz="1200"/>
              <a:t>import javafx.scene.Scene;</a:t>
            </a:r>
          </a:p>
          <a:p>
            <a:r>
              <a:rPr lang="en-US" altLang="en-US" sz="1200"/>
              <a:t>import javafx.scene.control.Button;</a:t>
            </a:r>
          </a:p>
          <a:p>
            <a:r>
              <a:rPr lang="en-US" altLang="en-US" sz="1200"/>
              <a:t>import javafx.scene.layout.HBox;</a:t>
            </a:r>
          </a:p>
          <a:p>
            <a:r>
              <a:rPr lang="en-US" altLang="en-US" sz="1200"/>
              <a:t>import javafx.stage.Stage;</a:t>
            </a:r>
          </a:p>
          <a:p>
            <a:endParaRPr lang="en-US" altLang="en-US" sz="1200"/>
          </a:p>
          <a:p>
            <a:r>
              <a:rPr lang="en-US" altLang="en-US" sz="1200"/>
              <a:t>public class LambdaHandlerDemo extends Application {</a:t>
            </a:r>
          </a:p>
          <a:p>
            <a:r>
              <a:rPr lang="en-US" altLang="en-US" sz="1200"/>
              <a:t>  @Override // Override the start method in the Application class</a:t>
            </a:r>
          </a:p>
          <a:p>
            <a:r>
              <a:rPr lang="en-US" altLang="en-US" sz="1200"/>
              <a:t>  public void start(Stage primaryStage) {</a:t>
            </a:r>
          </a:p>
          <a:p>
            <a:r>
              <a:rPr lang="en-US" altLang="en-US" sz="1200"/>
              <a:t>    // Hold two buttons in an HBox</a:t>
            </a:r>
          </a:p>
          <a:p>
            <a:r>
              <a:rPr lang="en-US" altLang="en-US" sz="1200"/>
              <a:t>    HBox hBox = new HBox();</a:t>
            </a:r>
          </a:p>
          <a:p>
            <a:r>
              <a:rPr lang="en-US" altLang="en-US" sz="1200"/>
              <a:t>    hBox.setSpacing(10);</a:t>
            </a:r>
          </a:p>
          <a:p>
            <a:r>
              <a:rPr lang="en-US" altLang="en-US" sz="1200"/>
              <a:t>    hBox.setAlignment(Pos.CENTER);</a:t>
            </a:r>
          </a:p>
          <a:p>
            <a:r>
              <a:rPr lang="en-US" altLang="en-US" sz="1200"/>
              <a:t>    Button btNew = new Button("New");</a:t>
            </a:r>
          </a:p>
          <a:p>
            <a:r>
              <a:rPr lang="en-US" altLang="en-US" sz="1200"/>
              <a:t>    Button btOpen = new Button("Open");</a:t>
            </a:r>
          </a:p>
          <a:p>
            <a:r>
              <a:rPr lang="en-US" altLang="en-US" sz="1200"/>
              <a:t>    Button btSave = new Button("Save");</a:t>
            </a:r>
          </a:p>
          <a:p>
            <a:r>
              <a:rPr lang="en-US" altLang="en-US" sz="1200"/>
              <a:t>    Button btPrint = new Button("Print");</a:t>
            </a:r>
          </a:p>
          <a:p>
            <a:r>
              <a:rPr lang="en-US" altLang="en-US" sz="1200"/>
              <a:t>    hBox.getChildren().addAll(btNew, btOpen, btSave, btPrint);</a:t>
            </a:r>
          </a:p>
          <a:p>
            <a:r>
              <a:rPr lang="en-US" altLang="en-US" sz="1200"/>
              <a:t>  </a:t>
            </a:r>
          </a:p>
          <a:p>
            <a:r>
              <a:rPr lang="en-US" altLang="en-US" sz="1200"/>
              <a:t>    // Create and register the handler</a:t>
            </a:r>
          </a:p>
          <a:p>
            <a:r>
              <a:rPr lang="en-US" altLang="en-US" sz="1200"/>
              <a:t>    btNew.setOnAction((ActionEvent e) -&gt; {</a:t>
            </a:r>
          </a:p>
          <a:p>
            <a:r>
              <a:rPr lang="en-US" altLang="en-US" sz="1200"/>
              <a:t>      System.out.println("Process New");</a:t>
            </a:r>
          </a:p>
          <a:p>
            <a:r>
              <a:rPr lang="en-US" altLang="en-US" sz="1200"/>
              <a:t>    });</a:t>
            </a:r>
          </a:p>
          <a:p>
            <a:endParaRPr lang="en-US" altLang="en-US" sz="1200"/>
          </a:p>
          <a:p>
            <a:r>
              <a:rPr lang="en-US" altLang="en-US" sz="1200"/>
              <a:t>    btOpen.setOnAction((e) -&gt; {</a:t>
            </a:r>
          </a:p>
          <a:p>
            <a:r>
              <a:rPr lang="en-US" altLang="en-US" sz="1200"/>
              <a:t>      System.out.println("Process Open");</a:t>
            </a:r>
          </a:p>
          <a:p>
            <a:r>
              <a:rPr lang="en-US" altLang="en-US" sz="1200"/>
              <a:t>    });</a:t>
            </a:r>
          </a:p>
          <a:p>
            <a:r>
              <a:rPr lang="en-US" altLang="en-US" sz="1200"/>
              <a:t>    </a:t>
            </a:r>
          </a:p>
          <a:p>
            <a:r>
              <a:rPr lang="en-US" altLang="en-US" sz="1200"/>
              <a:t>    btSave.setOnAction(e -&gt; {</a:t>
            </a:r>
          </a:p>
          <a:p>
            <a:r>
              <a:rPr lang="en-US" altLang="en-US" sz="1200"/>
              <a:t>      System.out.println("Process Save");</a:t>
            </a:r>
          </a:p>
          <a:p>
            <a:r>
              <a:rPr lang="en-US" altLang="en-US" sz="1200"/>
              <a:t>    });</a:t>
            </a:r>
          </a:p>
          <a:p>
            <a:r>
              <a:rPr lang="en-US" altLang="en-US" sz="1200"/>
              <a:t>    </a:t>
            </a:r>
          </a:p>
        </p:txBody>
      </p:sp>
      <p:sp>
        <p:nvSpPr>
          <p:cNvPr id="4" name="Rectangle 3"/>
          <p:cNvSpPr/>
          <p:nvPr/>
        </p:nvSpPr>
        <p:spPr>
          <a:xfrm>
            <a:off x="4583113" y="20638"/>
            <a:ext cx="4572000" cy="3232150"/>
          </a:xfrm>
          <a:prstGeom prst="rect">
            <a:avLst/>
          </a:prstGeom>
          <a:ln>
            <a:solidFill>
              <a:schemeClr val="bg1">
                <a:lumMod val="75000"/>
              </a:schemeClr>
            </a:solidFill>
          </a:ln>
        </p:spPr>
        <p:txBody>
          <a:bodyPr>
            <a:spAutoFit/>
          </a:bodyPr>
          <a:lstStyle/>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btPrint.setOnAction</a:t>
            </a:r>
            <a:r>
              <a:rPr lang="en-US" sz="1200" dirty="0">
                <a:latin typeface="Times New Roman" charset="0"/>
                <a:ea typeface="ＭＳ Ｐゴシック" charset="0"/>
                <a:cs typeface="ＭＳ Ｐゴシック" charset="0"/>
              </a:rPr>
              <a:t>(e -&gt; </a:t>
            </a:r>
            <a:r>
              <a:rPr lang="en-US" sz="1200" dirty="0" err="1">
                <a:latin typeface="Times New Roman" charset="0"/>
                <a:ea typeface="ＭＳ Ｐゴシック" charset="0"/>
                <a:cs typeface="ＭＳ Ｐゴシック" charset="0"/>
              </a:rPr>
              <a:t>System.out.println</a:t>
            </a:r>
            <a:r>
              <a:rPr lang="en-US" sz="1200" dirty="0">
                <a:latin typeface="Times New Roman" charset="0"/>
                <a:ea typeface="ＭＳ Ｐゴシック" charset="0"/>
                <a:cs typeface="ＭＳ Ｐゴシック" charset="0"/>
              </a:rPr>
              <a:t>("Process Print"));</a:t>
            </a:r>
          </a:p>
          <a:p>
            <a:pPr>
              <a:defRPr/>
            </a:pPr>
            <a:endParaRPr lang="en-US" sz="1200" dirty="0">
              <a:latin typeface="Times New Roman" charset="0"/>
              <a:ea typeface="ＭＳ Ｐゴシック" charset="0"/>
              <a:cs typeface="ＭＳ Ｐゴシック" charset="0"/>
            </a:endParaRPr>
          </a:p>
          <a:p>
            <a:pPr>
              <a:defRPr/>
            </a:pPr>
            <a:r>
              <a:rPr lang="en-US" sz="1200" dirty="0">
                <a:latin typeface="Times New Roman" charset="0"/>
                <a:ea typeface="ＭＳ Ｐゴシック" charset="0"/>
                <a:cs typeface="ＭＳ Ｐゴシック" charset="0"/>
              </a:rPr>
              <a:t>    // Create a scene and place it in the stage</a:t>
            </a:r>
          </a:p>
          <a:p>
            <a:pPr>
              <a:defRPr/>
            </a:pPr>
            <a:r>
              <a:rPr lang="en-US" sz="1200" dirty="0">
                <a:latin typeface="Times New Roman" charset="0"/>
                <a:ea typeface="ＭＳ Ｐゴシック" charset="0"/>
                <a:cs typeface="ＭＳ Ｐゴシック" charset="0"/>
              </a:rPr>
              <a:t>    Scene scene = new Scene(</a:t>
            </a:r>
            <a:r>
              <a:rPr lang="en-US" sz="1200" dirty="0" err="1">
                <a:latin typeface="Times New Roman" charset="0"/>
                <a:ea typeface="ＭＳ Ｐゴシック" charset="0"/>
                <a:cs typeface="ＭＳ Ｐゴシック" charset="0"/>
              </a:rPr>
              <a:t>hBox</a:t>
            </a:r>
            <a:r>
              <a:rPr lang="en-US" sz="1200" dirty="0">
                <a:latin typeface="Times New Roman" charset="0"/>
                <a:ea typeface="ＭＳ Ｐゴシック" charset="0"/>
                <a:cs typeface="ＭＳ Ｐゴシック" charset="0"/>
              </a:rPr>
              <a:t>, 300, 50);</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primaryStage.setTitle</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LambdaHandlerDemo</a:t>
            </a:r>
            <a:r>
              <a:rPr lang="en-US" sz="1200" dirty="0">
                <a:latin typeface="Times New Roman" charset="0"/>
                <a:ea typeface="ＭＳ Ｐゴシック" charset="0"/>
                <a:cs typeface="ＭＳ Ｐゴシック" charset="0"/>
              </a:rPr>
              <a:t>"); // Set title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primaryStage.setScene</a:t>
            </a:r>
            <a:r>
              <a:rPr lang="en-US" sz="1200" dirty="0">
                <a:latin typeface="Times New Roman" charset="0"/>
                <a:ea typeface="ＭＳ Ｐゴシック" charset="0"/>
                <a:cs typeface="ＭＳ Ｐゴシック" charset="0"/>
              </a:rPr>
              <a:t>(scene); // Place the scene in the stage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primaryStage.show</a:t>
            </a:r>
            <a:r>
              <a:rPr lang="en-US" sz="1200" dirty="0">
                <a:latin typeface="Times New Roman" charset="0"/>
                <a:ea typeface="ＭＳ Ｐゴシック" charset="0"/>
                <a:cs typeface="ＭＳ Ｐゴシック" charset="0"/>
              </a:rPr>
              <a:t>(); // Display the stage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The main method is only needed for the IDE with limited</a:t>
            </a:r>
          </a:p>
          <a:p>
            <a:pPr>
              <a:defRPr/>
            </a:pP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 support. Not needed for running from the command line.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public static void main(String[] </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launch(</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p:txBody>
      </p:sp>
      <p:pic>
        <p:nvPicPr>
          <p:cNvPr id="91141"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6800" y="3429000"/>
            <a:ext cx="3810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6"/>
          <p:cNvSpPr>
            <a:spLocks noChangeArrowheads="1"/>
          </p:cNvSpPr>
          <p:nvPr/>
        </p:nvSpPr>
        <p:spPr bwMode="auto">
          <a:xfrm>
            <a:off x="2324100"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32773" name="Rectangle 8"/>
          <p:cNvSpPr>
            <a:spLocks noChangeArrowheads="1"/>
          </p:cNvSpPr>
          <p:nvPr/>
        </p:nvSpPr>
        <p:spPr bwMode="auto">
          <a:xfrm>
            <a:off x="2324100"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92166" name="Rectangle 8"/>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92170"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100" y="1552575"/>
            <a:ext cx="8813800" cy="375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1" name="Rectangle 2"/>
          <p:cNvSpPr txBox="1">
            <a:spLocks noChangeArrowheads="1"/>
          </p:cNvSpPr>
          <p:nvPr/>
        </p:nvSpPr>
        <p:spPr>
          <a:xfrm>
            <a:off x="914400" y="381000"/>
            <a:ext cx="7772400" cy="609600"/>
          </a:xfrm>
          <a:prstGeom prst="rect">
            <a:avLst/>
          </a:prstGeom>
        </p:spPr>
        <p:txBody>
          <a:bodyPr lIns="64502" tIns="32251" rIns="64502" bIns="32251"/>
          <a:lstStyle>
            <a:lvl1pPr algn="l" rtl="0" eaLnBrk="0" fontAlgn="base" hangingPunct="0">
              <a:spcBef>
                <a:spcPct val="0"/>
              </a:spcBef>
              <a:spcAft>
                <a:spcPct val="0"/>
              </a:spcAft>
              <a:defRPr sz="3500">
                <a:solidFill>
                  <a:schemeClr val="tx2"/>
                </a:solidFill>
                <a:latin typeface="+mj-lt"/>
                <a:ea typeface="+mj-ea"/>
                <a:cs typeface="+mj-cs"/>
              </a:defRPr>
            </a:lvl1pPr>
            <a:lvl2pPr algn="l" rtl="0" eaLnBrk="0" fontAlgn="base" hangingPunct="0">
              <a:spcBef>
                <a:spcPct val="0"/>
              </a:spcBef>
              <a:spcAft>
                <a:spcPct val="0"/>
              </a:spcAft>
              <a:defRPr sz="3500">
                <a:solidFill>
                  <a:schemeClr val="tx2"/>
                </a:solidFill>
                <a:latin typeface="Tahoma" pitchFamily="34" charset="0"/>
              </a:defRPr>
            </a:lvl2pPr>
            <a:lvl3pPr algn="l" rtl="0" eaLnBrk="0" fontAlgn="base" hangingPunct="0">
              <a:spcBef>
                <a:spcPct val="0"/>
              </a:spcBef>
              <a:spcAft>
                <a:spcPct val="0"/>
              </a:spcAft>
              <a:defRPr sz="3500">
                <a:solidFill>
                  <a:schemeClr val="tx2"/>
                </a:solidFill>
                <a:latin typeface="Tahoma" pitchFamily="34" charset="0"/>
              </a:defRPr>
            </a:lvl3pPr>
            <a:lvl4pPr algn="l" rtl="0" eaLnBrk="0" fontAlgn="base" hangingPunct="0">
              <a:spcBef>
                <a:spcPct val="0"/>
              </a:spcBef>
              <a:spcAft>
                <a:spcPct val="0"/>
              </a:spcAft>
              <a:defRPr sz="3500">
                <a:solidFill>
                  <a:schemeClr val="tx2"/>
                </a:solidFill>
                <a:latin typeface="Tahoma" pitchFamily="34" charset="0"/>
              </a:defRPr>
            </a:lvl4pPr>
            <a:lvl5pPr algn="l" rtl="0" eaLnBrk="0" fontAlgn="base" hangingPunct="0">
              <a:spcBef>
                <a:spcPct val="0"/>
              </a:spcBef>
              <a:spcAft>
                <a:spcPct val="0"/>
              </a:spcAft>
              <a:defRPr sz="3500">
                <a:solidFill>
                  <a:schemeClr val="tx2"/>
                </a:solidFill>
                <a:latin typeface="Tahoma" pitchFamily="34" charset="0"/>
              </a:defRPr>
            </a:lvl5pPr>
            <a:lvl6pPr marL="370079" algn="l" rtl="0" fontAlgn="base">
              <a:spcBef>
                <a:spcPct val="0"/>
              </a:spcBef>
              <a:spcAft>
                <a:spcPct val="0"/>
              </a:spcAft>
              <a:defRPr sz="3500">
                <a:solidFill>
                  <a:schemeClr val="tx2"/>
                </a:solidFill>
                <a:latin typeface="Tahoma" pitchFamily="34" charset="0"/>
              </a:defRPr>
            </a:lvl6pPr>
            <a:lvl7pPr marL="740158" algn="l" rtl="0" fontAlgn="base">
              <a:spcBef>
                <a:spcPct val="0"/>
              </a:spcBef>
              <a:spcAft>
                <a:spcPct val="0"/>
              </a:spcAft>
              <a:defRPr sz="3500">
                <a:solidFill>
                  <a:schemeClr val="tx2"/>
                </a:solidFill>
                <a:latin typeface="Tahoma" pitchFamily="34" charset="0"/>
              </a:defRPr>
            </a:lvl7pPr>
            <a:lvl8pPr marL="1110237" algn="l" rtl="0" fontAlgn="base">
              <a:spcBef>
                <a:spcPct val="0"/>
              </a:spcBef>
              <a:spcAft>
                <a:spcPct val="0"/>
              </a:spcAft>
              <a:defRPr sz="3500">
                <a:solidFill>
                  <a:schemeClr val="tx2"/>
                </a:solidFill>
                <a:latin typeface="Tahoma" pitchFamily="34" charset="0"/>
              </a:defRPr>
            </a:lvl8pPr>
            <a:lvl9pPr marL="1480316" algn="l" rtl="0" fontAlgn="base">
              <a:spcBef>
                <a:spcPct val="0"/>
              </a:spcBef>
              <a:spcAft>
                <a:spcPct val="0"/>
              </a:spcAft>
              <a:defRPr sz="3500">
                <a:solidFill>
                  <a:schemeClr val="tx2"/>
                </a:solidFill>
                <a:latin typeface="Tahoma" pitchFamily="34" charset="0"/>
              </a:defRPr>
            </a:lvl9pPr>
          </a:lstStyle>
          <a:p>
            <a:pPr algn="ctr"/>
            <a:r>
              <a:rPr lang="en-US" altLang="en-US" sz="4400" b="1" kern="0" dirty="0">
                <a:solidFill>
                  <a:schemeClr val="tx1"/>
                </a:solidFill>
                <a:latin typeface="Times New Roman" panose="02020603050405020304" pitchFamily="18" charset="0"/>
                <a:cs typeface="Times New Roman" panose="02020603050405020304" pitchFamily="18" charset="0"/>
              </a:rPr>
              <a:t>The </a:t>
            </a:r>
            <a:r>
              <a:rPr lang="en-US" altLang="en-US" sz="4400" b="1" kern="0" dirty="0" err="1">
                <a:solidFill>
                  <a:schemeClr val="tx1"/>
                </a:solidFill>
                <a:latin typeface="Courier New" panose="02070309020205020404" pitchFamily="49" charset="0"/>
                <a:cs typeface="Courier New" panose="02070309020205020404" pitchFamily="49" charset="0"/>
              </a:rPr>
              <a:t>MouseEvent</a:t>
            </a:r>
            <a:r>
              <a:rPr lang="en-US" altLang="en-US" sz="4400" b="1" kern="0" dirty="0">
                <a:solidFill>
                  <a:schemeClr val="tx1"/>
                </a:solidFill>
                <a:latin typeface="Times New Roman" panose="02020603050405020304" pitchFamily="18" charset="0"/>
                <a:cs typeface="Times New Roman" panose="02020603050405020304" pitchFamily="18" charset="0"/>
              </a:rPr>
              <a:t> Class</a:t>
            </a:r>
          </a:p>
        </p:txBody>
      </p:sp>
      <p:sp>
        <p:nvSpPr>
          <p:cNvPr id="13" name="Rectangle 10">
            <a:hlinkClick r:id="rId3"/>
          </p:cNvPr>
          <p:cNvSpPr>
            <a:spLocks noChangeArrowheads="1"/>
          </p:cNvSpPr>
          <p:nvPr/>
        </p:nvSpPr>
        <p:spPr bwMode="auto">
          <a:xfrm>
            <a:off x="5041900" y="56388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MouseEventDemo</a:t>
            </a:r>
            <a:endParaRPr lang="en-US" altLang="en-US" sz="2000" dirty="0"/>
          </a:p>
        </p:txBody>
      </p:sp>
      <p:sp>
        <p:nvSpPr>
          <p:cNvPr id="14" name="AutoShape 10">
            <a:hlinkClick r:id="rId4" action="ppaction://program" highlightClick="1"/>
          </p:cNvPr>
          <p:cNvSpPr>
            <a:spLocks noChangeArrowheads="1"/>
          </p:cNvSpPr>
          <p:nvPr/>
        </p:nvSpPr>
        <p:spPr bwMode="auto">
          <a:xfrm>
            <a:off x="7467600" y="56388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ChangeArrowheads="1"/>
          </p:cNvSpPr>
          <p:nvPr/>
        </p:nvSpPr>
        <p:spPr bwMode="auto">
          <a:xfrm>
            <a:off x="228600" y="152400"/>
            <a:ext cx="4572000" cy="618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javafx.scene.Scene;</a:t>
            </a:r>
          </a:p>
          <a:p>
            <a:r>
              <a:rPr lang="en-US" altLang="en-US" sz="1200"/>
              <a:t>import javafx.scene.layout.Pane;</a:t>
            </a:r>
          </a:p>
          <a:p>
            <a:r>
              <a:rPr lang="en-US" altLang="en-US" sz="1200"/>
              <a:t>import javafx.scene.text.Text;</a:t>
            </a:r>
          </a:p>
          <a:p>
            <a:r>
              <a:rPr lang="en-US" altLang="en-US" sz="1200"/>
              <a:t>import javafx.stage.Stage;</a:t>
            </a:r>
          </a:p>
          <a:p>
            <a:endParaRPr lang="en-US" altLang="en-US" sz="1200"/>
          </a:p>
          <a:p>
            <a:r>
              <a:rPr lang="en-US" altLang="en-US" sz="1200"/>
              <a:t>public class MouseEventDemo extends Application {</a:t>
            </a:r>
          </a:p>
          <a:p>
            <a:r>
              <a:rPr lang="en-US" altLang="en-US" sz="1200"/>
              <a:t>  @Override // Override the start method in the Application class</a:t>
            </a:r>
          </a:p>
          <a:p>
            <a:r>
              <a:rPr lang="en-US" altLang="en-US" sz="1200"/>
              <a:t>  public void start(Stage primaryStage) {</a:t>
            </a:r>
          </a:p>
          <a:p>
            <a:r>
              <a:rPr lang="en-US" altLang="en-US" sz="1200"/>
              <a:t>    // Create a pane and set its properties</a:t>
            </a:r>
          </a:p>
          <a:p>
            <a:r>
              <a:rPr lang="en-US" altLang="en-US" sz="1200"/>
              <a:t>    Pane pane = new Pane();</a:t>
            </a:r>
          </a:p>
          <a:p>
            <a:r>
              <a:rPr lang="en-US" altLang="en-US" sz="1200"/>
              <a:t>    Text text = new Text(20, 20, "Programming is fun");</a:t>
            </a:r>
          </a:p>
          <a:p>
            <a:r>
              <a:rPr lang="en-US" altLang="en-US" sz="1200"/>
              <a:t>    pane.getChildren().addAll(text);</a:t>
            </a:r>
          </a:p>
          <a:p>
            <a:r>
              <a:rPr lang="en-US" altLang="en-US" sz="1200"/>
              <a:t>    text.setOnMouseDragged(e -&gt; {       </a:t>
            </a:r>
          </a:p>
          <a:p>
            <a:r>
              <a:rPr lang="en-US" altLang="en-US" sz="1200"/>
              <a:t>      text.setX(e.getX());</a:t>
            </a:r>
          </a:p>
          <a:p>
            <a:r>
              <a:rPr lang="en-US" altLang="en-US" sz="1200"/>
              <a:t>      text.setY(e.getY());</a:t>
            </a:r>
          </a:p>
          <a:p>
            <a:r>
              <a:rPr lang="en-US" altLang="en-US" sz="1200"/>
              <a:t>    });</a:t>
            </a:r>
          </a:p>
          <a:p>
            <a:r>
              <a:rPr lang="en-US" altLang="en-US" sz="1200"/>
              <a:t>    </a:t>
            </a:r>
          </a:p>
          <a:p>
            <a:r>
              <a:rPr lang="en-US" altLang="en-US" sz="1200"/>
              <a:t>    // Create a scene and place it in the stage</a:t>
            </a:r>
          </a:p>
          <a:p>
            <a:r>
              <a:rPr lang="en-US" altLang="en-US" sz="1200"/>
              <a:t>    Scene scene = new Scene(pane, 300, 100);</a:t>
            </a:r>
          </a:p>
          <a:p>
            <a:r>
              <a:rPr lang="en-US" altLang="en-US" sz="1200"/>
              <a:t>    primaryStage.setTitle("MouseEventDemo"); // Set the stage title</a:t>
            </a:r>
          </a:p>
          <a:p>
            <a:r>
              <a:rPr lang="en-US" altLang="en-US" sz="1200"/>
              <a:t>    primaryStage.setScene(scene); // Place the scene in the stage</a:t>
            </a:r>
          </a:p>
          <a:p>
            <a:r>
              <a:rPr lang="en-US" altLang="en-US" sz="1200"/>
              <a:t>    primaryStage.show(); // Display the stage</a:t>
            </a:r>
          </a:p>
          <a:p>
            <a:r>
              <a:rPr lang="en-US" altLang="en-US" sz="1200"/>
              <a:t>  }</a:t>
            </a:r>
          </a:p>
          <a:p>
            <a:endParaRPr lang="en-US" altLang="en-US" sz="1200"/>
          </a:p>
          <a:p>
            <a:r>
              <a:rPr lang="en-US" altLang="en-US" sz="1200"/>
              <a:t>  /**</a:t>
            </a:r>
          </a:p>
          <a:p>
            <a:r>
              <a:rPr lang="en-US" altLang="en-US" sz="1200"/>
              <a:t>   * The main method is only needed for the IDE with limited</a:t>
            </a:r>
          </a:p>
          <a:p>
            <a:r>
              <a:rPr lang="en-US" altLang="en-US" sz="1200"/>
              <a:t>   * JavaFX support. Not needed for running from the command line.</a:t>
            </a:r>
          </a:p>
          <a:p>
            <a:r>
              <a:rPr lang="en-US" altLang="en-US" sz="1200"/>
              <a:t>   */</a:t>
            </a:r>
          </a:p>
          <a:p>
            <a:r>
              <a:rPr lang="en-US" altLang="en-US" sz="1200"/>
              <a:t>  public static void main(String[] args) {</a:t>
            </a:r>
          </a:p>
          <a:p>
            <a:r>
              <a:rPr lang="en-US" altLang="en-US" sz="1200"/>
              <a:t>    launch(args);</a:t>
            </a:r>
          </a:p>
          <a:p>
            <a:r>
              <a:rPr lang="en-US" altLang="en-US" sz="1200"/>
              <a:t>  }</a:t>
            </a:r>
          </a:p>
          <a:p>
            <a:r>
              <a:rPr lang="en-US" altLang="en-US" sz="1200"/>
              <a:t>} </a:t>
            </a:r>
          </a:p>
        </p:txBody>
      </p:sp>
      <p:pic>
        <p:nvPicPr>
          <p:cNvPr id="4" name="Picture 3"/>
          <p:cNvPicPr>
            <a:picLocks noChangeAspect="1"/>
          </p:cNvPicPr>
          <p:nvPr/>
        </p:nvPicPr>
        <p:blipFill>
          <a:blip r:embed="rId2" cstate="print"/>
          <a:stretch>
            <a:fillRect/>
          </a:stretch>
        </p:blipFill>
        <p:spPr>
          <a:xfrm>
            <a:off x="4876800" y="1295400"/>
            <a:ext cx="3810000" cy="1549400"/>
          </a:xfrm>
          <a:prstGeom prst="rect">
            <a:avLst/>
          </a:prstGeom>
          <a:ln>
            <a:solidFill>
              <a:schemeClr val="bg1">
                <a:lumMod val="75000"/>
              </a:schemeClr>
            </a:solidFill>
          </a:ln>
        </p:spPr>
      </p:pic>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685800" y="0"/>
            <a:ext cx="7772400" cy="1428750"/>
          </a:xfrm>
        </p:spPr>
        <p:txBody>
          <a:bodyPr/>
          <a:lstStyle/>
          <a:p>
            <a:pPr algn="ct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The </a:t>
            </a:r>
            <a:r>
              <a:rPr lang="en-US" sz="4400" b="1" dirty="0" err="1">
                <a:solidFill>
                  <a:schemeClr val="tx1"/>
                </a:solidFill>
                <a:latin typeface="Courier New" panose="02070309020205020404" pitchFamily="49" charset="0"/>
                <a:ea typeface="ＭＳ Ｐゴシック" charset="0"/>
                <a:cs typeface="Courier New" panose="02070309020205020404" pitchFamily="49" charset="0"/>
              </a:rPr>
              <a:t>KeyEvent</a:t>
            </a: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 Class</a:t>
            </a:r>
          </a:p>
        </p:txBody>
      </p:sp>
      <p:sp>
        <p:nvSpPr>
          <p:cNvPr id="33796" name="Rectangle 6"/>
          <p:cNvSpPr>
            <a:spLocks noChangeArrowheads="1"/>
          </p:cNvSpPr>
          <p:nvPr/>
        </p:nvSpPr>
        <p:spPr bwMode="auto">
          <a:xfrm>
            <a:off x="2324100" y="2928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defRPr/>
            </a:pPr>
            <a:endParaRPr lang="en-US">
              <a:latin typeface="Times New Roman" charset="0"/>
              <a:ea typeface="ＭＳ Ｐゴシック" charset="0"/>
              <a:cs typeface="ＭＳ Ｐゴシック" charset="0"/>
            </a:endParaRPr>
          </a:p>
        </p:txBody>
      </p:sp>
      <p:sp>
        <p:nvSpPr>
          <p:cNvPr id="94213" name="Rectangle 7"/>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9421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447800"/>
            <a:ext cx="883602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0" name="Rectangle 9">
            <a:hlinkClick r:id="rId3"/>
          </p:cNvPr>
          <p:cNvSpPr>
            <a:spLocks noChangeArrowheads="1"/>
          </p:cNvSpPr>
          <p:nvPr/>
        </p:nvSpPr>
        <p:spPr bwMode="auto">
          <a:xfrm>
            <a:off x="4419600" y="5486400"/>
            <a:ext cx="23241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KeyEventDemo</a:t>
            </a:r>
            <a:endParaRPr lang="en-US" altLang="en-US" sz="2000" dirty="0"/>
          </a:p>
        </p:txBody>
      </p:sp>
      <p:sp>
        <p:nvSpPr>
          <p:cNvPr id="11" name="AutoShape 10">
            <a:hlinkClick r:id="rId4" action="ppaction://program" highlightClick="1"/>
          </p:cNvPr>
          <p:cNvSpPr>
            <a:spLocks noChangeArrowheads="1"/>
          </p:cNvSpPr>
          <p:nvPr/>
        </p:nvSpPr>
        <p:spPr bwMode="auto">
          <a:xfrm>
            <a:off x="6845300" y="54864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a:latin typeface="Book Antiqua" pitchFamily="18" charset="0"/>
              </a:rPr>
              <a:t>Run</a:t>
            </a:r>
            <a:endParaRPr lang="en-US" altLang="en-US" sz="1800"/>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2"/>
          <p:cNvSpPr>
            <a:spLocks noChangeArrowheads="1"/>
          </p:cNvSpPr>
          <p:nvPr/>
        </p:nvSpPr>
        <p:spPr bwMode="auto">
          <a:xfrm>
            <a:off x="0" y="0"/>
            <a:ext cx="457200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javafx.scene.Scene;</a:t>
            </a:r>
          </a:p>
          <a:p>
            <a:r>
              <a:rPr lang="en-US" altLang="en-US" sz="1200"/>
              <a:t>import javafx.scene.layout.Pane;</a:t>
            </a:r>
          </a:p>
          <a:p>
            <a:r>
              <a:rPr lang="en-US" altLang="en-US" sz="1200"/>
              <a:t>import javafx.scene.text.Text;</a:t>
            </a:r>
          </a:p>
          <a:p>
            <a:r>
              <a:rPr lang="en-US" altLang="en-US" sz="1200"/>
              <a:t>import javafx.stage.Stage;</a:t>
            </a:r>
          </a:p>
          <a:p>
            <a:endParaRPr lang="en-US" altLang="en-US" sz="1200"/>
          </a:p>
          <a:p>
            <a:r>
              <a:rPr lang="en-US" altLang="en-US" sz="1200"/>
              <a:t>public class KeyEventDemo extends Application {</a:t>
            </a:r>
          </a:p>
          <a:p>
            <a:r>
              <a:rPr lang="en-US" altLang="en-US" sz="1200"/>
              <a:t>  @Override // Override the start method in the Application class</a:t>
            </a:r>
          </a:p>
          <a:p>
            <a:r>
              <a:rPr lang="en-US" altLang="en-US" sz="1200"/>
              <a:t>  public void start(Stage primaryStage) {</a:t>
            </a:r>
          </a:p>
          <a:p>
            <a:r>
              <a:rPr lang="en-US" altLang="en-US" sz="1200"/>
              <a:t>    // Create a pane and set its properties</a:t>
            </a:r>
          </a:p>
          <a:p>
            <a:r>
              <a:rPr lang="en-US" altLang="en-US" sz="1200"/>
              <a:t>    Pane pane = new Pane();</a:t>
            </a:r>
          </a:p>
          <a:p>
            <a:r>
              <a:rPr lang="en-US" altLang="en-US" sz="1200"/>
              <a:t>    Text text = new Text(20, 20, "A");</a:t>
            </a:r>
          </a:p>
          <a:p>
            <a:endParaRPr lang="en-US" altLang="en-US" sz="1200"/>
          </a:p>
          <a:p>
            <a:r>
              <a:rPr lang="en-US" altLang="en-US" sz="1200"/>
              <a:t>    pane.getChildren().add(text);</a:t>
            </a:r>
          </a:p>
          <a:p>
            <a:r>
              <a:rPr lang="en-US" altLang="en-US" sz="1200"/>
              <a:t>    text.setOnKeyPressed(e -&gt; {          </a:t>
            </a:r>
          </a:p>
          <a:p>
            <a:r>
              <a:rPr lang="pl-PL" altLang="en-US" sz="1200"/>
              <a:t>      switch (e.getCode()) {</a:t>
            </a:r>
          </a:p>
          <a:p>
            <a:r>
              <a:rPr lang="pl-PL" altLang="en-US" sz="1200"/>
              <a:t>        case DOWN: text.setY(text.getY() + 10); break;</a:t>
            </a:r>
          </a:p>
          <a:p>
            <a:r>
              <a:rPr lang="en-US" altLang="en-US" sz="1200"/>
              <a:t>        case UP:  text.setY(text.getY() - 10); break;</a:t>
            </a:r>
          </a:p>
          <a:p>
            <a:r>
              <a:rPr lang="en-US" altLang="en-US" sz="1200"/>
              <a:t>        case LEFT: text.setX(text.getX() - 10); break;</a:t>
            </a:r>
          </a:p>
          <a:p>
            <a:r>
              <a:rPr lang="en-US" altLang="en-US" sz="1200"/>
              <a:t>        case RIGHT: text.setX(text.getX() + 10); break;</a:t>
            </a:r>
          </a:p>
          <a:p>
            <a:r>
              <a:rPr lang="fr-FR" altLang="en-US" sz="1200"/>
              <a:t>        default: </a:t>
            </a:r>
          </a:p>
          <a:p>
            <a:r>
              <a:rPr lang="fr-FR" altLang="en-US" sz="1200"/>
              <a:t>          if (Character.isLetterOrDigit(e.getText().charAt(0)))</a:t>
            </a:r>
          </a:p>
          <a:p>
            <a:r>
              <a:rPr lang="fr-FR" altLang="en-US" sz="1200"/>
              <a:t>            text.setText(e.getText());</a:t>
            </a:r>
          </a:p>
          <a:p>
            <a:r>
              <a:rPr lang="fr-FR" altLang="en-US" sz="1200"/>
              <a:t>      }</a:t>
            </a:r>
          </a:p>
          <a:p>
            <a:r>
              <a:rPr lang="fr-FR" altLang="en-US" sz="1200"/>
              <a:t>    });</a:t>
            </a:r>
          </a:p>
          <a:p>
            <a:r>
              <a:rPr lang="fr-FR" altLang="en-US" sz="1200"/>
              <a:t>    </a:t>
            </a:r>
          </a:p>
          <a:p>
            <a:r>
              <a:rPr lang="fr-FR" altLang="en-US" sz="1200"/>
              <a:t>    // Create a scene and place the pane in the stage</a:t>
            </a:r>
          </a:p>
          <a:p>
            <a:r>
              <a:rPr lang="fr-FR" altLang="en-US" sz="1200"/>
              <a:t>    Scene scene = new Scene(pane);</a:t>
            </a:r>
          </a:p>
          <a:p>
            <a:r>
              <a:rPr lang="fr-FR" altLang="en-US" sz="1200"/>
              <a:t>    primaryStage.setTitle("KeyEventDemo"); // Set the stage title</a:t>
            </a:r>
          </a:p>
          <a:p>
            <a:r>
              <a:rPr lang="fr-FR" altLang="en-US" sz="1200"/>
              <a:t>    primaryStage.setScene(scene); // Place the scene in the stage</a:t>
            </a:r>
          </a:p>
          <a:p>
            <a:r>
              <a:rPr lang="fr-FR" altLang="en-US" sz="1200"/>
              <a:t>    primaryStage.show(); // Display the stage</a:t>
            </a:r>
          </a:p>
          <a:p>
            <a:r>
              <a:rPr lang="fr-FR" altLang="en-US" sz="1200"/>
              <a:t>    </a:t>
            </a:r>
          </a:p>
          <a:p>
            <a:r>
              <a:rPr lang="fr-FR" altLang="en-US" sz="1200"/>
              <a:t>    text.requestFocus(); // text is focused to receive key input</a:t>
            </a:r>
          </a:p>
          <a:p>
            <a:r>
              <a:rPr lang="fr-FR" altLang="en-US" sz="1200"/>
              <a:t>  }</a:t>
            </a:r>
          </a:p>
          <a:p>
            <a:endParaRPr lang="fr-FR" altLang="en-US" sz="1200"/>
          </a:p>
        </p:txBody>
      </p:sp>
      <p:sp>
        <p:nvSpPr>
          <p:cNvPr id="4" name="Rectangle 3"/>
          <p:cNvSpPr/>
          <p:nvPr/>
        </p:nvSpPr>
        <p:spPr>
          <a:xfrm>
            <a:off x="4572000" y="28575"/>
            <a:ext cx="4572000" cy="1568450"/>
          </a:xfrm>
          <a:prstGeom prst="rect">
            <a:avLst/>
          </a:prstGeom>
          <a:ln>
            <a:solidFill>
              <a:schemeClr val="bg1">
                <a:lumMod val="75000"/>
              </a:schemeClr>
            </a:solidFill>
          </a:ln>
        </p:spPr>
        <p:txBody>
          <a:bodyPr>
            <a:spAutoFit/>
          </a:bodyPr>
          <a:lstStyle/>
          <a:p>
            <a:pPr>
              <a:defRPr/>
            </a:pPr>
            <a:r>
              <a:rPr lang="fr-FR" sz="1200" dirty="0">
                <a:latin typeface="Times New Roman" charset="0"/>
                <a:ea typeface="ＭＳ Ｐゴシック" charset="0"/>
                <a:cs typeface="ＭＳ Ｐゴシック" charset="0"/>
              </a:rPr>
              <a:t> /**</a:t>
            </a:r>
          </a:p>
          <a:p>
            <a:pPr>
              <a:defRPr/>
            </a:pPr>
            <a:r>
              <a:rPr lang="fr-FR" sz="1200" dirty="0">
                <a:latin typeface="Times New Roman" charset="0"/>
                <a:ea typeface="ＭＳ Ｐゴシック" charset="0"/>
                <a:cs typeface="ＭＳ Ｐゴシック" charset="0"/>
              </a:rPr>
              <a:t>   * The main </a:t>
            </a:r>
            <a:r>
              <a:rPr lang="fr-FR" sz="1200" dirty="0" err="1">
                <a:latin typeface="Times New Roman" charset="0"/>
                <a:ea typeface="ＭＳ Ｐゴシック" charset="0"/>
                <a:cs typeface="ＭＳ Ｐゴシック" charset="0"/>
              </a:rPr>
              <a:t>method</a:t>
            </a:r>
            <a:r>
              <a:rPr lang="fr-FR" sz="1200" dirty="0">
                <a:latin typeface="Times New Roman" charset="0"/>
                <a:ea typeface="ＭＳ Ｐゴシック" charset="0"/>
                <a:cs typeface="ＭＳ Ｐゴシック" charset="0"/>
              </a:rPr>
              <a:t> </a:t>
            </a:r>
            <a:r>
              <a:rPr lang="fr-FR" sz="1200" dirty="0" err="1">
                <a:latin typeface="Times New Roman" charset="0"/>
                <a:ea typeface="ＭＳ Ｐゴシック" charset="0"/>
                <a:cs typeface="ＭＳ Ｐゴシック" charset="0"/>
              </a:rPr>
              <a:t>is</a:t>
            </a:r>
            <a:r>
              <a:rPr lang="fr-FR" sz="1200" dirty="0">
                <a:latin typeface="Times New Roman" charset="0"/>
                <a:ea typeface="ＭＳ Ｐゴシック" charset="0"/>
                <a:cs typeface="ＭＳ Ｐゴシック" charset="0"/>
              </a:rPr>
              <a:t> </a:t>
            </a:r>
            <a:r>
              <a:rPr lang="fr-FR" sz="1200" dirty="0" err="1">
                <a:latin typeface="Times New Roman" charset="0"/>
                <a:ea typeface="ＭＳ Ｐゴシック" charset="0"/>
                <a:cs typeface="ＭＳ Ｐゴシック" charset="0"/>
              </a:rPr>
              <a:t>only</a:t>
            </a:r>
            <a:r>
              <a:rPr lang="fr-FR" sz="1200" dirty="0">
                <a:latin typeface="Times New Roman" charset="0"/>
                <a:ea typeface="ＭＳ Ｐゴシック" charset="0"/>
                <a:cs typeface="ＭＳ Ｐゴシック" charset="0"/>
              </a:rPr>
              <a:t> </a:t>
            </a:r>
            <a:r>
              <a:rPr lang="fr-FR" sz="1200" dirty="0" err="1">
                <a:latin typeface="Times New Roman" charset="0"/>
                <a:ea typeface="ＭＳ Ｐゴシック" charset="0"/>
                <a:cs typeface="ＭＳ Ｐゴシック" charset="0"/>
              </a:rPr>
              <a:t>needed</a:t>
            </a:r>
            <a:r>
              <a:rPr lang="fr-FR" sz="1200" dirty="0">
                <a:latin typeface="Times New Roman" charset="0"/>
                <a:ea typeface="ＭＳ Ｐゴシック" charset="0"/>
                <a:cs typeface="ＭＳ Ｐゴシック" charset="0"/>
              </a:rPr>
              <a:t> for the IDE </a:t>
            </a:r>
            <a:r>
              <a:rPr lang="fr-FR" sz="1200" dirty="0" err="1">
                <a:latin typeface="Times New Roman" charset="0"/>
                <a:ea typeface="ＭＳ Ｐゴシック" charset="0"/>
                <a:cs typeface="ＭＳ Ｐゴシック" charset="0"/>
              </a:rPr>
              <a:t>with</a:t>
            </a:r>
            <a:r>
              <a:rPr lang="fr-FR" sz="1200" dirty="0">
                <a:latin typeface="Times New Roman" charset="0"/>
                <a:ea typeface="ＭＳ Ｐゴシック" charset="0"/>
                <a:cs typeface="ＭＳ Ｐゴシック" charset="0"/>
              </a:rPr>
              <a:t> </a:t>
            </a:r>
            <a:r>
              <a:rPr lang="fr-FR" sz="1200" dirty="0" err="1">
                <a:latin typeface="Times New Roman" charset="0"/>
                <a:ea typeface="ＭＳ Ｐゴシック" charset="0"/>
                <a:cs typeface="ＭＳ Ｐゴシック" charset="0"/>
              </a:rPr>
              <a:t>limited</a:t>
            </a:r>
            <a:endParaRPr lang="fr-FR" sz="1200" dirty="0">
              <a:latin typeface="Times New Roman" charset="0"/>
              <a:ea typeface="ＭＳ Ｐゴシック" charset="0"/>
              <a:cs typeface="ＭＳ Ｐゴシック" charset="0"/>
            </a:endParaRPr>
          </a:p>
          <a:p>
            <a:pPr>
              <a:defRPr/>
            </a:pPr>
            <a:r>
              <a:rPr lang="fr-FR" sz="1200" dirty="0">
                <a:latin typeface="Times New Roman" charset="0"/>
                <a:ea typeface="ＭＳ Ｐゴシック" charset="0"/>
                <a:cs typeface="ＭＳ Ｐゴシック" charset="0"/>
              </a:rPr>
              <a:t>   * </a:t>
            </a:r>
            <a:r>
              <a:rPr lang="fr-FR" sz="1200" dirty="0" err="1">
                <a:latin typeface="Times New Roman" charset="0"/>
                <a:ea typeface="ＭＳ Ｐゴシック" charset="0"/>
                <a:cs typeface="ＭＳ Ｐゴシック" charset="0"/>
              </a:rPr>
              <a:t>JavaFX</a:t>
            </a:r>
            <a:r>
              <a:rPr lang="fr-FR" sz="1200" dirty="0">
                <a:latin typeface="Times New Roman" charset="0"/>
                <a:ea typeface="ＭＳ Ｐゴシック" charset="0"/>
                <a:cs typeface="ＭＳ Ｐゴシック" charset="0"/>
              </a:rPr>
              <a:t> support. Not </a:t>
            </a:r>
            <a:r>
              <a:rPr lang="fr-FR" sz="1200" dirty="0" err="1">
                <a:latin typeface="Times New Roman" charset="0"/>
                <a:ea typeface="ＭＳ Ｐゴシック" charset="0"/>
                <a:cs typeface="ＭＳ Ｐゴシック" charset="0"/>
              </a:rPr>
              <a:t>needed</a:t>
            </a:r>
            <a:r>
              <a:rPr lang="fr-FR" sz="1200" dirty="0">
                <a:latin typeface="Times New Roman" charset="0"/>
                <a:ea typeface="ＭＳ Ｐゴシック" charset="0"/>
                <a:cs typeface="ＭＳ Ｐゴシック" charset="0"/>
              </a:rPr>
              <a:t> for running </a:t>
            </a:r>
            <a:r>
              <a:rPr lang="fr-FR" sz="1200" dirty="0" err="1">
                <a:latin typeface="Times New Roman" charset="0"/>
                <a:ea typeface="ＭＳ Ｐゴシック" charset="0"/>
                <a:cs typeface="ＭＳ Ｐゴシック" charset="0"/>
              </a:rPr>
              <a:t>from</a:t>
            </a:r>
            <a:r>
              <a:rPr lang="fr-FR" sz="1200" dirty="0">
                <a:latin typeface="Times New Roman" charset="0"/>
                <a:ea typeface="ＭＳ Ｐゴシック" charset="0"/>
                <a:cs typeface="ＭＳ Ｐゴシック" charset="0"/>
              </a:rPr>
              <a:t> the command line.</a:t>
            </a:r>
          </a:p>
          <a:p>
            <a:pPr>
              <a:defRPr/>
            </a:pPr>
            <a:r>
              <a:rPr lang="fr-FR" sz="1200" dirty="0">
                <a:latin typeface="Times New Roman" charset="0"/>
                <a:ea typeface="ＭＳ Ｐゴシック" charset="0"/>
                <a:cs typeface="ＭＳ Ｐゴシック" charset="0"/>
              </a:rPr>
              <a:t>   */</a:t>
            </a:r>
          </a:p>
          <a:p>
            <a:pPr>
              <a:defRPr/>
            </a:pPr>
            <a:r>
              <a:rPr lang="fr-FR" sz="1200" dirty="0">
                <a:latin typeface="Times New Roman" charset="0"/>
                <a:ea typeface="ＭＳ Ｐゴシック" charset="0"/>
                <a:cs typeface="ＭＳ Ｐゴシック" charset="0"/>
              </a:rPr>
              <a:t>  public </a:t>
            </a:r>
            <a:r>
              <a:rPr lang="fr-FR" sz="1200" dirty="0" err="1">
                <a:latin typeface="Times New Roman" charset="0"/>
                <a:ea typeface="ＭＳ Ｐゴシック" charset="0"/>
                <a:cs typeface="ＭＳ Ｐゴシック" charset="0"/>
              </a:rPr>
              <a:t>static</a:t>
            </a:r>
            <a:r>
              <a:rPr lang="fr-FR" sz="1200" dirty="0">
                <a:latin typeface="Times New Roman" charset="0"/>
                <a:ea typeface="ＭＳ Ｐゴシック" charset="0"/>
                <a:cs typeface="ＭＳ Ｐゴシック" charset="0"/>
              </a:rPr>
              <a:t> </a:t>
            </a:r>
            <a:r>
              <a:rPr lang="fr-FR" sz="1200" dirty="0" err="1">
                <a:latin typeface="Times New Roman" charset="0"/>
                <a:ea typeface="ＭＳ Ｐゴシック" charset="0"/>
                <a:cs typeface="ＭＳ Ｐゴシック" charset="0"/>
              </a:rPr>
              <a:t>void</a:t>
            </a:r>
            <a:r>
              <a:rPr lang="fr-FR" sz="1200" dirty="0">
                <a:latin typeface="Times New Roman" charset="0"/>
                <a:ea typeface="ＭＳ Ｐゴシック" charset="0"/>
                <a:cs typeface="ＭＳ Ｐゴシック" charset="0"/>
              </a:rPr>
              <a:t> main(String[] </a:t>
            </a:r>
            <a:r>
              <a:rPr lang="fr-FR" sz="1200" dirty="0" err="1">
                <a:latin typeface="Times New Roman" charset="0"/>
                <a:ea typeface="ＭＳ Ｐゴシック" charset="0"/>
                <a:cs typeface="ＭＳ Ｐゴシック" charset="0"/>
              </a:rPr>
              <a:t>args</a:t>
            </a:r>
            <a:r>
              <a:rPr lang="fr-FR" sz="1200" dirty="0">
                <a:latin typeface="Times New Roman" charset="0"/>
                <a:ea typeface="ＭＳ Ｐゴシック" charset="0"/>
                <a:cs typeface="ＭＳ Ｐゴシック" charset="0"/>
              </a:rPr>
              <a:t>) {</a:t>
            </a:r>
          </a:p>
          <a:p>
            <a:pPr>
              <a:defRPr/>
            </a:pPr>
            <a:r>
              <a:rPr lang="fr-FR" sz="1200" dirty="0">
                <a:latin typeface="Times New Roman" charset="0"/>
                <a:ea typeface="ＭＳ Ｐゴシック" charset="0"/>
                <a:cs typeface="ＭＳ Ｐゴシック" charset="0"/>
              </a:rPr>
              <a:t>    </a:t>
            </a:r>
            <a:r>
              <a:rPr lang="fr-FR" sz="1200" dirty="0" err="1">
                <a:latin typeface="Times New Roman" charset="0"/>
                <a:ea typeface="ＭＳ Ｐゴシック" charset="0"/>
                <a:cs typeface="ＭＳ Ｐゴシック" charset="0"/>
              </a:rPr>
              <a:t>launch</a:t>
            </a:r>
            <a:r>
              <a:rPr lang="fr-FR" sz="1200" dirty="0">
                <a:latin typeface="Times New Roman" charset="0"/>
                <a:ea typeface="ＭＳ Ｐゴシック" charset="0"/>
                <a:cs typeface="ＭＳ Ｐゴシック" charset="0"/>
              </a:rPr>
              <a:t>(</a:t>
            </a:r>
            <a:r>
              <a:rPr lang="fr-FR" sz="1200" dirty="0" err="1">
                <a:latin typeface="Times New Roman" charset="0"/>
                <a:ea typeface="ＭＳ Ｐゴシック" charset="0"/>
                <a:cs typeface="ＭＳ Ｐゴシック" charset="0"/>
              </a:rPr>
              <a:t>args</a:t>
            </a:r>
            <a:r>
              <a:rPr lang="fr-FR" sz="1200" dirty="0">
                <a:latin typeface="Times New Roman" charset="0"/>
                <a:ea typeface="ＭＳ Ｐゴシック" charset="0"/>
                <a:cs typeface="ＭＳ Ｐゴシック" charset="0"/>
              </a:rPr>
              <a:t>);</a:t>
            </a:r>
          </a:p>
          <a:p>
            <a:pPr>
              <a:defRPr/>
            </a:pPr>
            <a:r>
              <a:rPr lang="fr-FR" sz="1200" dirty="0">
                <a:latin typeface="Times New Roman" charset="0"/>
                <a:ea typeface="ＭＳ Ｐゴシック" charset="0"/>
                <a:cs typeface="ＭＳ Ｐゴシック" charset="0"/>
              </a:rPr>
              <a:t>  }</a:t>
            </a:r>
          </a:p>
          <a:p>
            <a:pPr>
              <a:defRPr/>
            </a:pPr>
            <a:r>
              <a:rPr lang="fr-FR" sz="1200" dirty="0">
                <a:latin typeface="Times New Roman" charset="0"/>
                <a:ea typeface="ＭＳ Ｐゴシック" charset="0"/>
                <a:cs typeface="ＭＳ Ｐゴシック" charset="0"/>
              </a:rPr>
              <a:t>} </a:t>
            </a:r>
            <a:endParaRPr lang="en-US" sz="1200" dirty="0">
              <a:latin typeface="Times New Roman" charset="0"/>
              <a:ea typeface="ＭＳ Ｐゴシック" charset="0"/>
              <a:cs typeface="ＭＳ Ｐゴシック" charset="0"/>
            </a:endParaRPr>
          </a:p>
        </p:txBody>
      </p:sp>
      <p:pic>
        <p:nvPicPr>
          <p:cNvPr id="5" name="Picture 4"/>
          <p:cNvPicPr>
            <a:picLocks noChangeAspect="1"/>
          </p:cNvPicPr>
          <p:nvPr/>
        </p:nvPicPr>
        <p:blipFill>
          <a:blip r:embed="rId2" cstate="print"/>
          <a:stretch>
            <a:fillRect/>
          </a:stretch>
        </p:blipFill>
        <p:spPr>
          <a:xfrm>
            <a:off x="4953000" y="2209800"/>
            <a:ext cx="2743200" cy="1536700"/>
          </a:xfrm>
          <a:prstGeom prst="rect">
            <a:avLst/>
          </a:prstGeom>
          <a:ln>
            <a:solidFill>
              <a:schemeClr val="bg1">
                <a:lumMod val="75000"/>
              </a:schemeClr>
            </a:solidFill>
          </a:ln>
        </p:spPr>
      </p:pic>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685800" y="304800"/>
            <a:ext cx="7772400" cy="1428750"/>
          </a:xfrm>
        </p:spPr>
        <p:txBody>
          <a:bodyPr/>
          <a:lstStyle/>
          <a:p>
            <a:pPr algn="ctr">
              <a:defRPr/>
            </a:pP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The </a:t>
            </a:r>
            <a:r>
              <a:rPr lang="en-US" sz="4400" b="1" dirty="0" err="1">
                <a:solidFill>
                  <a:schemeClr val="tx1"/>
                </a:solidFill>
                <a:latin typeface="Courier New" panose="02070309020205020404" pitchFamily="49" charset="0"/>
                <a:ea typeface="ＭＳ Ｐゴシック" charset="0"/>
                <a:cs typeface="Courier New" panose="02070309020205020404" pitchFamily="49" charset="0"/>
              </a:rPr>
              <a:t>KeyCode</a:t>
            </a:r>
            <a:r>
              <a:rPr lang="en-US" sz="4400" b="1" dirty="0">
                <a:solidFill>
                  <a:schemeClr val="tx1"/>
                </a:solidFill>
                <a:latin typeface="Courier New" panose="02070309020205020404" pitchFamily="49" charset="0"/>
                <a:ea typeface="ＭＳ Ｐゴシック" charset="0"/>
                <a:cs typeface="Courier New" panose="02070309020205020404" pitchFamily="49" charset="0"/>
              </a:rPr>
              <a:t> </a:t>
            </a:r>
            <a:r>
              <a:rPr lang="en-US" sz="4400" b="1" dirty="0">
                <a:solidFill>
                  <a:schemeClr val="tx1"/>
                </a:solidFill>
                <a:latin typeface="Times New Roman" panose="02020603050405020304" pitchFamily="18" charset="0"/>
                <a:ea typeface="ＭＳ Ｐゴシック" charset="0"/>
                <a:cs typeface="Times New Roman" panose="02020603050405020304" pitchFamily="18" charset="0"/>
              </a:rPr>
              <a:t>Constants</a:t>
            </a:r>
          </a:p>
        </p:txBody>
      </p:sp>
      <p:sp>
        <p:nvSpPr>
          <p:cNvPr id="96260" name="Rectangle 6"/>
          <p:cNvSpPr>
            <a:spLocks noChangeArrowheads="1"/>
          </p:cNvSpPr>
          <p:nvPr/>
        </p:nvSpPr>
        <p:spPr bwMode="auto">
          <a:xfrm>
            <a:off x="0" y="0"/>
            <a:ext cx="9144000" cy="0"/>
          </a:xfrm>
          <a:prstGeom prst="rect">
            <a:avLst/>
          </a:prstGeom>
          <a:noFill/>
          <a:ln>
            <a:noFill/>
          </a:ln>
          <a:effectLst>
            <a:prstShdw prst="shdw17" dist="17961" dir="2700000">
              <a:srgbClr val="7A7A7A"/>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endParaRPr lang="ms-MY" altLang="en-US"/>
          </a:p>
        </p:txBody>
      </p:sp>
      <p:pic>
        <p:nvPicPr>
          <p:cNvPr id="9626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175" y="1524000"/>
            <a:ext cx="888365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685800" y="457200"/>
            <a:ext cx="7772400" cy="1143000"/>
          </a:xfrm>
        </p:spPr>
        <p:txBody>
          <a:bodyPr/>
          <a:lstStyle/>
          <a:p>
            <a:pPr algn="ctr">
              <a:defRPr/>
            </a:pPr>
            <a:r>
              <a:rPr lang="en-US" sz="4000" b="1" dirty="0">
                <a:solidFill>
                  <a:schemeClr val="tx1"/>
                </a:solidFill>
                <a:latin typeface="Times New Roman" panose="02020603050405020304" pitchFamily="18" charset="0"/>
                <a:ea typeface="ＭＳ Ｐゴシック" charset="0"/>
                <a:cs typeface="Times New Roman" panose="02020603050405020304" pitchFamily="18" charset="0"/>
              </a:rPr>
              <a:t>Example: Control Circle with Mouse and Key</a:t>
            </a:r>
            <a:endParaRPr lang="en-US" b="1" u="sng" dirty="0">
              <a:solidFill>
                <a:schemeClr val="tx1"/>
              </a:solidFill>
              <a:latin typeface="Times New Roman" panose="02020603050405020304" pitchFamily="18" charset="0"/>
              <a:ea typeface="ＭＳ Ｐゴシック" charset="0"/>
              <a:cs typeface="Times New Roman" panose="02020603050405020304" pitchFamily="18" charset="0"/>
            </a:endParaRPr>
          </a:p>
        </p:txBody>
      </p:sp>
      <p:pic>
        <p:nvPicPr>
          <p:cNvPr id="7" name="Picture 6"/>
          <p:cNvPicPr>
            <a:picLocks noChangeAspect="1"/>
          </p:cNvPicPr>
          <p:nvPr/>
        </p:nvPicPr>
        <p:blipFill>
          <a:blip r:embed="rId2" cstate="print"/>
          <a:stretch>
            <a:fillRect/>
          </a:stretch>
        </p:blipFill>
        <p:spPr>
          <a:xfrm>
            <a:off x="3124200" y="2438400"/>
            <a:ext cx="2540000" cy="2184400"/>
          </a:xfrm>
          <a:prstGeom prst="rect">
            <a:avLst/>
          </a:prstGeom>
          <a:ln>
            <a:solidFill>
              <a:schemeClr val="bg1">
                <a:lumMod val="75000"/>
              </a:schemeClr>
            </a:solidFill>
          </a:ln>
        </p:spPr>
      </p:pic>
      <p:sp>
        <p:nvSpPr>
          <p:cNvPr id="8" name="Rectangle 6">
            <a:hlinkClick r:id="rId3"/>
          </p:cNvPr>
          <p:cNvSpPr>
            <a:spLocks noChangeArrowheads="1"/>
          </p:cNvSpPr>
          <p:nvPr/>
        </p:nvSpPr>
        <p:spPr bwMode="auto">
          <a:xfrm>
            <a:off x="2527300" y="5486400"/>
            <a:ext cx="3733800"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000" dirty="0" err="1"/>
              <a:t>ControlCircleWithMouseAndKey</a:t>
            </a:r>
            <a:endParaRPr lang="en-US" altLang="en-US" sz="2000" dirty="0"/>
          </a:p>
        </p:txBody>
      </p:sp>
      <p:sp>
        <p:nvSpPr>
          <p:cNvPr id="9" name="AutoShape 10">
            <a:hlinkClick r:id="rId4" action="ppaction://program" highlightClick="1"/>
          </p:cNvPr>
          <p:cNvSpPr>
            <a:spLocks noChangeArrowheads="1"/>
          </p:cNvSpPr>
          <p:nvPr/>
        </p:nvSpPr>
        <p:spPr bwMode="auto">
          <a:xfrm>
            <a:off x="6362700" y="5486400"/>
            <a:ext cx="698500" cy="3810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1800" dirty="0">
                <a:latin typeface="Book Antiqua" pitchFamily="18" charset="0"/>
              </a:rPr>
              <a:t>Run</a:t>
            </a:r>
            <a:endParaRPr lang="en-US" altLang="en-US" sz="1800" dirty="0"/>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ChangeArrowheads="1"/>
          </p:cNvSpPr>
          <p:nvPr/>
        </p:nvSpPr>
        <p:spPr bwMode="auto">
          <a:xfrm>
            <a:off x="0" y="0"/>
            <a:ext cx="4572000" cy="692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US" altLang="en-US" sz="1200"/>
              <a:t>import javafx.application.Application;</a:t>
            </a:r>
          </a:p>
          <a:p>
            <a:r>
              <a:rPr lang="en-US" altLang="en-US" sz="1200"/>
              <a:t>import javafx.geometry.Pos;</a:t>
            </a:r>
          </a:p>
          <a:p>
            <a:r>
              <a:rPr lang="en-US" altLang="en-US" sz="1200"/>
              <a:t>import javafx.scene.Scene;</a:t>
            </a:r>
          </a:p>
          <a:p>
            <a:r>
              <a:rPr lang="en-US" altLang="en-US" sz="1200"/>
              <a:t>import javafx.scene.control.Button;</a:t>
            </a:r>
          </a:p>
          <a:p>
            <a:r>
              <a:rPr lang="en-US" altLang="en-US" sz="1200"/>
              <a:t>import javafx.scene.input.KeyCode;</a:t>
            </a:r>
          </a:p>
          <a:p>
            <a:r>
              <a:rPr lang="en-US" altLang="en-US" sz="1200"/>
              <a:t>import javafx.scene.input.MouseButton;</a:t>
            </a:r>
          </a:p>
          <a:p>
            <a:r>
              <a:rPr lang="en-US" altLang="en-US" sz="1200"/>
              <a:t>import javafx.scene.layout.HBox;</a:t>
            </a:r>
          </a:p>
          <a:p>
            <a:r>
              <a:rPr lang="en-US" altLang="en-US" sz="1200"/>
              <a:t>import javafx.scene.layout.BorderPane;</a:t>
            </a:r>
          </a:p>
          <a:p>
            <a:r>
              <a:rPr lang="en-US" altLang="en-US" sz="1200"/>
              <a:t>import javafx.stage.Stage;</a:t>
            </a:r>
          </a:p>
          <a:p>
            <a:endParaRPr lang="en-US" altLang="en-US" sz="1200"/>
          </a:p>
          <a:p>
            <a:r>
              <a:rPr lang="en-US" altLang="en-US" sz="1200"/>
              <a:t>public class ControlCircleWithMouseAndKey extends Application {</a:t>
            </a:r>
          </a:p>
          <a:p>
            <a:r>
              <a:rPr lang="en-US" altLang="en-US" sz="1200"/>
              <a:t>  private CirclePane circlePane = new CirclePane();</a:t>
            </a:r>
          </a:p>
          <a:p>
            <a:endParaRPr lang="en-US" altLang="en-US" sz="1200"/>
          </a:p>
          <a:p>
            <a:r>
              <a:rPr lang="en-US" altLang="en-US" sz="1200"/>
              <a:t>  @Override // Override the start method in the Application class</a:t>
            </a:r>
          </a:p>
          <a:p>
            <a:r>
              <a:rPr lang="en-US" altLang="en-US" sz="1200"/>
              <a:t>  public void start(Stage primaryStage) {</a:t>
            </a:r>
          </a:p>
          <a:p>
            <a:r>
              <a:rPr lang="en-US" altLang="en-US" sz="1200"/>
              <a:t>    // Hold two buttons in an HBox</a:t>
            </a:r>
          </a:p>
          <a:p>
            <a:r>
              <a:rPr lang="en-US" altLang="en-US" sz="1200"/>
              <a:t>    HBox hBox = new HBox();</a:t>
            </a:r>
          </a:p>
          <a:p>
            <a:r>
              <a:rPr lang="en-US" altLang="en-US" sz="1200"/>
              <a:t>    hBox.setSpacing(10);</a:t>
            </a:r>
          </a:p>
          <a:p>
            <a:r>
              <a:rPr lang="en-US" altLang="en-US" sz="1200"/>
              <a:t>    hBox.setAlignment(Pos.CENTER);</a:t>
            </a:r>
          </a:p>
          <a:p>
            <a:r>
              <a:rPr lang="en-US" altLang="en-US" sz="1200"/>
              <a:t>    Button btEnlarge = new Button("Enlarge");</a:t>
            </a:r>
          </a:p>
          <a:p>
            <a:r>
              <a:rPr lang="en-US" altLang="en-US" sz="1200"/>
              <a:t>    Button btShrink = new Button("Shrink");</a:t>
            </a:r>
          </a:p>
          <a:p>
            <a:r>
              <a:rPr lang="en-US" altLang="en-US" sz="1200"/>
              <a:t>    hBox.getChildren().add(btEnlarge);</a:t>
            </a:r>
          </a:p>
          <a:p>
            <a:r>
              <a:rPr lang="en-US" altLang="en-US" sz="1200"/>
              <a:t>    hBox.getChildren().add(btShrink);</a:t>
            </a:r>
          </a:p>
          <a:p>
            <a:r>
              <a:rPr lang="en-US" altLang="en-US" sz="1200"/>
              <a:t>    </a:t>
            </a:r>
          </a:p>
          <a:p>
            <a:r>
              <a:rPr lang="en-US" altLang="en-US" sz="1200"/>
              <a:t>    // Create and register the handler</a:t>
            </a:r>
          </a:p>
          <a:p>
            <a:r>
              <a:rPr lang="en-US" altLang="en-US" sz="1200"/>
              <a:t>    btEnlarge.setOnAction(e -&gt; circlePane.enlarge());</a:t>
            </a:r>
          </a:p>
          <a:p>
            <a:r>
              <a:rPr lang="en-US" altLang="en-US" sz="1200"/>
              <a:t>    btShrink.setOnAction(e -&gt; circlePane.shrink());</a:t>
            </a:r>
          </a:p>
          <a:p>
            <a:r>
              <a:rPr lang="en-US" altLang="en-US" sz="1200"/>
              <a:t>    </a:t>
            </a:r>
          </a:p>
          <a:p>
            <a:r>
              <a:rPr lang="en-US" altLang="en-US" sz="1200"/>
              <a:t>    circlePane.setOnMouseClicked(e -&gt; {</a:t>
            </a:r>
          </a:p>
          <a:p>
            <a:r>
              <a:rPr lang="en-US" altLang="en-US" sz="1200"/>
              <a:t>      if (e.getButton() == MouseButton.PRIMARY) {</a:t>
            </a:r>
          </a:p>
          <a:p>
            <a:r>
              <a:rPr lang="en-US" altLang="en-US" sz="1200"/>
              <a:t>        circlePane.enlarge();</a:t>
            </a:r>
          </a:p>
          <a:p>
            <a:r>
              <a:rPr lang="en-US" altLang="en-US" sz="1200"/>
              <a:t>      }</a:t>
            </a:r>
          </a:p>
          <a:p>
            <a:r>
              <a:rPr lang="en-US" altLang="en-US" sz="1200"/>
              <a:t>      else if (e.getButton() == MouseButton.SECONDARY) {</a:t>
            </a:r>
          </a:p>
          <a:p>
            <a:r>
              <a:rPr lang="en-US" altLang="en-US" sz="1200"/>
              <a:t>        circlePane.shrink();</a:t>
            </a:r>
          </a:p>
          <a:p>
            <a:r>
              <a:rPr lang="en-US" altLang="en-US" sz="1200"/>
              <a:t>      }</a:t>
            </a:r>
          </a:p>
          <a:p>
            <a:r>
              <a:rPr lang="en-US" altLang="en-US" sz="1200"/>
              <a:t>    });</a:t>
            </a:r>
          </a:p>
          <a:p>
            <a:r>
              <a:rPr lang="en-US" altLang="en-US" sz="1200"/>
              <a:t>    </a:t>
            </a:r>
          </a:p>
        </p:txBody>
      </p:sp>
      <p:sp>
        <p:nvSpPr>
          <p:cNvPr id="4" name="Rectangle 3"/>
          <p:cNvSpPr/>
          <p:nvPr/>
        </p:nvSpPr>
        <p:spPr>
          <a:xfrm>
            <a:off x="4572000" y="6350"/>
            <a:ext cx="4572000" cy="5816600"/>
          </a:xfrm>
          <a:prstGeom prst="rect">
            <a:avLst/>
          </a:prstGeom>
          <a:ln>
            <a:solidFill>
              <a:schemeClr val="bg1">
                <a:lumMod val="75000"/>
              </a:schemeClr>
            </a:solidFill>
          </a:ln>
        </p:spPr>
        <p:txBody>
          <a:bodyPr>
            <a:spAutoFit/>
          </a:bodyPr>
          <a:lstStyle/>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circlePane.setOnKeyPressed</a:t>
            </a:r>
            <a:r>
              <a:rPr lang="en-US" sz="1200" dirty="0">
                <a:latin typeface="Times New Roman" charset="0"/>
                <a:ea typeface="ＭＳ Ｐゴシック" charset="0"/>
                <a:cs typeface="ＭＳ Ｐゴシック" charset="0"/>
              </a:rPr>
              <a:t>(e -&gt; {</a:t>
            </a:r>
          </a:p>
          <a:p>
            <a:pPr>
              <a:defRPr/>
            </a:pPr>
            <a:r>
              <a:rPr lang="en-US" sz="1200" dirty="0">
                <a:latin typeface="Times New Roman" charset="0"/>
                <a:ea typeface="ＭＳ Ｐゴシック" charset="0"/>
                <a:cs typeface="ＭＳ Ｐゴシック" charset="0"/>
              </a:rPr>
              <a:t>      if (</a:t>
            </a:r>
            <a:r>
              <a:rPr lang="en-US" sz="1200" dirty="0" err="1">
                <a:latin typeface="Times New Roman" charset="0"/>
                <a:ea typeface="ＭＳ Ｐゴシック" charset="0"/>
                <a:cs typeface="ＭＳ Ｐゴシック" charset="0"/>
              </a:rPr>
              <a:t>e.getCode</a:t>
            </a: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KeyCode.U</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circlePane.enlarge</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else if (</a:t>
            </a:r>
            <a:r>
              <a:rPr lang="en-US" sz="1200" dirty="0" err="1">
                <a:latin typeface="Times New Roman" charset="0"/>
                <a:ea typeface="ＭＳ Ｐゴシック" charset="0"/>
                <a:cs typeface="ＭＳ Ｐゴシック" charset="0"/>
              </a:rPr>
              <a:t>e.getCode</a:t>
            </a: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KeyCode.D</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circlePane.shrink</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BorderPane</a:t>
            </a: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borderPane</a:t>
            </a:r>
            <a:r>
              <a:rPr lang="en-US" sz="1200" dirty="0">
                <a:latin typeface="Times New Roman" charset="0"/>
                <a:ea typeface="ＭＳ Ｐゴシック" charset="0"/>
                <a:cs typeface="ＭＳ Ｐゴシック" charset="0"/>
              </a:rPr>
              <a:t> = new </a:t>
            </a:r>
            <a:r>
              <a:rPr lang="en-US" sz="1200" dirty="0" err="1">
                <a:latin typeface="Times New Roman" charset="0"/>
                <a:ea typeface="ＭＳ Ｐゴシック" charset="0"/>
                <a:cs typeface="ＭＳ Ｐゴシック" charset="0"/>
              </a:rPr>
              <a:t>BorderPane</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borderPane.setCenter</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circlePane</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borderPane.setBottom</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hBox</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BorderPane.setAlignment</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hBox</a:t>
            </a: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Pos.CENTER</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Create a scene and place it in the stage</a:t>
            </a:r>
          </a:p>
          <a:p>
            <a:pPr>
              <a:defRPr/>
            </a:pPr>
            <a:r>
              <a:rPr lang="en-US" sz="1200" dirty="0">
                <a:latin typeface="Times New Roman" charset="0"/>
                <a:ea typeface="ＭＳ Ｐゴシック" charset="0"/>
                <a:cs typeface="ＭＳ Ｐゴシック" charset="0"/>
              </a:rPr>
              <a:t>    Scene scene = new Scene(</a:t>
            </a:r>
            <a:r>
              <a:rPr lang="en-US" sz="1200" dirty="0" err="1">
                <a:latin typeface="Times New Roman" charset="0"/>
                <a:ea typeface="ＭＳ Ｐゴシック" charset="0"/>
                <a:cs typeface="ＭＳ Ｐゴシック" charset="0"/>
              </a:rPr>
              <a:t>borderPane</a:t>
            </a:r>
            <a:r>
              <a:rPr lang="en-US" sz="1200" dirty="0">
                <a:latin typeface="Times New Roman" charset="0"/>
                <a:ea typeface="ＭＳ Ｐゴシック" charset="0"/>
                <a:cs typeface="ＭＳ Ｐゴシック" charset="0"/>
              </a:rPr>
              <a:t>, 200, 150);</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primaryStage.setTitle</a:t>
            </a:r>
            <a:r>
              <a:rPr lang="en-US" sz="1200" dirty="0">
                <a:latin typeface="Times New Roman" charset="0"/>
                <a:ea typeface="ＭＳ Ｐゴシック" charset="0"/>
                <a:cs typeface="ＭＳ Ｐゴシック" charset="0"/>
              </a:rPr>
              <a:t>("</a:t>
            </a:r>
            <a:r>
              <a:rPr lang="en-US" sz="1200" dirty="0" err="1">
                <a:latin typeface="Times New Roman" charset="0"/>
                <a:ea typeface="ＭＳ Ｐゴシック" charset="0"/>
                <a:cs typeface="ＭＳ Ｐゴシック" charset="0"/>
              </a:rPr>
              <a:t>ControlCircle</a:t>
            </a:r>
            <a:r>
              <a:rPr lang="en-US" sz="1200" dirty="0">
                <a:latin typeface="Times New Roman" charset="0"/>
                <a:ea typeface="ＭＳ Ｐゴシック" charset="0"/>
                <a:cs typeface="ＭＳ Ｐゴシック" charset="0"/>
              </a:rPr>
              <a:t>"); // Set the stage title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primaryStage.setScene</a:t>
            </a:r>
            <a:r>
              <a:rPr lang="en-US" sz="1200" dirty="0">
                <a:latin typeface="Times New Roman" charset="0"/>
                <a:ea typeface="ＭＳ Ｐゴシック" charset="0"/>
                <a:cs typeface="ＭＳ Ｐゴシック" charset="0"/>
              </a:rPr>
              <a:t>(scene); // Place the scene in the stage</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primaryStage.show</a:t>
            </a:r>
            <a:r>
              <a:rPr lang="en-US" sz="1200" dirty="0">
                <a:latin typeface="Times New Roman" charset="0"/>
                <a:ea typeface="ＭＳ Ｐゴシック" charset="0"/>
                <a:cs typeface="ＭＳ Ｐゴシック" charset="0"/>
              </a:rPr>
              <a:t>(); // Display the stage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r>
              <a:rPr lang="en-US" sz="1200" dirty="0" err="1">
                <a:latin typeface="Times New Roman" charset="0"/>
                <a:ea typeface="ＭＳ Ｐゴシック" charset="0"/>
                <a:cs typeface="ＭＳ Ｐゴシック" charset="0"/>
              </a:rPr>
              <a:t>circlePane.requestFocus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 The main method is only needed for the IDE with limited</a:t>
            </a:r>
          </a:p>
          <a:p>
            <a:pPr>
              <a:defRPr/>
            </a:pPr>
            <a:r>
              <a:rPr lang="en-US" sz="1200" dirty="0">
                <a:latin typeface="Times New Roman" charset="0"/>
                <a:ea typeface="ＭＳ Ｐゴシック" charset="0"/>
                <a:cs typeface="ＭＳ Ｐゴシック" charset="0"/>
              </a:rPr>
              <a:t>   * </a:t>
            </a:r>
            <a:r>
              <a:rPr lang="en-US" sz="1200" dirty="0" err="1">
                <a:latin typeface="Times New Roman" charset="0"/>
                <a:ea typeface="ＭＳ Ｐゴシック" charset="0"/>
                <a:cs typeface="ＭＳ Ｐゴシック" charset="0"/>
              </a:rPr>
              <a:t>JavaFX</a:t>
            </a:r>
            <a:r>
              <a:rPr lang="en-US" sz="1200" dirty="0">
                <a:latin typeface="Times New Roman" charset="0"/>
                <a:ea typeface="ＭＳ Ｐゴシック" charset="0"/>
                <a:cs typeface="ＭＳ Ｐゴシック" charset="0"/>
              </a:rPr>
              <a:t> support. Not needed for running from the command line.</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public static void main(String[] </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    launch(</a:t>
            </a:r>
            <a:r>
              <a:rPr lang="en-US" sz="1200" dirty="0" err="1">
                <a:latin typeface="Times New Roman" charset="0"/>
                <a:ea typeface="ＭＳ Ｐゴシック" charset="0"/>
                <a:cs typeface="ＭＳ Ｐゴシック" charset="0"/>
              </a:rPr>
              <a:t>args</a:t>
            </a:r>
            <a:r>
              <a:rPr lang="en-US" sz="1200" dirty="0">
                <a:latin typeface="Times New Roman" charset="0"/>
                <a:ea typeface="ＭＳ Ｐゴシック" charset="0"/>
                <a:cs typeface="ＭＳ Ｐゴシック" charset="0"/>
              </a:rPr>
              <a:t>);</a:t>
            </a:r>
          </a:p>
          <a:p>
            <a:pPr>
              <a:defRPr/>
            </a:pPr>
            <a:r>
              <a:rPr lang="en-US" sz="1200" dirty="0">
                <a:latin typeface="Times New Roman" charset="0"/>
                <a:ea typeface="ＭＳ Ｐゴシック" charset="0"/>
                <a:cs typeface="ＭＳ Ｐゴシック" charset="0"/>
              </a:rPr>
              <a:t>  }</a:t>
            </a:r>
          </a:p>
          <a:p>
            <a:pPr>
              <a:defRPr/>
            </a:pPr>
            <a:r>
              <a:rPr lang="en-US" sz="1200" dirty="0">
                <a:latin typeface="Times New Roman" charset="0"/>
                <a:ea typeface="ＭＳ Ｐゴシック" charset="0"/>
                <a:cs typeface="ＭＳ Ｐゴシック" charset="0"/>
              </a:rPr>
              <a:t>}</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1" y="424149"/>
            <a:ext cx="8229600" cy="713016"/>
          </a:xfrm>
        </p:spPr>
        <p:txBody>
          <a:bodyPr/>
          <a:lstStyle/>
          <a:p>
            <a:pPr algn="ctr"/>
            <a:r>
              <a:rPr lang="en-US" b="1" dirty="0">
                <a:solidFill>
                  <a:srgbClr val="0000FF"/>
                </a:solidFill>
              </a:rPr>
              <a:t>Summary</a:t>
            </a:r>
            <a:endParaRPr lang="en-GB" b="1" dirty="0">
              <a:solidFill>
                <a:srgbClr val="0070C0"/>
              </a:solidFill>
            </a:endParaRPr>
          </a:p>
        </p:txBody>
      </p:sp>
      <p:sp>
        <p:nvSpPr>
          <p:cNvPr id="19459" name="Content Placeholder 2"/>
          <p:cNvSpPr>
            <a:spLocks noGrp="1"/>
          </p:cNvSpPr>
          <p:nvPr>
            <p:ph idx="1"/>
          </p:nvPr>
        </p:nvSpPr>
        <p:spPr>
          <a:xfrm>
            <a:off x="327932" y="1285528"/>
            <a:ext cx="8587468" cy="4695469"/>
          </a:xfrm>
        </p:spPr>
        <p:txBody>
          <a:bodyPr/>
          <a:lstStyle/>
          <a:p>
            <a:pPr marL="343792" indent="-343792"/>
            <a:r>
              <a:rPr lang="en-GB" sz="2406" dirty="0">
                <a:latin typeface="Times New Roman" pitchFamily="18" charset="0"/>
                <a:cs typeface="Times New Roman" pitchFamily="18" charset="0"/>
              </a:rPr>
              <a:t>Event-driven programming – </a:t>
            </a:r>
            <a:r>
              <a:rPr lang="en-GB" sz="2406" dirty="0" err="1">
                <a:latin typeface="Times New Roman" pitchFamily="18" charset="0"/>
                <a:cs typeface="Times New Roman" pitchFamily="18" charset="0"/>
              </a:rPr>
              <a:t>ActionEvent</a:t>
            </a:r>
            <a:r>
              <a:rPr lang="en-GB" sz="2406" dirty="0">
                <a:latin typeface="Times New Roman" pitchFamily="18" charset="0"/>
                <a:cs typeface="Times New Roman" pitchFamily="18" charset="0"/>
              </a:rPr>
              <a:t>, …</a:t>
            </a:r>
          </a:p>
          <a:p>
            <a:pPr marL="668540" lvl="1" indent="-343792"/>
            <a:r>
              <a:rPr lang="en-GB" sz="2106" dirty="0">
                <a:latin typeface="Times New Roman" pitchFamily="18" charset="0"/>
                <a:cs typeface="Times New Roman" pitchFamily="18" charset="0"/>
              </a:rPr>
              <a:t>Esp. the </a:t>
            </a:r>
            <a:r>
              <a:rPr lang="en-GB" sz="2106" dirty="0" err="1">
                <a:latin typeface="Times New Roman" pitchFamily="18" charset="0"/>
                <a:cs typeface="Times New Roman" pitchFamily="18" charset="0"/>
              </a:rPr>
              <a:t>LoanCalculator</a:t>
            </a:r>
            <a:r>
              <a:rPr lang="en-GB" sz="2106" dirty="0">
                <a:latin typeface="Times New Roman" pitchFamily="18" charset="0"/>
                <a:cs typeface="Times New Roman" pitchFamily="18" charset="0"/>
              </a:rPr>
              <a:t> of slide #2.</a:t>
            </a:r>
            <a:endParaRPr lang="en-GB" sz="1772" dirty="0">
              <a:latin typeface="Times New Roman" pitchFamily="18" charset="0"/>
              <a:cs typeface="Times New Roman" pitchFamily="18" charset="0"/>
            </a:endParaRPr>
          </a:p>
          <a:p>
            <a:pPr marL="651506" lvl="1" indent="-343792"/>
            <a:endParaRPr lang="en-GB" sz="2005" dirty="0"/>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1142735" y="1676401"/>
            <a:ext cx="6984793" cy="1295400"/>
          </a:xfrm>
          <a:noFill/>
        </p:spPr>
        <p:txBody>
          <a:bodyP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End of Chapter 2</a:t>
            </a:r>
          </a:p>
        </p:txBody>
      </p:sp>
    </p:spTree>
    <p:custDataLst>
      <p:tags r:id="rId1"/>
    </p:custDataLst>
    <p:extLst>
      <p:ext uri="{BB962C8B-B14F-4D97-AF65-F5344CB8AC3E}">
        <p14:creationId xmlns:p14="http://schemas.microsoft.com/office/powerpoint/2010/main" val="1354532645"/>
      </p:ext>
    </p:ext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2.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Composite</Template>
  <TotalTime>30211</TotalTime>
  <Words>4646</Words>
  <Application>Microsoft Macintosh PowerPoint</Application>
  <PresentationFormat>全屏显示(4:3)</PresentationFormat>
  <Paragraphs>620</Paragraphs>
  <Slides>43</Slides>
  <Notes>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3" baseType="lpstr">
      <vt:lpstr>Book Antiqua</vt:lpstr>
      <vt:lpstr>Courier New</vt:lpstr>
      <vt:lpstr>Forte</vt:lpstr>
      <vt:lpstr>Monotype Sorts</vt:lpstr>
      <vt:lpstr>Tahoma</vt:lpstr>
      <vt:lpstr>Times New Roman</vt:lpstr>
      <vt:lpstr>Tw Cen MT Condensed Extra Bold</vt:lpstr>
      <vt:lpstr>Wingdings</vt:lpstr>
      <vt:lpstr>Blends</vt:lpstr>
      <vt:lpstr>Picture</vt:lpstr>
      <vt:lpstr>PowerPoint 演示文稿</vt:lpstr>
      <vt:lpstr>Motivations</vt:lpstr>
      <vt:lpstr>Objectives</vt:lpstr>
      <vt:lpstr>Procedural vs. Event-Driven Programming</vt:lpstr>
      <vt:lpstr>Taste of Event-Driven Programming</vt:lpstr>
      <vt:lpstr>PowerPoint 演示文稿</vt:lpstr>
      <vt:lpstr>Handling GUI Events</vt:lpstr>
      <vt:lpstr>Trace Execution</vt:lpstr>
      <vt:lpstr>Trace Execution</vt:lpstr>
      <vt:lpstr>Trace Execution</vt:lpstr>
      <vt:lpstr>Events</vt:lpstr>
      <vt:lpstr>Event Classes</vt:lpstr>
      <vt:lpstr>Event Information</vt:lpstr>
      <vt:lpstr>Selected User Actions and Handlers</vt:lpstr>
      <vt:lpstr>The Delegation Model</vt:lpstr>
      <vt:lpstr>The Delegation Model: Example</vt:lpstr>
      <vt:lpstr>Example: First Version for ControlCircle (no listeners)</vt:lpstr>
      <vt:lpstr>PowerPoint 演示文稿</vt:lpstr>
      <vt:lpstr>Example: Second Version for ControlCircle (with listener for Enlarge)</vt:lpstr>
      <vt:lpstr>PowerPoint 演示文稿</vt:lpstr>
      <vt:lpstr>Inner Class Listeners</vt:lpstr>
      <vt:lpstr>Inner Classes</vt:lpstr>
      <vt:lpstr>PowerPoint 演示文稿</vt:lpstr>
      <vt:lpstr>Inner Classes, cont.</vt:lpstr>
      <vt:lpstr>Inner Classes (cont.)</vt:lpstr>
      <vt:lpstr>Inner Classes (cont.)</vt:lpstr>
      <vt:lpstr>Anonymous Inner Classes</vt:lpstr>
      <vt:lpstr>Anonymous Inner Classes (cont.)</vt:lpstr>
      <vt:lpstr>Anonymous Inner Classes (cont.)</vt:lpstr>
      <vt:lpstr>PowerPoint 演示文稿</vt:lpstr>
      <vt:lpstr>Simplifying Event Handing Using Lambda Expressions</vt:lpstr>
      <vt:lpstr>Basic Syntax for a Lambda Expression</vt:lpstr>
      <vt:lpstr>Single Abstract Method Interface (SAM)</vt:lpstr>
      <vt:lpstr>PowerPoint 演示文稿</vt:lpstr>
      <vt:lpstr>PowerPoint 演示文稿</vt:lpstr>
      <vt:lpstr>PowerPoint 演示文稿</vt:lpstr>
      <vt:lpstr>The KeyEvent Class</vt:lpstr>
      <vt:lpstr>PowerPoint 演示文稿</vt:lpstr>
      <vt:lpstr>The KeyCode Constants</vt:lpstr>
      <vt:lpstr>Example: Control Circle with Mouse and Key</vt:lpstr>
      <vt:lpstr>PowerPoint 演示文稿</vt:lpstr>
      <vt:lpstr>Summary</vt:lpstr>
      <vt:lpstr>End of Chapter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Getting Started with Graphics Programming</dc:title>
  <dc:creator>Y. Daniel Liang</dc:creator>
  <cp:lastModifiedBy>Tmw Shining</cp:lastModifiedBy>
  <cp:revision>426</cp:revision>
  <cp:lastPrinted>1998-04-22T12:52:01Z</cp:lastPrinted>
  <dcterms:created xsi:type="dcterms:W3CDTF">1995-06-10T17:31:50Z</dcterms:created>
  <dcterms:modified xsi:type="dcterms:W3CDTF">2025-11-18T16:09:12Z</dcterms:modified>
</cp:coreProperties>
</file>
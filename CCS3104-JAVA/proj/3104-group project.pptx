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9" r:id="rId9"/>
    <p:sldId id="272" r:id="rId10"/>
    <p:sldId id="271" r:id="rId11"/>
    <p:sldId id="262" r:id="rId12"/>
    <p:sldId id="263" r:id="rId13"/>
    <p:sldId id="264" r:id="rId14"/>
    <p:sldId id="265" r:id="rId15"/>
    <p:sldId id="266" r:id="rId16"/>
    <p:sldId id="267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>
        <p:scale>
          <a:sx n="146" d="100"/>
          <a:sy n="146" d="100"/>
        </p:scale>
        <p:origin x="76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9EB007-456C-E942-A6E3-64FC2C66CC34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41CBDAC-717E-724F-B2A0-83C10A99D3E5}">
      <dgm:prSet phldrT="[文本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US" sz="1400" dirty="0">
              <a:solidFill>
                <a:schemeClr val="tx1"/>
              </a:solidFill>
            </a:rPr>
            <a:t>Room Capture</a:t>
          </a:r>
        </a:p>
        <a:p>
          <a:pPr>
            <a:buNone/>
          </a:pPr>
          <a:r>
            <a:rPr lang="en-US" altLang="zh-CN" sz="1400" dirty="0">
              <a:solidFill>
                <a:schemeClr val="tx1"/>
              </a:solidFill>
            </a:rPr>
            <a:t>&amp;</a:t>
          </a:r>
          <a:r>
            <a:rPr lang="zh-CN" altLang="en-US" sz="1400" dirty="0">
              <a:solidFill>
                <a:schemeClr val="tx1"/>
              </a:solidFill>
            </a:rPr>
            <a:t> </a:t>
          </a:r>
          <a:r>
            <a:rPr lang="en-US" sz="1400" dirty="0">
              <a:solidFill>
                <a:schemeClr val="tx1"/>
              </a:solidFill>
            </a:rPr>
            <a:t>Reconstruction</a:t>
          </a:r>
          <a:endParaRPr lang="zh-CN" altLang="en-US" sz="1400" dirty="0">
            <a:solidFill>
              <a:schemeClr val="tx1"/>
            </a:solidFill>
          </a:endParaRPr>
        </a:p>
      </dgm:t>
    </dgm:pt>
    <dgm:pt modelId="{FE128F8F-6263-B94D-B6D5-8DD137A82B83}" type="parTrans" cxnId="{43529922-B8DF-6F43-9546-64CCCEF1243E}">
      <dgm:prSet/>
      <dgm:spPr/>
      <dgm:t>
        <a:bodyPr/>
        <a:lstStyle/>
        <a:p>
          <a:endParaRPr lang="zh-CN" altLang="en-US"/>
        </a:p>
      </dgm:t>
    </dgm:pt>
    <dgm:pt modelId="{541BBAB5-7560-934A-8AFF-1E996E58F011}" type="sibTrans" cxnId="{43529922-B8DF-6F43-9546-64CCCEF1243E}">
      <dgm:prSet/>
      <dgm:spPr/>
      <dgm:t>
        <a:bodyPr/>
        <a:lstStyle/>
        <a:p>
          <a:endParaRPr lang="zh-CN" altLang="en-US"/>
        </a:p>
      </dgm:t>
    </dgm:pt>
    <dgm:pt modelId="{8040E993-8CE7-2D46-AFD5-ACA5DA727388}">
      <dgm:prSet phldrT="[文本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US" sz="1600" dirty="0">
              <a:solidFill>
                <a:schemeClr val="tx1"/>
              </a:solidFill>
            </a:rPr>
            <a:t>Scene Understanding</a:t>
          </a:r>
        </a:p>
      </dgm:t>
    </dgm:pt>
    <dgm:pt modelId="{4685DF14-1BBF-634E-BE59-98AE01CC65AE}" type="parTrans" cxnId="{788BAE55-2C96-424E-B842-16FBBC3890AD}">
      <dgm:prSet/>
      <dgm:spPr/>
      <dgm:t>
        <a:bodyPr/>
        <a:lstStyle/>
        <a:p>
          <a:endParaRPr lang="zh-CN" altLang="en-US"/>
        </a:p>
      </dgm:t>
    </dgm:pt>
    <dgm:pt modelId="{8C431A8A-CF76-3849-8ED5-16E822E72BA5}" type="sibTrans" cxnId="{788BAE55-2C96-424E-B842-16FBBC3890AD}">
      <dgm:prSet/>
      <dgm:spPr/>
      <dgm:t>
        <a:bodyPr/>
        <a:lstStyle/>
        <a:p>
          <a:endParaRPr lang="zh-CN" altLang="en-US"/>
        </a:p>
      </dgm:t>
    </dgm:pt>
    <dgm:pt modelId="{EA3CB875-641D-8943-9141-D8671F9FD9F1}">
      <dgm:prSet phldrT="[文本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US" sz="1600" dirty="0">
              <a:solidFill>
                <a:schemeClr val="tx1"/>
              </a:solidFill>
            </a:rPr>
            <a:t>User Input</a:t>
          </a:r>
        </a:p>
      </dgm:t>
    </dgm:pt>
    <dgm:pt modelId="{925A4359-19D1-3240-8A33-C4503C82019D}" type="parTrans" cxnId="{4139477F-43D2-D844-ABDB-FDBABE0E4976}">
      <dgm:prSet/>
      <dgm:spPr/>
      <dgm:t>
        <a:bodyPr/>
        <a:lstStyle/>
        <a:p>
          <a:endParaRPr lang="zh-CN" altLang="en-US"/>
        </a:p>
      </dgm:t>
    </dgm:pt>
    <dgm:pt modelId="{2F95B85F-8250-174F-A435-21025B75D1DF}" type="sibTrans" cxnId="{4139477F-43D2-D844-ABDB-FDBABE0E4976}">
      <dgm:prSet/>
      <dgm:spPr/>
      <dgm:t>
        <a:bodyPr/>
        <a:lstStyle/>
        <a:p>
          <a:endParaRPr lang="zh-CN" altLang="en-US"/>
        </a:p>
      </dgm:t>
    </dgm:pt>
    <dgm:pt modelId="{135B7946-992A-E040-9202-F2BB876737F1}">
      <dgm:prSet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US" sz="1400" dirty="0">
              <a:solidFill>
                <a:schemeClr val="tx1"/>
              </a:solidFill>
            </a:rPr>
            <a:t>AI Design Generation</a:t>
          </a:r>
          <a:endParaRPr lang="zh-CN" altLang="en-US" sz="1400" dirty="0">
            <a:solidFill>
              <a:schemeClr val="tx1"/>
            </a:solidFill>
          </a:endParaRPr>
        </a:p>
      </dgm:t>
    </dgm:pt>
    <dgm:pt modelId="{48824165-025A-D047-982A-B615155A6662}" type="parTrans" cxnId="{64B8D106-89E0-5148-999D-00C62D49AFDC}">
      <dgm:prSet/>
      <dgm:spPr/>
      <dgm:t>
        <a:bodyPr/>
        <a:lstStyle/>
        <a:p>
          <a:endParaRPr lang="zh-CN" altLang="en-US"/>
        </a:p>
      </dgm:t>
    </dgm:pt>
    <dgm:pt modelId="{C030F4C7-5DF5-E241-BEC4-43C78868F574}" type="sibTrans" cxnId="{64B8D106-89E0-5148-999D-00C62D49AFDC}">
      <dgm:prSet/>
      <dgm:spPr/>
      <dgm:t>
        <a:bodyPr/>
        <a:lstStyle/>
        <a:p>
          <a:endParaRPr lang="zh-CN" altLang="en-US"/>
        </a:p>
      </dgm:t>
    </dgm:pt>
    <dgm:pt modelId="{D38DA714-1400-7445-BBAF-0CC0419CC9B4}">
      <dgm:prSet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US" sz="1400" dirty="0">
              <a:solidFill>
                <a:schemeClr val="tx1"/>
              </a:solidFill>
            </a:rPr>
            <a:t>AR Visualization</a:t>
          </a:r>
          <a:r>
            <a:rPr lang="zh-CN" altLang="en-US" sz="1400" dirty="0">
              <a:solidFill>
                <a:schemeClr val="tx1"/>
              </a:solidFill>
            </a:rPr>
            <a:t> </a:t>
          </a:r>
          <a:r>
            <a:rPr lang="en-US" altLang="zh-CN" sz="1400" dirty="0">
              <a:solidFill>
                <a:schemeClr val="tx1"/>
              </a:solidFill>
            </a:rPr>
            <a:t>&amp;</a:t>
          </a:r>
          <a:r>
            <a:rPr lang="zh-CN" altLang="en-US" sz="1400" dirty="0">
              <a:solidFill>
                <a:schemeClr val="tx1"/>
              </a:solidFill>
            </a:rPr>
            <a:t> </a:t>
          </a:r>
          <a:r>
            <a:rPr lang="en-US" altLang="zh-CN" sz="1400" dirty="0">
              <a:solidFill>
                <a:schemeClr val="tx1"/>
              </a:solidFill>
            </a:rPr>
            <a:t>Interaction</a:t>
          </a:r>
          <a:endParaRPr lang="zh-CN" altLang="en-US" sz="1400" dirty="0">
            <a:solidFill>
              <a:schemeClr val="tx1"/>
            </a:solidFill>
          </a:endParaRPr>
        </a:p>
      </dgm:t>
    </dgm:pt>
    <dgm:pt modelId="{4C62AEF0-4FAA-6043-835B-4C760B70CAAC}" type="parTrans" cxnId="{8EE2E4B4-2A65-0448-8027-2E1A2FAA1BF6}">
      <dgm:prSet/>
      <dgm:spPr/>
      <dgm:t>
        <a:bodyPr/>
        <a:lstStyle/>
        <a:p>
          <a:endParaRPr lang="zh-CN" altLang="en-US"/>
        </a:p>
      </dgm:t>
    </dgm:pt>
    <dgm:pt modelId="{5784BA57-D8B5-4A4D-B442-1B5627B727BA}" type="sibTrans" cxnId="{8EE2E4B4-2A65-0448-8027-2E1A2FAA1BF6}">
      <dgm:prSet/>
      <dgm:spPr/>
      <dgm:t>
        <a:bodyPr/>
        <a:lstStyle/>
        <a:p>
          <a:endParaRPr lang="zh-CN" altLang="en-US"/>
        </a:p>
      </dgm:t>
    </dgm:pt>
    <dgm:pt modelId="{E2DF935F-F5EE-4843-B39D-A4E6B8A5CABD}">
      <dgm:prSet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US" sz="1400" dirty="0">
              <a:solidFill>
                <a:schemeClr val="tx1"/>
              </a:solidFill>
            </a:rPr>
            <a:t>Community Platform</a:t>
          </a:r>
          <a:r>
            <a:rPr lang="zh-CN" altLang="en-US" sz="1400" dirty="0">
              <a:solidFill>
                <a:schemeClr val="tx1"/>
              </a:solidFill>
            </a:rPr>
            <a:t> </a:t>
          </a:r>
          <a:r>
            <a:rPr lang="en-US" altLang="zh-CN" sz="1400" dirty="0">
              <a:solidFill>
                <a:schemeClr val="tx1"/>
              </a:solidFill>
            </a:rPr>
            <a:t>&amp;</a:t>
          </a:r>
          <a:r>
            <a:rPr lang="zh-CN" altLang="en-US" sz="1400" dirty="0">
              <a:solidFill>
                <a:schemeClr val="tx1"/>
              </a:solidFill>
            </a:rPr>
            <a:t> </a:t>
          </a:r>
          <a:r>
            <a:rPr lang="en-US" altLang="zh-CN" sz="1400" dirty="0">
              <a:solidFill>
                <a:schemeClr val="tx1"/>
              </a:solidFill>
            </a:rPr>
            <a:t>Shopping</a:t>
          </a:r>
          <a:endParaRPr lang="zh-CN" altLang="en-US" sz="1400" dirty="0">
            <a:solidFill>
              <a:schemeClr val="tx1"/>
            </a:solidFill>
          </a:endParaRPr>
        </a:p>
      </dgm:t>
    </dgm:pt>
    <dgm:pt modelId="{9E746A76-9465-7A41-ADA4-EAA304C7DBDE}" type="parTrans" cxnId="{04E8EA26-A2DA-6640-AEBF-93909C248C02}">
      <dgm:prSet/>
      <dgm:spPr/>
      <dgm:t>
        <a:bodyPr/>
        <a:lstStyle/>
        <a:p>
          <a:endParaRPr lang="zh-CN" altLang="en-US"/>
        </a:p>
      </dgm:t>
    </dgm:pt>
    <dgm:pt modelId="{C599288A-6ACB-6642-855D-AE0A19CFC219}" type="sibTrans" cxnId="{04E8EA26-A2DA-6640-AEBF-93909C248C02}">
      <dgm:prSet/>
      <dgm:spPr/>
      <dgm:t>
        <a:bodyPr/>
        <a:lstStyle/>
        <a:p>
          <a:endParaRPr lang="zh-CN" altLang="en-US"/>
        </a:p>
      </dgm:t>
    </dgm:pt>
    <dgm:pt modelId="{58E967A1-3F15-234C-9928-3D6FD0F50AFD}" type="pres">
      <dgm:prSet presAssocID="{169EB007-456C-E942-A6E3-64FC2C66CC34}" presName="Name0" presStyleCnt="0">
        <dgm:presLayoutVars>
          <dgm:dir/>
          <dgm:animLvl val="lvl"/>
          <dgm:resizeHandles val="exact"/>
        </dgm:presLayoutVars>
      </dgm:prSet>
      <dgm:spPr/>
    </dgm:pt>
    <dgm:pt modelId="{4013DF25-8378-B24A-98E5-EE2D2EBFBF88}" type="pres">
      <dgm:prSet presAssocID="{EA3CB875-641D-8943-9141-D8671F9FD9F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1E7B328E-02EC-2144-9596-9CC80D546118}" type="pres">
      <dgm:prSet presAssocID="{2F95B85F-8250-174F-A435-21025B75D1DF}" presName="parTxOnlySpace" presStyleCnt="0"/>
      <dgm:spPr/>
    </dgm:pt>
    <dgm:pt modelId="{5771A046-75B2-8F4B-AFDC-CD739FA55B76}" type="pres">
      <dgm:prSet presAssocID="{A41CBDAC-717E-724F-B2A0-83C10A99D3E5}" presName="parTxOnly" presStyleLbl="node1" presStyleIdx="1" presStyleCnt="6" custScaleY="149837">
        <dgm:presLayoutVars>
          <dgm:chMax val="0"/>
          <dgm:chPref val="0"/>
          <dgm:bulletEnabled val="1"/>
        </dgm:presLayoutVars>
      </dgm:prSet>
      <dgm:spPr/>
    </dgm:pt>
    <dgm:pt modelId="{B50B07C7-6988-724B-8A47-CD60CA7FF18C}" type="pres">
      <dgm:prSet presAssocID="{541BBAB5-7560-934A-8AFF-1E996E58F011}" presName="parTxOnlySpace" presStyleCnt="0"/>
      <dgm:spPr/>
    </dgm:pt>
    <dgm:pt modelId="{55609441-3FE8-554E-815E-84AF9C562A99}" type="pres">
      <dgm:prSet presAssocID="{8040E993-8CE7-2D46-AFD5-ACA5DA727388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08CDB212-3161-EA41-B41B-96D0F3491F46}" type="pres">
      <dgm:prSet presAssocID="{8C431A8A-CF76-3849-8ED5-16E822E72BA5}" presName="parTxOnlySpace" presStyleCnt="0"/>
      <dgm:spPr/>
    </dgm:pt>
    <dgm:pt modelId="{A908F6EA-3E00-2F48-A0BF-1795F0EAB584}" type="pres">
      <dgm:prSet presAssocID="{135B7946-992A-E040-9202-F2BB876737F1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1ACD32DD-5864-1D42-A24B-67EDBD5650E4}" type="pres">
      <dgm:prSet presAssocID="{C030F4C7-5DF5-E241-BEC4-43C78868F574}" presName="parTxOnlySpace" presStyleCnt="0"/>
      <dgm:spPr/>
    </dgm:pt>
    <dgm:pt modelId="{312B0EB4-4006-514C-8F87-729F24959EB8}" type="pres">
      <dgm:prSet presAssocID="{D38DA714-1400-7445-BBAF-0CC0419CC9B4}" presName="parTxOnly" presStyleLbl="node1" presStyleIdx="4" presStyleCnt="6" custScaleY="146812">
        <dgm:presLayoutVars>
          <dgm:chMax val="0"/>
          <dgm:chPref val="0"/>
          <dgm:bulletEnabled val="1"/>
        </dgm:presLayoutVars>
      </dgm:prSet>
      <dgm:spPr/>
    </dgm:pt>
    <dgm:pt modelId="{1F228FB6-86AD-EC43-A6CB-A31B7224B4D9}" type="pres">
      <dgm:prSet presAssocID="{5784BA57-D8B5-4A4D-B442-1B5627B727BA}" presName="parTxOnlySpace" presStyleCnt="0"/>
      <dgm:spPr/>
    </dgm:pt>
    <dgm:pt modelId="{338D609E-1CC7-1D49-A67E-66E0306E7BB1}" type="pres">
      <dgm:prSet presAssocID="{E2DF935F-F5EE-4843-B39D-A4E6B8A5CABD}" presName="parTxOnly" presStyleLbl="node1" presStyleIdx="5" presStyleCnt="6" custScaleY="98602">
        <dgm:presLayoutVars>
          <dgm:chMax val="0"/>
          <dgm:chPref val="0"/>
          <dgm:bulletEnabled val="1"/>
        </dgm:presLayoutVars>
      </dgm:prSet>
      <dgm:spPr/>
    </dgm:pt>
  </dgm:ptLst>
  <dgm:cxnLst>
    <dgm:cxn modelId="{64B8D106-89E0-5148-999D-00C62D49AFDC}" srcId="{169EB007-456C-E942-A6E3-64FC2C66CC34}" destId="{135B7946-992A-E040-9202-F2BB876737F1}" srcOrd="3" destOrd="0" parTransId="{48824165-025A-D047-982A-B615155A6662}" sibTransId="{C030F4C7-5DF5-E241-BEC4-43C78868F574}"/>
    <dgm:cxn modelId="{2A0FFC0C-176A-6742-8A4C-8F54D2F10932}" type="presOf" srcId="{A41CBDAC-717E-724F-B2A0-83C10A99D3E5}" destId="{5771A046-75B2-8F4B-AFDC-CD739FA55B76}" srcOrd="0" destOrd="0" presId="urn:microsoft.com/office/officeart/2005/8/layout/chevron1"/>
    <dgm:cxn modelId="{AE34A41F-A57B-244B-970B-F4462811FA4E}" type="presOf" srcId="{169EB007-456C-E942-A6E3-64FC2C66CC34}" destId="{58E967A1-3F15-234C-9928-3D6FD0F50AFD}" srcOrd="0" destOrd="0" presId="urn:microsoft.com/office/officeart/2005/8/layout/chevron1"/>
    <dgm:cxn modelId="{43529922-B8DF-6F43-9546-64CCCEF1243E}" srcId="{169EB007-456C-E942-A6E3-64FC2C66CC34}" destId="{A41CBDAC-717E-724F-B2A0-83C10A99D3E5}" srcOrd="1" destOrd="0" parTransId="{FE128F8F-6263-B94D-B6D5-8DD137A82B83}" sibTransId="{541BBAB5-7560-934A-8AFF-1E996E58F011}"/>
    <dgm:cxn modelId="{04E8EA26-A2DA-6640-AEBF-93909C248C02}" srcId="{169EB007-456C-E942-A6E3-64FC2C66CC34}" destId="{E2DF935F-F5EE-4843-B39D-A4E6B8A5CABD}" srcOrd="5" destOrd="0" parTransId="{9E746A76-9465-7A41-ADA4-EAA304C7DBDE}" sibTransId="{C599288A-6ACB-6642-855D-AE0A19CFC219}"/>
    <dgm:cxn modelId="{788BAE55-2C96-424E-B842-16FBBC3890AD}" srcId="{169EB007-456C-E942-A6E3-64FC2C66CC34}" destId="{8040E993-8CE7-2D46-AFD5-ACA5DA727388}" srcOrd="2" destOrd="0" parTransId="{4685DF14-1BBF-634E-BE59-98AE01CC65AE}" sibTransId="{8C431A8A-CF76-3849-8ED5-16E822E72BA5}"/>
    <dgm:cxn modelId="{44471D5D-C670-8243-AC72-AA3290349CB8}" type="presOf" srcId="{D38DA714-1400-7445-BBAF-0CC0419CC9B4}" destId="{312B0EB4-4006-514C-8F87-729F24959EB8}" srcOrd="0" destOrd="0" presId="urn:microsoft.com/office/officeart/2005/8/layout/chevron1"/>
    <dgm:cxn modelId="{EE4C6760-B867-5E47-9245-3D8617AD4949}" type="presOf" srcId="{EA3CB875-641D-8943-9141-D8671F9FD9F1}" destId="{4013DF25-8378-B24A-98E5-EE2D2EBFBF88}" srcOrd="0" destOrd="0" presId="urn:microsoft.com/office/officeart/2005/8/layout/chevron1"/>
    <dgm:cxn modelId="{95EF3668-9F8F-B74A-A0C8-2A0D23A22D19}" type="presOf" srcId="{E2DF935F-F5EE-4843-B39D-A4E6B8A5CABD}" destId="{338D609E-1CC7-1D49-A67E-66E0306E7BB1}" srcOrd="0" destOrd="0" presId="urn:microsoft.com/office/officeart/2005/8/layout/chevron1"/>
    <dgm:cxn modelId="{DEBE9A76-B49B-6046-8479-5C322A9B9A1F}" type="presOf" srcId="{8040E993-8CE7-2D46-AFD5-ACA5DA727388}" destId="{55609441-3FE8-554E-815E-84AF9C562A99}" srcOrd="0" destOrd="0" presId="urn:microsoft.com/office/officeart/2005/8/layout/chevron1"/>
    <dgm:cxn modelId="{4139477F-43D2-D844-ABDB-FDBABE0E4976}" srcId="{169EB007-456C-E942-A6E3-64FC2C66CC34}" destId="{EA3CB875-641D-8943-9141-D8671F9FD9F1}" srcOrd="0" destOrd="0" parTransId="{925A4359-19D1-3240-8A33-C4503C82019D}" sibTransId="{2F95B85F-8250-174F-A435-21025B75D1DF}"/>
    <dgm:cxn modelId="{E971B995-55EE-274B-8B02-051ABAF63062}" type="presOf" srcId="{135B7946-992A-E040-9202-F2BB876737F1}" destId="{A908F6EA-3E00-2F48-A0BF-1795F0EAB584}" srcOrd="0" destOrd="0" presId="urn:microsoft.com/office/officeart/2005/8/layout/chevron1"/>
    <dgm:cxn modelId="{8EE2E4B4-2A65-0448-8027-2E1A2FAA1BF6}" srcId="{169EB007-456C-E942-A6E3-64FC2C66CC34}" destId="{D38DA714-1400-7445-BBAF-0CC0419CC9B4}" srcOrd="4" destOrd="0" parTransId="{4C62AEF0-4FAA-6043-835B-4C760B70CAAC}" sibTransId="{5784BA57-D8B5-4A4D-B442-1B5627B727BA}"/>
    <dgm:cxn modelId="{428E44B4-AE15-E94A-BA61-8A803383716B}" type="presParOf" srcId="{58E967A1-3F15-234C-9928-3D6FD0F50AFD}" destId="{4013DF25-8378-B24A-98E5-EE2D2EBFBF88}" srcOrd="0" destOrd="0" presId="urn:microsoft.com/office/officeart/2005/8/layout/chevron1"/>
    <dgm:cxn modelId="{D43702D2-3D8C-3C4F-ABAD-9D85CAD6DBEE}" type="presParOf" srcId="{58E967A1-3F15-234C-9928-3D6FD0F50AFD}" destId="{1E7B328E-02EC-2144-9596-9CC80D546118}" srcOrd="1" destOrd="0" presId="urn:microsoft.com/office/officeart/2005/8/layout/chevron1"/>
    <dgm:cxn modelId="{88DDB59F-E337-1345-BB00-71712CA9C005}" type="presParOf" srcId="{58E967A1-3F15-234C-9928-3D6FD0F50AFD}" destId="{5771A046-75B2-8F4B-AFDC-CD739FA55B76}" srcOrd="2" destOrd="0" presId="urn:microsoft.com/office/officeart/2005/8/layout/chevron1"/>
    <dgm:cxn modelId="{7DBFC1CE-402D-5840-9750-BAEBFE5C566D}" type="presParOf" srcId="{58E967A1-3F15-234C-9928-3D6FD0F50AFD}" destId="{B50B07C7-6988-724B-8A47-CD60CA7FF18C}" srcOrd="3" destOrd="0" presId="urn:microsoft.com/office/officeart/2005/8/layout/chevron1"/>
    <dgm:cxn modelId="{4EDCD671-31EB-9D44-B0F1-F526E650E978}" type="presParOf" srcId="{58E967A1-3F15-234C-9928-3D6FD0F50AFD}" destId="{55609441-3FE8-554E-815E-84AF9C562A99}" srcOrd="4" destOrd="0" presId="urn:microsoft.com/office/officeart/2005/8/layout/chevron1"/>
    <dgm:cxn modelId="{E716B573-A50A-734D-98AC-FF74C13A5633}" type="presParOf" srcId="{58E967A1-3F15-234C-9928-3D6FD0F50AFD}" destId="{08CDB212-3161-EA41-B41B-96D0F3491F46}" srcOrd="5" destOrd="0" presId="urn:microsoft.com/office/officeart/2005/8/layout/chevron1"/>
    <dgm:cxn modelId="{0E1AEC6D-7F67-F943-A8B7-FE8984A1F960}" type="presParOf" srcId="{58E967A1-3F15-234C-9928-3D6FD0F50AFD}" destId="{A908F6EA-3E00-2F48-A0BF-1795F0EAB584}" srcOrd="6" destOrd="0" presId="urn:microsoft.com/office/officeart/2005/8/layout/chevron1"/>
    <dgm:cxn modelId="{8F48928E-5A01-2A40-BA66-AEC41EFCA54F}" type="presParOf" srcId="{58E967A1-3F15-234C-9928-3D6FD0F50AFD}" destId="{1ACD32DD-5864-1D42-A24B-67EDBD5650E4}" srcOrd="7" destOrd="0" presId="urn:microsoft.com/office/officeart/2005/8/layout/chevron1"/>
    <dgm:cxn modelId="{C4B71EE3-CB21-D24F-9D80-C2591EA392D9}" type="presParOf" srcId="{58E967A1-3F15-234C-9928-3D6FD0F50AFD}" destId="{312B0EB4-4006-514C-8F87-729F24959EB8}" srcOrd="8" destOrd="0" presId="urn:microsoft.com/office/officeart/2005/8/layout/chevron1"/>
    <dgm:cxn modelId="{4C214B4D-1560-5D4C-A853-CF88AE91E485}" type="presParOf" srcId="{58E967A1-3F15-234C-9928-3D6FD0F50AFD}" destId="{1F228FB6-86AD-EC43-A6CB-A31B7224B4D9}" srcOrd="9" destOrd="0" presId="urn:microsoft.com/office/officeart/2005/8/layout/chevron1"/>
    <dgm:cxn modelId="{E34E86B4-8098-3A46-9C8F-BC4D99E645CB}" type="presParOf" srcId="{58E967A1-3F15-234C-9928-3D6FD0F50AFD}" destId="{338D609E-1CC7-1D49-A67E-66E0306E7BB1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3DF25-8378-B24A-98E5-EE2D2EBFBF88}">
      <dsp:nvSpPr>
        <dsp:cNvPr id="0" name=""/>
        <dsp:cNvSpPr/>
      </dsp:nvSpPr>
      <dsp:spPr>
        <a:xfrm>
          <a:off x="4464" y="1912024"/>
          <a:ext cx="1660921" cy="664368"/>
        </a:xfrm>
        <a:prstGeom prst="chevron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User Input</a:t>
          </a:r>
        </a:p>
      </dsp:txBody>
      <dsp:txXfrm>
        <a:off x="336648" y="1912024"/>
        <a:ext cx="996553" cy="664368"/>
      </dsp:txXfrm>
    </dsp:sp>
    <dsp:sp modelId="{5771A046-75B2-8F4B-AFDC-CD739FA55B76}">
      <dsp:nvSpPr>
        <dsp:cNvPr id="0" name=""/>
        <dsp:cNvSpPr/>
      </dsp:nvSpPr>
      <dsp:spPr>
        <a:xfrm>
          <a:off x="1499294" y="1746473"/>
          <a:ext cx="1660921" cy="995470"/>
        </a:xfrm>
        <a:prstGeom prst="chevron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Room Capture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solidFill>
                <a:schemeClr val="tx1"/>
              </a:solidFill>
            </a:rPr>
            <a:t>&amp;</a:t>
          </a:r>
          <a:r>
            <a:rPr lang="zh-CN" altLang="en-US" sz="1400" kern="1200" dirty="0">
              <a:solidFill>
                <a:schemeClr val="tx1"/>
              </a:solidFill>
            </a:rPr>
            <a:t> </a:t>
          </a:r>
          <a:r>
            <a:rPr lang="en-US" sz="1400" kern="1200" dirty="0">
              <a:solidFill>
                <a:schemeClr val="tx1"/>
              </a:solidFill>
            </a:rPr>
            <a:t>Reconstruction</a:t>
          </a:r>
          <a:endParaRPr lang="zh-CN" altLang="en-US" sz="1400" kern="1200" dirty="0">
            <a:solidFill>
              <a:schemeClr val="tx1"/>
            </a:solidFill>
          </a:endParaRPr>
        </a:p>
      </dsp:txBody>
      <dsp:txXfrm>
        <a:off x="1997029" y="1746473"/>
        <a:ext cx="665451" cy="995470"/>
      </dsp:txXfrm>
    </dsp:sp>
    <dsp:sp modelId="{55609441-3FE8-554E-815E-84AF9C562A99}">
      <dsp:nvSpPr>
        <dsp:cNvPr id="0" name=""/>
        <dsp:cNvSpPr/>
      </dsp:nvSpPr>
      <dsp:spPr>
        <a:xfrm>
          <a:off x="2994124" y="1912024"/>
          <a:ext cx="1660921" cy="664368"/>
        </a:xfrm>
        <a:prstGeom prst="chevron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Scene Understanding</a:t>
          </a:r>
        </a:p>
      </dsp:txBody>
      <dsp:txXfrm>
        <a:off x="3326308" y="1912024"/>
        <a:ext cx="996553" cy="664368"/>
      </dsp:txXfrm>
    </dsp:sp>
    <dsp:sp modelId="{A908F6EA-3E00-2F48-A0BF-1795F0EAB584}">
      <dsp:nvSpPr>
        <dsp:cNvPr id="0" name=""/>
        <dsp:cNvSpPr/>
      </dsp:nvSpPr>
      <dsp:spPr>
        <a:xfrm>
          <a:off x="4488953" y="1912024"/>
          <a:ext cx="1660921" cy="664368"/>
        </a:xfrm>
        <a:prstGeom prst="chevron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AI Design Generation</a:t>
          </a:r>
          <a:endParaRPr lang="zh-CN" altLang="en-US" sz="1400" kern="1200" dirty="0">
            <a:solidFill>
              <a:schemeClr val="tx1"/>
            </a:solidFill>
          </a:endParaRPr>
        </a:p>
      </dsp:txBody>
      <dsp:txXfrm>
        <a:off x="4821137" y="1912024"/>
        <a:ext cx="996553" cy="664368"/>
      </dsp:txXfrm>
    </dsp:sp>
    <dsp:sp modelId="{312B0EB4-4006-514C-8F87-729F24959EB8}">
      <dsp:nvSpPr>
        <dsp:cNvPr id="0" name=""/>
        <dsp:cNvSpPr/>
      </dsp:nvSpPr>
      <dsp:spPr>
        <a:xfrm>
          <a:off x="5983783" y="1756522"/>
          <a:ext cx="1660921" cy="975373"/>
        </a:xfrm>
        <a:prstGeom prst="chevron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AR Visualization</a:t>
          </a:r>
          <a:r>
            <a:rPr lang="zh-CN" altLang="en-US" sz="1400" kern="1200" dirty="0">
              <a:solidFill>
                <a:schemeClr val="tx1"/>
              </a:solidFill>
            </a:rPr>
            <a:t> </a:t>
          </a:r>
          <a:r>
            <a:rPr lang="en-US" altLang="zh-CN" sz="1400" kern="1200" dirty="0">
              <a:solidFill>
                <a:schemeClr val="tx1"/>
              </a:solidFill>
            </a:rPr>
            <a:t>&amp;</a:t>
          </a:r>
          <a:r>
            <a:rPr lang="zh-CN" altLang="en-US" sz="1400" kern="1200" dirty="0">
              <a:solidFill>
                <a:schemeClr val="tx1"/>
              </a:solidFill>
            </a:rPr>
            <a:t> </a:t>
          </a:r>
          <a:r>
            <a:rPr lang="en-US" altLang="zh-CN" sz="1400" kern="1200" dirty="0">
              <a:solidFill>
                <a:schemeClr val="tx1"/>
              </a:solidFill>
            </a:rPr>
            <a:t>Interaction</a:t>
          </a:r>
          <a:endParaRPr lang="zh-CN" altLang="en-US" sz="1400" kern="1200" dirty="0">
            <a:solidFill>
              <a:schemeClr val="tx1"/>
            </a:solidFill>
          </a:endParaRPr>
        </a:p>
      </dsp:txBody>
      <dsp:txXfrm>
        <a:off x="6471470" y="1756522"/>
        <a:ext cx="685548" cy="975373"/>
      </dsp:txXfrm>
    </dsp:sp>
    <dsp:sp modelId="{338D609E-1CC7-1D49-A67E-66E0306E7BB1}">
      <dsp:nvSpPr>
        <dsp:cNvPr id="0" name=""/>
        <dsp:cNvSpPr/>
      </dsp:nvSpPr>
      <dsp:spPr>
        <a:xfrm>
          <a:off x="7478613" y="1916668"/>
          <a:ext cx="1660921" cy="655080"/>
        </a:xfrm>
        <a:prstGeom prst="chevron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Community Platform</a:t>
          </a:r>
          <a:r>
            <a:rPr lang="zh-CN" altLang="en-US" sz="1400" kern="1200" dirty="0">
              <a:solidFill>
                <a:schemeClr val="tx1"/>
              </a:solidFill>
            </a:rPr>
            <a:t> </a:t>
          </a:r>
          <a:r>
            <a:rPr lang="en-US" altLang="zh-CN" sz="1400" kern="1200" dirty="0">
              <a:solidFill>
                <a:schemeClr val="tx1"/>
              </a:solidFill>
            </a:rPr>
            <a:t>&amp;</a:t>
          </a:r>
          <a:r>
            <a:rPr lang="zh-CN" altLang="en-US" sz="1400" kern="1200" dirty="0">
              <a:solidFill>
                <a:schemeClr val="tx1"/>
              </a:solidFill>
            </a:rPr>
            <a:t> </a:t>
          </a:r>
          <a:r>
            <a:rPr lang="en-US" altLang="zh-CN" sz="1400" kern="1200" dirty="0">
              <a:solidFill>
                <a:schemeClr val="tx1"/>
              </a:solidFill>
            </a:rPr>
            <a:t>Shopping</a:t>
          </a:r>
          <a:endParaRPr lang="zh-CN" altLang="en-US" sz="1400" kern="1200" dirty="0">
            <a:solidFill>
              <a:schemeClr val="tx1"/>
            </a:solidFill>
          </a:endParaRPr>
        </a:p>
      </dsp:txBody>
      <dsp:txXfrm>
        <a:off x="7806153" y="1916668"/>
        <a:ext cx="1005841" cy="655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645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D9B4-34F1-6A6F-2E52-5037C15D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0C8B3-109C-A24B-0656-72DB6EAE9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37BC4-43BA-9D13-40BB-C0156F2EA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BAB22-3804-A616-F658-C793D3B7C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61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1812-30BC-CF34-A18E-75B1B5C6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912CB-6C27-340C-2C61-4F93A08AC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EF241-09D0-C731-F2DE-3849C97D2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A9559-D199-3BB9-4394-CCFC8CC1F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69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FE63-8BD3-BB82-AB75-E96CC50F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0D7DD-A940-26B5-8DA3-02FF42CA5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D24F0-7218-378E-A493-ED3C457DC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F10A8-FFF9-36A9-AF0A-A8A10B76A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88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2E3C1-35D8-9129-442D-DD5F292C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CF947-660F-0A34-93A9-B5A845C61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A6254-81F1-C0D8-2927-3F05DD8A3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7E04C-95D0-55C3-EC51-FBC1E975C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24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amel-secure-21405066.figma.site/" TargetMode="Externa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gka.com/about-us/annual-and-sustainability-summary-reports/" TargetMode="External"/><Relationship Id="rId2" Type="http://schemas.openxmlformats.org/officeDocument/2006/relationships/hyperlink" Target="https://about.ikea.com/en/about-us/democratic-design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access.thecvf.com/content/CVPR2024/papers/Klinghoffer_PlatoNeRF_CVPR_2024_paper.pdf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762134"/>
            <a:ext cx="2857500" cy="19049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43424" y="1688629"/>
            <a:ext cx="4171950" cy="39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IKEA AR Interior Design Assistant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543424" y="2076585"/>
            <a:ext cx="3131883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51BA"/>
                </a:solidFill>
              </a:rPr>
              <a:t>With Community-based Design Reuse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972548" y="-1219289"/>
            <a:ext cx="1107396" cy="301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Course:</a:t>
            </a:r>
            <a:r>
              <a:rPr lang="en-US" sz="942" dirty="0">
                <a:solidFill>
                  <a:srgbClr val="666666"/>
                </a:solidFill>
              </a:rPr>
              <a:t> CCS3104 Project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543424" y="2316857"/>
            <a:ext cx="2593787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66666"/>
                </a:solidFill>
              </a:rPr>
              <a:t>Focus:</a:t>
            </a:r>
            <a:r>
              <a:rPr lang="en-US" sz="1200" dirty="0">
                <a:solidFill>
                  <a:srgbClr val="666666"/>
                </a:solidFill>
              </a:rPr>
              <a:t> Integrating AR, AI, and Community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43425" y="4552627"/>
            <a:ext cx="417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333333"/>
                </a:solidFill>
              </a:rPr>
              <a:t>"Transforming furniture shopping from a static catalog into an interactive, intelligent, and socially supported design process."</a:t>
            </a:r>
            <a:endParaRPr lang="en-US" sz="834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59D9275-1829-F7B0-B6A9-7C88C763B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749133"/>
              </p:ext>
            </p:extLst>
          </p:nvPr>
        </p:nvGraphicFramePr>
        <p:xfrm>
          <a:off x="4778562" y="3369123"/>
          <a:ext cx="370167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837">
                  <a:extLst>
                    <a:ext uri="{9D8B030D-6E8A-4147-A177-3AD203B41FA5}">
                      <a16:colId xmlns:a16="http://schemas.microsoft.com/office/drawing/2014/main" val="87727982"/>
                    </a:ext>
                  </a:extLst>
                </a:gridCol>
                <a:gridCol w="1850837">
                  <a:extLst>
                    <a:ext uri="{9D8B030D-6E8A-4147-A177-3AD203B41FA5}">
                      <a16:colId xmlns:a16="http://schemas.microsoft.com/office/drawing/2014/main" val="2030212817"/>
                    </a:ext>
                  </a:extLst>
                </a:gridCol>
              </a:tblGrid>
              <a:tr h="236175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YUE CHENGHAO</a:t>
                      </a:r>
                      <a:endParaRPr lang="zh-SG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SG" sz="1400" dirty="0">
                          <a:solidFill>
                            <a:schemeClr val="tx1"/>
                          </a:solidFill>
                        </a:rPr>
                        <a:t>227154</a:t>
                      </a:r>
                      <a:endParaRPr lang="zh-SG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29808"/>
                  </a:ext>
                </a:extLst>
              </a:tr>
              <a:tr h="236175">
                <a:tc>
                  <a:txBody>
                    <a:bodyPr/>
                    <a:lstStyle/>
                    <a:p>
                      <a:r>
                        <a:rPr lang="en-US" altLang="zh-SG" sz="1400" dirty="0"/>
                        <a:t>HUA JIE</a:t>
                      </a:r>
                      <a:endParaRPr lang="zh-SG" altLang="en-US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SG" sz="1400" dirty="0"/>
                        <a:t>226758</a:t>
                      </a:r>
                      <a:endParaRPr lang="zh-SG" altLang="en-US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598010"/>
                  </a:ext>
                </a:extLst>
              </a:tr>
              <a:tr h="236175">
                <a:tc>
                  <a:txBody>
                    <a:bodyPr/>
                    <a:lstStyle/>
                    <a:p>
                      <a:r>
                        <a:rPr lang="en-US" altLang="zh-SG" sz="1400" dirty="0"/>
                        <a:t>WANG KAILUN</a:t>
                      </a:r>
                      <a:endParaRPr lang="zh-SG" altLang="en-US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SG" sz="1400" dirty="0"/>
                        <a:t>227046</a:t>
                      </a:r>
                      <a:endParaRPr lang="zh-SG" altLang="en-US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123293"/>
                  </a:ext>
                </a:extLst>
              </a:tr>
            </a:tbl>
          </a:graphicData>
        </a:graphic>
      </p:graphicFrame>
      <p:pic>
        <p:nvPicPr>
          <p:cNvPr id="1026" name="Picture 2" descr="Logo | Universiti Putra Malaysia">
            <a:extLst>
              <a:ext uri="{FF2B5EF4-FFF2-40B4-BE49-F238E27FC236}">
                <a16:creationId xmlns:a16="http://schemas.microsoft.com/office/drawing/2014/main" id="{1BC17AD6-BC99-7F2B-F8B4-7974D9892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875" y="42460"/>
            <a:ext cx="2275049" cy="136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E042B7E-FB78-F0ED-B825-3E5C6736ECF1}"/>
              </a:ext>
            </a:extLst>
          </p:cNvPr>
          <p:cNvSpPr txBox="1"/>
          <p:nvPr/>
        </p:nvSpPr>
        <p:spPr>
          <a:xfrm>
            <a:off x="4953329" y="1196923"/>
            <a:ext cx="4038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dirty="0">
                <a:latin typeface="Arial" panose="020B0604020202020204" pitchFamily="34" charset="0"/>
                <a:cs typeface="Arial" panose="020B0604020202020204" pitchFamily="34" charset="0"/>
              </a:rPr>
              <a:t>CCS3104-Group Project</a:t>
            </a:r>
            <a:endParaRPr lang="zh-SG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84FCC56-5F00-6875-2A30-9005F317A3CB}"/>
              </a:ext>
            </a:extLst>
          </p:cNvPr>
          <p:cNvSpPr txBox="1"/>
          <p:nvPr/>
        </p:nvSpPr>
        <p:spPr>
          <a:xfrm>
            <a:off x="4543424" y="3030569"/>
            <a:ext cx="1756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1600" dirty="0"/>
              <a:t>Group Member</a:t>
            </a:r>
            <a:endParaRPr lang="zh-SG" alt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7039748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Company Overview: IKEA’s Legacy and Digital Evolution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28625" y="1285875"/>
            <a:ext cx="2201949" cy="1955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333333"/>
                </a:solidFill>
              </a:rPr>
              <a:t>Founding &amp; Philosophy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8625" y="1537692"/>
            <a:ext cx="4686300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Founded in 1943 by Ingvar Kamprad; built on "Democratic Design" balancing Form, Function, Quality, Sustainability, and Low Price.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2329219"/>
            <a:ext cx="1523687" cy="1955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333333"/>
                </a:solidFill>
              </a:rPr>
              <a:t>Core Innovation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8625" y="2586611"/>
            <a:ext cx="4686300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Pioneered flat-pack furniture in the 1950s, revolutionizing affordability and global logistics by reducing transportation costs.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8625" y="3436754"/>
            <a:ext cx="2972352" cy="1955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333333"/>
                </a:solidFill>
              </a:rPr>
              <a:t>Global Reach &amp; Digital Strategy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8625" y="3724068"/>
            <a:ext cx="4686300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Operates in 60+ markets. Currently investing heavily in e-commerce, smart home solutions, and mobile apps to integrate technology with daily living.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500" y="1305688"/>
            <a:ext cx="3250924" cy="24381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88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6744732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Organizational Structure: Strategic Project Alignment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28625" y="1485900"/>
            <a:ext cx="1778757" cy="211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0051BA"/>
                </a:solidFill>
              </a:rPr>
              <a:t>Inter IKEA Group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8625" y="1843088"/>
            <a:ext cx="129388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Brand Ownership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2057400"/>
            <a:ext cx="252473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Oversees the IKEA concept and global brand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8625" y="2228850"/>
            <a:ext cx="474489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identity.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8625" y="2500313"/>
            <a:ext cx="163025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Product Development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8625" y="2714625"/>
            <a:ext cx="225702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Provides core furniture data and design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8625" y="2886075"/>
            <a:ext cx="54662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direction.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62322" y="1485900"/>
            <a:ext cx="1298561" cy="211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0051BA"/>
                </a:solidFill>
              </a:rPr>
              <a:t>Ingka Group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262322" y="1843088"/>
            <a:ext cx="129202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Retail Operations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62322" y="2057400"/>
            <a:ext cx="220893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Manages physical stores and customer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62322" y="2228850"/>
            <a:ext cx="71654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touchpoints.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62322" y="2500313"/>
            <a:ext cx="112998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Digital Services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62322" y="2714625"/>
            <a:ext cx="269144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Primary host for the AR Assistant's deployment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62322" y="2886075"/>
            <a:ext cx="107561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and user interface.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96019" y="1485900"/>
            <a:ext cx="26193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1BA"/>
                </a:solidFill>
              </a:rPr>
              <a:t>Key Departments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6096019" y="1843088"/>
            <a:ext cx="26193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Digital Innovation &amp; IT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096019" y="2057400"/>
            <a:ext cx="22100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Lead development of AR and AI modules.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6096019" y="2328863"/>
            <a:ext cx="26193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Marketing &amp; CX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096019" y="2543175"/>
            <a:ext cx="19361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Drive user adoption and community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6096019" y="2714625"/>
            <a:ext cx="7181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engagement.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6096019" y="3443287"/>
            <a:ext cx="2619384" cy="109254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26" name="Shape 23"/>
          <p:cNvSpPr/>
          <p:nvPr/>
        </p:nvSpPr>
        <p:spPr>
          <a:xfrm>
            <a:off x="6024581" y="3443288"/>
            <a:ext cx="71438" cy="1092548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27" name="Text 24"/>
          <p:cNvSpPr/>
          <p:nvPr/>
        </p:nvSpPr>
        <p:spPr>
          <a:xfrm>
            <a:off x="6170666" y="3443288"/>
            <a:ext cx="1079567" cy="168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Strategic Integration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6167457" y="3726425"/>
            <a:ext cx="2547946" cy="703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The AR Assistant bridges the gap between product design (Inter IKEA) and retail experience (Ingka), ensuring a seamless digital-to-physical customer journey.</a:t>
            </a:r>
            <a:endParaRPr lang="en-US" sz="1100" dirty="0"/>
          </a:p>
        </p:txBody>
      </p:sp>
      <p:pic>
        <p:nvPicPr>
          <p:cNvPr id="29" name="图片 28" descr="日程表&#10;&#10;AI 生成的内容可能不正确。">
            <a:extLst>
              <a:ext uri="{FF2B5EF4-FFF2-40B4-BE49-F238E27FC236}">
                <a16:creationId xmlns:a16="http://schemas.microsoft.com/office/drawing/2014/main" id="{948A1412-224E-0952-8000-A04D9AC24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78" y="3157081"/>
            <a:ext cx="4868997" cy="1831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7595797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 &amp; Solution: Bridging the Gap in Interior Design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1506" y="1285875"/>
            <a:ext cx="1341778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kern="0" spc="1" dirty="0">
                <a:solidFill>
                  <a:srgbClr val="0051BA"/>
                </a:solidFill>
              </a:rPr>
              <a:t>The Challenge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3086" y="1525567"/>
            <a:ext cx="64461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624103" y="1582125"/>
            <a:ext cx="3688158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Inaccurate spatial understanding and measurement errors.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598" y="1992494"/>
            <a:ext cx="64461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30438" y="2021691"/>
            <a:ext cx="3557504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Uncertainty regarding furniture size compatibility and style fit.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4328" y="2430746"/>
            <a:ext cx="64461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30438" y="2465295"/>
            <a:ext cx="3690754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Budget overruns due to trial-and-error purchasing.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506" y="2860585"/>
            <a:ext cx="1202189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kern="0" spc="1" dirty="0">
                <a:solidFill>
                  <a:srgbClr val="0051BA"/>
                </a:solidFill>
              </a:rPr>
              <a:t>The Solution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5316" y="3083506"/>
            <a:ext cx="64461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621506" y="3162818"/>
            <a:ext cx="177131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i="1" dirty="0">
                <a:solidFill>
                  <a:srgbClr val="0051BA"/>
                </a:solidFill>
              </a:rPr>
              <a:t>Intelligent AR Assistant:</a:t>
            </a:r>
            <a:endParaRPr lang="en-US" sz="1400" i="1" dirty="0"/>
          </a:p>
        </p:txBody>
      </p:sp>
      <p:sp>
        <p:nvSpPr>
          <p:cNvPr id="15" name="Text 12"/>
          <p:cNvSpPr/>
          <p:nvPr/>
        </p:nvSpPr>
        <p:spPr>
          <a:xfrm>
            <a:off x="621506" y="3370233"/>
            <a:ext cx="3472313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A mobile platform using Computer Vision and Generative AI.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6828" y="3705986"/>
            <a:ext cx="64461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619265" y="3775083"/>
            <a:ext cx="168494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0051BA"/>
                </a:solidFill>
              </a:rPr>
              <a:t>Seamless Visualization: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1506" y="3948364"/>
            <a:ext cx="3566436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Bridges the gap between imagination and physical space.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4327" y="4308609"/>
            <a:ext cx="64461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619265" y="4377706"/>
            <a:ext cx="128047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i="1" dirty="0">
                <a:solidFill>
                  <a:srgbClr val="0051BA"/>
                </a:solidFill>
              </a:rPr>
              <a:t>Social Validation:</a:t>
            </a:r>
            <a:endParaRPr lang="en-US" sz="1400" i="1" dirty="0"/>
          </a:p>
        </p:txBody>
      </p:sp>
      <p:sp>
        <p:nvSpPr>
          <p:cNvPr id="21" name="Text 18"/>
          <p:cNvSpPr/>
          <p:nvPr/>
        </p:nvSpPr>
        <p:spPr>
          <a:xfrm>
            <a:off x="619265" y="4588108"/>
            <a:ext cx="3530771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Combines AI precision with community-driven design wisdom.</a:t>
            </a:r>
            <a:endParaRPr lang="en-US" sz="14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196" y="1243191"/>
            <a:ext cx="3614559" cy="36145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D124-114F-E96A-69F4-B93ED566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0B300464-B506-12A9-AC28-31F12A4979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4445739"/>
              </p:ext>
            </p:extLst>
          </p:nvPr>
        </p:nvGraphicFramePr>
        <p:xfrm>
          <a:off x="0" y="655082"/>
          <a:ext cx="9144000" cy="4488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圆角矩形标注 32">
            <a:extLst>
              <a:ext uri="{FF2B5EF4-FFF2-40B4-BE49-F238E27FC236}">
                <a16:creationId xmlns:a16="http://schemas.microsoft.com/office/drawing/2014/main" id="{2A83EE06-417E-3D05-F4D5-C3C9FDB5040E}"/>
              </a:ext>
            </a:extLst>
          </p:cNvPr>
          <p:cNvSpPr/>
          <p:nvPr/>
        </p:nvSpPr>
        <p:spPr>
          <a:xfrm>
            <a:off x="5506811" y="3637657"/>
            <a:ext cx="1860201" cy="583645"/>
          </a:xfrm>
          <a:prstGeom prst="wedgeRoundRectCallout">
            <a:avLst>
              <a:gd name="adj1" fmla="val 22381"/>
              <a:gd name="adj2" fmla="val -8039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32" name="圆角矩形标注 31">
            <a:extLst>
              <a:ext uri="{FF2B5EF4-FFF2-40B4-BE49-F238E27FC236}">
                <a16:creationId xmlns:a16="http://schemas.microsoft.com/office/drawing/2014/main" id="{CA260074-F8E8-BB74-8ACD-28D7F340B3F0}"/>
              </a:ext>
            </a:extLst>
          </p:cNvPr>
          <p:cNvSpPr/>
          <p:nvPr/>
        </p:nvSpPr>
        <p:spPr>
          <a:xfrm>
            <a:off x="2272325" y="3651169"/>
            <a:ext cx="2115178" cy="602613"/>
          </a:xfrm>
          <a:prstGeom prst="wedgeRoundRectCallout">
            <a:avLst>
              <a:gd name="adj1" fmla="val 20022"/>
              <a:gd name="adj2" fmla="val -10424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31" name="圆角矩形标注 30">
            <a:extLst>
              <a:ext uri="{FF2B5EF4-FFF2-40B4-BE49-F238E27FC236}">
                <a16:creationId xmlns:a16="http://schemas.microsoft.com/office/drawing/2014/main" id="{92754ADB-7F1F-2E83-4433-2AA92D5814C9}"/>
              </a:ext>
            </a:extLst>
          </p:cNvPr>
          <p:cNvSpPr/>
          <p:nvPr/>
        </p:nvSpPr>
        <p:spPr>
          <a:xfrm>
            <a:off x="6919617" y="1458856"/>
            <a:ext cx="2037304" cy="656832"/>
          </a:xfrm>
          <a:prstGeom prst="wedgeRoundRectCallout">
            <a:avLst>
              <a:gd name="adj1" fmla="val 21584"/>
              <a:gd name="adj2" fmla="val 8850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29" name="圆角矩形标注 28">
            <a:extLst>
              <a:ext uri="{FF2B5EF4-FFF2-40B4-BE49-F238E27FC236}">
                <a16:creationId xmlns:a16="http://schemas.microsoft.com/office/drawing/2014/main" id="{63770C3F-D933-CCB7-9BDA-CCE12DEC2CED}"/>
              </a:ext>
            </a:extLst>
          </p:cNvPr>
          <p:cNvSpPr/>
          <p:nvPr/>
        </p:nvSpPr>
        <p:spPr>
          <a:xfrm>
            <a:off x="3739708" y="1434384"/>
            <a:ext cx="2238271" cy="705776"/>
          </a:xfrm>
          <a:prstGeom prst="wedgeRoundRectCallout">
            <a:avLst>
              <a:gd name="adj1" fmla="val 21816"/>
              <a:gd name="adj2" fmla="val 8528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23" name="圆角矩形标注 22">
            <a:extLst>
              <a:ext uri="{FF2B5EF4-FFF2-40B4-BE49-F238E27FC236}">
                <a16:creationId xmlns:a16="http://schemas.microsoft.com/office/drawing/2014/main" id="{1F1967BF-4196-D07C-C69A-3641482C0C0D}"/>
              </a:ext>
            </a:extLst>
          </p:cNvPr>
          <p:cNvSpPr/>
          <p:nvPr/>
        </p:nvSpPr>
        <p:spPr>
          <a:xfrm>
            <a:off x="1022096" y="1396384"/>
            <a:ext cx="1830056" cy="656832"/>
          </a:xfrm>
          <a:prstGeom prst="wedgeRoundRectCallout">
            <a:avLst>
              <a:gd name="adj1" fmla="val 21446"/>
              <a:gd name="adj2" fmla="val 8391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BEA269AC-7D0A-E847-809F-0BB2E92A06DE}"/>
              </a:ext>
            </a:extLst>
          </p:cNvPr>
          <p:cNvSpPr/>
          <p:nvPr/>
        </p:nvSpPr>
        <p:spPr>
          <a:xfrm>
            <a:off x="0" y="0"/>
            <a:ext cx="9144000" cy="655082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38E17CD-9AE3-AB90-1B5F-BFEF35CC5B24}"/>
              </a:ext>
            </a:extLst>
          </p:cNvPr>
          <p:cNvSpPr/>
          <p:nvPr/>
        </p:nvSpPr>
        <p:spPr>
          <a:xfrm>
            <a:off x="167368" y="142875"/>
            <a:ext cx="475944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SG" sz="2400" b="1" dirty="0">
                <a:solidFill>
                  <a:schemeClr val="bg1"/>
                </a:solidFill>
              </a:rPr>
              <a:t>Architecture</a:t>
            </a:r>
            <a:r>
              <a:rPr lang="zh-SG" altLang="en-US" sz="2400" b="1" dirty="0">
                <a:solidFill>
                  <a:schemeClr val="bg1"/>
                </a:solidFill>
              </a:rPr>
              <a:t>（</a:t>
            </a:r>
            <a:r>
              <a:rPr lang="en-US" altLang="zh-SG" sz="2400" b="1" dirty="0">
                <a:solidFill>
                  <a:schemeClr val="bg1"/>
                </a:solidFill>
              </a:rPr>
              <a:t>System Architecture</a:t>
            </a:r>
            <a:r>
              <a:rPr lang="zh-SG" altLang="en-US" sz="24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3FCF55-8DD8-C37C-F8E3-6C75B203FA22}"/>
              </a:ext>
            </a:extLst>
          </p:cNvPr>
          <p:cNvSpPr txBox="1"/>
          <p:nvPr/>
        </p:nvSpPr>
        <p:spPr>
          <a:xfrm>
            <a:off x="2250829" y="4420791"/>
            <a:ext cx="4587072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sz="1400" b="1" dirty="0">
                <a:solidFill>
                  <a:schemeClr val="accent1"/>
                </a:solidFill>
                <a:effectLst/>
              </a:rPr>
              <a:t>“This architecture supports an end-to-end workflow from room scanning to purchase decision.”</a:t>
            </a:r>
            <a:endParaRPr lang="en-US" altLang="zh-SG" sz="14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2B7AFE-8E9D-CEB3-B0B2-CBB16F5F8FAD}"/>
              </a:ext>
            </a:extLst>
          </p:cNvPr>
          <p:cNvSpPr txBox="1"/>
          <p:nvPr/>
        </p:nvSpPr>
        <p:spPr>
          <a:xfrm>
            <a:off x="981113" y="1434384"/>
            <a:ext cx="2348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1400" b="1" dirty="0">
                <a:solidFill>
                  <a:schemeClr val="bg1"/>
                </a:solidFill>
              </a:rPr>
              <a:t>3D room modeling and spatial measurement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3A71E8-550B-3622-9B7E-88FD134A1681}"/>
              </a:ext>
            </a:extLst>
          </p:cNvPr>
          <p:cNvSpPr txBox="1"/>
          <p:nvPr/>
        </p:nvSpPr>
        <p:spPr>
          <a:xfrm>
            <a:off x="2223199" y="3698082"/>
            <a:ext cx="2348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sz="1400" b="1" dirty="0">
                <a:solidFill>
                  <a:schemeClr val="bg1"/>
                </a:solidFill>
                <a:effectLst/>
                <a:latin typeface=".AppleSystemUIFont"/>
              </a:rPr>
              <a:t>Semantic labeling of walls, doors, walkable areas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745FEC-BA2B-E19E-239E-6B7B44AEF475}"/>
              </a:ext>
            </a:extLst>
          </p:cNvPr>
          <p:cNvSpPr txBox="1"/>
          <p:nvPr/>
        </p:nvSpPr>
        <p:spPr>
          <a:xfrm>
            <a:off x="3793789" y="1486484"/>
            <a:ext cx="2238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sz="1400" b="1" dirty="0">
                <a:solidFill>
                  <a:schemeClr val="bg1"/>
                </a:solidFill>
                <a:effectLst/>
                <a:latin typeface=".AppleSystemUIFont"/>
              </a:rPr>
              <a:t>Layout generation based on space and user preferences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4BC122-3D4B-9F7F-AF59-E2722BAC9682}"/>
              </a:ext>
            </a:extLst>
          </p:cNvPr>
          <p:cNvSpPr txBox="1"/>
          <p:nvPr/>
        </p:nvSpPr>
        <p:spPr>
          <a:xfrm>
            <a:off x="5506811" y="3654786"/>
            <a:ext cx="2238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sz="1400" b="1" dirty="0">
                <a:solidFill>
                  <a:schemeClr val="bg1"/>
                </a:solidFill>
                <a:effectLst/>
                <a:latin typeface=".AppleSystemUIFont"/>
              </a:rPr>
              <a:t>Real-time preview and furniture manipulation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48668F-45C0-68D9-8C01-132AF5AC992E}"/>
              </a:ext>
            </a:extLst>
          </p:cNvPr>
          <p:cNvSpPr txBox="1"/>
          <p:nvPr/>
        </p:nvSpPr>
        <p:spPr>
          <a:xfrm>
            <a:off x="6899520" y="1486484"/>
            <a:ext cx="22985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sz="1400" b="1" dirty="0">
                <a:solidFill>
                  <a:schemeClr val="bg1"/>
                </a:solidFill>
                <a:effectLst/>
                <a:latin typeface=".AppleSystemUIFont"/>
              </a:rPr>
              <a:t>Design reuse, adaptation, and purchase support</a:t>
            </a:r>
          </a:p>
        </p:txBody>
      </p:sp>
    </p:spTree>
    <p:extLst>
      <p:ext uri="{BB962C8B-B14F-4D97-AF65-F5344CB8AC3E}">
        <p14:creationId xmlns:p14="http://schemas.microsoft.com/office/powerpoint/2010/main" val="123300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3" y="9299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7933710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Core Features (Part 1): Room Scanning &amp; AI Layout Generation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28625" y="1435894"/>
            <a:ext cx="2742482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51BA"/>
                </a:solidFill>
              </a:rPr>
              <a:t>Room Capture &amp; Reconstruction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721644"/>
            <a:ext cx="3514725" cy="720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Utilizes smartphone cameras to detect boundaries, measure dimensions, and create high-fidelity 3D spatial models of the user's environment.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2526484"/>
            <a:ext cx="2634632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51BA"/>
                </a:solidFill>
              </a:rPr>
              <a:t>Semantic Scene Understanding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4561" y="2905185"/>
            <a:ext cx="3514726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Identifies existing furniture, walkable areas, and clearance zones (e.g., door swings) to ensure all generated designs are physically feasible.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8625" y="3538947"/>
            <a:ext cx="170219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051BA"/>
                </a:solidFill>
              </a:rPr>
              <a:t>AI-Assisted Generation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4560" y="3824297"/>
            <a:ext cx="3363334" cy="720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Processes natural language inputs (e.g., "Scandinavian style, budget RM3000") to produce multiple optimized layout proposals with conflict detection.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111" y="1204805"/>
            <a:ext cx="4605164" cy="3684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Core Features (Part 2): AR Visualization &amp; Community Reuse</a:t>
            </a:r>
            <a:endParaRPr lang="en-US" sz="1602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394" y="1047772"/>
            <a:ext cx="4563200" cy="365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1279641"/>
            <a:ext cx="2157129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51BA"/>
                </a:solidFill>
              </a:rPr>
              <a:t>Immersive AR Interaction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28863" y="1596137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428625" y="1590843"/>
            <a:ext cx="176150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Real-time Visualization: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5222" y="1876077"/>
            <a:ext cx="3851932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Overlays virtual furniture with light estimation and occlusion handling for high realism.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25273" y="2274268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425222" y="2285364"/>
            <a:ext cx="195130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Interactive Customization: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222" y="2513979"/>
            <a:ext cx="405117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Drag, rotate, and snap furniture to walls/floors while maintaining spatial correctness.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28625" y="3052567"/>
            <a:ext cx="2077877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51BA"/>
                </a:solidFill>
              </a:rPr>
              <a:t>Socially-Powered Design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28863" y="3280183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5" name="Text 11"/>
          <p:cNvSpPr/>
          <p:nvPr/>
        </p:nvSpPr>
        <p:spPr>
          <a:xfrm>
            <a:off x="428625" y="3290899"/>
            <a:ext cx="160665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Community Platform: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25222" y="3500283"/>
            <a:ext cx="3941871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Browse and adapt designs from users with similar room layouts and furniture preferences.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18442" y="3928193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8" name="Text 14"/>
          <p:cNvSpPr/>
          <p:nvPr/>
        </p:nvSpPr>
        <p:spPr>
          <a:xfrm>
            <a:off x="425222" y="3928193"/>
            <a:ext cx="1702902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Automatic Adaptation: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28625" y="4179068"/>
            <a:ext cx="3945108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System scales and adjusts community designs to fit the user's specific room dimensions.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7509-E6E7-E479-0ED2-AAA00E47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5F125F9-CD0C-E46D-9785-5FB9117F932C}"/>
              </a:ext>
            </a:extLst>
          </p:cNvPr>
          <p:cNvSpPr/>
          <p:nvPr/>
        </p:nvSpPr>
        <p:spPr>
          <a:xfrm>
            <a:off x="0" y="-6439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17DED22-4515-BA49-94B1-FCB26C2BA84D}"/>
              </a:ext>
            </a:extLst>
          </p:cNvPr>
          <p:cNvSpPr/>
          <p:nvPr/>
        </p:nvSpPr>
        <p:spPr>
          <a:xfrm>
            <a:off x="428625" y="285750"/>
            <a:ext cx="182383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SG" sz="2400" b="1" dirty="0">
                <a:solidFill>
                  <a:schemeClr val="bg1"/>
                </a:solidFill>
              </a:rPr>
              <a:t>GUI</a:t>
            </a:r>
            <a:r>
              <a:rPr lang="zh-SG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SG" sz="2400" b="1" dirty="0">
                <a:solidFill>
                  <a:schemeClr val="bg1"/>
                </a:solidFill>
              </a:rPr>
              <a:t>Prototype</a:t>
            </a:r>
          </a:p>
        </p:txBody>
      </p:sp>
      <p:pic>
        <p:nvPicPr>
          <p:cNvPr id="24" name="图片 23" descr="手机屏幕截图&#10;&#10;AI 生成的内容可能不正确。">
            <a:extLst>
              <a:ext uri="{FF2B5EF4-FFF2-40B4-BE49-F238E27FC236}">
                <a16:creationId xmlns:a16="http://schemas.microsoft.com/office/drawing/2014/main" id="{D6D3017C-3B3F-5041-B3A4-8EBB01831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37" y="878686"/>
            <a:ext cx="2181083" cy="4263027"/>
          </a:xfrm>
          <a:prstGeom prst="rect">
            <a:avLst/>
          </a:prstGeom>
        </p:spPr>
      </p:pic>
      <p:pic>
        <p:nvPicPr>
          <p:cNvPr id="28" name="图片 27" descr="手机屏幕截图&#10;&#10;AI 生成的内容可能不正确。">
            <a:extLst>
              <a:ext uri="{FF2B5EF4-FFF2-40B4-BE49-F238E27FC236}">
                <a16:creationId xmlns:a16="http://schemas.microsoft.com/office/drawing/2014/main" id="{FBFE8CCC-98FB-2D66-279E-CBC809F85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654" y="884039"/>
            <a:ext cx="2179259" cy="4259461"/>
          </a:xfrm>
          <a:prstGeom prst="rect">
            <a:avLst/>
          </a:prstGeom>
        </p:spPr>
      </p:pic>
      <p:pic>
        <p:nvPicPr>
          <p:cNvPr id="30" name="图片 29" descr="手机屏幕的截图&#10;&#10;AI 生成的内容可能不正确。">
            <a:extLst>
              <a:ext uri="{FF2B5EF4-FFF2-40B4-BE49-F238E27FC236}">
                <a16:creationId xmlns:a16="http://schemas.microsoft.com/office/drawing/2014/main" id="{D4CA2598-7436-76F0-931A-D94797F18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847" y="878685"/>
            <a:ext cx="2179259" cy="4263027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B368096E-890B-11FA-DA4B-9CC83335FA7E}"/>
              </a:ext>
            </a:extLst>
          </p:cNvPr>
          <p:cNvSpPr txBox="1"/>
          <p:nvPr/>
        </p:nvSpPr>
        <p:spPr>
          <a:xfrm>
            <a:off x="2307724" y="376340"/>
            <a:ext cx="67810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1000" dirty="0">
                <a:solidFill>
                  <a:schemeClr val="bg1"/>
                </a:solidFill>
              </a:rPr>
              <a:t>https://</a:t>
            </a:r>
            <a:r>
              <a:rPr lang="en-US" altLang="zh-SG" sz="1000" dirty="0" err="1">
                <a:solidFill>
                  <a:schemeClr val="bg1"/>
                </a:solidFill>
              </a:rPr>
              <a:t>www.figma.com</a:t>
            </a:r>
            <a:r>
              <a:rPr lang="en-US" altLang="zh-SG" sz="1000" dirty="0">
                <a:solidFill>
                  <a:schemeClr val="bg1"/>
                </a:solidFill>
              </a:rPr>
              <a:t>/make/Dk1Pk3F2yo4HSRjtWzaVfi/Mobile-GUI-Design-Report--Copy-?t=ZYRziibj5U8PkEbv-1</a:t>
            </a:r>
            <a:endParaRPr lang="zh-SG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042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789B6-A4E5-AC80-6B99-35959FE8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6616966-A751-FD65-31BC-851216B32830}"/>
              </a:ext>
            </a:extLst>
          </p:cNvPr>
          <p:cNvSpPr/>
          <p:nvPr/>
        </p:nvSpPr>
        <p:spPr>
          <a:xfrm>
            <a:off x="0" y="0"/>
            <a:ext cx="9144000" cy="71379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CC067C-74AF-5ECF-7161-DE0E77B11F9D}"/>
              </a:ext>
            </a:extLst>
          </p:cNvPr>
          <p:cNvSpPr/>
          <p:nvPr/>
        </p:nvSpPr>
        <p:spPr>
          <a:xfrm>
            <a:off x="338190" y="172229"/>
            <a:ext cx="182383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SG" sz="2400" b="1" dirty="0">
                <a:solidFill>
                  <a:schemeClr val="bg1"/>
                </a:solidFill>
              </a:rPr>
              <a:t>GUI</a:t>
            </a:r>
            <a:r>
              <a:rPr lang="zh-SG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SG" sz="2400" b="1" dirty="0">
                <a:solidFill>
                  <a:schemeClr val="bg1"/>
                </a:solidFill>
              </a:rPr>
              <a:t>Prototype</a:t>
            </a:r>
          </a:p>
        </p:txBody>
      </p:sp>
      <p:pic>
        <p:nvPicPr>
          <p:cNvPr id="5" name="图片 4" descr="图片包含 工程绘图&#10;&#10;AI 生成的内容可能不正确。">
            <a:extLst>
              <a:ext uri="{FF2B5EF4-FFF2-40B4-BE49-F238E27FC236}">
                <a16:creationId xmlns:a16="http://schemas.microsoft.com/office/drawing/2014/main" id="{1E287AAD-7E94-A86E-720E-93B224C39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36" y="713790"/>
            <a:ext cx="2266363" cy="4429710"/>
          </a:xfrm>
          <a:prstGeom prst="rect">
            <a:avLst/>
          </a:prstGeom>
        </p:spPr>
      </p:pic>
      <p:pic>
        <p:nvPicPr>
          <p:cNvPr id="7" name="图片 6" descr="手机屏幕的截图&#10;&#10;AI 生成的内容可能不正确。">
            <a:extLst>
              <a:ext uri="{FF2B5EF4-FFF2-40B4-BE49-F238E27FC236}">
                <a16:creationId xmlns:a16="http://schemas.microsoft.com/office/drawing/2014/main" id="{DEEE62EA-2337-3F75-9AD5-3867A8E3C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543" y="713790"/>
            <a:ext cx="2266363" cy="4429710"/>
          </a:xfrm>
          <a:prstGeom prst="rect">
            <a:avLst/>
          </a:prstGeom>
        </p:spPr>
      </p:pic>
      <p:pic>
        <p:nvPicPr>
          <p:cNvPr id="9" name="图片 8" descr="手机屏幕的截图&#10;&#10;AI 生成的内容可能不正确。">
            <a:extLst>
              <a:ext uri="{FF2B5EF4-FFF2-40B4-BE49-F238E27FC236}">
                <a16:creationId xmlns:a16="http://schemas.microsoft.com/office/drawing/2014/main" id="{590B4587-3FF1-2183-7C94-DA6E4442A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451" y="713790"/>
            <a:ext cx="2669505" cy="442971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AFF59E3-8EEA-47AC-B59C-26DE5C2225C2}"/>
              </a:ext>
            </a:extLst>
          </p:cNvPr>
          <p:cNvSpPr txBox="1"/>
          <p:nvPr/>
        </p:nvSpPr>
        <p:spPr>
          <a:xfrm>
            <a:off x="2428247" y="1722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SG" altLang="en-US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https://camel-secure-21405066.figma.site</a:t>
            </a:r>
            <a:endParaRPr lang="zh-SG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0E9BB14-853B-A6A9-9584-2541CD11F4C5}"/>
              </a:ext>
            </a:extLst>
          </p:cNvPr>
          <p:cNvSpPr txBox="1"/>
          <p:nvPr/>
        </p:nvSpPr>
        <p:spPr>
          <a:xfrm>
            <a:off x="1045029" y="914400"/>
            <a:ext cx="1617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SG" sz="1600" dirty="0"/>
              <a:t>Empty House</a:t>
            </a:r>
            <a:endParaRPr kumimoji="1" lang="zh-SG" alt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9ADE9C-BFCE-9868-A8AF-455F7C6E6A92}"/>
              </a:ext>
            </a:extLst>
          </p:cNvPr>
          <p:cNvSpPr txBox="1"/>
          <p:nvPr/>
        </p:nvSpPr>
        <p:spPr>
          <a:xfrm>
            <a:off x="3615435" y="991344"/>
            <a:ext cx="1896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SG" sz="1600" dirty="0"/>
              <a:t>Furnished House</a:t>
            </a:r>
            <a:endParaRPr kumimoji="1" lang="zh-SG" altLang="en-US" sz="1600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F09B142-9480-B6C7-93E9-A55E6C252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3449" y="1114455"/>
            <a:ext cx="173284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SG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Furnished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1400" dirty="0"/>
              <a:t>House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/>
              <a:t>3D-Real time Preview</a:t>
            </a:r>
            <a:endParaRPr kumimoji="0" lang="zh-SG" altLang="zh-SG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588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CDDF-F7B6-0BB3-C6DC-9B7B02CC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>
            <a:extLst>
              <a:ext uri="{FF2B5EF4-FFF2-40B4-BE49-F238E27FC236}">
                <a16:creationId xmlns:a16="http://schemas.microsoft.com/office/drawing/2014/main" id="{D39427F9-A27B-AC3C-956F-A2D43A6CFD11}"/>
              </a:ext>
            </a:extLst>
          </p:cNvPr>
          <p:cNvSpPr/>
          <p:nvPr/>
        </p:nvSpPr>
        <p:spPr>
          <a:xfrm>
            <a:off x="6444445" y="924189"/>
            <a:ext cx="1708222" cy="51937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19A5B6D-4314-DE61-FEB0-47D092F2CEFD}"/>
              </a:ext>
            </a:extLst>
          </p:cNvPr>
          <p:cNvSpPr/>
          <p:nvPr/>
        </p:nvSpPr>
        <p:spPr>
          <a:xfrm>
            <a:off x="4448122" y="915436"/>
            <a:ext cx="1708222" cy="51937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3C2BEAF-A00C-7480-6AFA-2983857EFD92}"/>
              </a:ext>
            </a:extLst>
          </p:cNvPr>
          <p:cNvSpPr/>
          <p:nvPr/>
        </p:nvSpPr>
        <p:spPr>
          <a:xfrm>
            <a:off x="2582424" y="915436"/>
            <a:ext cx="1708222" cy="51937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60D3F48-9126-4C61-6E5E-55A9697CC8F1}"/>
              </a:ext>
            </a:extLst>
          </p:cNvPr>
          <p:cNvSpPr/>
          <p:nvPr/>
        </p:nvSpPr>
        <p:spPr>
          <a:xfrm>
            <a:off x="743577" y="4614409"/>
            <a:ext cx="1838847" cy="4421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7FDF1A4-C221-F30B-9B6C-5FC793C9C082}"/>
              </a:ext>
            </a:extLst>
          </p:cNvPr>
          <p:cNvSpPr/>
          <p:nvPr/>
        </p:nvSpPr>
        <p:spPr>
          <a:xfrm>
            <a:off x="743577" y="4009445"/>
            <a:ext cx="1838847" cy="4421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BEF7903-934D-D511-BC88-789F4BFA652D}"/>
              </a:ext>
            </a:extLst>
          </p:cNvPr>
          <p:cNvSpPr/>
          <p:nvPr/>
        </p:nvSpPr>
        <p:spPr>
          <a:xfrm>
            <a:off x="743578" y="3455895"/>
            <a:ext cx="1838847" cy="4421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SG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7FF1C6C-0786-E58D-E7FE-9483C73E7DDB}"/>
              </a:ext>
            </a:extLst>
          </p:cNvPr>
          <p:cNvSpPr/>
          <p:nvPr/>
        </p:nvSpPr>
        <p:spPr>
          <a:xfrm>
            <a:off x="743578" y="2868881"/>
            <a:ext cx="1838847" cy="4421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348D375-8DFD-F044-5797-7DC61F425112}"/>
              </a:ext>
            </a:extLst>
          </p:cNvPr>
          <p:cNvSpPr/>
          <p:nvPr/>
        </p:nvSpPr>
        <p:spPr>
          <a:xfrm>
            <a:off x="743579" y="2188067"/>
            <a:ext cx="1838847" cy="4421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E576743-14DC-FC62-5ACC-438703BFCBC2}"/>
              </a:ext>
            </a:extLst>
          </p:cNvPr>
          <p:cNvSpPr/>
          <p:nvPr/>
        </p:nvSpPr>
        <p:spPr>
          <a:xfrm>
            <a:off x="743579" y="1507253"/>
            <a:ext cx="1838847" cy="4421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5E353B0C-017F-C16A-A8F4-B81861C7EF9C}"/>
              </a:ext>
            </a:extLst>
          </p:cNvPr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B6432F6-2FBC-B5D6-2CD1-9EC6C7D0C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361665"/>
              </p:ext>
            </p:extLst>
          </p:nvPr>
        </p:nvGraphicFramePr>
        <p:xfrm>
          <a:off x="743577" y="885291"/>
          <a:ext cx="7592068" cy="4303691"/>
        </p:xfrm>
        <a:graphic>
          <a:graphicData uri="http://schemas.openxmlformats.org/drawingml/2006/table">
            <a:tbl>
              <a:tblPr/>
              <a:tblGrid>
                <a:gridCol w="1898017">
                  <a:extLst>
                    <a:ext uri="{9D8B030D-6E8A-4147-A177-3AD203B41FA5}">
                      <a16:colId xmlns:a16="http://schemas.microsoft.com/office/drawing/2014/main" val="3386238457"/>
                    </a:ext>
                  </a:extLst>
                </a:gridCol>
                <a:gridCol w="1860414">
                  <a:extLst>
                    <a:ext uri="{9D8B030D-6E8A-4147-A177-3AD203B41FA5}">
                      <a16:colId xmlns:a16="http://schemas.microsoft.com/office/drawing/2014/main" val="3881852261"/>
                    </a:ext>
                  </a:extLst>
                </a:gridCol>
                <a:gridCol w="1935620">
                  <a:extLst>
                    <a:ext uri="{9D8B030D-6E8A-4147-A177-3AD203B41FA5}">
                      <a16:colId xmlns:a16="http://schemas.microsoft.com/office/drawing/2014/main" val="2575782767"/>
                    </a:ext>
                  </a:extLst>
                </a:gridCol>
                <a:gridCol w="1898017">
                  <a:extLst>
                    <a:ext uri="{9D8B030D-6E8A-4147-A177-3AD203B41FA5}">
                      <a16:colId xmlns:a16="http://schemas.microsoft.com/office/drawing/2014/main" val="2159065485"/>
                    </a:ext>
                  </a:extLst>
                </a:gridCol>
              </a:tblGrid>
              <a:tr h="473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+mn-lt"/>
                          <a:cs typeface="Arial" panose="020B0604020202020204" pitchFamily="34" charset="0"/>
                        </a:rPr>
                        <a:t>Aspect</a:t>
                      </a:r>
                      <a:endParaRPr lang="en-US"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+mn-lt"/>
                          <a:cs typeface="Arial" panose="020B0604020202020204" pitchFamily="34" charset="0"/>
                        </a:rPr>
                        <a:t>Traditional Offline Shopping</a:t>
                      </a:r>
                      <a:endParaRPr lang="en-US"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+mn-lt"/>
                          <a:cs typeface="Arial" panose="020B0604020202020204" pitchFamily="34" charset="0"/>
                        </a:rPr>
                        <a:t>Traditional AR Apps</a:t>
                      </a:r>
                      <a:endParaRPr lang="en-US" sz="14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+mn-lt"/>
                          <a:cs typeface="Arial" panose="020B0604020202020204" pitchFamily="34" charset="0"/>
                        </a:rPr>
                        <a:t>Proposed 3D AR-based Solution</a:t>
                      </a:r>
                      <a:endParaRPr lang="en-US"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302562"/>
                  </a:ext>
                </a:extLst>
              </a:tr>
              <a:tr h="705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Measurement Accuracy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Manual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 measurement, prone to human error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Relies on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estimated 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dimensions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+mn-lt"/>
                          <a:cs typeface="Arial" panose="020B0604020202020204" pitchFamily="34" charset="0"/>
                        </a:rPr>
                        <a:t>Accurate 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3D room reconstruction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16534"/>
                  </a:ext>
                </a:extLst>
              </a:tr>
              <a:tr h="68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Spatial Constraints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Often ignored until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purchase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Limited awareness 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of real constraints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+mn-lt"/>
                          <a:cs typeface="Arial" panose="020B0604020202020204" pitchFamily="34" charset="0"/>
                        </a:rPr>
                        <a:t>Explicit modeling 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of walkways and clearances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221090"/>
                  </a:ext>
                </a:extLst>
              </a:tr>
              <a:tr h="66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Visualization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Based on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imagination or static display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2D screen-based 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AR overlay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u="none" dirty="0">
                          <a:solidFill>
                            <a:schemeClr val="accent6"/>
                          </a:solidFill>
                          <a:latin typeface="+mn-lt"/>
                          <a:cs typeface="Arial" panose="020B0604020202020204" pitchFamily="34" charset="0"/>
                        </a:rPr>
                        <a:t>Real-time AR 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in reconstructed </a:t>
                      </a:r>
                      <a:r>
                        <a:rPr lang="en-US" sz="1400" dirty="0">
                          <a:solidFill>
                            <a:schemeClr val="accent6"/>
                          </a:solidFill>
                          <a:latin typeface="+mn-lt"/>
                          <a:cs typeface="Arial" panose="020B0604020202020204" pitchFamily="34" charset="0"/>
                        </a:rPr>
                        <a:t>3D space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58876"/>
                  </a:ext>
                </a:extLst>
              </a:tr>
              <a:tr h="542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  <a:cs typeface="Arial" panose="020B0604020202020204" pitchFamily="34" charset="0"/>
                        </a:rPr>
                        <a:t>Layout Feasibility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High risk 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of blocking paths or doors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Errors amplified by incorrect scale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+mn-lt"/>
                          <a:cs typeface="Arial" panose="020B0604020202020204" pitchFamily="34" charset="0"/>
                        </a:rPr>
                        <a:t>Automatic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 detection of layout conflicts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377264"/>
                  </a:ext>
                </a:extLst>
              </a:tr>
              <a:tr h="542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  <a:cs typeface="Arial" panose="020B0604020202020204" pitchFamily="34" charset="0"/>
                        </a:rPr>
                        <a:t>Time &amp; Effort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Time-consuming 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and physically demanding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  <a:cs typeface="Arial" panose="020B0604020202020204" pitchFamily="34" charset="0"/>
                        </a:rPr>
                        <a:t>Requires repeated trial-and-error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+mn-lt"/>
                          <a:cs typeface="Arial" panose="020B0604020202020204" pitchFamily="34" charset="0"/>
                        </a:rPr>
                        <a:t>Efficient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, guided design process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332847"/>
                  </a:ext>
                </a:extLst>
              </a:tr>
              <a:tr h="68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  <a:cs typeface="Arial" panose="020B0604020202020204" pitchFamily="34" charset="0"/>
                        </a:rPr>
                        <a:t>Decision Confidence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Low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, relies on experience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Medium, but error-prone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+mn-lt"/>
                          <a:cs typeface="Arial" panose="020B0604020202020204" pitchFamily="34" charset="0"/>
                        </a:rPr>
                        <a:t>High, </a:t>
                      </a:r>
                      <a:r>
                        <a:rPr lang="en-US" sz="1400" dirty="0">
                          <a:latin typeface="+mn-lt"/>
                          <a:cs typeface="Arial" panose="020B0604020202020204" pitchFamily="34" charset="0"/>
                        </a:rPr>
                        <a:t>supported by simulation and validation</a:t>
                      </a:r>
                    </a:p>
                  </a:txBody>
                  <a:tcPr marL="46604" marR="46604" marT="23302" marB="2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755448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9E8EA46E-7AA8-991B-DE42-885C68BD0821}"/>
              </a:ext>
            </a:extLst>
          </p:cNvPr>
          <p:cNvSpPr/>
          <p:nvPr/>
        </p:nvSpPr>
        <p:spPr>
          <a:xfrm>
            <a:off x="428625" y="285750"/>
            <a:ext cx="2326919" cy="738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SG" sz="2400" b="1" dirty="0">
                <a:solidFill>
                  <a:schemeClr val="bg1"/>
                </a:solidFill>
              </a:rPr>
              <a:t>Justify &amp; Compare</a:t>
            </a:r>
            <a:endParaRPr lang="en-US" altLang="zh-SG" sz="2400" dirty="0">
              <a:solidFill>
                <a:schemeClr val="bg1"/>
              </a:solidFill>
            </a:endParaRPr>
          </a:p>
          <a:p>
            <a:endParaRPr lang="zh-SG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808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6640857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Targeted Customers: Addressing Diverse User Needs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28625" y="1471613"/>
            <a:ext cx="2571750" cy="390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51BA"/>
                </a:solidFill>
              </a:rPr>
              <a:t>Renters  Small-Apartment Residents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9905" y="2053284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607219" y="2055614"/>
            <a:ext cx="20074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Focus on size compatibility and space optimization.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7674" y="2619218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02349" y="2619218"/>
            <a:ext cx="2017189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Flexible, non-permanent solutions for temporary living.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150" y="3367568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07219" y="3367568"/>
            <a:ext cx="2056954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Avoid costly mistakes by previewing fit before purchase.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86125" y="1471613"/>
            <a:ext cx="2571750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51BA"/>
                </a:solidFill>
              </a:rPr>
              <a:t>First-time Homeowners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86125" y="2043113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3464719" y="2055614"/>
            <a:ext cx="2321551" cy="36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Cohesive style guidance for complete room furnishing.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06136" y="2653514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3460254" y="2658128"/>
            <a:ext cx="2265211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Confidence in large-scale investments and furniture sets.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14700" y="3224585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3464719" y="3203162"/>
            <a:ext cx="2260746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Professional-grade visualization for empty spaces.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143625" y="1471613"/>
            <a:ext cx="2571750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51BA"/>
                </a:solidFill>
              </a:rPr>
              <a:t>Busy Working Professionals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43625" y="2043113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6322219" y="2055614"/>
            <a:ext cx="227606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"One-click" design generation to save time and effort.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66330" y="2607155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6327242" y="2597152"/>
            <a:ext cx="202427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Automated shopping lists for efficient purchasing.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66329" y="3101874"/>
            <a:ext cx="64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FFDA1A"/>
                </a:solidFill>
              </a:rPr>
              <a:t>•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6327242" y="3101874"/>
            <a:ext cx="2271043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Explainable AI recommendations for quick decisions.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845582" y="4330171"/>
            <a:ext cx="5612158" cy="390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C000"/>
                </a:solidFill>
              </a:rPr>
              <a:t>Empowering non-experts to create functional and aesthetically pleasing living spaces with intelligent, user-centric tools.</a:t>
            </a:r>
            <a:endParaRPr lang="en-US" sz="16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7512121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Promotion Strategies (Part 1): Digital &amp; In-store Integration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28625" y="1543050"/>
            <a:ext cx="189327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051BA"/>
                </a:solidFill>
              </a:rPr>
              <a:t>Seamless App Integration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1828800"/>
            <a:ext cx="3857625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Embed the AR assistant directly into the existing IKEA mobile app to leverage the current global user base and reduce friction.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2408839"/>
            <a:ext cx="183165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051BA"/>
                </a:solidFill>
              </a:rPr>
              <a:t>Omnichannel Promotion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8625" y="2694589"/>
            <a:ext cx="3857625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Cross-promote via the IKEA website and online store to ensure a consistent digital journey from browsing to visualization.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3274628"/>
            <a:ext cx="179215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051BA"/>
                </a:solidFill>
              </a:rPr>
              <a:t>In-store AR Demo Zones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8625" y="3560378"/>
            <a:ext cx="38576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Dedicated areas in physical stores where customers can experience the technology firsthand with staff guidance.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8625" y="4140417"/>
            <a:ext cx="159819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0051BA"/>
                </a:solidFill>
              </a:rPr>
              <a:t>QR Code Accessibility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8625" y="4426167"/>
            <a:ext cx="38576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Instant access via QR codes on product tags, allowing customers to "try before they buy" in their own homes.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1285875"/>
            <a:ext cx="4000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7427483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Promotion Strategies (Part 2): Community &amp; Sustainability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28625" y="1557338"/>
            <a:ext cx="2100896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0051BA"/>
                </a:solidFill>
              </a:rPr>
              <a:t>Community Engagement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969889"/>
            <a:ext cx="2017732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Community-Driven Growth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2235994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Highlight popular designs and reward top contributors with badges to foster an active, self-sustaining design ecosystem.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2887470"/>
            <a:ext cx="103393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Social Sharing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8625" y="3153575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Encourage users to share their AR-designed spaces on social media, creating organic brand advocacy and viral reach.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86313" y="1557338"/>
            <a:ext cx="1589153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0051BA"/>
                </a:solidFill>
              </a:rPr>
              <a:t>Eco-Consciousness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86313" y="1969889"/>
            <a:ext cx="181594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Sustainability Marketing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86313" y="2235994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Promote eco-friendly options and "Sustainability Scores" for each design proposal to guide responsible consumption.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86313" y="2887470"/>
            <a:ext cx="125431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Brand Alignment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86313" y="3153575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Position the service as a tool for responsible living, aligning with IKEA’s "People &amp; Planet Positive" global strategy.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8625" y="4443413"/>
            <a:ext cx="8286750" cy="41790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6" name="Shape 13"/>
          <p:cNvSpPr/>
          <p:nvPr/>
        </p:nvSpPr>
        <p:spPr>
          <a:xfrm>
            <a:off x="428625" y="4443413"/>
            <a:ext cx="8286750" cy="28575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7" name="Text 14"/>
          <p:cNvSpPr/>
          <p:nvPr/>
        </p:nvSpPr>
        <p:spPr>
          <a:xfrm>
            <a:off x="1494397" y="4581888"/>
            <a:ext cx="6155211" cy="169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i="1" dirty="0">
                <a:solidFill>
                  <a:srgbClr val="0051BA"/>
                </a:solidFill>
              </a:rPr>
              <a:t>"Driving Engagement through Social Validation and Eco-Consciousness."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6119047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Social &amp; Economic Impact: Creating Value for All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28625" y="1521619"/>
            <a:ext cx="1133387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kern="0" spc="1" dirty="0">
                <a:solidFill>
                  <a:srgbClr val="0051BA"/>
                </a:solidFill>
              </a:rPr>
              <a:t>Social Impact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987748"/>
            <a:ext cx="752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DA1A"/>
                </a:solidFill>
              </a:rPr>
              <a:t>•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642938" y="1987748"/>
            <a:ext cx="1614994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Democratizing Design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2938" y="2243472"/>
            <a:ext cx="3395662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Lowers the barrier to professional interior design, empowering non-experts to create functional spaces.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2819214"/>
            <a:ext cx="752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DA1A"/>
                </a:solidFill>
              </a:rPr>
              <a:t>•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42938" y="2819214"/>
            <a:ext cx="151644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Community Building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2938" y="3074938"/>
            <a:ext cx="3711959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Fosters collaboration and shared learning through the design reuse platform and social interaction.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8625" y="3650679"/>
            <a:ext cx="752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DA1A"/>
                </a:solidFill>
              </a:rPr>
              <a:t>•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642938" y="3650679"/>
            <a:ext cx="1239314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Stress Reduction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2938" y="3906403"/>
            <a:ext cx="3500438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Enhances user confidence and reduces the anxiety associated with complex furniture selection processes.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86313" y="1521619"/>
            <a:ext cx="1354730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kern="0" spc="1" dirty="0">
                <a:solidFill>
                  <a:srgbClr val="0051BA"/>
                </a:solidFill>
              </a:rPr>
              <a:t>Economic Value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86313" y="1987748"/>
            <a:ext cx="752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DA1A"/>
                </a:solidFill>
              </a:rPr>
              <a:t>•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5000625" y="1987748"/>
            <a:ext cx="158658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Increased Conversion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00625" y="2243472"/>
            <a:ext cx="3714750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Drives sales by providing high-fidelity previews that reduce purchase hesitation and decision friction.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86313" y="2819214"/>
            <a:ext cx="752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DA1A"/>
                </a:solidFill>
              </a:rPr>
              <a:t>•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5000625" y="2819214"/>
            <a:ext cx="163423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Operational Efficiency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00625" y="3074938"/>
            <a:ext cx="3637229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Significantly reduces after-sales costs by minimizing product returns due to size or style mismatches.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86313" y="3650679"/>
            <a:ext cx="752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DA1A"/>
                </a:solidFill>
              </a:rPr>
              <a:t>•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5000625" y="3650679"/>
            <a:ext cx="151131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Data-Driven Insights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00625" y="3906403"/>
            <a:ext cx="3657293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Generates valuable data on customer preferences and space usage to optimize future product development.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156773" y="4616044"/>
            <a:ext cx="4830454" cy="36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b="1" i="1" dirty="0">
                <a:solidFill>
                  <a:srgbClr val="0051BA"/>
                </a:solidFill>
              </a:rPr>
              <a:t>"Enhancing the customer journey while driving sustainable business growth through digital innovation."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6897722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Environmental Impact: Designing for a Greener Future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35769" y="1481147"/>
            <a:ext cx="1614801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0051BA"/>
                </a:solidFill>
              </a:rPr>
              <a:t>Minimized Returns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5769" y="1792873"/>
            <a:ext cx="392906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Accurate measurements and AR previews significantly reduce the carbon footprint associated with product returns and reverse logistics.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2827307"/>
            <a:ext cx="1457450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0051BA"/>
                </a:solidFill>
              </a:rPr>
              <a:t>Waste Reduction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8625" y="3142469"/>
            <a:ext cx="392906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Prevents the purchase of incompatible items that might otherwise end up as waste, promoting a more circular economy.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86312" y="1481147"/>
            <a:ext cx="1900649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0051BA"/>
                </a:solidFill>
              </a:rPr>
              <a:t>Eco-Friendly Guidance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00601" y="1803036"/>
            <a:ext cx="392906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The AI system prioritizes sustainable materials and energy-efficient layouts in its design recommendations.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86313" y="2784609"/>
            <a:ext cx="2229906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0051BA"/>
                </a:solidFill>
              </a:rPr>
              <a:t>Data-Driven Sustainability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86312" y="3114179"/>
            <a:ext cx="392906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Provides insights into space usage patterns to optimize future product development for smaller, greener homes.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1487" y="4129087"/>
            <a:ext cx="8286750" cy="6143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4" name="Shape 11"/>
          <p:cNvSpPr/>
          <p:nvPr/>
        </p:nvSpPr>
        <p:spPr>
          <a:xfrm>
            <a:off x="435769" y="4143579"/>
            <a:ext cx="85725" cy="614363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15" name="Text 12"/>
          <p:cNvSpPr/>
          <p:nvPr/>
        </p:nvSpPr>
        <p:spPr>
          <a:xfrm>
            <a:off x="1548407" y="4245575"/>
            <a:ext cx="6132910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33333"/>
                </a:solidFill>
              </a:rPr>
              <a:t>Aligning digital innovation with IKEA’s "People &amp; Planet Positive" strategy to foster responsible consumption and sustainable living.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6857326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Conclusion: The Future of Intelligent Home Furnishing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28625" y="1557338"/>
            <a:ext cx="2427652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51BA"/>
                </a:solidFill>
              </a:rPr>
              <a:t>A Comprehensive Ecosystem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919404"/>
            <a:ext cx="3857625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The IKEA AR Assistant is more than a tool; it is a holistic ecosystem that combines cutting-edge technology with community wisdom to empower every user.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2901181"/>
            <a:ext cx="1296124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51BA"/>
                </a:solidFill>
              </a:rPr>
              <a:t>Future Outlook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8625" y="3194686"/>
            <a:ext cx="3857625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55555"/>
                </a:solidFill>
              </a:rPr>
              <a:t>Potential for deeper integration with smart home IoT and advanced generative design for fully autonomous, personalized interior planning.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58244" y="4152977"/>
            <a:ext cx="4427512" cy="53328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333333"/>
                </a:solidFill>
              </a:rPr>
              <a:t>"Innovation that balances form, function, and sustainability for the digital age, creating a better everyday life at home."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1285875"/>
            <a:ext cx="4000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AA0077-8885-A43C-CCC7-1108DC76F4E9}"/>
              </a:ext>
            </a:extLst>
          </p:cNvPr>
          <p:cNvSpPr/>
          <p:nvPr/>
        </p:nvSpPr>
        <p:spPr>
          <a:xfrm>
            <a:off x="0" y="0"/>
            <a:ext cx="9144000" cy="578587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81F9AC-CB10-08C7-C90D-E80B317EBF47}"/>
              </a:ext>
            </a:extLst>
          </p:cNvPr>
          <p:cNvSpPr/>
          <p:nvPr/>
        </p:nvSpPr>
        <p:spPr>
          <a:xfrm>
            <a:off x="242508" y="142874"/>
            <a:ext cx="1256178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Reference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A8048E-4D1C-744F-96D9-17FD219A37B0}"/>
              </a:ext>
            </a:extLst>
          </p:cNvPr>
          <p:cNvSpPr txBox="1"/>
          <p:nvPr/>
        </p:nvSpPr>
        <p:spPr>
          <a:xfrm>
            <a:off x="299155" y="800483"/>
            <a:ext cx="85456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kumimoji="1" lang="en-US" altLang="zh-SG" sz="1200" dirty="0"/>
              <a:t> IKEA Systems B.V. (n.d.). Democratic design: The story of IKEA. Retrieved January 14, 2026, from </a:t>
            </a:r>
            <a:r>
              <a:rPr kumimoji="1" lang="en-US" altLang="zh-SG" sz="1200" dirty="0">
                <a:hlinkClick r:id="rId2"/>
              </a:rPr>
              <a:t>https://about.ikea.com/en/about-us/democratic-design</a:t>
            </a:r>
            <a:endParaRPr kumimoji="1" lang="en-US" altLang="zh-SG" sz="1200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zh-SG" sz="1200" dirty="0"/>
              <a:t> Ingka Group. (n.d.). Ingka Group annual summary and sustainability report. Retrieved January 14, 2026, from </a:t>
            </a:r>
            <a:r>
              <a:rPr kumimoji="1" lang="en-US" altLang="zh-SG" sz="1200" dirty="0">
                <a:hlinkClick r:id="rId3"/>
              </a:rPr>
              <a:t>https://www.ingka.com/about-us/annual-and-sustainability-summary-reports/</a:t>
            </a:r>
            <a:endParaRPr kumimoji="1" lang="en-US" altLang="zh-SG" sz="1200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zh-SG" sz="1200" dirty="0"/>
              <a:t>Bonetti, F., </a:t>
            </a:r>
            <a:r>
              <a:rPr kumimoji="1" lang="en-US" altLang="zh-SG" sz="1200" dirty="0" err="1"/>
              <a:t>Warnaby</a:t>
            </a:r>
            <a:r>
              <a:rPr kumimoji="1" lang="en-US" altLang="zh-SG" sz="1200" dirty="0"/>
              <a:t>, G., &amp; Quinn, L. (2018). Augmented reality and virtual reality in physical and online retailing: A review, synthesis and research agenda. In Augmented Reality and Virtual Reality (pp. 119-132). Springer, Cham. </a:t>
            </a:r>
            <a:r>
              <a:rPr kumimoji="1" lang="en-US" altLang="zh-SG" sz="1200" u="sng" dirty="0">
                <a:solidFill>
                  <a:srgbClr val="0070C0"/>
                </a:solidFill>
              </a:rPr>
              <a:t>https://</a:t>
            </a:r>
            <a:r>
              <a:rPr kumimoji="1" lang="en-US" altLang="zh-SG" sz="1200" u="sng" dirty="0" err="1">
                <a:solidFill>
                  <a:srgbClr val="0070C0"/>
                </a:solidFill>
              </a:rPr>
              <a:t>doi.org</a:t>
            </a:r>
            <a:r>
              <a:rPr kumimoji="1" lang="en-US" altLang="zh-SG" sz="1200" u="sng" dirty="0">
                <a:solidFill>
                  <a:srgbClr val="0070C0"/>
                </a:solidFill>
              </a:rPr>
              <a:t>/10.1007/978-3-319-64027-3_9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zh-SG" sz="1200" dirty="0"/>
              <a:t>Heller, J., Chylinski, M., de Ruyter, K., Mahr, D., &amp; Keeling, D. I. (2019). Let me imagine that for you: Transforming the retail encounter through augmented reality. Journal of Retailing, 95(2), 94-114.</a:t>
            </a:r>
            <a:r>
              <a:rPr kumimoji="1" lang="en-US" altLang="zh-SG" sz="1200" u="sng" dirty="0">
                <a:solidFill>
                  <a:srgbClr val="0070C0"/>
                </a:solidFill>
              </a:rPr>
              <a:t> https://</a:t>
            </a:r>
            <a:r>
              <a:rPr kumimoji="1" lang="en-US" altLang="zh-SG" sz="1200" u="sng" dirty="0" err="1">
                <a:solidFill>
                  <a:srgbClr val="0070C0"/>
                </a:solidFill>
              </a:rPr>
              <a:t>doi.org</a:t>
            </a:r>
            <a:r>
              <a:rPr kumimoji="1" lang="en-US" altLang="zh-SG" sz="1200" u="sng" dirty="0">
                <a:solidFill>
                  <a:srgbClr val="0070C0"/>
                </a:solidFill>
              </a:rPr>
              <a:t>/10.1016/j.jretai.2019.03.005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zh-SG" sz="1200" dirty="0"/>
              <a:t>Manzini, E. (2015). Design, when everybody designs: An introduction to design for social innovation. MIT Press.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zh-SG" sz="1200" dirty="0"/>
              <a:t>Klinghoffer, T., Kushner, T., Wetzstein, G., &amp; </a:t>
            </a:r>
            <a:r>
              <a:rPr kumimoji="1" lang="en-US" altLang="zh-SG" sz="1200" dirty="0" err="1"/>
              <a:t>Raskar</a:t>
            </a:r>
            <a:r>
              <a:rPr kumimoji="1" lang="en-US" altLang="zh-SG" sz="1200" dirty="0"/>
              <a:t>, R. (2024). </a:t>
            </a:r>
            <a:r>
              <a:rPr kumimoji="1" lang="en-US" altLang="zh-SG" sz="1200" dirty="0" err="1"/>
              <a:t>PlatoNeRF</a:t>
            </a:r>
            <a:r>
              <a:rPr kumimoji="1" lang="en-US" altLang="zh-SG" sz="1200" dirty="0"/>
              <a:t>: 3D reconstruction in Plato’s cave via single-view two-bounce LiDAR. Proceedings of the IEEE/CVF Conference on Computer Vision and Pattern Recognition (CVPR), 1234–12 </a:t>
            </a:r>
            <a:r>
              <a:rPr kumimoji="1" lang="en-US" altLang="zh-SG" sz="1200" u="sng" dirty="0">
                <a:solidFill>
                  <a:srgbClr val="0070C0"/>
                </a:solidFill>
                <a:hlinkClick r:id="rId4"/>
              </a:rPr>
              <a:t>https://openaccess.thecvf.com/content/CVPR2024/papers/Klinghoffer_PlatoNeRF_CVPR_2024_paper.pdf</a:t>
            </a:r>
            <a:endParaRPr kumimoji="1" lang="en-US" altLang="zh-SG" sz="1200" u="sng" dirty="0">
              <a:solidFill>
                <a:srgbClr val="0070C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en-US" altLang="zh-SG" sz="1200" dirty="0"/>
              <a:t>Kolev, K., Tanskanen, P., Speciale, P., &amp; </a:t>
            </a:r>
            <a:r>
              <a:rPr kumimoji="1" lang="en-US" altLang="zh-SG" sz="1200" dirty="0" err="1"/>
              <a:t>Pollefeys</a:t>
            </a:r>
            <a:r>
              <a:rPr kumimoji="1" lang="en-US" altLang="zh-SG" sz="1200" dirty="0"/>
              <a:t>, M. (2014). Turning mobile phones into 3D scanners. Proceedings of the IEEE Conference on Computer Vision and Pattern Recognition (CVPR), 3946–3953.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SG" sz="1200" dirty="0"/>
              <a:t>Para, W. A., Bhat, S. F., Guerrero, P., Wonka, P., &amp; Niloy, M. (2021). Generative layout modeling using constraint graphs. </a:t>
            </a:r>
            <a:r>
              <a:rPr lang="en-US" altLang="zh-SG" sz="1200" i="1" dirty="0"/>
              <a:t>Proceedings of the IEEE/CVF International Conference on Computer Vision (ICCV)</a:t>
            </a:r>
            <a:r>
              <a:rPr lang="en-US" altLang="zh-SG" sz="1200" dirty="0"/>
              <a:t>, 6690–6700.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zh-SG" sz="1200" dirty="0"/>
              <a:t>Armeni, I., Sener, O., Zamir, A. R., Jiang, H., </a:t>
            </a:r>
            <a:r>
              <a:rPr kumimoji="1" lang="en-US" altLang="zh-SG" sz="1200" dirty="0" err="1"/>
              <a:t>Brilakis</a:t>
            </a:r>
            <a:r>
              <a:rPr kumimoji="1" lang="en-US" altLang="zh-SG" sz="1200" dirty="0"/>
              <a:t>, I., Fischer, M., &amp; Savarese, S. (2016). 3D semantic parsing of large-scale indoor spaces. Proceedings of the IEEE Conference on Computer Vision and Pattern Recognition (CVPR), 1534–1543.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SG" sz="1200" dirty="0"/>
              <a:t> Thakkar, K. (2024). Generative AI based interior designing: A holistic approach. </a:t>
            </a:r>
            <a:r>
              <a:rPr lang="en-US" altLang="zh-SG" sz="1200" i="1" dirty="0"/>
              <a:t>International Journal of Computer Applications</a:t>
            </a:r>
            <a:r>
              <a:rPr lang="en-US" altLang="zh-SG" sz="1200" dirty="0"/>
              <a:t>, </a:t>
            </a:r>
            <a:r>
              <a:rPr lang="en-US" altLang="zh-SG" sz="1200" i="1" dirty="0"/>
              <a:t>186</a:t>
            </a:r>
            <a:r>
              <a:rPr lang="en-US" altLang="zh-SG" sz="1200" dirty="0"/>
              <a:t>(12), 1-5.</a:t>
            </a:r>
            <a:endParaRPr kumimoji="1" lang="en-US" altLang="zh-SG" sz="1200" dirty="0"/>
          </a:p>
        </p:txBody>
      </p:sp>
    </p:spTree>
    <p:extLst>
      <p:ext uri="{BB962C8B-B14F-4D97-AF65-F5344CB8AC3E}">
        <p14:creationId xmlns:p14="http://schemas.microsoft.com/office/powerpoint/2010/main" val="4065917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E57245-EA3C-9505-591E-84D61AB59F28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rgbClr val="0051BA"/>
          </a:solidFill>
          <a:ln/>
        </p:spPr>
        <p:txBody>
          <a:bodyPr/>
          <a:lstStyle/>
          <a:p>
            <a:endParaRPr lang="zh-SG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10D821-A7C0-44D7-E38B-ADB420F8EB78}"/>
              </a:ext>
            </a:extLst>
          </p:cNvPr>
          <p:cNvSpPr/>
          <p:nvPr/>
        </p:nvSpPr>
        <p:spPr>
          <a:xfrm>
            <a:off x="3464644" y="2110085"/>
            <a:ext cx="22147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dirty="0">
                <a:ln/>
                <a:solidFill>
                  <a:schemeClr val="accent4"/>
                </a:solidFill>
              </a:rPr>
              <a:t>Thanks</a:t>
            </a:r>
            <a:endParaRPr lang="zh-CN" altLang="en-US" sz="5400" b="1" dirty="0">
              <a:ln/>
              <a:solidFill>
                <a:schemeClr val="accent4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C4A8B8-5109-605F-EEB3-7B893B9A972D}"/>
              </a:ext>
            </a:extLst>
          </p:cNvPr>
          <p:cNvSpPr txBox="1"/>
          <p:nvPr/>
        </p:nvSpPr>
        <p:spPr>
          <a:xfrm>
            <a:off x="1230487" y="224045"/>
            <a:ext cx="6683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SG" sz="2000" dirty="0">
                <a:solidFill>
                  <a:schemeClr val="bg1"/>
                </a:solidFill>
              </a:rPr>
              <a:t>Innovation that balances form, function, and sustainability.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9BA7A9-091F-8152-52B4-A0C4B504341C}"/>
              </a:ext>
            </a:extLst>
          </p:cNvPr>
          <p:cNvSpPr txBox="1"/>
          <p:nvPr/>
        </p:nvSpPr>
        <p:spPr>
          <a:xfrm>
            <a:off x="3054050" y="3873014"/>
            <a:ext cx="3035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“ </a:t>
            </a:r>
            <a:r>
              <a:rPr lang="en-US" altLang="zh-SG" dirty="0">
                <a:solidFill>
                  <a:schemeClr val="bg1"/>
                </a:solidFill>
              </a:rPr>
              <a:t>Bringing Imagination to Life.</a:t>
            </a:r>
            <a:r>
              <a:rPr lang="zh-CN" altLang="en-US" dirty="0">
                <a:solidFill>
                  <a:schemeClr val="bg1"/>
                </a:solidFill>
              </a:rPr>
              <a:t>”</a:t>
            </a:r>
            <a:endParaRPr kumimoji="1" lang="zh-SG" altLang="en-US" dirty="0">
              <a:solidFill>
                <a:schemeClr val="bg1"/>
              </a:solidFill>
            </a:endParaRPr>
          </a:p>
          <a:p>
            <a:endParaRPr kumimoji="1"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84915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1895</Words>
  <Application>Microsoft Macintosh PowerPoint</Application>
  <PresentationFormat>全屏显示(16:9)</PresentationFormat>
  <Paragraphs>246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.AppleSystemUIFont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Tmw Shining</cp:lastModifiedBy>
  <cp:revision>7</cp:revision>
  <dcterms:created xsi:type="dcterms:W3CDTF">2026-01-11T14:58:01Z</dcterms:created>
  <dcterms:modified xsi:type="dcterms:W3CDTF">2026-01-14T00:09:47Z</dcterms:modified>
</cp:coreProperties>
</file>
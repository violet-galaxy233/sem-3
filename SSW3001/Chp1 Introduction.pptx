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54"/>
  </p:notesMasterIdLst>
  <p:handoutMasterIdLst>
    <p:handoutMasterId r:id="rId55"/>
  </p:handoutMasterIdLst>
  <p:sldIdLst>
    <p:sldId id="256" r:id="rId2"/>
    <p:sldId id="270" r:id="rId3"/>
    <p:sldId id="333" r:id="rId4"/>
    <p:sldId id="334" r:id="rId5"/>
    <p:sldId id="335" r:id="rId6"/>
    <p:sldId id="336" r:id="rId7"/>
    <p:sldId id="363" r:id="rId8"/>
    <p:sldId id="337" r:id="rId9"/>
    <p:sldId id="338" r:id="rId10"/>
    <p:sldId id="364" r:id="rId11"/>
    <p:sldId id="339" r:id="rId12"/>
    <p:sldId id="340" r:id="rId13"/>
    <p:sldId id="365" r:id="rId14"/>
    <p:sldId id="341" r:id="rId15"/>
    <p:sldId id="343" r:id="rId16"/>
    <p:sldId id="344" r:id="rId17"/>
    <p:sldId id="345" r:id="rId18"/>
    <p:sldId id="281" r:id="rId19"/>
    <p:sldId id="318" r:id="rId20"/>
    <p:sldId id="319" r:id="rId21"/>
    <p:sldId id="282" r:id="rId22"/>
    <p:sldId id="257" r:id="rId23"/>
    <p:sldId id="284" r:id="rId24"/>
    <p:sldId id="285" r:id="rId25"/>
    <p:sldId id="366" r:id="rId26"/>
    <p:sldId id="305" r:id="rId27"/>
    <p:sldId id="329" r:id="rId28"/>
    <p:sldId id="266" r:id="rId29"/>
    <p:sldId id="307" r:id="rId30"/>
    <p:sldId id="326" r:id="rId31"/>
    <p:sldId id="288" r:id="rId32"/>
    <p:sldId id="320" r:id="rId33"/>
    <p:sldId id="289" r:id="rId34"/>
    <p:sldId id="259" r:id="rId35"/>
    <p:sldId id="322" r:id="rId36"/>
    <p:sldId id="367" r:id="rId37"/>
    <p:sldId id="362" r:id="rId38"/>
    <p:sldId id="312" r:id="rId39"/>
    <p:sldId id="313" r:id="rId40"/>
    <p:sldId id="265" r:id="rId41"/>
    <p:sldId id="328" r:id="rId42"/>
    <p:sldId id="316" r:id="rId43"/>
    <p:sldId id="275" r:id="rId44"/>
    <p:sldId id="268" r:id="rId45"/>
    <p:sldId id="368" r:id="rId46"/>
    <p:sldId id="277" r:id="rId47"/>
    <p:sldId id="278" r:id="rId48"/>
    <p:sldId id="332" r:id="rId49"/>
    <p:sldId id="346" r:id="rId50"/>
    <p:sldId id="347" r:id="rId51"/>
    <p:sldId id="360" r:id="rId52"/>
    <p:sldId id="280" r:id="rId53"/>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1pPr>
    <a:lvl2pPr marL="457200"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2pPr>
    <a:lvl3pPr marL="914400"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3pPr>
    <a:lvl4pPr marL="1371600"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4pPr>
    <a:lvl5pPr marL="1828800"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5pPr>
    <a:lvl6pPr marL="2286000" algn="l" defTabSz="914400" rtl="0" eaLnBrk="1" latinLnBrk="0" hangingPunct="1">
      <a:defRPr kern="1200">
        <a:solidFill>
          <a:schemeClr val="tx1"/>
        </a:solidFill>
        <a:latin typeface="Arial" pitchFamily="34" charset="0"/>
        <a:ea typeface="ＭＳ Ｐゴシック"/>
        <a:cs typeface="ＭＳ Ｐゴシック"/>
      </a:defRPr>
    </a:lvl6pPr>
    <a:lvl7pPr marL="2743200" algn="l" defTabSz="914400" rtl="0" eaLnBrk="1" latinLnBrk="0" hangingPunct="1">
      <a:defRPr kern="1200">
        <a:solidFill>
          <a:schemeClr val="tx1"/>
        </a:solidFill>
        <a:latin typeface="Arial" pitchFamily="34" charset="0"/>
        <a:ea typeface="ＭＳ Ｐゴシック"/>
        <a:cs typeface="ＭＳ Ｐゴシック"/>
      </a:defRPr>
    </a:lvl7pPr>
    <a:lvl8pPr marL="3200400" algn="l" defTabSz="914400" rtl="0" eaLnBrk="1" latinLnBrk="0" hangingPunct="1">
      <a:defRPr kern="1200">
        <a:solidFill>
          <a:schemeClr val="tx1"/>
        </a:solidFill>
        <a:latin typeface="Arial" pitchFamily="34" charset="0"/>
        <a:ea typeface="ＭＳ Ｐゴシック"/>
        <a:cs typeface="ＭＳ Ｐゴシック"/>
      </a:defRPr>
    </a:lvl8pPr>
    <a:lvl9pPr marL="3657600" algn="l" defTabSz="914400" rtl="0" eaLnBrk="1" latinLnBrk="0" hangingPunct="1">
      <a:defRPr kern="1200">
        <a:solidFill>
          <a:schemeClr val="tx1"/>
        </a:solidFill>
        <a:latin typeface="Arial" pitchFamily="34" charset="0"/>
        <a:ea typeface="ＭＳ Ｐゴシック"/>
        <a:cs typeface="ＭＳ Ｐゴシック"/>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5"/>
  </p:normalViewPr>
  <p:slideViewPr>
    <p:cSldViewPr snapToGrid="0" snapToObjects="1">
      <p:cViewPr varScale="1">
        <p:scale>
          <a:sx n="97" d="100"/>
          <a:sy n="97" d="100"/>
        </p:scale>
        <p:origin x="1984" y="184"/>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197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ＭＳ Ｐゴシック" charset="-128"/>
                <a:cs typeface="ＭＳ Ｐゴシック" charset="-128"/>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ea typeface="ＭＳ Ｐゴシック" charset="-128"/>
                <a:cs typeface="ＭＳ Ｐゴシック" charset="-128"/>
              </a:defRPr>
            </a:lvl1pPr>
          </a:lstStyle>
          <a:p>
            <a:pPr>
              <a:defRPr/>
            </a:pPr>
            <a:fld id="{30C4B52C-5DDF-4D39-AF26-AB7D18D7702A}" type="datetimeFigureOut">
              <a:rPr lang="en-US"/>
              <a:pPr>
                <a:defRPr/>
              </a:pPr>
              <a:t>10/2/23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ea typeface="ＭＳ Ｐゴシック" charset="-128"/>
                <a:cs typeface="ＭＳ Ｐゴシック" charset="-128"/>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ea typeface="ＭＳ Ｐゴシック" charset="-128"/>
                <a:cs typeface="ＭＳ Ｐゴシック" charset="-128"/>
              </a:defRPr>
            </a:lvl1pPr>
          </a:lstStyle>
          <a:p>
            <a:pPr>
              <a:defRPr/>
            </a:pPr>
            <a:fld id="{234E1D91-9492-4EC8-9AAA-E2384055AAE7}" type="slidenum">
              <a:rPr lang="en-US"/>
              <a:pPr>
                <a:defRPr/>
              </a:pPr>
              <a:t>‹#›</a:t>
            </a:fld>
            <a:endParaRPr lang="en-US"/>
          </a:p>
        </p:txBody>
      </p:sp>
    </p:spTree>
    <p:extLst>
      <p:ext uri="{BB962C8B-B14F-4D97-AF65-F5344CB8AC3E}">
        <p14:creationId xmlns:p14="http://schemas.microsoft.com/office/powerpoint/2010/main" val="105661113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ＭＳ Ｐゴシック" charset="-128"/>
                <a:cs typeface="ＭＳ Ｐゴシック"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ea typeface="ＭＳ Ｐゴシック" charset="-128"/>
                <a:cs typeface="ＭＳ Ｐゴシック" charset="-128"/>
              </a:defRPr>
            </a:lvl1pPr>
          </a:lstStyle>
          <a:p>
            <a:pPr>
              <a:defRPr/>
            </a:pPr>
            <a:fld id="{E36C266C-0E6B-4AFC-8FDA-73282BEA5FDC}" type="datetimeFigureOut">
              <a:rPr lang="en-US"/>
              <a:pPr>
                <a:defRPr/>
              </a:pPr>
              <a:t>10/2/23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ea typeface="ＭＳ Ｐゴシック" charset="-128"/>
                <a:cs typeface="ＭＳ Ｐゴシック"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ea typeface="ＭＳ Ｐゴシック" charset="-128"/>
                <a:cs typeface="ＭＳ Ｐゴシック" charset="-128"/>
              </a:defRPr>
            </a:lvl1pPr>
          </a:lstStyle>
          <a:p>
            <a:pPr>
              <a:defRPr/>
            </a:pPr>
            <a:fld id="{171E32A4-F616-4C94-9440-74576664ED23}" type="slidenum">
              <a:rPr lang="en-US"/>
              <a:pPr>
                <a:defRPr/>
              </a:pPr>
              <a:t>‹#›</a:t>
            </a:fld>
            <a:endParaRPr lang="en-US"/>
          </a:p>
        </p:txBody>
      </p:sp>
    </p:spTree>
    <p:extLst>
      <p:ext uri="{BB962C8B-B14F-4D97-AF65-F5344CB8AC3E}">
        <p14:creationId xmlns:p14="http://schemas.microsoft.com/office/powerpoint/2010/main" val="1818192138"/>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mn-ea"/>
        <a:cs typeface="+mn-cs"/>
      </a:defRPr>
    </a:lvl1pPr>
    <a:lvl2pPr marL="457200" algn="l" defTabSz="457200" rtl="0" eaLnBrk="0" fontAlgn="base" hangingPunct="0">
      <a:spcBef>
        <a:spcPct val="30000"/>
      </a:spcBef>
      <a:spcAft>
        <a:spcPct val="0"/>
      </a:spcAft>
      <a:defRPr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body" idx="1"/>
          </p:nvPr>
        </p:nvSpPr>
        <p:spPr bwMode="auto">
          <a:xfrm>
            <a:off x="914400" y="4344988"/>
            <a:ext cx="5029200" cy="3854450"/>
          </a:xfrm>
          <a:noFill/>
        </p:spPr>
        <p:txBody>
          <a:bodyPr wrap="square" lIns="89166" tIns="43801" rIns="89166" bIns="43801" numCol="1" anchor="t" anchorCtr="0" compatLnSpc="1">
            <a:prstTxWarp prst="textNoShape">
              <a:avLst/>
            </a:prstTxWarp>
          </a:bodyPr>
          <a:lstStyle/>
          <a:p>
            <a:pPr eaLnBrk="1" hangingPunct="1">
              <a:spcBef>
                <a:spcPct val="0"/>
              </a:spcBef>
            </a:pPr>
            <a:endParaRPr lang="en-US"/>
          </a:p>
        </p:txBody>
      </p:sp>
      <p:sp>
        <p:nvSpPr>
          <p:cNvPr id="87043" name="Rectangle 3"/>
          <p:cNvSpPr>
            <a:spLocks noGrp="1" noRot="1" noChangeAspect="1" noChangeArrowheads="1" noTextEdit="1"/>
          </p:cNvSpPr>
          <p:nvPr>
            <p:ph type="sldImg"/>
          </p:nvPr>
        </p:nvSpPr>
        <p:spPr bwMode="auto">
          <a:xfrm>
            <a:off x="1295400" y="798513"/>
            <a:ext cx="4267200" cy="3200400"/>
          </a:xfrm>
          <a:noFill/>
          <a:ln cap="flat">
            <a:solidFill>
              <a:srgbClr val="000000"/>
            </a:solidFill>
            <a:miter lim="800000"/>
            <a:headEnd/>
            <a:tailEnd/>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26"/>
          <p:cNvSpPr>
            <a:spLocks noGrp="1" noChangeArrowheads="1"/>
          </p:cNvSpPr>
          <p:nvPr>
            <p:ph type="body" idx="1"/>
          </p:nvPr>
        </p:nvSpPr>
        <p:spPr bwMode="auto">
          <a:xfrm>
            <a:off x="914400" y="4344988"/>
            <a:ext cx="5029200" cy="3854450"/>
          </a:xfrm>
          <a:noFill/>
        </p:spPr>
        <p:txBody>
          <a:bodyPr wrap="square" lIns="89166" tIns="43801" rIns="89166" bIns="43801" numCol="1" anchor="t" anchorCtr="0" compatLnSpc="1">
            <a:prstTxWarp prst="textNoShape">
              <a:avLst/>
            </a:prstTxWarp>
          </a:bodyPr>
          <a:lstStyle/>
          <a:p>
            <a:pPr eaLnBrk="1" hangingPunct="1">
              <a:spcBef>
                <a:spcPct val="0"/>
              </a:spcBef>
            </a:pPr>
            <a:endParaRPr lang="en-US"/>
          </a:p>
        </p:txBody>
      </p:sp>
      <p:sp>
        <p:nvSpPr>
          <p:cNvPr id="88067" name="Rectangle 1027"/>
          <p:cNvSpPr>
            <a:spLocks noGrp="1" noRot="1" noChangeAspect="1" noChangeArrowheads="1" noTextEdit="1"/>
          </p:cNvSpPr>
          <p:nvPr>
            <p:ph type="sldImg"/>
          </p:nvPr>
        </p:nvSpPr>
        <p:spPr bwMode="auto">
          <a:xfrm>
            <a:off x="1295400" y="798513"/>
            <a:ext cx="4267200" cy="3200400"/>
          </a:xfrm>
          <a:noFill/>
          <a:ln cap="flat">
            <a:solidFill>
              <a:srgbClr val="000000"/>
            </a:solidFill>
            <a:miter lim="800000"/>
            <a:headEnd/>
            <a:tailEnd/>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89091" name="Rectangle 3"/>
          <p:cNvSpPr>
            <a:spLocks noGrp="1" noRot="1" noChangeAspect="1" noChangeArrowheads="1" noTextEdit="1"/>
          </p:cNvSpPr>
          <p:nvPr>
            <p:ph type="sldImg"/>
          </p:nvPr>
        </p:nvSpPr>
        <p:spPr bwMode="auto">
          <a:noFill/>
          <a:ln cap="flat">
            <a:solidFill>
              <a:srgbClr val="000000"/>
            </a:solidFill>
            <a:miter lim="800000"/>
            <a:headEnd/>
            <a:tailEnd/>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90115" name="Rectangle 3"/>
          <p:cNvSpPr>
            <a:spLocks noGrp="1" noRot="1" noChangeAspect="1" noChangeArrowheads="1" noTextEdit="1"/>
          </p:cNvSpPr>
          <p:nvPr>
            <p:ph type="sldImg"/>
          </p:nvPr>
        </p:nvSpPr>
        <p:spPr bwMode="auto">
          <a:noFill/>
          <a:ln cap="flat">
            <a:solidFill>
              <a:srgbClr val="000000"/>
            </a:solidFill>
            <a:miter lim="800000"/>
            <a:headEnd/>
            <a:tailEnd/>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90115" name="Rectangle 3"/>
          <p:cNvSpPr>
            <a:spLocks noGrp="1" noRot="1" noChangeAspect="1" noChangeArrowheads="1" noTextEdit="1"/>
          </p:cNvSpPr>
          <p:nvPr>
            <p:ph type="sldImg"/>
          </p:nvPr>
        </p:nvSpPr>
        <p:spPr bwMode="auto">
          <a:noFill/>
          <a:ln cap="flat">
            <a:solidFill>
              <a:srgbClr val="000000"/>
            </a:solidFill>
            <a:miter lim="800000"/>
            <a:headEnd/>
            <a:tailEnd/>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0407E45-3719-4D3B-9D67-BE73FC94D933}" type="datetime1">
              <a:rPr lang="en-US"/>
              <a:pPr>
                <a:defRPr/>
              </a:pPr>
              <a:t>10/2/23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748480B6-635B-43AE-A59F-D921F2089E9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501CFA84-F1C7-497B-ABCE-4493B9F073B9}" type="datetime1">
              <a:rPr lang="en-US"/>
              <a:pPr>
                <a:defRPr/>
              </a:pPr>
              <a:t>10/2/23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8724CF43-10AA-4771-9A67-AA129A4201D0}"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50A3CD57-62A1-456F-98DF-D3B253C2D0C4}" type="datetime1">
              <a:rPr lang="en-US"/>
              <a:pPr>
                <a:defRPr/>
              </a:pPr>
              <a:t>10/2/23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6B4E2064-D065-4D57-99E2-DD6C7D9C769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DDBF90DF-1655-4FB3-AFC1-A26E318EB35F}" type="datetime1">
              <a:rPr lang="en-US"/>
              <a:pPr>
                <a:defRPr/>
              </a:pPr>
              <a:t>10/2/23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p:txBody>
          <a:bodyPr/>
          <a:lstStyle>
            <a:lvl1pPr>
              <a:defRPr/>
            </a:lvl1pPr>
          </a:lstStyle>
          <a:p>
            <a:pPr>
              <a:defRPr/>
            </a:pPr>
            <a:fld id="{79C3AB78-DF8D-4F43-B3C5-3E933A54892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5E893B55-1CDA-4068-9164-32A67DE61955}" type="datetime1">
              <a:rPr lang="en-US"/>
              <a:pPr>
                <a:defRPr/>
              </a:pPr>
              <a:t>10/2/23</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p:txBody>
          <a:bodyPr/>
          <a:lstStyle>
            <a:lvl1pPr>
              <a:defRPr/>
            </a:lvl1pPr>
          </a:lstStyle>
          <a:p>
            <a:pPr>
              <a:defRPr/>
            </a:pPr>
            <a:fld id="{29AC55D9-3B32-40C8-BCDE-8985BB8D7A0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085377F-117E-4409-91C3-C28C0FDBA87E}" type="datetime1">
              <a:rPr lang="en-US"/>
              <a:pPr>
                <a:defRPr/>
              </a:pPr>
              <a:t>10/2/23</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p:txBody>
          <a:bodyPr/>
          <a:lstStyle>
            <a:lvl1pPr>
              <a:defRPr/>
            </a:lvl1pPr>
          </a:lstStyle>
          <a:p>
            <a:pPr>
              <a:defRPr/>
            </a:pPr>
            <a:fld id="{A6B8F1DB-1C77-4A2F-AE53-A374B91E8E2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088900E-516C-41CB-B1AF-B19B576B84BD}" type="datetime1">
              <a:rPr lang="en-US"/>
              <a:pPr>
                <a:defRPr/>
              </a:pPr>
              <a:t>10/2/23</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p:txBody>
          <a:bodyPr/>
          <a:lstStyle>
            <a:lvl1pPr>
              <a:defRPr/>
            </a:lvl1pPr>
          </a:lstStyle>
          <a:p>
            <a:pPr>
              <a:defRPr/>
            </a:pPr>
            <a:fld id="{FEE08CED-46E3-47B7-9C23-3FA32AA3350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D3643BFD-8B9A-4594-BA95-F372C23336AE}" type="datetime1">
              <a:rPr lang="en-US"/>
              <a:pPr>
                <a:defRPr/>
              </a:pPr>
              <a:t>10/2/23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p:txBody>
          <a:bodyPr/>
          <a:lstStyle>
            <a:lvl1pPr>
              <a:defRPr/>
            </a:lvl1pPr>
          </a:lstStyle>
          <a:p>
            <a:pPr>
              <a:defRPr/>
            </a:pPr>
            <a:fld id="{2B643FCA-D30E-4EC4-B4AC-6698AA57E9E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66375FA5-BFFD-4949-BDF0-DBCFB8F0FF7F}" type="datetime1">
              <a:rPr lang="en-US"/>
              <a:pPr>
                <a:defRPr/>
              </a:pPr>
              <a:t>10/2/23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p:txBody>
          <a:bodyPr/>
          <a:lstStyle>
            <a:lvl1pPr>
              <a:defRPr/>
            </a:lvl1pPr>
          </a:lstStyle>
          <a:p>
            <a:pPr>
              <a:defRPr/>
            </a:pPr>
            <a:fld id="{9A108858-96C6-4D39-A405-EE8465ACDB2E}"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07348A7D-65CB-4D80-BD17-1257306CEEB1}" type="datetime1">
              <a:rPr lang="en-US"/>
              <a:pPr>
                <a:defRPr/>
              </a:pPr>
              <a:t>10/2/23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5ADD7DED-AA21-4D1F-8902-DC32AFD5218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9AAF0F30-E109-443D-90AC-DBD7452A4C25}" type="datetime1">
              <a:rPr lang="en-US"/>
              <a:pPr>
                <a:defRPr/>
              </a:pPr>
              <a:t>10/2/23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p:txBody>
          <a:bodyPr/>
          <a:lstStyle>
            <a:lvl1pPr>
              <a:defRPr/>
            </a:lvl1pPr>
          </a:lstStyle>
          <a:p>
            <a:pPr>
              <a:defRPr/>
            </a:pPr>
            <a:fld id="{472FB624-F84C-4B5E-AC54-13348455BEF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2975"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628920EE-EE27-4867-9B3C-86045C01C0A4}" type="datetime1">
              <a:rPr lang="en-US"/>
              <a:pPr>
                <a:defRPr/>
              </a:pPr>
              <a:t>10/2/23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1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9429714B-C7DD-4999-88C0-F096A8649796}" type="slidenum">
              <a:rPr lang="en-US"/>
              <a:pPr>
                <a:defRPr/>
              </a:pPr>
              <a:t>‹#›</a:t>
            </a:fld>
            <a:endParaRPr lang="en-US"/>
          </a:p>
        </p:txBody>
      </p:sp>
      <p:cxnSp>
        <p:nvCxnSpPr>
          <p:cNvPr id="9" name="Straight Connector 8"/>
          <p:cNvCxnSpPr/>
          <p:nvPr/>
        </p:nvCxnSpPr>
        <p:spPr>
          <a:xfrm>
            <a:off x="457200" y="1419225"/>
            <a:ext cx="730567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0" fontAlgn="base" hangingPunct="0">
        <a:spcBef>
          <a:spcPct val="0"/>
        </a:spcBef>
        <a:spcAft>
          <a:spcPct val="0"/>
        </a:spcAft>
        <a:defRPr sz="2400" b="1" kern="1200">
          <a:solidFill>
            <a:srgbClr val="46424D"/>
          </a:solidFill>
          <a:latin typeface="Arial"/>
          <a:ea typeface="ＭＳ Ｐゴシック" charset="-128"/>
          <a:cs typeface="Arial"/>
        </a:defRPr>
      </a:lvl1pPr>
      <a:lvl2pPr algn="l" defTabSz="457200" rtl="0" eaLnBrk="0" fontAlgn="base" hangingPunct="0">
        <a:spcBef>
          <a:spcPct val="0"/>
        </a:spcBef>
        <a:spcAft>
          <a:spcPct val="0"/>
        </a:spcAft>
        <a:defRPr sz="2400" b="1">
          <a:solidFill>
            <a:srgbClr val="46424D"/>
          </a:solidFill>
          <a:latin typeface="Arial" pitchFamily="34" charset="0"/>
          <a:ea typeface="ＭＳ Ｐゴシック" charset="-128"/>
          <a:cs typeface="Arial" pitchFamily="34" charset="0"/>
        </a:defRPr>
      </a:lvl2pPr>
      <a:lvl3pPr algn="l" defTabSz="457200" rtl="0" eaLnBrk="0" fontAlgn="base" hangingPunct="0">
        <a:spcBef>
          <a:spcPct val="0"/>
        </a:spcBef>
        <a:spcAft>
          <a:spcPct val="0"/>
        </a:spcAft>
        <a:defRPr sz="2400" b="1">
          <a:solidFill>
            <a:srgbClr val="46424D"/>
          </a:solidFill>
          <a:latin typeface="Arial" pitchFamily="34" charset="0"/>
          <a:ea typeface="ＭＳ Ｐゴシック" charset="-128"/>
          <a:cs typeface="Arial" pitchFamily="34" charset="0"/>
        </a:defRPr>
      </a:lvl3pPr>
      <a:lvl4pPr algn="l" defTabSz="457200" rtl="0" eaLnBrk="0" fontAlgn="base" hangingPunct="0">
        <a:spcBef>
          <a:spcPct val="0"/>
        </a:spcBef>
        <a:spcAft>
          <a:spcPct val="0"/>
        </a:spcAft>
        <a:defRPr sz="2400" b="1">
          <a:solidFill>
            <a:srgbClr val="46424D"/>
          </a:solidFill>
          <a:latin typeface="Arial" pitchFamily="34" charset="0"/>
          <a:ea typeface="ＭＳ Ｐゴシック" charset="-128"/>
          <a:cs typeface="Arial" pitchFamily="34" charset="0"/>
        </a:defRPr>
      </a:lvl4pPr>
      <a:lvl5pPr algn="l" defTabSz="457200" rtl="0" eaLnBrk="0" fontAlgn="base" hangingPunct="0">
        <a:spcBef>
          <a:spcPct val="0"/>
        </a:spcBef>
        <a:spcAft>
          <a:spcPct val="0"/>
        </a:spcAft>
        <a:defRPr sz="2400" b="1">
          <a:solidFill>
            <a:srgbClr val="46424D"/>
          </a:solidFill>
          <a:latin typeface="Arial" pitchFamily="34" charset="0"/>
          <a:ea typeface="ＭＳ Ｐゴシック" charset="-128"/>
          <a:cs typeface="Arial" pitchFamily="34" charset="0"/>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pitchFamily="34" charset="0"/>
        <a:defRPr sz="2800" kern="1200">
          <a:solidFill>
            <a:schemeClr val="tx1"/>
          </a:solidFill>
          <a:latin typeface="+mn-lt"/>
          <a:ea typeface="ＭＳ Ｐゴシック" charset="-128"/>
          <a:cs typeface="ＭＳ Ｐゴシック"/>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charset="-128"/>
          <a:cs typeface="ＭＳ Ｐゴシック"/>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charset="-128"/>
          <a:cs typeface="ＭＳ Ｐゴシック"/>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charset="-128"/>
          <a:cs typeface="ＭＳ Ｐゴシック"/>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4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2800" dirty="0">
                <a:latin typeface="Arial" pitchFamily="34" charset="0"/>
                <a:ea typeface="ＭＳ Ｐゴシック"/>
                <a:cs typeface="Arial" pitchFamily="34" charset="0"/>
              </a:rPr>
              <a:t>Chapter 1 – Introduction</a:t>
            </a:r>
          </a:p>
        </p:txBody>
      </p:sp>
      <p:sp>
        <p:nvSpPr>
          <p:cNvPr id="4" name="Slide Number Placeholder 3"/>
          <p:cNvSpPr>
            <a:spLocks noGrp="1"/>
          </p:cNvSpPr>
          <p:nvPr>
            <p:ph type="sldNum" sz="quarter" idx="12"/>
          </p:nvPr>
        </p:nvSpPr>
        <p:spPr/>
        <p:txBody>
          <a:bodyPr/>
          <a:lstStyle/>
          <a:p>
            <a:pPr>
              <a:defRPr/>
            </a:pPr>
            <a:fld id="{68F1AFCC-CC2D-48DB-AC1B-3F4170E8A499}" type="slidenum">
              <a:rPr lang="en-US" smtClean="0"/>
              <a:pPr>
                <a:defRPr/>
              </a:pPr>
              <a:t>1</a:t>
            </a:fld>
            <a:r>
              <a:rPr lang="en-US" dirty="0"/>
              <a:t>/SEM1/2023-24</a:t>
            </a:r>
          </a:p>
        </p:txBody>
      </p:sp>
      <p:sp>
        <p:nvSpPr>
          <p:cNvPr id="5" name="Footer Placeholder 4"/>
          <p:cNvSpPr>
            <a:spLocks noGrp="1"/>
          </p:cNvSpPr>
          <p:nvPr>
            <p:ph type="ftr" sz="quarter" idx="11"/>
          </p:nvPr>
        </p:nvSpPr>
        <p:spPr/>
        <p:txBody>
          <a:bodyPr/>
          <a:lstStyle/>
          <a:p>
            <a:pPr>
              <a:defRPr/>
            </a:pPr>
            <a:r>
              <a:rPr lang="en-US" dirty="0"/>
              <a:t>Chapter 1 Introduction</a:t>
            </a:r>
          </a:p>
        </p:txBody>
      </p:sp>
      <p:pic>
        <p:nvPicPr>
          <p:cNvPr id="6" name="Picture 5" descr="0137035152.jpg"/>
          <p:cNvPicPr>
            <a:picLocks noChangeAspect="1"/>
          </p:cNvPicPr>
          <p:nvPr/>
        </p:nvPicPr>
        <p:blipFill>
          <a:blip r:embed="rId2"/>
          <a:stretch>
            <a:fillRect/>
          </a:stretch>
        </p:blipFill>
        <p:spPr>
          <a:xfrm>
            <a:off x="5525037" y="2476005"/>
            <a:ext cx="3161763" cy="38803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Topics covered</a:t>
            </a:r>
          </a:p>
        </p:txBody>
      </p:sp>
      <p:sp>
        <p:nvSpPr>
          <p:cNvPr id="3075"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Introduction to Software Engineering</a:t>
            </a:r>
          </a:p>
          <a:p>
            <a:pPr eaLnBrk="1" hangingPunct="1">
              <a:buFont typeface="Wingdings" pitchFamily="2" charset="2"/>
              <a:buChar char="²"/>
            </a:pPr>
            <a:r>
              <a:rPr lang="en-GB" dirty="0">
                <a:latin typeface="Arial" pitchFamily="34" charset="0"/>
                <a:ea typeface="ＭＳ Ｐゴシック"/>
                <a:cs typeface="Arial" pitchFamily="34" charset="0"/>
              </a:rPr>
              <a:t>Software process models</a:t>
            </a:r>
          </a:p>
          <a:p>
            <a:pPr eaLnBrk="1" hangingPunct="1">
              <a:buFont typeface="Wingdings" pitchFamily="2" charset="2"/>
              <a:buChar char="²"/>
            </a:pPr>
            <a:r>
              <a:rPr lang="en-GB" dirty="0">
                <a:latin typeface="Arial" pitchFamily="34" charset="0"/>
                <a:ea typeface="ＭＳ Ｐゴシック"/>
                <a:cs typeface="Arial" pitchFamily="34" charset="0"/>
              </a:rPr>
              <a:t>Iterative Process</a:t>
            </a:r>
          </a:p>
          <a:p>
            <a:pPr eaLnBrk="1" hangingPunct="1">
              <a:buFont typeface="Wingdings" pitchFamily="2" charset="2"/>
              <a:buChar char="²"/>
            </a:pPr>
            <a:r>
              <a:rPr lang="en-GB" dirty="0">
                <a:latin typeface="Arial" pitchFamily="34" charset="0"/>
                <a:ea typeface="ＭＳ Ｐゴシック"/>
                <a:cs typeface="Arial" pitchFamily="34" charset="0"/>
              </a:rPr>
              <a:t>Activity process</a:t>
            </a:r>
          </a:p>
          <a:p>
            <a:pPr eaLnBrk="1" hangingPunct="1">
              <a:buFont typeface="Wingdings" pitchFamily="2" charset="2"/>
              <a:buChar char="²"/>
            </a:pPr>
            <a:r>
              <a:rPr lang="en-GB" dirty="0">
                <a:latin typeface="Arial" pitchFamily="34" charset="0"/>
                <a:ea typeface="ＭＳ Ｐゴシック"/>
                <a:cs typeface="Arial" pitchFamily="34" charset="0"/>
              </a:rPr>
              <a:t>The Rational Unified Process</a:t>
            </a:r>
          </a:p>
          <a:p>
            <a:pPr lvl="1" eaLnBrk="1" hangingPunct="1">
              <a:buFont typeface="Wingdings" pitchFamily="2" charset="2"/>
              <a:buChar char="§"/>
            </a:pPr>
            <a:r>
              <a:rPr lang="en-GB" dirty="0">
                <a:latin typeface="Arial" pitchFamily="34" charset="0"/>
                <a:ea typeface="ＭＳ Ｐゴシック"/>
                <a:cs typeface="Arial" pitchFamily="34" charset="0"/>
              </a:rPr>
              <a:t>An example of a modern software process. </a:t>
            </a:r>
            <a:endParaRPr lang="en-US" dirty="0">
              <a:latin typeface="Arial" pitchFamily="34" charset="0"/>
              <a:ea typeface="ＭＳ Ｐゴシック"/>
              <a:cs typeface="Arial" pitchFamily="34" charset="0"/>
            </a:endParaRPr>
          </a:p>
        </p:txBody>
      </p:sp>
      <p:sp>
        <p:nvSpPr>
          <p:cNvPr id="6" name="Slide Number Placeholder 5"/>
          <p:cNvSpPr>
            <a:spLocks noGrp="1"/>
          </p:cNvSpPr>
          <p:nvPr>
            <p:ph type="sldNum" sz="quarter" idx="12"/>
          </p:nvPr>
        </p:nvSpPr>
        <p:spPr/>
        <p:txBody>
          <a:bodyPr/>
          <a:lstStyle/>
          <a:p>
            <a:pPr>
              <a:defRPr/>
            </a:pPr>
            <a:fld id="{F5817C6A-3442-4C1B-9AA8-C70B61FA5F15}" type="slidenum">
              <a:rPr lang="en-US"/>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title"/>
          </p:nvPr>
        </p:nvSpPr>
        <p:spPr/>
        <p:txBody>
          <a:bodyPr/>
          <a:lstStyle/>
          <a:p>
            <a:pPr eaLnBrk="1" hangingPunct="1"/>
            <a:r>
              <a:rPr lang="en-GB" dirty="0">
                <a:latin typeface="Arial" pitchFamily="34" charset="0"/>
                <a:ea typeface="ＭＳ Ｐゴシック"/>
                <a:cs typeface="Arial" pitchFamily="34" charset="0"/>
              </a:rPr>
              <a:t>INTRODUCTION TO SOFTWARE ENGINEERING</a:t>
            </a:r>
            <a:endParaRPr lang="en-GB" dirty="0">
              <a:solidFill>
                <a:schemeClr val="tx1"/>
              </a:solidFill>
              <a:latin typeface="Arial" pitchFamily="34" charset="0"/>
              <a:ea typeface="ＭＳ Ｐゴシック"/>
              <a:cs typeface="Arial" pitchFamily="34" charset="0"/>
            </a:endParaRPr>
          </a:p>
        </p:txBody>
      </p:sp>
      <p:sp>
        <p:nvSpPr>
          <p:cNvPr id="4099" name="Rectangle 5"/>
          <p:cNvSpPr>
            <a:spLocks noGrp="1" noChangeArrowheads="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The economies of ALL developed nations are </a:t>
            </a:r>
            <a:br>
              <a:rPr lang="en-GB" dirty="0">
                <a:latin typeface="Arial" pitchFamily="34" charset="0"/>
                <a:ea typeface="ＭＳ Ｐゴシック"/>
                <a:cs typeface="Arial" pitchFamily="34" charset="0"/>
              </a:rPr>
            </a:br>
            <a:r>
              <a:rPr lang="en-GB" dirty="0">
                <a:latin typeface="Arial" pitchFamily="34" charset="0"/>
                <a:ea typeface="ＭＳ Ｐゴシック"/>
                <a:cs typeface="Arial" pitchFamily="34" charset="0"/>
              </a:rPr>
              <a:t>dependent on software.</a:t>
            </a:r>
          </a:p>
          <a:p>
            <a:pPr eaLnBrk="1" hangingPunct="1">
              <a:buFont typeface="Wingdings" pitchFamily="2" charset="2"/>
              <a:buChar char="²"/>
            </a:pPr>
            <a:r>
              <a:rPr lang="en-GB" dirty="0">
                <a:latin typeface="Arial" pitchFamily="34" charset="0"/>
                <a:ea typeface="ＭＳ Ｐゴシック"/>
                <a:cs typeface="Arial" pitchFamily="34" charset="0"/>
              </a:rPr>
              <a:t>More and more systems are software controlled</a:t>
            </a:r>
          </a:p>
          <a:p>
            <a:pPr eaLnBrk="1" hangingPunct="1">
              <a:buFont typeface="Wingdings" pitchFamily="2" charset="2"/>
              <a:buChar char="²"/>
            </a:pPr>
            <a:r>
              <a:rPr lang="en-GB" dirty="0">
                <a:latin typeface="Arial" pitchFamily="34" charset="0"/>
                <a:ea typeface="ＭＳ Ｐゴシック"/>
                <a:cs typeface="Arial" pitchFamily="34" charset="0"/>
              </a:rPr>
              <a:t>Software engineering is concerned with theories, methods and tools for professional software development.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p:nvPr>
        </p:nvSpPr>
        <p:spPr/>
        <p:txBody>
          <a:bodyPr/>
          <a:lstStyle/>
          <a:p>
            <a:pPr eaLnBrk="1" hangingPunct="1"/>
            <a:r>
              <a:rPr lang="en-GB">
                <a:latin typeface="Arial" pitchFamily="34" charset="0"/>
                <a:ea typeface="ＭＳ Ｐゴシック"/>
                <a:cs typeface="Arial" pitchFamily="34" charset="0"/>
              </a:rPr>
              <a:t>Software costs</a:t>
            </a:r>
          </a:p>
        </p:txBody>
      </p:sp>
      <p:sp>
        <p:nvSpPr>
          <p:cNvPr id="5123" name="Rectangle 5"/>
          <p:cNvSpPr>
            <a:spLocks noGrp="1" noChangeArrowheads="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a:latin typeface="Arial" pitchFamily="34" charset="0"/>
                <a:ea typeface="ＭＳ Ｐゴシック"/>
                <a:cs typeface="Arial" pitchFamily="34" charset="0"/>
              </a:rPr>
              <a:t>Software costs often dominate computer system costs. The costs of software on a PC are often greater than the hardware cost.</a:t>
            </a:r>
          </a:p>
          <a:p>
            <a:pPr eaLnBrk="1" hangingPunct="1">
              <a:buFont typeface="Wingdings" pitchFamily="2" charset="2"/>
              <a:buChar char="²"/>
            </a:pPr>
            <a:r>
              <a:rPr lang="en-GB">
                <a:latin typeface="Arial" pitchFamily="34" charset="0"/>
                <a:ea typeface="ＭＳ Ｐゴシック"/>
                <a:cs typeface="Arial" pitchFamily="34" charset="0"/>
              </a:rPr>
              <a:t>Software costs more to maintain than it does to develop. For systems with a long life, maintenance costs may be several times development costs.</a:t>
            </a:r>
          </a:p>
          <a:p>
            <a:pPr eaLnBrk="1" hangingPunct="1">
              <a:buFont typeface="Wingdings" pitchFamily="2" charset="2"/>
              <a:buChar char="²"/>
            </a:pPr>
            <a:r>
              <a:rPr lang="en-GB">
                <a:latin typeface="Arial" pitchFamily="34" charset="0"/>
                <a:ea typeface="ＭＳ Ｐゴシック"/>
                <a:cs typeface="Arial" pitchFamily="34" charset="0"/>
              </a:rPr>
              <a:t>Software engineering is concerned with cost-effective software development.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Software products</a:t>
            </a:r>
          </a:p>
        </p:txBody>
      </p:sp>
      <p:sp>
        <p:nvSpPr>
          <p:cNvPr id="6147"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dirty="0">
                <a:solidFill>
                  <a:schemeClr val="tx2">
                    <a:lumMod val="60000"/>
                    <a:lumOff val="40000"/>
                  </a:schemeClr>
                </a:solidFill>
                <a:latin typeface="Arial" pitchFamily="34" charset="0"/>
                <a:ea typeface="ＭＳ Ｐゴシック"/>
                <a:cs typeface="Arial" pitchFamily="34" charset="0"/>
              </a:rPr>
              <a:t>Generic products</a:t>
            </a:r>
          </a:p>
          <a:p>
            <a:pPr lvl="1" eaLnBrk="1" hangingPunct="1">
              <a:buFont typeface="Wingdings" pitchFamily="2" charset="2"/>
              <a:buChar char="§"/>
            </a:pPr>
            <a:r>
              <a:rPr lang="en-US" dirty="0">
                <a:latin typeface="Arial" pitchFamily="34" charset="0"/>
                <a:ea typeface="ＭＳ Ｐゴシック"/>
                <a:cs typeface="Arial" pitchFamily="34" charset="0"/>
              </a:rPr>
              <a:t>Stand-alone systems that are marketed and sold to any customer who wishes to buy them.</a:t>
            </a:r>
          </a:p>
          <a:p>
            <a:pPr lvl="1" eaLnBrk="1" hangingPunct="1">
              <a:buFont typeface="Wingdings" pitchFamily="2" charset="2"/>
              <a:buChar char="§"/>
            </a:pPr>
            <a:r>
              <a:rPr lang="en-US" dirty="0">
                <a:latin typeface="Arial" pitchFamily="34" charset="0"/>
                <a:ea typeface="ＭＳ Ｐゴシック"/>
                <a:cs typeface="Arial" pitchFamily="34" charset="0"/>
              </a:rPr>
              <a:t>Examples – PC software such as graphics programs, project management tools; CAD software; software for specific markets such as appointments systems for dentists.</a:t>
            </a:r>
          </a:p>
          <a:p>
            <a:pPr eaLnBrk="1" hangingPunct="1">
              <a:buFont typeface="Wingdings" pitchFamily="2" charset="2"/>
              <a:buChar char="²"/>
            </a:pPr>
            <a:r>
              <a:rPr lang="en-US" dirty="0">
                <a:solidFill>
                  <a:schemeClr val="tx2">
                    <a:lumMod val="60000"/>
                    <a:lumOff val="40000"/>
                  </a:schemeClr>
                </a:solidFill>
                <a:latin typeface="Arial" pitchFamily="34" charset="0"/>
                <a:ea typeface="ＭＳ Ｐゴシック"/>
                <a:cs typeface="Arial" pitchFamily="34" charset="0"/>
              </a:rPr>
              <a:t>Customized products</a:t>
            </a:r>
          </a:p>
          <a:p>
            <a:pPr lvl="1" eaLnBrk="1" hangingPunct="1">
              <a:buFont typeface="Wingdings" pitchFamily="2" charset="2"/>
              <a:buChar char="§"/>
            </a:pPr>
            <a:r>
              <a:rPr lang="en-US" dirty="0">
                <a:latin typeface="Arial" pitchFamily="34" charset="0"/>
                <a:ea typeface="ＭＳ Ｐゴシック"/>
                <a:cs typeface="Arial" pitchFamily="34" charset="0"/>
              </a:rPr>
              <a:t>Software that is commissioned by a specific customer to meet their own needs. </a:t>
            </a:r>
          </a:p>
          <a:p>
            <a:pPr lvl="1" eaLnBrk="1" hangingPunct="1">
              <a:buFont typeface="Wingdings" pitchFamily="2" charset="2"/>
              <a:buChar char="§"/>
            </a:pPr>
            <a:r>
              <a:rPr lang="en-US" dirty="0">
                <a:latin typeface="Arial" pitchFamily="34" charset="0"/>
                <a:ea typeface="ＭＳ Ｐゴシック"/>
                <a:cs typeface="Arial" pitchFamily="34" charset="0"/>
              </a:rPr>
              <a:t>Examples – embedded control systems, air traffic control software, traffic monitoring systems.</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2869123-DB8E-40A5-911E-82E0B3578E00}" type="slidenum">
              <a:rPr lang="en-US"/>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Product specification</a:t>
            </a:r>
          </a:p>
        </p:txBody>
      </p:sp>
      <p:sp>
        <p:nvSpPr>
          <p:cNvPr id="7171"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dirty="0">
                <a:solidFill>
                  <a:schemeClr val="tx2">
                    <a:lumMod val="60000"/>
                    <a:lumOff val="40000"/>
                  </a:schemeClr>
                </a:solidFill>
                <a:latin typeface="Arial" pitchFamily="34" charset="0"/>
                <a:ea typeface="ＭＳ Ｐゴシック"/>
                <a:cs typeface="Arial" pitchFamily="34" charset="0"/>
              </a:rPr>
              <a:t>Generic products</a:t>
            </a:r>
          </a:p>
          <a:p>
            <a:pPr lvl="1" eaLnBrk="1" hangingPunct="1">
              <a:buFont typeface="Wingdings" pitchFamily="2" charset="2"/>
              <a:buChar char="§"/>
            </a:pPr>
            <a:r>
              <a:rPr lang="en-US" dirty="0">
                <a:latin typeface="Arial" pitchFamily="34" charset="0"/>
                <a:ea typeface="ＭＳ Ｐゴシック"/>
                <a:cs typeface="Arial" pitchFamily="34" charset="0"/>
              </a:rPr>
              <a:t>The specification of what the software should do is owned by the software developer and decisions on software change are made by the developer.</a:t>
            </a:r>
          </a:p>
          <a:p>
            <a:pPr eaLnBrk="1" hangingPunct="1">
              <a:buFont typeface="Wingdings" pitchFamily="2" charset="2"/>
              <a:buChar char="²"/>
            </a:pPr>
            <a:r>
              <a:rPr lang="en-US" dirty="0">
                <a:solidFill>
                  <a:schemeClr val="tx2">
                    <a:lumMod val="60000"/>
                    <a:lumOff val="40000"/>
                  </a:schemeClr>
                </a:solidFill>
                <a:latin typeface="Arial" pitchFamily="34" charset="0"/>
                <a:ea typeface="ＭＳ Ｐゴシック"/>
                <a:cs typeface="Arial" pitchFamily="34" charset="0"/>
              </a:rPr>
              <a:t>Customized products</a:t>
            </a:r>
          </a:p>
          <a:p>
            <a:pPr lvl="1" eaLnBrk="1" hangingPunct="1">
              <a:buFont typeface="Wingdings" pitchFamily="2" charset="2"/>
              <a:buChar char="§"/>
            </a:pPr>
            <a:r>
              <a:rPr lang="en-US" dirty="0">
                <a:latin typeface="Arial" pitchFamily="34" charset="0"/>
                <a:ea typeface="ＭＳ Ｐゴシック"/>
                <a:cs typeface="Arial" pitchFamily="34" charset="0"/>
              </a:rPr>
              <a:t>The specification of what the software should do is owned by the customer for the software and they make decisions on software changes that are required.</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BCB79969-63B0-44D6-9413-2E7278EE80F9}" type="slidenum">
              <a:rPr lang="en-US"/>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8724CF43-10AA-4771-9A67-AA129A4201D0}" type="slidenum">
              <a:rPr lang="en-US" smtClean="0"/>
              <a:pPr>
                <a:defRPr/>
              </a:pPr>
              <a:t>7</a:t>
            </a:fld>
            <a:endParaRPr lang="en-US"/>
          </a:p>
        </p:txBody>
      </p:sp>
      <p:pic>
        <p:nvPicPr>
          <p:cNvPr id="1026" name="Picture 2" descr="C:\Documents and Settings\Administrator\Local Settings\Temporary Internet Files\Content.IE5\I54W10LN\MC900434411[1].wmf"/>
          <p:cNvPicPr>
            <a:picLocks noChangeAspect="1" noChangeArrowheads="1"/>
          </p:cNvPicPr>
          <p:nvPr/>
        </p:nvPicPr>
        <p:blipFill>
          <a:blip r:embed="rId2"/>
          <a:srcRect/>
          <a:stretch>
            <a:fillRect/>
          </a:stretch>
        </p:blipFill>
        <p:spPr bwMode="auto">
          <a:xfrm>
            <a:off x="1498599" y="2264227"/>
            <a:ext cx="1886857" cy="2035629"/>
          </a:xfrm>
          <a:prstGeom prst="rect">
            <a:avLst/>
          </a:prstGeom>
          <a:noFill/>
        </p:spPr>
      </p:pic>
      <p:sp>
        <p:nvSpPr>
          <p:cNvPr id="7" name="Cloud Callout 6"/>
          <p:cNvSpPr/>
          <p:nvPr/>
        </p:nvSpPr>
        <p:spPr>
          <a:xfrm>
            <a:off x="4528458" y="3722914"/>
            <a:ext cx="3461657" cy="1883230"/>
          </a:xfrm>
          <a:prstGeom prst="cloudCallout">
            <a:avLst>
              <a:gd name="adj1" fmla="val -80896"/>
              <a:gd name="adj2" fmla="val -73112"/>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t>What is Software engineering?</a:t>
            </a:r>
          </a:p>
        </p:txBody>
      </p:sp>
      <p:sp>
        <p:nvSpPr>
          <p:cNvPr id="8" name="Cloud Callout 7"/>
          <p:cNvSpPr/>
          <p:nvPr/>
        </p:nvSpPr>
        <p:spPr>
          <a:xfrm>
            <a:off x="3929743" y="1654630"/>
            <a:ext cx="3461657" cy="1872343"/>
          </a:xfrm>
          <a:prstGeom prst="cloudCallout">
            <a:avLst>
              <a:gd name="adj1" fmla="val -64544"/>
              <a:gd name="adj2" fmla="val 2321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t>What is Software?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274638"/>
            <a:ext cx="7688263" cy="1177925"/>
          </a:xfrm>
        </p:spPr>
        <p:txBody>
          <a:bodyPr/>
          <a:lstStyle/>
          <a:p>
            <a:pPr eaLnBrk="1" hangingPunct="1"/>
            <a:r>
              <a:rPr lang="en-GB">
                <a:latin typeface="Arial" pitchFamily="34" charset="0"/>
                <a:ea typeface="ＭＳ Ｐゴシック"/>
                <a:cs typeface="Arial" pitchFamily="34" charset="0"/>
              </a:rPr>
              <a:t>Frequently asked questions about software engineering</a:t>
            </a:r>
            <a:br>
              <a:rPr lang="en-GB">
                <a:latin typeface="Arial" pitchFamily="34" charset="0"/>
                <a:ea typeface="ＭＳ Ｐゴシック"/>
                <a:cs typeface="Arial" pitchFamily="34" charset="0"/>
              </a:rPr>
            </a:br>
            <a:endParaRPr lang="en-US">
              <a:latin typeface="Arial" pitchFamily="34" charset="0"/>
              <a:ea typeface="ＭＳ Ｐゴシック"/>
              <a:cs typeface="Arial" pitchFamily="34" charset="0"/>
            </a:endParaRPr>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4" name="Slide Number Placeholder 3"/>
          <p:cNvSpPr>
            <a:spLocks noGrp="1"/>
          </p:cNvSpPr>
          <p:nvPr>
            <p:ph type="sldNum" sz="quarter" idx="12"/>
          </p:nvPr>
        </p:nvSpPr>
        <p:spPr/>
        <p:txBody>
          <a:bodyPr/>
          <a:lstStyle/>
          <a:p>
            <a:pPr>
              <a:defRPr/>
            </a:pPr>
            <a:fld id="{FBE82104-BF1E-4925-925D-89B1A32C9EBB}" type="slidenum">
              <a:rPr lang="en-US" smtClean="0"/>
              <a:pPr>
                <a:defRPr/>
              </a:pPr>
              <a:t>8</a:t>
            </a:fld>
            <a:endParaRPr lang="en-US"/>
          </a:p>
        </p:txBody>
      </p:sp>
      <p:graphicFrame>
        <p:nvGraphicFramePr>
          <p:cNvPr id="5" name="Table 4"/>
          <p:cNvGraphicFramePr>
            <a:graphicFrameLocks noGrp="1"/>
          </p:cNvGraphicFramePr>
          <p:nvPr/>
        </p:nvGraphicFramePr>
        <p:xfrm>
          <a:off x="457200" y="1636713"/>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GB">
                <a:latin typeface="Arial" pitchFamily="34" charset="0"/>
                <a:ea typeface="ＭＳ Ｐゴシック"/>
                <a:cs typeface="Arial" pitchFamily="34" charset="0"/>
              </a:rPr>
              <a:t>Frequently asked questions about software engineering</a:t>
            </a:r>
            <a:endParaRPr lang="en-US">
              <a:latin typeface="Arial" pitchFamily="34" charset="0"/>
              <a:ea typeface="ＭＳ Ｐゴシック"/>
              <a:cs typeface="Arial" pitchFamily="34" charset="0"/>
            </a:endParaRPr>
          </a:p>
        </p:txBody>
      </p:sp>
      <p:graphicFrame>
        <p:nvGraphicFramePr>
          <p:cNvPr id="6" name="Content Placeholder 5"/>
          <p:cNvGraphicFramePr>
            <a:graphicFrameLocks noGrp="1"/>
          </p:cNvGraphicFramePr>
          <p:nvPr>
            <p:ph idx="1"/>
          </p:nvPr>
        </p:nvGraphicFramePr>
        <p:xfrm>
          <a:off x="457200" y="1735138"/>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CDE1061D-E90E-4B0E-B633-F2A870546A89}"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8724CF43-10AA-4771-9A67-AA129A4201D0}" type="slidenum">
              <a:rPr lang="en-US" smtClean="0"/>
              <a:pPr>
                <a:defRPr/>
              </a:pPr>
              <a:t>10</a:t>
            </a:fld>
            <a:endParaRPr lang="en-US"/>
          </a:p>
        </p:txBody>
      </p:sp>
      <p:pic>
        <p:nvPicPr>
          <p:cNvPr id="2052" name="Picture 4" descr="C:\Documents and Settings\Administrator\Local Settings\Temporary Internet Files\Content.IE5\I54W10LN\MC900439407[1].jpg"/>
          <p:cNvPicPr>
            <a:picLocks noChangeAspect="1" noChangeArrowheads="1"/>
          </p:cNvPicPr>
          <p:nvPr/>
        </p:nvPicPr>
        <p:blipFill>
          <a:blip r:embed="rId2"/>
          <a:srcRect/>
          <a:stretch>
            <a:fillRect/>
          </a:stretch>
        </p:blipFill>
        <p:spPr bwMode="auto">
          <a:xfrm>
            <a:off x="930729" y="1850571"/>
            <a:ext cx="4098472" cy="3679371"/>
          </a:xfrm>
          <a:prstGeom prst="rect">
            <a:avLst/>
          </a:prstGeom>
          <a:noFill/>
        </p:spPr>
      </p:pic>
      <p:sp>
        <p:nvSpPr>
          <p:cNvPr id="9" name="Rounded Rectangular Callout 8"/>
          <p:cNvSpPr/>
          <p:nvPr/>
        </p:nvSpPr>
        <p:spPr>
          <a:xfrm>
            <a:off x="5029201" y="1611087"/>
            <a:ext cx="3407228" cy="3516084"/>
          </a:xfrm>
          <a:prstGeom prst="wedgeRoundRectCallout">
            <a:avLst>
              <a:gd name="adj1" fmla="val -76744"/>
              <a:gd name="adj2" fmla="val -3090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What are the attributes of good software?</a:t>
            </a:r>
          </a:p>
          <a:p>
            <a:pPr algn="ctr"/>
            <a:endParaRPr lang="en-US" sz="2400" dirty="0"/>
          </a:p>
          <a:p>
            <a:pPr>
              <a:buFont typeface="Arial" pitchFamily="34" charset="0"/>
              <a:buChar char="•"/>
            </a:pPr>
            <a:r>
              <a:rPr lang="en-US" sz="2400" dirty="0"/>
              <a:t>  maintainability</a:t>
            </a:r>
          </a:p>
          <a:p>
            <a:pPr>
              <a:buFont typeface="Arial" pitchFamily="34" charset="0"/>
              <a:buChar char="•"/>
            </a:pPr>
            <a:r>
              <a:rPr lang="en-US" sz="2400" dirty="0"/>
              <a:t>Dependability and security </a:t>
            </a:r>
          </a:p>
          <a:p>
            <a:pPr>
              <a:buFont typeface="Arial" pitchFamily="34" charset="0"/>
              <a:buChar char="•"/>
            </a:pPr>
            <a:r>
              <a:rPr lang="en-US" sz="2400" dirty="0"/>
              <a:t>Efficiency</a:t>
            </a:r>
          </a:p>
          <a:p>
            <a:pPr>
              <a:buFont typeface="Arial" pitchFamily="34" charset="0"/>
              <a:buChar char="•"/>
            </a:pPr>
            <a:r>
              <a:rPr lang="en-US" sz="2400" dirty="0"/>
              <a:t>acceptability</a:t>
            </a:r>
          </a:p>
          <a:p>
            <a:pPr algn="ctr">
              <a:buFont typeface="Arial" pitchFamily="34" charset="0"/>
              <a:buChar char="•"/>
            </a:pP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GB">
                <a:latin typeface="Arial" pitchFamily="34" charset="0"/>
                <a:ea typeface="ＭＳ Ｐゴシック"/>
                <a:cs typeface="Arial" pitchFamily="34" charset="0"/>
              </a:rPr>
              <a:t>Essential attributes of good software</a:t>
            </a:r>
            <a:endParaRPr lang="en-US">
              <a:latin typeface="Arial" pitchFamily="34" charset="0"/>
              <a:ea typeface="ＭＳ Ｐゴシック"/>
              <a:cs typeface="Arial" pitchFamily="34" charset="0"/>
            </a:endParaRPr>
          </a:p>
        </p:txBody>
      </p:sp>
      <p:sp>
        <p:nvSpPr>
          <p:cNvPr id="6" name="Footer Placeholder 5"/>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63150E74-B290-49A5-8EDC-FCDAE1DA07F1}" type="slidenum">
              <a:rPr lang="en-US" smtClean="0"/>
              <a:pPr>
                <a:defRPr/>
              </a:pPr>
              <a:t>11</a:t>
            </a:fld>
            <a:endParaRPr lang="en-US"/>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a:latin typeface="Arial"/>
                          <a:cs typeface="Arial"/>
                        </a:rPr>
                        <a:t>Acceptability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dirty="0">
                <a:solidFill>
                  <a:schemeClr val="tx1"/>
                </a:solidFill>
                <a:latin typeface="Arial" pitchFamily="34" charset="0"/>
                <a:ea typeface="ＭＳ Ｐゴシック"/>
                <a:cs typeface="Arial" pitchFamily="34" charset="0"/>
              </a:rPr>
              <a:t>Software engineering</a:t>
            </a:r>
          </a:p>
        </p:txBody>
      </p:sp>
      <p:sp>
        <p:nvSpPr>
          <p:cNvPr id="11267"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a:latin typeface="Arial" pitchFamily="34" charset="0"/>
                <a:ea typeface="ＭＳ Ｐゴシック"/>
                <a:cs typeface="Arial" pitchFamily="34" charset="0"/>
              </a:rPr>
              <a:t>Software engineering is an engineering discipline that is concerned with all aspects of software production from the early stages of system specification through to maintaining the system after it has gone into use.</a:t>
            </a:r>
          </a:p>
          <a:p>
            <a:pPr eaLnBrk="1" hangingPunct="1">
              <a:buFont typeface="Wingdings" pitchFamily="2" charset="2"/>
              <a:buChar char="²"/>
            </a:pPr>
            <a:r>
              <a:rPr lang="en-US">
                <a:latin typeface="Arial" pitchFamily="34" charset="0"/>
                <a:ea typeface="ＭＳ Ｐゴシック"/>
                <a:cs typeface="Arial" pitchFamily="34" charset="0"/>
              </a:rPr>
              <a:t>Engineering discipline</a:t>
            </a:r>
          </a:p>
          <a:p>
            <a:pPr lvl="1" eaLnBrk="1" hangingPunct="1">
              <a:buFont typeface="Wingdings" pitchFamily="2" charset="2"/>
              <a:buChar char="§"/>
            </a:pPr>
            <a:r>
              <a:rPr lang="en-US">
                <a:latin typeface="Arial" pitchFamily="34" charset="0"/>
                <a:ea typeface="ＭＳ Ｐゴシック"/>
                <a:cs typeface="Arial" pitchFamily="34" charset="0"/>
              </a:rPr>
              <a:t>Using appropriate theories and methods to solve problems bearing in mind organizational and financial constraints.</a:t>
            </a:r>
          </a:p>
          <a:p>
            <a:pPr eaLnBrk="1" hangingPunct="1">
              <a:buFont typeface="Wingdings" pitchFamily="2" charset="2"/>
              <a:buChar char="²"/>
            </a:pPr>
            <a:r>
              <a:rPr lang="en-US">
                <a:latin typeface="Arial" pitchFamily="34" charset="0"/>
                <a:ea typeface="ＭＳ Ｐゴシック"/>
                <a:cs typeface="Arial" pitchFamily="34" charset="0"/>
              </a:rPr>
              <a:t>All aspects of software production</a:t>
            </a:r>
          </a:p>
          <a:p>
            <a:pPr lvl="1" eaLnBrk="1" hangingPunct="1">
              <a:buFont typeface="Wingdings" pitchFamily="2" charset="2"/>
              <a:buChar char="§"/>
            </a:pPr>
            <a:r>
              <a:rPr lang="en-US">
                <a:latin typeface="Arial" pitchFamily="34" charset="0"/>
                <a:ea typeface="ＭＳ Ｐゴシック"/>
                <a:cs typeface="Arial" pitchFamily="34" charset="0"/>
              </a:rPr>
              <a:t>Not just technical process of development. Also project management and the development of tools, methods etc. to support software production.</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E31A224D-83C7-422F-AEE0-BE3E3554C59A}"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8724CF43-10AA-4771-9A67-AA129A4201D0}" type="slidenum">
              <a:rPr lang="en-US" smtClean="0"/>
              <a:pPr>
                <a:defRPr/>
              </a:pPr>
              <a:t>13</a:t>
            </a:fld>
            <a:endParaRPr lang="en-US"/>
          </a:p>
        </p:txBody>
      </p:sp>
      <p:pic>
        <p:nvPicPr>
          <p:cNvPr id="3075" name="Picture 3" descr="C:\Documents and Settings\Administrator\Local Settings\Temporary Internet Files\Content.IE5\0SLHSHF2\MC900441902[1].wmf"/>
          <p:cNvPicPr>
            <a:picLocks noChangeAspect="1" noChangeArrowheads="1"/>
          </p:cNvPicPr>
          <p:nvPr/>
        </p:nvPicPr>
        <p:blipFill>
          <a:blip r:embed="rId2"/>
          <a:srcRect/>
          <a:stretch>
            <a:fillRect/>
          </a:stretch>
        </p:blipFill>
        <p:spPr bwMode="auto">
          <a:xfrm>
            <a:off x="1524000" y="2367188"/>
            <a:ext cx="2220686" cy="2727325"/>
          </a:xfrm>
          <a:prstGeom prst="rect">
            <a:avLst/>
          </a:prstGeom>
          <a:noFill/>
        </p:spPr>
      </p:pic>
      <p:sp>
        <p:nvSpPr>
          <p:cNvPr id="8" name="Cloud Callout 7"/>
          <p:cNvSpPr/>
          <p:nvPr/>
        </p:nvSpPr>
        <p:spPr>
          <a:xfrm>
            <a:off x="4713514" y="1426030"/>
            <a:ext cx="3570515" cy="3211284"/>
          </a:xfrm>
          <a:prstGeom prst="cloudCallout">
            <a:avLst>
              <a:gd name="adj1" fmla="val -73457"/>
              <a:gd name="adj2" fmla="val -10619"/>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t>Why software engineering is important?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Importance of software engineering</a:t>
            </a:r>
          </a:p>
        </p:txBody>
      </p:sp>
      <p:sp>
        <p:nvSpPr>
          <p:cNvPr id="12291"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a:latin typeface="Arial" pitchFamily="34" charset="0"/>
                <a:ea typeface="ＭＳ Ｐゴシック"/>
                <a:cs typeface="Arial" pitchFamily="34" charset="0"/>
              </a:rPr>
              <a:t>More and more, individuals and society rely on advanced software systems. We need to be able to produce reliable and trustworthy systems economically and quickly.</a:t>
            </a:r>
          </a:p>
          <a:p>
            <a:pPr eaLnBrk="1" hangingPunct="1">
              <a:buFont typeface="Wingdings" pitchFamily="2" charset="2"/>
              <a:buChar char="²"/>
            </a:pPr>
            <a:r>
              <a:rPr lang="en-GB">
                <a:latin typeface="Arial" pitchFamily="34" charset="0"/>
                <a:ea typeface="ＭＳ Ｐゴシック"/>
                <a:cs typeface="Arial" pitchFamily="34" charset="0"/>
              </a:rPr>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pPr eaLnBrk="1" hangingPunct="1">
              <a:buFont typeface="Wingdings" pitchFamily="2" charset="2"/>
              <a:buChar char="²"/>
            </a:pPr>
            <a:endParaRPr lang="en-US">
              <a:latin typeface="Arial" pitchFamily="34" charset="0"/>
              <a:ea typeface="ＭＳ Ｐゴシック"/>
              <a:cs typeface="Arial" pitchFamily="34" charset="0"/>
            </a:endParaRP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A7F8C6D5-4433-4967-A87D-CAEE5112420F}"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Application types</a:t>
            </a:r>
          </a:p>
        </p:txBody>
      </p:sp>
      <p:sp>
        <p:nvSpPr>
          <p:cNvPr id="14339"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solidFill>
                  <a:schemeClr val="tx2">
                    <a:lumMod val="60000"/>
                    <a:lumOff val="40000"/>
                  </a:schemeClr>
                </a:solidFill>
                <a:latin typeface="Arial" pitchFamily="34" charset="0"/>
                <a:ea typeface="ＭＳ Ｐゴシック"/>
                <a:cs typeface="Arial" pitchFamily="34" charset="0"/>
              </a:rPr>
              <a:t>Stand-alone applications </a:t>
            </a:r>
          </a:p>
          <a:p>
            <a:pPr lvl="1" eaLnBrk="1" hangingPunct="1">
              <a:buFont typeface="Wingdings" pitchFamily="2" charset="2"/>
              <a:buChar char="§"/>
            </a:pPr>
            <a:r>
              <a:rPr lang="en-GB" dirty="0">
                <a:latin typeface="Arial" pitchFamily="34" charset="0"/>
                <a:ea typeface="ＭＳ Ｐゴシック"/>
                <a:cs typeface="Arial" pitchFamily="34" charset="0"/>
              </a:rPr>
              <a:t>These are application systems that run on a local computer, such as a PC. They include all necessary functionality and do not need to be connected to a network. </a:t>
            </a:r>
          </a:p>
          <a:p>
            <a:pPr eaLnBrk="1" hangingPunct="1">
              <a:buFont typeface="Wingdings" pitchFamily="2" charset="2"/>
              <a:buChar char="²"/>
            </a:pPr>
            <a:r>
              <a:rPr lang="en-GB" dirty="0">
                <a:solidFill>
                  <a:schemeClr val="tx2">
                    <a:lumMod val="60000"/>
                    <a:lumOff val="40000"/>
                  </a:schemeClr>
                </a:solidFill>
                <a:latin typeface="Arial" pitchFamily="34" charset="0"/>
                <a:ea typeface="ＭＳ Ｐゴシック"/>
                <a:cs typeface="Arial" pitchFamily="34" charset="0"/>
              </a:rPr>
              <a:t>Interactive transaction-based applications</a:t>
            </a:r>
            <a:r>
              <a:rPr lang="en-GB" i="1" dirty="0">
                <a:solidFill>
                  <a:schemeClr val="tx2">
                    <a:lumMod val="60000"/>
                    <a:lumOff val="40000"/>
                  </a:schemeClr>
                </a:solidFill>
                <a:latin typeface="Arial" pitchFamily="34" charset="0"/>
                <a:ea typeface="ＭＳ Ｐゴシック"/>
                <a:cs typeface="Arial" pitchFamily="34" charset="0"/>
              </a:rPr>
              <a:t> </a:t>
            </a:r>
          </a:p>
          <a:p>
            <a:pPr lvl="1" eaLnBrk="1" hangingPunct="1">
              <a:buFont typeface="Wingdings" pitchFamily="2" charset="2"/>
              <a:buChar char="§"/>
            </a:pPr>
            <a:r>
              <a:rPr lang="en-GB" dirty="0">
                <a:latin typeface="Arial" pitchFamily="34" charset="0"/>
                <a:ea typeface="ＭＳ Ｐゴシック"/>
                <a:cs typeface="Arial" pitchFamily="34" charset="0"/>
              </a:rPr>
              <a:t>Applications that execute on a remote computer and are accessed by users from their own PCs or terminals. These include web applications such as e-commerce applications. </a:t>
            </a:r>
          </a:p>
          <a:p>
            <a:pPr eaLnBrk="1" hangingPunct="1">
              <a:buFont typeface="Wingdings" pitchFamily="2" charset="2"/>
              <a:buChar char="²"/>
            </a:pPr>
            <a:r>
              <a:rPr lang="en-GB" dirty="0">
                <a:solidFill>
                  <a:schemeClr val="tx2">
                    <a:lumMod val="60000"/>
                    <a:lumOff val="40000"/>
                  </a:schemeClr>
                </a:solidFill>
                <a:latin typeface="Arial" pitchFamily="34" charset="0"/>
                <a:ea typeface="ＭＳ Ｐゴシック"/>
                <a:cs typeface="Arial" pitchFamily="34" charset="0"/>
              </a:rPr>
              <a:t>Embedded control systems </a:t>
            </a:r>
          </a:p>
          <a:p>
            <a:pPr lvl="1" eaLnBrk="1" hangingPunct="1">
              <a:buFont typeface="Wingdings" pitchFamily="2" charset="2"/>
              <a:buChar char="§"/>
            </a:pPr>
            <a:r>
              <a:rPr lang="en-GB" dirty="0">
                <a:latin typeface="Arial" pitchFamily="34" charset="0"/>
                <a:ea typeface="ＭＳ Ｐゴシック"/>
                <a:cs typeface="Arial" pitchFamily="34" charset="0"/>
              </a:rPr>
              <a:t>These are software control systems that control and manage hardware devices. Numerically, there are probably more embedded systems than any other type of system. </a:t>
            </a:r>
            <a:endParaRPr lang="en-US" dirty="0">
              <a:latin typeface="Arial" pitchFamily="34" charset="0"/>
              <a:ea typeface="ＭＳ Ｐゴシック"/>
              <a:cs typeface="Arial" pitchFamily="34" charset="0"/>
            </a:endParaRP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F7B12C5C-64B8-46DD-963E-D232B3B8E389}"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dirty="0">
                <a:latin typeface="Arial" pitchFamily="34" charset="0"/>
                <a:ea typeface="ＭＳ Ｐゴシック"/>
                <a:cs typeface="Arial" pitchFamily="34" charset="0"/>
              </a:rPr>
              <a:t>Application types (cont.)</a:t>
            </a:r>
          </a:p>
        </p:txBody>
      </p:sp>
      <p:sp>
        <p:nvSpPr>
          <p:cNvPr id="15363"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solidFill>
                  <a:schemeClr val="tx2">
                    <a:lumMod val="60000"/>
                    <a:lumOff val="40000"/>
                  </a:schemeClr>
                </a:solidFill>
                <a:latin typeface="Arial" pitchFamily="34" charset="0"/>
                <a:ea typeface="ＭＳ Ｐゴシック"/>
                <a:cs typeface="Arial" pitchFamily="34" charset="0"/>
              </a:rPr>
              <a:t>Batch processing systems </a:t>
            </a:r>
          </a:p>
          <a:p>
            <a:pPr lvl="1" eaLnBrk="1" hangingPunct="1">
              <a:buFont typeface="Wingdings" pitchFamily="2" charset="2"/>
              <a:buChar char="§"/>
            </a:pPr>
            <a:r>
              <a:rPr lang="en-GB" dirty="0">
                <a:latin typeface="Arial" pitchFamily="34" charset="0"/>
                <a:ea typeface="ＭＳ Ｐゴシック"/>
                <a:cs typeface="Arial" pitchFamily="34" charset="0"/>
              </a:rPr>
              <a:t>These are business systems that are designed to process data in large batches. They process large numbers of individual inputs to create corresponding outputs. </a:t>
            </a:r>
          </a:p>
          <a:p>
            <a:pPr eaLnBrk="1" hangingPunct="1">
              <a:buFont typeface="Wingdings" pitchFamily="2" charset="2"/>
              <a:buChar char="²"/>
            </a:pPr>
            <a:r>
              <a:rPr lang="en-GB" dirty="0">
                <a:solidFill>
                  <a:schemeClr val="tx2">
                    <a:lumMod val="60000"/>
                    <a:lumOff val="40000"/>
                  </a:schemeClr>
                </a:solidFill>
                <a:latin typeface="Arial" pitchFamily="34" charset="0"/>
                <a:ea typeface="ＭＳ Ｐゴシック"/>
                <a:cs typeface="Arial" pitchFamily="34" charset="0"/>
              </a:rPr>
              <a:t>Entertainment systems </a:t>
            </a:r>
          </a:p>
          <a:p>
            <a:pPr lvl="1" eaLnBrk="1" hangingPunct="1">
              <a:buFont typeface="Wingdings" pitchFamily="2" charset="2"/>
              <a:buChar char="§"/>
            </a:pPr>
            <a:r>
              <a:rPr lang="en-GB" dirty="0">
                <a:latin typeface="Arial" pitchFamily="34" charset="0"/>
                <a:ea typeface="ＭＳ Ｐゴシック"/>
                <a:cs typeface="Arial" pitchFamily="34" charset="0"/>
              </a:rPr>
              <a:t>These are systems that are primarily for personal use and which are intended to entertain the user. (</a:t>
            </a:r>
            <a:r>
              <a:rPr lang="en-GB" dirty="0" err="1">
                <a:latin typeface="Arial" pitchFamily="34" charset="0"/>
                <a:ea typeface="ＭＳ Ｐゴシック"/>
                <a:cs typeface="Arial" pitchFamily="34" charset="0"/>
              </a:rPr>
              <a:t>eg</a:t>
            </a:r>
            <a:r>
              <a:rPr lang="en-GB" dirty="0">
                <a:latin typeface="Arial" pitchFamily="34" charset="0"/>
                <a:ea typeface="ＭＳ Ｐゴシック"/>
                <a:cs typeface="Arial" pitchFamily="34" charset="0"/>
              </a:rPr>
              <a:t>. Games app)</a:t>
            </a:r>
          </a:p>
          <a:p>
            <a:pPr eaLnBrk="1" hangingPunct="1">
              <a:buFont typeface="Wingdings" pitchFamily="2" charset="2"/>
              <a:buChar char="²"/>
            </a:pPr>
            <a:r>
              <a:rPr lang="en-GB" dirty="0">
                <a:solidFill>
                  <a:schemeClr val="tx2">
                    <a:lumMod val="60000"/>
                    <a:lumOff val="40000"/>
                  </a:schemeClr>
                </a:solidFill>
                <a:latin typeface="Arial" pitchFamily="34" charset="0"/>
                <a:ea typeface="ＭＳ Ｐゴシック"/>
                <a:cs typeface="Arial" pitchFamily="34" charset="0"/>
              </a:rPr>
              <a:t>Systems for modelling and simulation </a:t>
            </a:r>
          </a:p>
          <a:p>
            <a:pPr lvl="1" eaLnBrk="1" hangingPunct="1">
              <a:buFont typeface="Wingdings" pitchFamily="2" charset="2"/>
              <a:buChar char="§"/>
            </a:pPr>
            <a:r>
              <a:rPr lang="en-GB" dirty="0">
                <a:latin typeface="Arial" pitchFamily="34" charset="0"/>
                <a:ea typeface="ＭＳ Ｐゴシック"/>
                <a:cs typeface="Arial" pitchFamily="34" charset="0"/>
              </a:rPr>
              <a:t>These are systems that are developed by scientists and engineers to model physical processes or situations, which include many, separate, interacting objects. </a:t>
            </a:r>
            <a:endParaRPr lang="en-US" dirty="0">
              <a:latin typeface="Arial" pitchFamily="34" charset="0"/>
              <a:ea typeface="ＭＳ Ｐゴシック"/>
              <a:cs typeface="Arial" pitchFamily="34" charset="0"/>
            </a:endParaRP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A5118D9B-6BD6-4217-BFF5-73BE9E0354C5}"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latin typeface="Arial" pitchFamily="34" charset="0"/>
                <a:ea typeface="ＭＳ Ｐゴシック"/>
                <a:cs typeface="Arial" pitchFamily="34" charset="0"/>
              </a:rPr>
              <a:t>Application types (cont.)</a:t>
            </a:r>
          </a:p>
        </p:txBody>
      </p:sp>
      <p:sp>
        <p:nvSpPr>
          <p:cNvPr id="16387"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solidFill>
                  <a:schemeClr val="tx2">
                    <a:lumMod val="60000"/>
                    <a:lumOff val="40000"/>
                  </a:schemeClr>
                </a:solidFill>
                <a:latin typeface="Arial" pitchFamily="34" charset="0"/>
                <a:ea typeface="ＭＳ Ｐゴシック"/>
                <a:cs typeface="Arial" pitchFamily="34" charset="0"/>
              </a:rPr>
              <a:t>Data collection systems </a:t>
            </a:r>
            <a:r>
              <a:rPr lang="en-GB" i="1" dirty="0">
                <a:latin typeface="Arial" pitchFamily="34" charset="0"/>
                <a:ea typeface="ＭＳ Ｐゴシック"/>
                <a:cs typeface="Arial" pitchFamily="34" charset="0"/>
              </a:rPr>
              <a:t>	</a:t>
            </a:r>
          </a:p>
          <a:p>
            <a:pPr lvl="1" eaLnBrk="1" hangingPunct="1">
              <a:buFont typeface="Wingdings" pitchFamily="2" charset="2"/>
              <a:buChar char="§"/>
            </a:pPr>
            <a:r>
              <a:rPr lang="en-GB" dirty="0">
                <a:latin typeface="Arial" pitchFamily="34" charset="0"/>
                <a:ea typeface="ＭＳ Ｐゴシック"/>
                <a:cs typeface="Arial" pitchFamily="34" charset="0"/>
              </a:rPr>
              <a:t>These are systems that collect data from their environment using a set of sensors and send that data to other systems for processing. </a:t>
            </a:r>
          </a:p>
          <a:p>
            <a:pPr eaLnBrk="1" hangingPunct="1">
              <a:buFont typeface="Wingdings" pitchFamily="2" charset="2"/>
              <a:buChar char="²"/>
            </a:pPr>
            <a:r>
              <a:rPr lang="en-GB" dirty="0">
                <a:solidFill>
                  <a:schemeClr val="tx2">
                    <a:lumMod val="60000"/>
                    <a:lumOff val="40000"/>
                  </a:schemeClr>
                </a:solidFill>
                <a:latin typeface="Arial" pitchFamily="34" charset="0"/>
                <a:ea typeface="ＭＳ Ｐゴシック"/>
                <a:cs typeface="Arial" pitchFamily="34" charset="0"/>
              </a:rPr>
              <a:t>Systems of systems </a:t>
            </a:r>
          </a:p>
          <a:p>
            <a:pPr lvl="1" eaLnBrk="1" hangingPunct="1">
              <a:buFont typeface="Wingdings" pitchFamily="2" charset="2"/>
              <a:buChar char="§"/>
            </a:pPr>
            <a:r>
              <a:rPr lang="en-GB" dirty="0">
                <a:latin typeface="Arial" pitchFamily="34" charset="0"/>
                <a:ea typeface="ＭＳ Ｐゴシック"/>
                <a:cs typeface="Arial" pitchFamily="34" charset="0"/>
              </a:rPr>
              <a:t>These are systems that are composed of a number of other software systems. </a:t>
            </a:r>
            <a:endParaRPr lang="en-US" dirty="0">
              <a:latin typeface="Arial" pitchFamily="34" charset="0"/>
              <a:ea typeface="ＭＳ Ｐゴシック"/>
              <a:cs typeface="Arial" pitchFamily="34" charset="0"/>
            </a:endParaRP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1A92C63A-4E3B-432C-8BB0-F775F57E81F0}"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GB" dirty="0">
                <a:solidFill>
                  <a:schemeClr val="tx1"/>
                </a:solidFill>
                <a:latin typeface="Arial" pitchFamily="34" charset="0"/>
                <a:ea typeface="ＭＳ Ｐゴシック"/>
                <a:cs typeface="Arial" pitchFamily="34" charset="0"/>
              </a:rPr>
              <a:t>THE SOFTWARE PROCESS</a:t>
            </a:r>
          </a:p>
        </p:txBody>
      </p:sp>
      <p:sp>
        <p:nvSpPr>
          <p:cNvPr id="28675"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A structured set of activities required to develop a </a:t>
            </a:r>
            <a:br>
              <a:rPr lang="en-GB" dirty="0">
                <a:latin typeface="Arial" pitchFamily="34" charset="0"/>
                <a:ea typeface="ＭＳ Ｐゴシック"/>
                <a:cs typeface="Arial" pitchFamily="34" charset="0"/>
              </a:rPr>
            </a:br>
            <a:r>
              <a:rPr lang="en-GB" dirty="0">
                <a:latin typeface="Arial" pitchFamily="34" charset="0"/>
                <a:ea typeface="ＭＳ Ｐゴシック"/>
                <a:cs typeface="Arial" pitchFamily="34" charset="0"/>
              </a:rPr>
              <a:t>software system. </a:t>
            </a:r>
          </a:p>
          <a:p>
            <a:pPr eaLnBrk="1" hangingPunct="1">
              <a:buFont typeface="Wingdings" pitchFamily="2" charset="2"/>
              <a:buChar char="²"/>
            </a:pPr>
            <a:r>
              <a:rPr lang="en-GB" dirty="0">
                <a:latin typeface="Arial" pitchFamily="34" charset="0"/>
                <a:ea typeface="ＭＳ Ｐゴシック"/>
                <a:cs typeface="Arial" pitchFamily="34" charset="0"/>
              </a:rPr>
              <a:t>Many different software processes but all involve:</a:t>
            </a:r>
          </a:p>
          <a:p>
            <a:pPr lvl="1" eaLnBrk="1" hangingPunct="1">
              <a:buFont typeface="Wingdings" pitchFamily="2" charset="2"/>
              <a:buChar char="§"/>
            </a:pPr>
            <a:r>
              <a:rPr lang="en-GB" dirty="0">
                <a:solidFill>
                  <a:schemeClr val="tx2">
                    <a:lumMod val="60000"/>
                    <a:lumOff val="40000"/>
                  </a:schemeClr>
                </a:solidFill>
                <a:latin typeface="Arial" pitchFamily="34" charset="0"/>
                <a:ea typeface="ＭＳ Ｐゴシック"/>
                <a:cs typeface="Arial" pitchFamily="34" charset="0"/>
              </a:rPr>
              <a:t>Specification</a:t>
            </a:r>
            <a:r>
              <a:rPr lang="en-GB" dirty="0">
                <a:latin typeface="Arial" pitchFamily="34" charset="0"/>
                <a:ea typeface="ＭＳ Ｐゴシック"/>
                <a:cs typeface="Arial" pitchFamily="34" charset="0"/>
              </a:rPr>
              <a:t> – defining what the system should do;</a:t>
            </a:r>
          </a:p>
          <a:p>
            <a:pPr lvl="1" eaLnBrk="1" hangingPunct="1">
              <a:buFont typeface="Wingdings" pitchFamily="2" charset="2"/>
              <a:buChar char="§"/>
            </a:pPr>
            <a:r>
              <a:rPr lang="en-GB" dirty="0">
                <a:solidFill>
                  <a:schemeClr val="tx2">
                    <a:lumMod val="60000"/>
                    <a:lumOff val="40000"/>
                  </a:schemeClr>
                </a:solidFill>
                <a:latin typeface="Arial" pitchFamily="34" charset="0"/>
                <a:ea typeface="ＭＳ Ｐゴシック"/>
                <a:cs typeface="Arial" pitchFamily="34" charset="0"/>
              </a:rPr>
              <a:t>Design and implementation </a:t>
            </a:r>
            <a:r>
              <a:rPr lang="en-GB" dirty="0">
                <a:latin typeface="Arial" pitchFamily="34" charset="0"/>
                <a:ea typeface="ＭＳ Ｐゴシック"/>
                <a:cs typeface="Arial" pitchFamily="34" charset="0"/>
              </a:rPr>
              <a:t>– defining the organization of the system and implementing the system;</a:t>
            </a:r>
          </a:p>
          <a:p>
            <a:pPr lvl="1" eaLnBrk="1" hangingPunct="1">
              <a:buFont typeface="Wingdings" pitchFamily="2" charset="2"/>
              <a:buChar char="§"/>
            </a:pPr>
            <a:r>
              <a:rPr lang="en-GB" dirty="0">
                <a:solidFill>
                  <a:schemeClr val="tx2">
                    <a:lumMod val="60000"/>
                    <a:lumOff val="40000"/>
                  </a:schemeClr>
                </a:solidFill>
                <a:latin typeface="Arial" pitchFamily="34" charset="0"/>
                <a:ea typeface="ＭＳ Ｐゴシック"/>
                <a:cs typeface="Arial" pitchFamily="34" charset="0"/>
              </a:rPr>
              <a:t>Validation</a:t>
            </a:r>
            <a:r>
              <a:rPr lang="en-GB" dirty="0">
                <a:latin typeface="Arial" pitchFamily="34" charset="0"/>
                <a:ea typeface="ＭＳ Ｐゴシック"/>
                <a:cs typeface="Arial" pitchFamily="34" charset="0"/>
              </a:rPr>
              <a:t> – checking that it does what the customer wants;</a:t>
            </a:r>
          </a:p>
          <a:p>
            <a:pPr lvl="1" eaLnBrk="1" hangingPunct="1">
              <a:buFont typeface="Wingdings" pitchFamily="2" charset="2"/>
              <a:buChar char="§"/>
            </a:pPr>
            <a:r>
              <a:rPr lang="en-GB" dirty="0">
                <a:solidFill>
                  <a:schemeClr val="tx2">
                    <a:lumMod val="60000"/>
                    <a:lumOff val="40000"/>
                  </a:schemeClr>
                </a:solidFill>
                <a:latin typeface="Arial" pitchFamily="34" charset="0"/>
                <a:ea typeface="ＭＳ Ｐゴシック"/>
                <a:cs typeface="Arial" pitchFamily="34" charset="0"/>
              </a:rPr>
              <a:t>Evolution</a:t>
            </a:r>
            <a:r>
              <a:rPr lang="en-GB" dirty="0">
                <a:latin typeface="Arial" pitchFamily="34" charset="0"/>
                <a:ea typeface="ＭＳ Ｐゴシック"/>
                <a:cs typeface="Arial" pitchFamily="34" charset="0"/>
              </a:rPr>
              <a:t> – changing the system in response to changing customer needs.</a:t>
            </a:r>
          </a:p>
          <a:p>
            <a:pPr eaLnBrk="1" hangingPunct="1">
              <a:buFont typeface="Wingdings" pitchFamily="2" charset="2"/>
              <a:buChar char="²"/>
            </a:pPr>
            <a:r>
              <a:rPr lang="en-GB" dirty="0">
                <a:latin typeface="Arial" pitchFamily="34" charset="0"/>
                <a:ea typeface="ＭＳ Ｐゴシック"/>
                <a:cs typeface="Arial" pitchFamily="34" charset="0"/>
              </a:rPr>
              <a:t>A software process model is an abstract representation of a process. It presents a description of a process from some particular perspective.</a:t>
            </a:r>
          </a:p>
        </p:txBody>
      </p:sp>
      <p:sp>
        <p:nvSpPr>
          <p:cNvPr id="6" name="Slide Number Placeholder 5"/>
          <p:cNvSpPr>
            <a:spLocks noGrp="1"/>
          </p:cNvSpPr>
          <p:nvPr>
            <p:ph type="sldNum" sz="quarter" idx="12"/>
          </p:nvPr>
        </p:nvSpPr>
        <p:spPr/>
        <p:txBody>
          <a:bodyPr/>
          <a:lstStyle/>
          <a:p>
            <a:pPr>
              <a:defRPr/>
            </a:pPr>
            <a:fld id="{99085BB1-0BBC-495B-9E80-7DC1EB421224}" type="slidenum">
              <a:rPr lang="en-US"/>
              <a:pPr>
                <a:defRPr/>
              </a:pPr>
              <a:t>18</a:t>
            </a:fld>
            <a:endParaRPr lang="en-US" dirty="0"/>
          </a:p>
        </p:txBody>
      </p:sp>
      <p:sp>
        <p:nvSpPr>
          <p:cNvPr id="7" name="Footer Placeholder 6"/>
          <p:cNvSpPr>
            <a:spLocks noGrp="1"/>
          </p:cNvSpPr>
          <p:nvPr>
            <p:ph type="ftr" sz="quarter" idx="11"/>
          </p:nvPr>
        </p:nvSpPr>
        <p:spPr/>
        <p:txBody>
          <a:bodyPr/>
          <a:lstStyle/>
          <a:p>
            <a:pPr>
              <a:defRPr/>
            </a:pPr>
            <a:r>
              <a:rPr lang="en-US"/>
              <a:t>Chapter 1 Introduction</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Software process descriptions</a:t>
            </a:r>
          </a:p>
        </p:txBody>
      </p:sp>
      <p:sp>
        <p:nvSpPr>
          <p:cNvPr id="29699"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When we describe and discuss processes, we usually talk about the activities in these processes such as specifying a data model, designing a user interface, etc. and the ordering of these activities.</a:t>
            </a:r>
          </a:p>
          <a:p>
            <a:pPr eaLnBrk="1" hangingPunct="1">
              <a:buFont typeface="Wingdings" pitchFamily="2" charset="2"/>
              <a:buChar char="²"/>
            </a:pPr>
            <a:r>
              <a:rPr lang="en-GB" dirty="0">
                <a:latin typeface="Arial" pitchFamily="34" charset="0"/>
                <a:ea typeface="ＭＳ Ｐゴシック"/>
                <a:cs typeface="Arial" pitchFamily="34" charset="0"/>
              </a:rPr>
              <a:t>Process descriptions may also include:</a:t>
            </a:r>
          </a:p>
          <a:p>
            <a:pPr lvl="1" eaLnBrk="1" hangingPunct="1">
              <a:buFont typeface="Wingdings" pitchFamily="2" charset="2"/>
              <a:buChar char="§"/>
            </a:pPr>
            <a:r>
              <a:rPr lang="en-GB" dirty="0">
                <a:solidFill>
                  <a:schemeClr val="tx2">
                    <a:lumMod val="60000"/>
                    <a:lumOff val="40000"/>
                  </a:schemeClr>
                </a:solidFill>
                <a:latin typeface="Arial" pitchFamily="34" charset="0"/>
                <a:ea typeface="ＭＳ Ｐゴシック"/>
                <a:cs typeface="Arial" pitchFamily="34" charset="0"/>
              </a:rPr>
              <a:t>Products</a:t>
            </a:r>
            <a:r>
              <a:rPr lang="en-GB" dirty="0">
                <a:latin typeface="Arial" pitchFamily="34" charset="0"/>
                <a:ea typeface="ＭＳ Ｐゴシック"/>
                <a:cs typeface="Arial" pitchFamily="34" charset="0"/>
              </a:rPr>
              <a:t>, which are the outcomes of a process activity; </a:t>
            </a:r>
          </a:p>
          <a:p>
            <a:pPr lvl="1" eaLnBrk="1" hangingPunct="1">
              <a:buFont typeface="Wingdings" pitchFamily="2" charset="2"/>
              <a:buChar char="§"/>
            </a:pPr>
            <a:r>
              <a:rPr lang="en-GB" dirty="0">
                <a:solidFill>
                  <a:schemeClr val="tx2">
                    <a:lumMod val="60000"/>
                    <a:lumOff val="40000"/>
                  </a:schemeClr>
                </a:solidFill>
                <a:latin typeface="Arial" pitchFamily="34" charset="0"/>
                <a:ea typeface="ＭＳ Ｐゴシック"/>
                <a:cs typeface="Arial" pitchFamily="34" charset="0"/>
              </a:rPr>
              <a:t>Roles</a:t>
            </a:r>
            <a:r>
              <a:rPr lang="en-GB" dirty="0">
                <a:latin typeface="Arial" pitchFamily="34" charset="0"/>
                <a:ea typeface="ＭＳ Ｐゴシック"/>
                <a:cs typeface="Arial" pitchFamily="34" charset="0"/>
              </a:rPr>
              <a:t>, which reflect the responsibilities of the people involved in the process;</a:t>
            </a:r>
          </a:p>
          <a:p>
            <a:pPr lvl="1" eaLnBrk="1" hangingPunct="1">
              <a:buFont typeface="Wingdings" pitchFamily="2" charset="2"/>
              <a:buChar char="§"/>
            </a:pPr>
            <a:r>
              <a:rPr lang="en-GB" dirty="0">
                <a:solidFill>
                  <a:schemeClr val="tx2">
                    <a:lumMod val="60000"/>
                    <a:lumOff val="40000"/>
                  </a:schemeClr>
                </a:solidFill>
                <a:latin typeface="Arial" pitchFamily="34" charset="0"/>
                <a:ea typeface="ＭＳ Ｐゴシック"/>
                <a:cs typeface="Arial" pitchFamily="34" charset="0"/>
              </a:rPr>
              <a:t>Pre- and post-conditions</a:t>
            </a:r>
            <a:r>
              <a:rPr lang="en-GB" dirty="0">
                <a:latin typeface="Arial" pitchFamily="34" charset="0"/>
                <a:ea typeface="ＭＳ Ｐゴシック"/>
                <a:cs typeface="Arial" pitchFamily="34" charset="0"/>
              </a:rPr>
              <a:t>, which are statements that are true before and after a process activity has been enacted or a product produced.   </a:t>
            </a:r>
            <a:endParaRPr lang="en-US" dirty="0">
              <a:latin typeface="Arial" pitchFamily="34" charset="0"/>
              <a:ea typeface="ＭＳ Ｐゴシック"/>
              <a:cs typeface="Arial" pitchFamily="34" charset="0"/>
            </a:endParaRPr>
          </a:p>
        </p:txBody>
      </p:sp>
      <p:sp>
        <p:nvSpPr>
          <p:cNvPr id="6" name="Slide Number Placeholder 5"/>
          <p:cNvSpPr>
            <a:spLocks noGrp="1"/>
          </p:cNvSpPr>
          <p:nvPr>
            <p:ph type="sldNum" sz="quarter" idx="12"/>
          </p:nvPr>
        </p:nvSpPr>
        <p:spPr/>
        <p:txBody>
          <a:bodyPr/>
          <a:lstStyle/>
          <a:p>
            <a:pPr>
              <a:defRPr/>
            </a:pPr>
            <a:fld id="{B8F2AF73-7145-4D5F-A9CF-07C763FE1793}" type="slidenum">
              <a:rPr lang="en-US"/>
              <a:pPr>
                <a:defRPr/>
              </a:pPr>
              <a:t>19</a:t>
            </a:fld>
            <a:endParaRPr lang="en-US"/>
          </a:p>
        </p:txBody>
      </p:sp>
      <p:sp>
        <p:nvSpPr>
          <p:cNvPr id="9"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Plan-driven and agile processes</a:t>
            </a:r>
          </a:p>
        </p:txBody>
      </p:sp>
      <p:sp>
        <p:nvSpPr>
          <p:cNvPr id="30723"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solidFill>
                  <a:schemeClr val="tx2">
                    <a:lumMod val="60000"/>
                    <a:lumOff val="40000"/>
                  </a:schemeClr>
                </a:solidFill>
                <a:latin typeface="Arial" pitchFamily="34" charset="0"/>
                <a:ea typeface="ＭＳ Ｐゴシック"/>
                <a:cs typeface="Arial" pitchFamily="34" charset="0"/>
              </a:rPr>
              <a:t>Software processes can be categorized as:</a:t>
            </a:r>
          </a:p>
          <a:p>
            <a:pPr lvl="1" eaLnBrk="1" hangingPunct="1">
              <a:buFont typeface="Wingdings" pitchFamily="2" charset="2"/>
              <a:buChar char="²"/>
            </a:pPr>
            <a:r>
              <a:rPr lang="en-GB" sz="2400" dirty="0">
                <a:solidFill>
                  <a:schemeClr val="tx2">
                    <a:lumMod val="60000"/>
                    <a:lumOff val="40000"/>
                  </a:schemeClr>
                </a:solidFill>
                <a:latin typeface="Arial" pitchFamily="34" charset="0"/>
                <a:ea typeface="ＭＳ Ｐゴシック"/>
                <a:cs typeface="Arial" pitchFamily="34" charset="0"/>
              </a:rPr>
              <a:t>Plan-driven processes </a:t>
            </a:r>
            <a:r>
              <a:rPr lang="en-GB" sz="2400" dirty="0">
                <a:latin typeface="Arial" pitchFamily="34" charset="0"/>
                <a:ea typeface="ＭＳ Ｐゴシック"/>
                <a:cs typeface="Arial" pitchFamily="34" charset="0"/>
              </a:rPr>
              <a:t>are processes where all of the process activities are planned in advance and progress is measured against this plan. </a:t>
            </a:r>
          </a:p>
          <a:p>
            <a:pPr lvl="1" eaLnBrk="1" hangingPunct="1">
              <a:buFont typeface="Wingdings" pitchFamily="2" charset="2"/>
              <a:buChar char="²"/>
            </a:pPr>
            <a:r>
              <a:rPr lang="en-GB" sz="2400" dirty="0">
                <a:latin typeface="Arial" pitchFamily="34" charset="0"/>
                <a:ea typeface="ＭＳ Ｐゴシック"/>
                <a:cs typeface="Arial" pitchFamily="34" charset="0"/>
              </a:rPr>
              <a:t>In </a:t>
            </a:r>
            <a:r>
              <a:rPr lang="en-GB" sz="2400" dirty="0">
                <a:solidFill>
                  <a:schemeClr val="tx2">
                    <a:lumMod val="60000"/>
                    <a:lumOff val="40000"/>
                  </a:schemeClr>
                </a:solidFill>
                <a:latin typeface="Arial" pitchFamily="34" charset="0"/>
                <a:ea typeface="ＭＳ Ｐゴシック"/>
                <a:cs typeface="Arial" pitchFamily="34" charset="0"/>
              </a:rPr>
              <a:t>agile processes</a:t>
            </a:r>
            <a:r>
              <a:rPr lang="en-GB" sz="2400" dirty="0">
                <a:latin typeface="Arial" pitchFamily="34" charset="0"/>
                <a:ea typeface="ＭＳ Ｐゴシック"/>
                <a:cs typeface="Arial" pitchFamily="34" charset="0"/>
              </a:rPr>
              <a:t>, planning is incremental and it is easier to change the process to reflect changing customer requirements. </a:t>
            </a:r>
          </a:p>
          <a:p>
            <a:pPr eaLnBrk="1" hangingPunct="1">
              <a:buFont typeface="Wingdings" pitchFamily="2" charset="2"/>
              <a:buChar char="²"/>
            </a:pPr>
            <a:r>
              <a:rPr lang="en-GB" dirty="0">
                <a:latin typeface="Arial" pitchFamily="34" charset="0"/>
                <a:ea typeface="ＭＳ Ｐゴシック"/>
                <a:cs typeface="Arial" pitchFamily="34" charset="0"/>
              </a:rPr>
              <a:t>In practice, most practical processes include elements of both plan-driven and agile approaches. </a:t>
            </a:r>
          </a:p>
          <a:p>
            <a:pPr eaLnBrk="1" hangingPunct="1">
              <a:buFont typeface="Wingdings" pitchFamily="2" charset="2"/>
              <a:buChar char="²"/>
            </a:pPr>
            <a:r>
              <a:rPr lang="en-GB" dirty="0">
                <a:latin typeface="Arial" pitchFamily="34" charset="0"/>
                <a:ea typeface="ＭＳ Ｐゴシック"/>
                <a:cs typeface="Arial" pitchFamily="34" charset="0"/>
              </a:rPr>
              <a:t>There are no right or wrong software processes.</a:t>
            </a:r>
            <a:endParaRPr lang="en-US" dirty="0">
              <a:latin typeface="Arial" pitchFamily="34" charset="0"/>
              <a:ea typeface="ＭＳ Ｐゴシック"/>
              <a:cs typeface="Arial" pitchFamily="34" charset="0"/>
            </a:endParaRPr>
          </a:p>
        </p:txBody>
      </p:sp>
      <p:sp>
        <p:nvSpPr>
          <p:cNvPr id="4" name="Slide Number Placeholder 3"/>
          <p:cNvSpPr>
            <a:spLocks noGrp="1"/>
          </p:cNvSpPr>
          <p:nvPr>
            <p:ph type="sldNum" sz="quarter" idx="12"/>
          </p:nvPr>
        </p:nvSpPr>
        <p:spPr/>
        <p:txBody>
          <a:bodyPr/>
          <a:lstStyle/>
          <a:p>
            <a:pPr>
              <a:defRPr/>
            </a:pPr>
            <a:fld id="{D84D5D2D-CE12-49B3-95F2-98E047FDF2C9}" type="slidenum">
              <a:rPr lang="en-US"/>
              <a:pPr>
                <a:defRPr/>
              </a:pPr>
              <a:t>20</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GB" dirty="0">
                <a:latin typeface="Arial" pitchFamily="34" charset="0"/>
                <a:ea typeface="ＭＳ Ｐゴシック"/>
                <a:cs typeface="Arial" pitchFamily="34" charset="0"/>
              </a:rPr>
              <a:t>SOFTWARE PROCESS MODELS</a:t>
            </a:r>
          </a:p>
        </p:txBody>
      </p:sp>
      <p:sp>
        <p:nvSpPr>
          <p:cNvPr id="31747"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sz="2200" dirty="0">
                <a:solidFill>
                  <a:schemeClr val="tx2">
                    <a:lumMod val="60000"/>
                    <a:lumOff val="40000"/>
                  </a:schemeClr>
                </a:solidFill>
                <a:latin typeface="Arial" pitchFamily="34" charset="0"/>
                <a:ea typeface="ＭＳ Ｐゴシック"/>
                <a:cs typeface="Arial" pitchFamily="34" charset="0"/>
              </a:rPr>
              <a:t>The waterfall model</a:t>
            </a:r>
          </a:p>
          <a:p>
            <a:pPr lvl="1" eaLnBrk="1" hangingPunct="1">
              <a:buFont typeface="Wingdings" pitchFamily="2" charset="2"/>
              <a:buChar char="§"/>
            </a:pPr>
            <a:r>
              <a:rPr lang="en-GB" sz="2200" dirty="0">
                <a:latin typeface="Arial" pitchFamily="34" charset="0"/>
                <a:ea typeface="ＭＳ Ｐゴシック"/>
                <a:cs typeface="Arial" pitchFamily="34" charset="0"/>
              </a:rPr>
              <a:t>Plan-driven model. Separate and distinct phases of specification and development.</a:t>
            </a:r>
          </a:p>
          <a:p>
            <a:pPr eaLnBrk="1" hangingPunct="1">
              <a:buFont typeface="Wingdings" pitchFamily="2" charset="2"/>
              <a:buChar char="²"/>
            </a:pPr>
            <a:r>
              <a:rPr lang="en-GB" sz="2200" dirty="0">
                <a:solidFill>
                  <a:schemeClr val="tx2">
                    <a:lumMod val="60000"/>
                    <a:lumOff val="40000"/>
                  </a:schemeClr>
                </a:solidFill>
                <a:latin typeface="Arial" pitchFamily="34" charset="0"/>
                <a:ea typeface="ＭＳ Ｐゴシック"/>
                <a:cs typeface="Arial" pitchFamily="34" charset="0"/>
              </a:rPr>
              <a:t>Incremental development</a:t>
            </a:r>
          </a:p>
          <a:p>
            <a:pPr lvl="1" eaLnBrk="1" hangingPunct="1">
              <a:buFont typeface="Wingdings" pitchFamily="2" charset="2"/>
              <a:buChar char="§"/>
            </a:pPr>
            <a:r>
              <a:rPr lang="en-GB" sz="2200" dirty="0">
                <a:latin typeface="Arial" pitchFamily="34" charset="0"/>
                <a:ea typeface="ＭＳ Ｐゴシック"/>
                <a:cs typeface="Arial" pitchFamily="34" charset="0"/>
              </a:rPr>
              <a:t>Specification, development and validation are interleaved. May be plan-driven or agile.</a:t>
            </a:r>
          </a:p>
          <a:p>
            <a:pPr eaLnBrk="1" hangingPunct="1">
              <a:buFont typeface="Wingdings" pitchFamily="2" charset="2"/>
              <a:buChar char="²"/>
            </a:pPr>
            <a:r>
              <a:rPr lang="en-GB" sz="2200" dirty="0">
                <a:solidFill>
                  <a:schemeClr val="tx2">
                    <a:lumMod val="60000"/>
                    <a:lumOff val="40000"/>
                  </a:schemeClr>
                </a:solidFill>
                <a:latin typeface="Arial" pitchFamily="34" charset="0"/>
                <a:ea typeface="ＭＳ Ｐゴシック"/>
                <a:cs typeface="Arial" pitchFamily="34" charset="0"/>
              </a:rPr>
              <a:t>Reuse-oriented software engineering</a:t>
            </a:r>
          </a:p>
          <a:p>
            <a:pPr lvl="1" eaLnBrk="1" hangingPunct="1">
              <a:buFont typeface="Wingdings" pitchFamily="2" charset="2"/>
              <a:buChar char="§"/>
            </a:pPr>
            <a:r>
              <a:rPr lang="en-GB" sz="2200" dirty="0">
                <a:latin typeface="Arial" pitchFamily="34" charset="0"/>
                <a:ea typeface="ＭＳ Ｐゴシック"/>
                <a:cs typeface="Arial" pitchFamily="34" charset="0"/>
              </a:rPr>
              <a:t>The system is assembled from existing components. May be plan-driven or agile.</a:t>
            </a:r>
          </a:p>
          <a:p>
            <a:pPr eaLnBrk="1" hangingPunct="1">
              <a:buFont typeface="Wingdings" pitchFamily="2" charset="2"/>
              <a:buChar char="²"/>
            </a:pPr>
            <a:r>
              <a:rPr lang="en-GB" sz="2200" dirty="0">
                <a:latin typeface="Arial" pitchFamily="34" charset="0"/>
                <a:ea typeface="ＭＳ Ｐゴシック"/>
                <a:cs typeface="Arial" pitchFamily="34" charset="0"/>
              </a:rPr>
              <a:t>In practice, most large systems are developed using a process that incorporates elements from all of these models.</a:t>
            </a:r>
          </a:p>
        </p:txBody>
      </p:sp>
      <p:sp>
        <p:nvSpPr>
          <p:cNvPr id="9" name="Slide Number Placeholder 8"/>
          <p:cNvSpPr>
            <a:spLocks noGrp="1"/>
          </p:cNvSpPr>
          <p:nvPr>
            <p:ph type="sldNum" sz="quarter" idx="12"/>
          </p:nvPr>
        </p:nvSpPr>
        <p:spPr/>
        <p:txBody>
          <a:bodyPr/>
          <a:lstStyle/>
          <a:p>
            <a:pPr>
              <a:defRPr/>
            </a:pPr>
            <a:fld id="{13F20DCD-50D3-4EC4-998F-F057984E61FB}" type="slidenum">
              <a:rPr lang="en-US"/>
              <a:pPr>
                <a:defRPr/>
              </a:pPr>
              <a:t>21</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
        <p:nvSpPr>
          <p:cNvPr id="7" name="AutoShape 10">
            <a:hlinkClick r:id="rId3" action="ppaction://hlinksldjump" highlightClick="1"/>
          </p:cNvPr>
          <p:cNvSpPr>
            <a:spLocks noChangeArrowheads="1"/>
          </p:cNvSpPr>
          <p:nvPr/>
        </p:nvSpPr>
        <p:spPr bwMode="auto">
          <a:xfrm rot="10800000">
            <a:off x="7750175" y="6045200"/>
            <a:ext cx="503237" cy="431800"/>
          </a:xfrm>
          <a:prstGeom prst="actionButtonBackPrevious">
            <a:avLst/>
          </a:prstGeom>
          <a:solidFill>
            <a:schemeClr val="accent1"/>
          </a:solidFill>
          <a:ln w="9525">
            <a:noFill/>
            <a:miter lim="800000"/>
            <a:headEnd/>
            <a:tailEnd/>
          </a:ln>
          <a:effectLst/>
        </p:spPr>
        <p:txBody>
          <a:bodyPr wrap="none" anchor="ctr"/>
          <a:lstStyle/>
          <a:p>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GB" dirty="0">
                <a:solidFill>
                  <a:schemeClr val="tx2">
                    <a:lumMod val="60000"/>
                    <a:lumOff val="40000"/>
                  </a:schemeClr>
                </a:solidFill>
                <a:latin typeface="Arial" pitchFamily="34" charset="0"/>
                <a:ea typeface="ＭＳ Ｐゴシック"/>
                <a:cs typeface="Arial" pitchFamily="34" charset="0"/>
              </a:rPr>
              <a:t>The waterfall model</a:t>
            </a:r>
            <a:br>
              <a:rPr lang="en-GB" dirty="0">
                <a:latin typeface="Arial" pitchFamily="34" charset="0"/>
                <a:ea typeface="ＭＳ Ｐゴシック"/>
                <a:cs typeface="Arial" pitchFamily="34" charset="0"/>
              </a:rPr>
            </a:br>
            <a:endParaRPr lang="en-US" dirty="0">
              <a:latin typeface="Arial" pitchFamily="34" charset="0"/>
              <a:ea typeface="ＭＳ Ｐゴシック"/>
              <a:cs typeface="Arial" pitchFamily="34" charset="0"/>
            </a:endParaRPr>
          </a:p>
        </p:txBody>
      </p:sp>
      <p:pic>
        <p:nvPicPr>
          <p:cNvPr id="32771" name="Picture 3" descr="2.1.Waterfall-model.eps"/>
          <p:cNvPicPr>
            <a:picLocks noChangeAspect="1"/>
          </p:cNvPicPr>
          <p:nvPr/>
        </p:nvPicPr>
        <p:blipFill>
          <a:blip r:embed="rId2"/>
          <a:srcRect/>
          <a:stretch>
            <a:fillRect/>
          </a:stretch>
        </p:blipFill>
        <p:spPr bwMode="auto">
          <a:xfrm>
            <a:off x="911225" y="1931988"/>
            <a:ext cx="7183438" cy="4040187"/>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pPr>
              <a:defRPr/>
            </a:pPr>
            <a:fld id="{E47DAA5C-F8C1-45E6-B9EB-FBEBD7A38D6C}" type="slidenum">
              <a:rPr lang="en-US"/>
              <a:pPr>
                <a:defRPr/>
              </a:pPr>
              <a:t>22</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GB">
                <a:latin typeface="Arial" pitchFamily="34" charset="0"/>
                <a:ea typeface="ＭＳ Ｐゴシック"/>
                <a:cs typeface="Arial" pitchFamily="34" charset="0"/>
              </a:rPr>
              <a:t>Waterfall model phases</a:t>
            </a:r>
          </a:p>
        </p:txBody>
      </p:sp>
      <p:sp>
        <p:nvSpPr>
          <p:cNvPr id="33795"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a:latin typeface="Arial" pitchFamily="34" charset="0"/>
                <a:ea typeface="ＭＳ Ｐゴシック"/>
                <a:cs typeface="Arial" pitchFamily="34" charset="0"/>
              </a:rPr>
              <a:t>There are separate identified phases in the waterfall model:</a:t>
            </a:r>
          </a:p>
          <a:p>
            <a:pPr lvl="1" eaLnBrk="1" hangingPunct="1">
              <a:buFont typeface="Wingdings" pitchFamily="2" charset="2"/>
              <a:buChar char="§"/>
            </a:pPr>
            <a:r>
              <a:rPr lang="en-GB">
                <a:latin typeface="Arial" pitchFamily="34" charset="0"/>
                <a:ea typeface="ＭＳ Ｐゴシック"/>
                <a:cs typeface="Arial" pitchFamily="34" charset="0"/>
              </a:rPr>
              <a:t>Requirements analysis and definition</a:t>
            </a:r>
          </a:p>
          <a:p>
            <a:pPr lvl="1" eaLnBrk="1" hangingPunct="1">
              <a:buFont typeface="Wingdings" pitchFamily="2" charset="2"/>
              <a:buChar char="§"/>
            </a:pPr>
            <a:r>
              <a:rPr lang="en-GB">
                <a:latin typeface="Arial" pitchFamily="34" charset="0"/>
                <a:ea typeface="ＭＳ Ｐゴシック"/>
                <a:cs typeface="Arial" pitchFamily="34" charset="0"/>
              </a:rPr>
              <a:t>System and software design</a:t>
            </a:r>
          </a:p>
          <a:p>
            <a:pPr lvl="1" eaLnBrk="1" hangingPunct="1">
              <a:buFont typeface="Wingdings" pitchFamily="2" charset="2"/>
              <a:buChar char="§"/>
            </a:pPr>
            <a:r>
              <a:rPr lang="en-GB">
                <a:latin typeface="Arial" pitchFamily="34" charset="0"/>
                <a:ea typeface="ＭＳ Ｐゴシック"/>
                <a:cs typeface="Arial" pitchFamily="34" charset="0"/>
              </a:rPr>
              <a:t>Implementation and unit testing</a:t>
            </a:r>
          </a:p>
          <a:p>
            <a:pPr lvl="1" eaLnBrk="1" hangingPunct="1">
              <a:buFont typeface="Wingdings" pitchFamily="2" charset="2"/>
              <a:buChar char="§"/>
            </a:pPr>
            <a:r>
              <a:rPr lang="en-GB">
                <a:latin typeface="Arial" pitchFamily="34" charset="0"/>
                <a:ea typeface="ＭＳ Ｐゴシック"/>
                <a:cs typeface="Arial" pitchFamily="34" charset="0"/>
              </a:rPr>
              <a:t>Integration and system testing</a:t>
            </a:r>
          </a:p>
          <a:p>
            <a:pPr lvl="1" eaLnBrk="1" hangingPunct="1">
              <a:buFont typeface="Wingdings" pitchFamily="2" charset="2"/>
              <a:buChar char="§"/>
            </a:pPr>
            <a:r>
              <a:rPr lang="en-GB">
                <a:latin typeface="Arial" pitchFamily="34" charset="0"/>
                <a:ea typeface="ＭＳ Ｐゴシック"/>
                <a:cs typeface="Arial" pitchFamily="34" charset="0"/>
              </a:rPr>
              <a:t>Operation and maintenance</a:t>
            </a:r>
          </a:p>
          <a:p>
            <a:pPr eaLnBrk="1" hangingPunct="1">
              <a:buFont typeface="Wingdings" pitchFamily="2" charset="2"/>
              <a:buChar char="²"/>
            </a:pPr>
            <a:r>
              <a:rPr lang="en-GB">
                <a:latin typeface="Arial" pitchFamily="34" charset="0"/>
                <a:ea typeface="ＭＳ Ｐゴシック"/>
                <a:cs typeface="Arial" pitchFamily="34" charset="0"/>
              </a:rPr>
              <a:t>The main drawback of the waterfall model is the difficulty of accommodating change after the process is underway. In principle, a phase has to be complete before moving onto the next phase.</a:t>
            </a:r>
          </a:p>
        </p:txBody>
      </p:sp>
      <p:sp>
        <p:nvSpPr>
          <p:cNvPr id="6" name="Slide Number Placeholder 5"/>
          <p:cNvSpPr>
            <a:spLocks noGrp="1"/>
          </p:cNvSpPr>
          <p:nvPr>
            <p:ph type="sldNum" sz="quarter" idx="12"/>
          </p:nvPr>
        </p:nvSpPr>
        <p:spPr/>
        <p:txBody>
          <a:bodyPr/>
          <a:lstStyle/>
          <a:p>
            <a:pPr>
              <a:defRPr/>
            </a:pPr>
            <a:fld id="{E50CED64-D5D3-4A82-9F3F-5B80D95E634D}" type="slidenum">
              <a:rPr lang="en-US"/>
              <a:pPr>
                <a:defRPr/>
              </a:pPr>
              <a:t>23</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GB">
                <a:latin typeface="Arial" pitchFamily="34" charset="0"/>
                <a:ea typeface="ＭＳ Ｐゴシック"/>
                <a:cs typeface="Arial" pitchFamily="34" charset="0"/>
              </a:rPr>
              <a:t>Waterfall model problems</a:t>
            </a:r>
          </a:p>
        </p:txBody>
      </p:sp>
      <p:sp>
        <p:nvSpPr>
          <p:cNvPr id="34819"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a:latin typeface="Arial" pitchFamily="34" charset="0"/>
                <a:ea typeface="ＭＳ Ｐゴシック"/>
                <a:cs typeface="Arial" pitchFamily="34" charset="0"/>
              </a:rPr>
              <a:t>Inflexible partitioning of the project into distinct stages makes it difficult to respond to changing customer requirements.</a:t>
            </a:r>
          </a:p>
          <a:p>
            <a:pPr lvl="1" eaLnBrk="1" hangingPunct="1">
              <a:buFont typeface="Wingdings" pitchFamily="2" charset="2"/>
              <a:buChar char="§"/>
            </a:pPr>
            <a:r>
              <a:rPr lang="en-GB">
                <a:latin typeface="Arial" pitchFamily="34" charset="0"/>
                <a:ea typeface="ＭＳ Ｐゴシック"/>
                <a:cs typeface="Arial" pitchFamily="34" charset="0"/>
              </a:rPr>
              <a:t>Therefore, this model is only appropriate when the requirements are well-understood and changes will be fairly limited during the design process. </a:t>
            </a:r>
          </a:p>
          <a:p>
            <a:pPr lvl="1" eaLnBrk="1" hangingPunct="1">
              <a:buFont typeface="Wingdings" pitchFamily="2" charset="2"/>
              <a:buChar char="§"/>
            </a:pPr>
            <a:r>
              <a:rPr lang="en-GB">
                <a:latin typeface="Arial" pitchFamily="34" charset="0"/>
                <a:ea typeface="ＭＳ Ｐゴシック"/>
                <a:cs typeface="Arial" pitchFamily="34" charset="0"/>
              </a:rPr>
              <a:t>Few business systems have stable requirements.</a:t>
            </a:r>
          </a:p>
          <a:p>
            <a:pPr eaLnBrk="1" hangingPunct="1">
              <a:buFont typeface="Wingdings" pitchFamily="2" charset="2"/>
              <a:buChar char="²"/>
            </a:pPr>
            <a:r>
              <a:rPr lang="en-GB">
                <a:latin typeface="Arial" pitchFamily="34" charset="0"/>
                <a:ea typeface="ＭＳ Ｐゴシック"/>
                <a:cs typeface="Arial" pitchFamily="34" charset="0"/>
              </a:rPr>
              <a:t>The waterfall model is mostly used for large systems engineering projects where a system is developed at several sites.</a:t>
            </a:r>
          </a:p>
          <a:p>
            <a:pPr lvl="1" eaLnBrk="1" hangingPunct="1">
              <a:buFont typeface="Wingdings" pitchFamily="2" charset="2"/>
              <a:buChar char="§"/>
            </a:pPr>
            <a:r>
              <a:rPr lang="en-GB">
                <a:latin typeface="Arial" pitchFamily="34" charset="0"/>
                <a:ea typeface="ＭＳ Ｐゴシック"/>
                <a:cs typeface="Arial" pitchFamily="34" charset="0"/>
              </a:rPr>
              <a:t>In those circumstances, the plan-driven nature of the waterfall model helps coordinate the work. </a:t>
            </a:r>
          </a:p>
        </p:txBody>
      </p:sp>
      <p:sp>
        <p:nvSpPr>
          <p:cNvPr id="6" name="Slide Number Placeholder 5"/>
          <p:cNvSpPr>
            <a:spLocks noGrp="1"/>
          </p:cNvSpPr>
          <p:nvPr>
            <p:ph type="sldNum" sz="quarter" idx="12"/>
          </p:nvPr>
        </p:nvSpPr>
        <p:spPr/>
        <p:txBody>
          <a:bodyPr/>
          <a:lstStyle/>
          <a:p>
            <a:pPr>
              <a:defRPr/>
            </a:pPr>
            <a:fld id="{ECAB531B-D034-435F-B5FE-D72E8569EBFB}" type="slidenum">
              <a:rPr lang="en-US"/>
              <a:pPr>
                <a:defRPr/>
              </a:pPr>
              <a:t>24</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
        <p:nvSpPr>
          <p:cNvPr id="7" name="AutoShape 10">
            <a:hlinkClick r:id="rId2" action="ppaction://hlinksldjump" highlightClick="1"/>
          </p:cNvPr>
          <p:cNvSpPr>
            <a:spLocks noChangeArrowheads="1"/>
          </p:cNvSpPr>
          <p:nvPr/>
        </p:nvSpPr>
        <p:spPr bwMode="auto">
          <a:xfrm>
            <a:off x="7750175" y="6045200"/>
            <a:ext cx="503237" cy="431800"/>
          </a:xfrm>
          <a:prstGeom prst="actionButtonBackPrevious">
            <a:avLst/>
          </a:prstGeom>
          <a:solidFill>
            <a:schemeClr val="accent1"/>
          </a:solidFill>
          <a:ln w="9525">
            <a:noFill/>
            <a:miter lim="800000"/>
            <a:headEnd/>
            <a:tailEnd/>
          </a:ln>
          <a:effectLst/>
        </p:spPr>
        <p:txBody>
          <a:bodyPr wrap="none" anchor="ct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GB" dirty="0">
                <a:solidFill>
                  <a:schemeClr val="tx2">
                    <a:lumMod val="60000"/>
                    <a:lumOff val="40000"/>
                  </a:schemeClr>
                </a:solidFill>
                <a:latin typeface="Arial" pitchFamily="34" charset="0"/>
                <a:ea typeface="ＭＳ Ｐゴシック"/>
                <a:cs typeface="Arial" pitchFamily="34" charset="0"/>
              </a:rPr>
              <a:t>Incremental development </a:t>
            </a:r>
            <a:br>
              <a:rPr lang="en-GB" dirty="0">
                <a:solidFill>
                  <a:schemeClr val="tx2">
                    <a:lumMod val="60000"/>
                    <a:lumOff val="40000"/>
                  </a:schemeClr>
                </a:solidFill>
                <a:latin typeface="Arial" pitchFamily="34" charset="0"/>
                <a:ea typeface="ＭＳ Ｐゴシック"/>
                <a:cs typeface="Arial" pitchFamily="34" charset="0"/>
              </a:rPr>
            </a:br>
            <a:endParaRPr lang="en-US" dirty="0">
              <a:solidFill>
                <a:schemeClr val="tx2">
                  <a:lumMod val="60000"/>
                  <a:lumOff val="40000"/>
                </a:schemeClr>
              </a:solidFill>
              <a:latin typeface="Arial" pitchFamily="34" charset="0"/>
              <a:ea typeface="ＭＳ Ｐゴシック"/>
              <a:cs typeface="Arial" pitchFamily="34" charset="0"/>
            </a:endParaRPr>
          </a:p>
        </p:txBody>
      </p:sp>
      <p:sp>
        <p:nvSpPr>
          <p:cNvPr id="7" name="Slide Number Placeholder 6"/>
          <p:cNvSpPr>
            <a:spLocks noGrp="1"/>
          </p:cNvSpPr>
          <p:nvPr>
            <p:ph type="sldNum" sz="quarter" idx="12"/>
          </p:nvPr>
        </p:nvSpPr>
        <p:spPr/>
        <p:txBody>
          <a:bodyPr/>
          <a:lstStyle/>
          <a:p>
            <a:pPr>
              <a:defRPr/>
            </a:pPr>
            <a:fld id="{0A3CA54E-EBEF-4D20-927B-E8E16DACB532}" type="slidenum">
              <a:rPr lang="en-US"/>
              <a:pPr>
                <a:defRPr/>
              </a:pPr>
              <a:t>25</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r="6655" b="7187"/>
          <a:stretch/>
        </p:blipFill>
        <p:spPr bwMode="auto">
          <a:xfrm>
            <a:off x="496349" y="1608838"/>
            <a:ext cx="8461671" cy="4203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4163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GB" dirty="0">
                <a:solidFill>
                  <a:srgbClr val="0070C0"/>
                </a:solidFill>
                <a:latin typeface="Arial" pitchFamily="34" charset="0"/>
                <a:ea typeface="ＭＳ Ｐゴシック"/>
                <a:cs typeface="Arial" pitchFamily="34" charset="0"/>
              </a:rPr>
              <a:t>Incremental delivery</a:t>
            </a:r>
          </a:p>
        </p:txBody>
      </p:sp>
      <p:sp>
        <p:nvSpPr>
          <p:cNvPr id="64515" name="Rectangle 3"/>
          <p:cNvSpPr>
            <a:spLocks noGrp="1" noChangeArrowheads="1"/>
          </p:cNvSpPr>
          <p:nvPr>
            <p:ph type="body" idx="1"/>
          </p:nvPr>
        </p:nvSpPr>
        <p:spPr bwMode="auto">
          <a:xfrm>
            <a:off x="457200" y="1600200"/>
            <a:ext cx="8229600" cy="3731217"/>
          </a:xfrm>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Rather than deliver the system as a single delivery, the development and delivery is broken down into increments with each increment delivering part of the required functionality.</a:t>
            </a:r>
          </a:p>
          <a:p>
            <a:pPr eaLnBrk="1" hangingPunct="1">
              <a:buFont typeface="Wingdings" pitchFamily="2" charset="2"/>
              <a:buChar char="²"/>
            </a:pPr>
            <a:r>
              <a:rPr lang="en-GB" dirty="0">
                <a:latin typeface="Arial" pitchFamily="34" charset="0"/>
                <a:ea typeface="ＭＳ Ｐゴシック"/>
                <a:cs typeface="Arial" pitchFamily="34" charset="0"/>
              </a:rPr>
              <a:t>User requirements are prioritised and the highest priority requirements are included in early increments.</a:t>
            </a:r>
          </a:p>
          <a:p>
            <a:pPr eaLnBrk="1" hangingPunct="1">
              <a:buFont typeface="Wingdings" pitchFamily="2" charset="2"/>
              <a:buChar char="²"/>
            </a:pPr>
            <a:r>
              <a:rPr lang="en-GB" dirty="0">
                <a:latin typeface="Arial" pitchFamily="34" charset="0"/>
                <a:ea typeface="ＭＳ Ｐゴシック"/>
                <a:cs typeface="Arial" pitchFamily="34" charset="0"/>
              </a:rPr>
              <a:t>Once the development of an increment is started, the requirements are frozen though requirements for later increments can continue to evolve.</a:t>
            </a:r>
          </a:p>
        </p:txBody>
      </p:sp>
      <p:sp>
        <p:nvSpPr>
          <p:cNvPr id="6" name="Slide Number Placeholder 5"/>
          <p:cNvSpPr>
            <a:spLocks noGrp="1"/>
          </p:cNvSpPr>
          <p:nvPr>
            <p:ph type="sldNum" sz="quarter" idx="12"/>
          </p:nvPr>
        </p:nvSpPr>
        <p:spPr/>
        <p:txBody>
          <a:bodyPr/>
          <a:lstStyle/>
          <a:p>
            <a:pPr>
              <a:defRPr/>
            </a:pPr>
            <a:fld id="{2A4BFE93-2F87-4130-99E1-659EFC3EA2D0}" type="slidenum">
              <a:rPr lang="en-US"/>
              <a:pPr>
                <a:defRPr/>
              </a:pPr>
              <a:t>26</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203" y="5331417"/>
            <a:ext cx="4267200" cy="10249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Incremental development and delivery</a:t>
            </a:r>
          </a:p>
        </p:txBody>
      </p:sp>
      <p:sp>
        <p:nvSpPr>
          <p:cNvPr id="65539"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a:latin typeface="Arial" pitchFamily="34" charset="0"/>
                <a:ea typeface="ＭＳ Ｐゴシック"/>
                <a:cs typeface="Arial" pitchFamily="34" charset="0"/>
              </a:rPr>
              <a:t>Incremental development</a:t>
            </a:r>
          </a:p>
          <a:p>
            <a:pPr lvl="1" eaLnBrk="1" hangingPunct="1">
              <a:buFont typeface="Wingdings" pitchFamily="2" charset="2"/>
              <a:buChar char="§"/>
            </a:pPr>
            <a:r>
              <a:rPr lang="en-US">
                <a:latin typeface="Arial" pitchFamily="34" charset="0"/>
                <a:ea typeface="ＭＳ Ｐゴシック"/>
                <a:cs typeface="Arial" pitchFamily="34" charset="0"/>
              </a:rPr>
              <a:t>Develop the system in increments and evaluate each increment before proceeding to the development of the next increment;</a:t>
            </a:r>
          </a:p>
          <a:p>
            <a:pPr lvl="1" eaLnBrk="1" hangingPunct="1">
              <a:buFont typeface="Wingdings" pitchFamily="2" charset="2"/>
              <a:buChar char="§"/>
            </a:pPr>
            <a:r>
              <a:rPr lang="en-US">
                <a:latin typeface="Arial" pitchFamily="34" charset="0"/>
                <a:ea typeface="ＭＳ Ｐゴシック"/>
                <a:cs typeface="Arial" pitchFamily="34" charset="0"/>
              </a:rPr>
              <a:t>Normal approach used in agile methods;</a:t>
            </a:r>
          </a:p>
          <a:p>
            <a:pPr lvl="1" eaLnBrk="1" hangingPunct="1">
              <a:buFont typeface="Wingdings" pitchFamily="2" charset="2"/>
              <a:buChar char="§"/>
            </a:pPr>
            <a:r>
              <a:rPr lang="en-US">
                <a:latin typeface="Arial" pitchFamily="34" charset="0"/>
                <a:ea typeface="ＭＳ Ｐゴシック"/>
                <a:cs typeface="Arial" pitchFamily="34" charset="0"/>
              </a:rPr>
              <a:t>Evaluation done by user/customer proxy.</a:t>
            </a:r>
          </a:p>
          <a:p>
            <a:pPr eaLnBrk="1" hangingPunct="1">
              <a:buFont typeface="Wingdings" pitchFamily="2" charset="2"/>
              <a:buChar char="²"/>
            </a:pPr>
            <a:r>
              <a:rPr lang="en-US">
                <a:latin typeface="Arial" pitchFamily="34" charset="0"/>
                <a:ea typeface="ＭＳ Ｐゴシック"/>
                <a:cs typeface="Arial" pitchFamily="34" charset="0"/>
              </a:rPr>
              <a:t>Incremental delivery</a:t>
            </a:r>
          </a:p>
          <a:p>
            <a:pPr lvl="1" eaLnBrk="1" hangingPunct="1">
              <a:buFont typeface="Wingdings" pitchFamily="2" charset="2"/>
              <a:buChar char="§"/>
            </a:pPr>
            <a:r>
              <a:rPr lang="en-US">
                <a:latin typeface="Arial" pitchFamily="34" charset="0"/>
                <a:ea typeface="ＭＳ Ｐゴシック"/>
                <a:cs typeface="Arial" pitchFamily="34" charset="0"/>
              </a:rPr>
              <a:t>Deploy an increment for use by end-users;</a:t>
            </a:r>
          </a:p>
          <a:p>
            <a:pPr lvl="1" eaLnBrk="1" hangingPunct="1">
              <a:buFont typeface="Wingdings" pitchFamily="2" charset="2"/>
              <a:buChar char="§"/>
            </a:pPr>
            <a:r>
              <a:rPr lang="en-US">
                <a:latin typeface="Arial" pitchFamily="34" charset="0"/>
                <a:ea typeface="ＭＳ Ｐゴシック"/>
                <a:cs typeface="Arial" pitchFamily="34" charset="0"/>
              </a:rPr>
              <a:t>More realistic evaluation about practical use of software;</a:t>
            </a:r>
          </a:p>
          <a:p>
            <a:pPr lvl="1" eaLnBrk="1" hangingPunct="1">
              <a:buFont typeface="Wingdings" pitchFamily="2" charset="2"/>
              <a:buChar char="§"/>
            </a:pPr>
            <a:r>
              <a:rPr lang="en-US">
                <a:latin typeface="Arial" pitchFamily="34" charset="0"/>
                <a:ea typeface="ＭＳ Ｐゴシック"/>
                <a:cs typeface="Arial" pitchFamily="34" charset="0"/>
              </a:rPr>
              <a:t>Difficult to implement for replacement systems as increments have less functionality than the system being replaced.</a:t>
            </a:r>
          </a:p>
          <a:p>
            <a:pPr lvl="1" eaLnBrk="1" hangingPunct="1">
              <a:buFont typeface="Wingdings" pitchFamily="2" charset="2"/>
              <a:buChar char="§"/>
            </a:pPr>
            <a:endParaRPr lang="en-US">
              <a:latin typeface="Arial" pitchFamily="34" charset="0"/>
              <a:ea typeface="ＭＳ Ｐゴシック"/>
              <a:cs typeface="Arial" pitchFamily="34" charset="0"/>
            </a:endParaRPr>
          </a:p>
        </p:txBody>
      </p:sp>
      <p:sp>
        <p:nvSpPr>
          <p:cNvPr id="5" name="Slide Number Placeholder 4"/>
          <p:cNvSpPr>
            <a:spLocks noGrp="1"/>
          </p:cNvSpPr>
          <p:nvPr>
            <p:ph type="sldNum" sz="quarter" idx="12"/>
          </p:nvPr>
        </p:nvSpPr>
        <p:spPr/>
        <p:txBody>
          <a:bodyPr/>
          <a:lstStyle/>
          <a:p>
            <a:pPr>
              <a:defRPr/>
            </a:pPr>
            <a:fld id="{B6119936-5B3E-4267-A261-35D8C8939B3E}" type="slidenum">
              <a:rPr lang="en-US"/>
              <a:pPr>
                <a:defRPr/>
              </a:pPr>
              <a:t>27</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pPr eaLnBrk="1" hangingPunct="1"/>
            <a:r>
              <a:rPr lang="en-GB">
                <a:latin typeface="Arial" pitchFamily="34" charset="0"/>
                <a:ea typeface="ＭＳ Ｐゴシック"/>
                <a:cs typeface="Arial" pitchFamily="34" charset="0"/>
              </a:rPr>
              <a:t>Incremental delivery </a:t>
            </a:r>
            <a:endParaRPr lang="en-US">
              <a:latin typeface="Arial" pitchFamily="34" charset="0"/>
              <a:ea typeface="ＭＳ Ｐゴシック"/>
              <a:cs typeface="Arial" pitchFamily="34" charset="0"/>
            </a:endParaRPr>
          </a:p>
        </p:txBody>
      </p:sp>
      <p:pic>
        <p:nvPicPr>
          <p:cNvPr id="66563" name="Picture 3" descr="2.10 Incremental-delivery.eps"/>
          <p:cNvPicPr>
            <a:picLocks noChangeAspect="1"/>
          </p:cNvPicPr>
          <p:nvPr/>
        </p:nvPicPr>
        <p:blipFill>
          <a:blip r:embed="rId2"/>
          <a:srcRect/>
          <a:stretch>
            <a:fillRect/>
          </a:stretch>
        </p:blipFill>
        <p:spPr bwMode="auto">
          <a:xfrm>
            <a:off x="457200" y="2352675"/>
            <a:ext cx="8172450" cy="2767013"/>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pPr>
              <a:defRPr/>
            </a:pPr>
            <a:fld id="{A5007F1E-F418-4D50-9550-246EC1DECD5C}" type="slidenum">
              <a:rPr lang="en-US"/>
              <a:pPr>
                <a:defRPr/>
              </a:pPr>
              <a:t>28</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GB">
                <a:latin typeface="Arial" pitchFamily="34" charset="0"/>
                <a:ea typeface="ＭＳ Ｐゴシック"/>
                <a:cs typeface="Arial" pitchFamily="34" charset="0"/>
              </a:rPr>
              <a:t>Incremental delivery advantages</a:t>
            </a:r>
          </a:p>
        </p:txBody>
      </p:sp>
      <p:sp>
        <p:nvSpPr>
          <p:cNvPr id="67587"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a:latin typeface="Arial" pitchFamily="34" charset="0"/>
                <a:ea typeface="ＭＳ Ｐゴシック"/>
                <a:cs typeface="Arial" pitchFamily="34" charset="0"/>
              </a:rPr>
              <a:t>Customer value can be delivered with each increment so system functionality is available earlier.</a:t>
            </a:r>
          </a:p>
          <a:p>
            <a:pPr eaLnBrk="1" hangingPunct="1">
              <a:buFont typeface="Wingdings" pitchFamily="2" charset="2"/>
              <a:buChar char="²"/>
            </a:pPr>
            <a:r>
              <a:rPr lang="en-GB">
                <a:latin typeface="Arial" pitchFamily="34" charset="0"/>
                <a:ea typeface="ＭＳ Ｐゴシック"/>
                <a:cs typeface="Arial" pitchFamily="34" charset="0"/>
              </a:rPr>
              <a:t>Early increments act as a prototype to help elicit requirements for later increments.</a:t>
            </a:r>
          </a:p>
          <a:p>
            <a:pPr eaLnBrk="1" hangingPunct="1">
              <a:buFont typeface="Wingdings" pitchFamily="2" charset="2"/>
              <a:buChar char="²"/>
            </a:pPr>
            <a:r>
              <a:rPr lang="en-GB">
                <a:latin typeface="Arial" pitchFamily="34" charset="0"/>
                <a:ea typeface="ＭＳ Ｐゴシック"/>
                <a:cs typeface="Arial" pitchFamily="34" charset="0"/>
              </a:rPr>
              <a:t>Lower risk of overall project failure.</a:t>
            </a:r>
          </a:p>
          <a:p>
            <a:pPr eaLnBrk="1" hangingPunct="1">
              <a:buFont typeface="Wingdings" pitchFamily="2" charset="2"/>
              <a:buChar char="²"/>
            </a:pPr>
            <a:r>
              <a:rPr lang="en-GB">
                <a:latin typeface="Arial" pitchFamily="34" charset="0"/>
                <a:ea typeface="ＭＳ Ｐゴシック"/>
                <a:cs typeface="Arial" pitchFamily="34" charset="0"/>
              </a:rPr>
              <a:t>The highest priority system services tend to receive the most testing.</a:t>
            </a:r>
          </a:p>
        </p:txBody>
      </p:sp>
      <p:sp>
        <p:nvSpPr>
          <p:cNvPr id="6" name="Slide Number Placeholder 5"/>
          <p:cNvSpPr>
            <a:spLocks noGrp="1"/>
          </p:cNvSpPr>
          <p:nvPr>
            <p:ph type="sldNum" sz="quarter" idx="12"/>
          </p:nvPr>
        </p:nvSpPr>
        <p:spPr/>
        <p:txBody>
          <a:bodyPr/>
          <a:lstStyle/>
          <a:p>
            <a:pPr>
              <a:defRPr/>
            </a:pPr>
            <a:fld id="{E88B2991-F1F7-4DFE-82A3-F1D8EABFDFD9}" type="slidenum">
              <a:rPr lang="en-US"/>
              <a:pPr>
                <a:defRPr/>
              </a:pPr>
              <a:t>29</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Incremental delivery problems</a:t>
            </a:r>
          </a:p>
        </p:txBody>
      </p:sp>
      <p:sp>
        <p:nvSpPr>
          <p:cNvPr id="68611" name="Content Placeholder 2"/>
          <p:cNvSpPr>
            <a:spLocks noGrp="1"/>
          </p:cNvSpPr>
          <p:nvPr>
            <p:ph idx="1"/>
          </p:nvPr>
        </p:nvSpPr>
        <p:spPr bwMode="auto">
          <a:xfrm>
            <a:off x="338138" y="1600200"/>
            <a:ext cx="8229600" cy="4525963"/>
          </a:xfrm>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Most systems require a set of basic facilities that are used by different parts of the system. </a:t>
            </a:r>
          </a:p>
          <a:p>
            <a:pPr lvl="1" eaLnBrk="1" hangingPunct="1">
              <a:buFont typeface="Wingdings" pitchFamily="2" charset="2"/>
              <a:buChar char="§"/>
            </a:pPr>
            <a:r>
              <a:rPr lang="en-GB" dirty="0">
                <a:latin typeface="Arial" pitchFamily="34" charset="0"/>
                <a:ea typeface="ＭＳ Ｐゴシック"/>
                <a:cs typeface="Arial" pitchFamily="34" charset="0"/>
              </a:rPr>
              <a:t>As requirements are not defined in detail until an increment is to be implemented, it can be hard to identify common facilities that are needed by all increments. </a:t>
            </a:r>
          </a:p>
          <a:p>
            <a:pPr eaLnBrk="1" hangingPunct="1">
              <a:buFont typeface="Wingdings" pitchFamily="2" charset="2"/>
              <a:buChar char="²"/>
            </a:pPr>
            <a:r>
              <a:rPr lang="en-GB" dirty="0">
                <a:latin typeface="Arial" pitchFamily="34" charset="0"/>
                <a:ea typeface="ＭＳ Ｐゴシック"/>
                <a:cs typeface="Arial" pitchFamily="34" charset="0"/>
              </a:rPr>
              <a:t>The essence of iterative processes is that the specification is developed in conjunction with the software. </a:t>
            </a:r>
          </a:p>
          <a:p>
            <a:pPr lvl="1" eaLnBrk="1" hangingPunct="1">
              <a:buFont typeface="Wingdings" pitchFamily="2" charset="2"/>
              <a:buChar char="§"/>
            </a:pPr>
            <a:r>
              <a:rPr lang="en-GB" dirty="0">
                <a:latin typeface="Arial" pitchFamily="34" charset="0"/>
                <a:ea typeface="ＭＳ Ｐゴシック"/>
                <a:cs typeface="Arial" pitchFamily="34" charset="0"/>
              </a:rPr>
              <a:t>However, this conflicts with the procurement model of many organizations, where the complete system specification is part of the system development contract. </a:t>
            </a:r>
          </a:p>
          <a:p>
            <a:pPr eaLnBrk="1" hangingPunct="1">
              <a:buFont typeface="Wingdings" pitchFamily="2" charset="2"/>
              <a:buChar char="²"/>
            </a:pPr>
            <a:endParaRPr lang="en-US" dirty="0">
              <a:latin typeface="Arial" pitchFamily="34" charset="0"/>
              <a:ea typeface="ＭＳ Ｐゴシック"/>
              <a:cs typeface="Arial" pitchFamily="34" charset="0"/>
            </a:endParaRPr>
          </a:p>
        </p:txBody>
      </p:sp>
      <p:sp>
        <p:nvSpPr>
          <p:cNvPr id="4" name="Slide Number Placeholder 3"/>
          <p:cNvSpPr>
            <a:spLocks noGrp="1"/>
          </p:cNvSpPr>
          <p:nvPr>
            <p:ph type="sldNum" sz="quarter" idx="12"/>
          </p:nvPr>
        </p:nvSpPr>
        <p:spPr/>
        <p:txBody>
          <a:bodyPr/>
          <a:lstStyle/>
          <a:p>
            <a:pPr>
              <a:defRPr/>
            </a:pPr>
            <a:fld id="{7BAD7C80-2183-4DF7-9C73-F4E056F2FBF8}" type="slidenum">
              <a:rPr lang="en-US"/>
              <a:pPr>
                <a:defRPr/>
              </a:pPr>
              <a:t>30</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GB">
                <a:latin typeface="Arial" pitchFamily="34" charset="0"/>
                <a:ea typeface="ＭＳ Ｐゴシック"/>
                <a:cs typeface="Arial" pitchFamily="34" charset="0"/>
              </a:rPr>
              <a:t>Incremental development benefits</a:t>
            </a:r>
          </a:p>
        </p:txBody>
      </p:sp>
      <p:sp>
        <p:nvSpPr>
          <p:cNvPr id="36867"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The cost of accommodating changing customer requirements is reduced. </a:t>
            </a:r>
          </a:p>
          <a:p>
            <a:pPr lvl="1" eaLnBrk="1" hangingPunct="1">
              <a:buFont typeface="Wingdings" pitchFamily="2" charset="2"/>
              <a:buChar char="§"/>
            </a:pPr>
            <a:r>
              <a:rPr lang="en-GB" dirty="0">
                <a:latin typeface="Arial" pitchFamily="34" charset="0"/>
                <a:ea typeface="ＭＳ Ｐゴシック"/>
                <a:cs typeface="Arial" pitchFamily="34" charset="0"/>
              </a:rPr>
              <a:t>The amount of analysis and documentation that has to be redone is much less than is required with the waterfall model.</a:t>
            </a:r>
          </a:p>
          <a:p>
            <a:pPr eaLnBrk="1" hangingPunct="1">
              <a:buFont typeface="Wingdings" pitchFamily="2" charset="2"/>
              <a:buChar char="²"/>
            </a:pPr>
            <a:r>
              <a:rPr lang="en-GB" dirty="0">
                <a:latin typeface="Arial" pitchFamily="34" charset="0"/>
                <a:ea typeface="ＭＳ Ｐゴシック"/>
                <a:cs typeface="Arial" pitchFamily="34" charset="0"/>
              </a:rPr>
              <a:t>It is easier to get customer feedback on the development work that has been done. </a:t>
            </a:r>
          </a:p>
          <a:p>
            <a:pPr lvl="1" eaLnBrk="1" hangingPunct="1">
              <a:buFont typeface="Wingdings" pitchFamily="2" charset="2"/>
              <a:buChar char="§"/>
            </a:pPr>
            <a:r>
              <a:rPr lang="en-GB" dirty="0">
                <a:latin typeface="Arial" pitchFamily="34" charset="0"/>
                <a:ea typeface="ＭＳ Ｐゴシック"/>
                <a:cs typeface="Arial" pitchFamily="34" charset="0"/>
              </a:rPr>
              <a:t>Customers can comment on demonstrations of the software and see how much has been implemented. </a:t>
            </a:r>
          </a:p>
          <a:p>
            <a:pPr eaLnBrk="1" hangingPunct="1">
              <a:buFont typeface="Wingdings" pitchFamily="2" charset="2"/>
              <a:buChar char="²"/>
            </a:pPr>
            <a:r>
              <a:rPr lang="en-GB" dirty="0">
                <a:latin typeface="Arial" pitchFamily="34" charset="0"/>
                <a:ea typeface="ＭＳ Ｐゴシック"/>
                <a:cs typeface="Arial" pitchFamily="34" charset="0"/>
              </a:rPr>
              <a:t>More rapid delivery and deployment of useful software to the customer is possible. </a:t>
            </a:r>
          </a:p>
          <a:p>
            <a:pPr lvl="1" eaLnBrk="1" hangingPunct="1">
              <a:buFont typeface="Wingdings" pitchFamily="2" charset="2"/>
              <a:buChar char="§"/>
            </a:pPr>
            <a:r>
              <a:rPr lang="en-GB" dirty="0">
                <a:latin typeface="Arial" pitchFamily="34" charset="0"/>
                <a:ea typeface="ＭＳ Ｐゴシック"/>
                <a:cs typeface="Arial" pitchFamily="34" charset="0"/>
              </a:rPr>
              <a:t>Customers are able to use and gain value from the software earlier than is possible with a waterfall process. </a:t>
            </a:r>
          </a:p>
        </p:txBody>
      </p:sp>
      <p:sp>
        <p:nvSpPr>
          <p:cNvPr id="6" name="Slide Number Placeholder 5"/>
          <p:cNvSpPr>
            <a:spLocks noGrp="1"/>
          </p:cNvSpPr>
          <p:nvPr>
            <p:ph type="sldNum" sz="quarter" idx="12"/>
          </p:nvPr>
        </p:nvSpPr>
        <p:spPr/>
        <p:txBody>
          <a:bodyPr/>
          <a:lstStyle/>
          <a:p>
            <a:pPr>
              <a:defRPr/>
            </a:pPr>
            <a:fld id="{4CBE94D5-99B1-4105-AC82-624AF36DF1BD}" type="slidenum">
              <a:rPr lang="en-US"/>
              <a:pPr>
                <a:defRPr/>
              </a:pPr>
              <a:t>31</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Incremental development problems</a:t>
            </a:r>
          </a:p>
        </p:txBody>
      </p:sp>
      <p:sp>
        <p:nvSpPr>
          <p:cNvPr id="37891"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The process is not visible. </a:t>
            </a:r>
          </a:p>
          <a:p>
            <a:pPr lvl="1" eaLnBrk="1" hangingPunct="1">
              <a:buFont typeface="Wingdings" pitchFamily="2" charset="2"/>
              <a:buChar char="§"/>
            </a:pPr>
            <a:r>
              <a:rPr lang="en-GB" dirty="0">
                <a:latin typeface="Arial" pitchFamily="34" charset="0"/>
                <a:ea typeface="ＭＳ Ｐゴシック"/>
                <a:cs typeface="Arial" pitchFamily="34" charset="0"/>
              </a:rPr>
              <a:t>Managers need regular deliverables to measure progress. If systems are developed quickly, it is not cost-effective to produce documents that reflect every version of the system. </a:t>
            </a:r>
          </a:p>
          <a:p>
            <a:pPr eaLnBrk="1" hangingPunct="1">
              <a:buFont typeface="Wingdings" pitchFamily="2" charset="2"/>
              <a:buChar char="²"/>
            </a:pPr>
            <a:r>
              <a:rPr lang="en-GB" dirty="0">
                <a:latin typeface="Arial" pitchFamily="34" charset="0"/>
                <a:ea typeface="ＭＳ Ｐゴシック"/>
                <a:cs typeface="Arial" pitchFamily="34" charset="0"/>
              </a:rPr>
              <a:t>System structure tends to degrade as new increments are added</a:t>
            </a:r>
            <a:r>
              <a:rPr lang="en-GB" i="1" dirty="0">
                <a:latin typeface="Arial" pitchFamily="34" charset="0"/>
                <a:ea typeface="ＭＳ Ｐゴシック"/>
                <a:cs typeface="Arial" pitchFamily="34" charset="0"/>
              </a:rPr>
              <a:t>. </a:t>
            </a:r>
            <a:r>
              <a:rPr lang="en-GB" dirty="0">
                <a:latin typeface="Arial" pitchFamily="34" charset="0"/>
                <a:ea typeface="ＭＳ Ｐゴシック"/>
                <a:cs typeface="Arial" pitchFamily="34" charset="0"/>
              </a:rPr>
              <a:t> </a:t>
            </a:r>
          </a:p>
          <a:p>
            <a:pPr lvl="1" eaLnBrk="1" hangingPunct="1">
              <a:buFont typeface="Wingdings" pitchFamily="2" charset="2"/>
              <a:buChar char="§"/>
            </a:pPr>
            <a:r>
              <a:rPr lang="en-GB" dirty="0">
                <a:latin typeface="Arial" pitchFamily="34" charset="0"/>
                <a:ea typeface="ＭＳ Ｐゴシック"/>
                <a:cs typeface="Arial" pitchFamily="34" charset="0"/>
              </a:rPr>
              <a:t>Unless time and money is spent on </a:t>
            </a:r>
            <a:r>
              <a:rPr lang="en-GB" dirty="0" err="1">
                <a:latin typeface="Arial" pitchFamily="34" charset="0"/>
                <a:ea typeface="ＭＳ Ｐゴシック"/>
                <a:cs typeface="Arial" pitchFamily="34" charset="0"/>
              </a:rPr>
              <a:t>refactoring</a:t>
            </a:r>
            <a:r>
              <a:rPr lang="en-GB" dirty="0">
                <a:latin typeface="Arial" pitchFamily="34" charset="0"/>
                <a:ea typeface="ＭＳ Ｐゴシック"/>
                <a:cs typeface="Arial" pitchFamily="34" charset="0"/>
              </a:rPr>
              <a:t> to improve the software, regular change tends to corrupt its structure. Incorporating further software changes becomes increasingly difficult and costly. </a:t>
            </a:r>
          </a:p>
        </p:txBody>
      </p:sp>
      <p:sp>
        <p:nvSpPr>
          <p:cNvPr id="4" name="Slide Number Placeholder 3"/>
          <p:cNvSpPr>
            <a:spLocks noGrp="1"/>
          </p:cNvSpPr>
          <p:nvPr>
            <p:ph type="sldNum" sz="quarter" idx="12"/>
          </p:nvPr>
        </p:nvSpPr>
        <p:spPr/>
        <p:txBody>
          <a:bodyPr/>
          <a:lstStyle/>
          <a:p>
            <a:pPr>
              <a:defRPr/>
            </a:pPr>
            <a:fld id="{9378BF35-AAB0-4645-B901-6122B18A778C}" type="slidenum">
              <a:rPr lang="en-US"/>
              <a:pPr>
                <a:defRPr/>
              </a:pPr>
              <a:t>32</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
        <p:nvSpPr>
          <p:cNvPr id="7" name="AutoShape 10">
            <a:hlinkClick r:id="rId2" action="ppaction://hlinksldjump" highlightClick="1"/>
          </p:cNvPr>
          <p:cNvSpPr>
            <a:spLocks noChangeArrowheads="1"/>
          </p:cNvSpPr>
          <p:nvPr/>
        </p:nvSpPr>
        <p:spPr bwMode="auto">
          <a:xfrm>
            <a:off x="7750175" y="6045200"/>
            <a:ext cx="503237" cy="431800"/>
          </a:xfrm>
          <a:prstGeom prst="actionButtonBackPrevious">
            <a:avLst/>
          </a:prstGeom>
          <a:solidFill>
            <a:schemeClr val="accent1"/>
          </a:solidFill>
          <a:ln w="9525">
            <a:noFill/>
            <a:miter lim="800000"/>
            <a:headEnd/>
            <a:tailEnd/>
          </a:ln>
          <a:effectLst/>
        </p:spPr>
        <p:txBody>
          <a:bodyPr wrap="none" anchor="ct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GB" dirty="0">
                <a:solidFill>
                  <a:schemeClr val="tx2">
                    <a:lumMod val="60000"/>
                    <a:lumOff val="40000"/>
                  </a:schemeClr>
                </a:solidFill>
                <a:latin typeface="Arial" pitchFamily="34" charset="0"/>
                <a:ea typeface="ＭＳ Ｐゴシック"/>
                <a:cs typeface="Arial" pitchFamily="34" charset="0"/>
              </a:rPr>
              <a:t>Reuse-oriented software engineering</a:t>
            </a:r>
          </a:p>
        </p:txBody>
      </p:sp>
      <p:sp>
        <p:nvSpPr>
          <p:cNvPr id="38915"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Based on systematic reuse where systems are integrated from existing components or COTS (Commercial-off-the-shelf) systems.</a:t>
            </a:r>
          </a:p>
          <a:p>
            <a:pPr eaLnBrk="1" hangingPunct="1">
              <a:buFont typeface="Wingdings" pitchFamily="2" charset="2"/>
              <a:buChar char="²"/>
            </a:pPr>
            <a:r>
              <a:rPr lang="en-GB" dirty="0">
                <a:latin typeface="Arial" pitchFamily="34" charset="0"/>
                <a:ea typeface="ＭＳ Ｐゴシック"/>
                <a:cs typeface="Arial" pitchFamily="34" charset="0"/>
              </a:rPr>
              <a:t>Process stages</a:t>
            </a:r>
          </a:p>
          <a:p>
            <a:pPr lvl="1" eaLnBrk="1" hangingPunct="1">
              <a:buFont typeface="Wingdings" pitchFamily="2" charset="2"/>
              <a:buChar char="§"/>
            </a:pPr>
            <a:r>
              <a:rPr lang="en-GB" dirty="0">
                <a:latin typeface="Arial" pitchFamily="34" charset="0"/>
                <a:ea typeface="ＭＳ Ｐゴシック"/>
                <a:cs typeface="Arial" pitchFamily="34" charset="0"/>
              </a:rPr>
              <a:t>Component analysis;</a:t>
            </a:r>
          </a:p>
          <a:p>
            <a:pPr lvl="1" eaLnBrk="1" hangingPunct="1">
              <a:buFont typeface="Wingdings" pitchFamily="2" charset="2"/>
              <a:buChar char="§"/>
            </a:pPr>
            <a:r>
              <a:rPr lang="en-GB" dirty="0">
                <a:latin typeface="Arial" pitchFamily="34" charset="0"/>
                <a:ea typeface="ＭＳ Ｐゴシック"/>
                <a:cs typeface="Arial" pitchFamily="34" charset="0"/>
              </a:rPr>
              <a:t>Requirements modification;</a:t>
            </a:r>
          </a:p>
          <a:p>
            <a:pPr lvl="1" eaLnBrk="1" hangingPunct="1">
              <a:buFont typeface="Wingdings" pitchFamily="2" charset="2"/>
              <a:buChar char="§"/>
            </a:pPr>
            <a:r>
              <a:rPr lang="en-GB" dirty="0">
                <a:latin typeface="Arial" pitchFamily="34" charset="0"/>
                <a:ea typeface="ＭＳ Ｐゴシック"/>
                <a:cs typeface="Arial" pitchFamily="34" charset="0"/>
              </a:rPr>
              <a:t>System design with reuse;</a:t>
            </a:r>
          </a:p>
          <a:p>
            <a:pPr lvl="1" eaLnBrk="1" hangingPunct="1">
              <a:buFont typeface="Wingdings" pitchFamily="2" charset="2"/>
              <a:buChar char="§"/>
            </a:pPr>
            <a:r>
              <a:rPr lang="en-GB" dirty="0">
                <a:latin typeface="Arial" pitchFamily="34" charset="0"/>
                <a:ea typeface="ＭＳ Ｐゴシック"/>
                <a:cs typeface="Arial" pitchFamily="34" charset="0"/>
              </a:rPr>
              <a:t>Development and integration.</a:t>
            </a:r>
          </a:p>
          <a:p>
            <a:pPr eaLnBrk="1" hangingPunct="1">
              <a:buFont typeface="Wingdings" pitchFamily="2" charset="2"/>
              <a:buChar char="²"/>
            </a:pPr>
            <a:r>
              <a:rPr lang="en-GB" dirty="0">
                <a:latin typeface="Arial" pitchFamily="34" charset="0"/>
                <a:ea typeface="ＭＳ Ｐゴシック"/>
                <a:cs typeface="Arial" pitchFamily="34" charset="0"/>
              </a:rPr>
              <a:t>Reuse is now the standard approach for building many types of business system</a:t>
            </a:r>
          </a:p>
          <a:p>
            <a:pPr lvl="1" eaLnBrk="1" hangingPunct="1">
              <a:buFont typeface="Wingdings" pitchFamily="2" charset="2"/>
              <a:buChar char="§"/>
            </a:pPr>
            <a:r>
              <a:rPr lang="en-GB" dirty="0">
                <a:latin typeface="Arial" pitchFamily="34" charset="0"/>
                <a:ea typeface="ＭＳ Ｐゴシック"/>
                <a:cs typeface="Arial" pitchFamily="34" charset="0"/>
              </a:rPr>
              <a:t>Reuse covered in more depth in Chapter 16.</a:t>
            </a:r>
          </a:p>
        </p:txBody>
      </p:sp>
      <p:sp>
        <p:nvSpPr>
          <p:cNvPr id="6" name="Slide Number Placeholder 5"/>
          <p:cNvSpPr>
            <a:spLocks noGrp="1"/>
          </p:cNvSpPr>
          <p:nvPr>
            <p:ph type="sldNum" sz="quarter" idx="12"/>
          </p:nvPr>
        </p:nvSpPr>
        <p:spPr/>
        <p:txBody>
          <a:bodyPr/>
          <a:lstStyle/>
          <a:p>
            <a:pPr>
              <a:defRPr/>
            </a:pPr>
            <a:fld id="{FB7EC948-3B07-4379-B242-A42F9FFE707F}" type="slidenum">
              <a:rPr lang="en-US"/>
              <a:pPr>
                <a:defRPr/>
              </a:pPr>
              <a:t>33</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GB" dirty="0">
                <a:latin typeface="Arial" pitchFamily="34" charset="0"/>
                <a:ea typeface="ＭＳ Ｐゴシック"/>
                <a:cs typeface="Arial" pitchFamily="34" charset="0"/>
              </a:rPr>
              <a:t>Reuse-oriented software engineering</a:t>
            </a:r>
          </a:p>
        </p:txBody>
      </p:sp>
      <p:pic>
        <p:nvPicPr>
          <p:cNvPr id="39939" name="Picture 3" descr="2.3 Reuse_based_process.eps"/>
          <p:cNvPicPr>
            <a:picLocks noChangeAspect="1"/>
          </p:cNvPicPr>
          <p:nvPr/>
        </p:nvPicPr>
        <p:blipFill>
          <a:blip r:embed="rId2"/>
          <a:srcRect/>
          <a:stretch>
            <a:fillRect/>
          </a:stretch>
        </p:blipFill>
        <p:spPr bwMode="auto">
          <a:xfrm>
            <a:off x="457200" y="2725738"/>
            <a:ext cx="8494713" cy="1773237"/>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pPr>
              <a:defRPr/>
            </a:pPr>
            <a:fld id="{45BC210B-3C1E-4C57-8815-EAEF1DF34E6F}" type="slidenum">
              <a:rPr lang="en-US"/>
              <a:pPr>
                <a:defRPr/>
              </a:pPr>
              <a:t>34</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Types of software component</a:t>
            </a:r>
          </a:p>
        </p:txBody>
      </p:sp>
      <p:sp>
        <p:nvSpPr>
          <p:cNvPr id="40963"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Web services that are developed according to service standards and which are available for remote invocation. </a:t>
            </a:r>
          </a:p>
          <a:p>
            <a:pPr eaLnBrk="1" hangingPunct="1">
              <a:buFont typeface="Wingdings" pitchFamily="2" charset="2"/>
              <a:buChar char="²"/>
            </a:pPr>
            <a:r>
              <a:rPr lang="en-GB" dirty="0">
                <a:latin typeface="Arial" pitchFamily="34" charset="0"/>
                <a:ea typeface="ＭＳ Ｐゴシック"/>
                <a:cs typeface="Arial" pitchFamily="34" charset="0"/>
              </a:rPr>
              <a:t>Collections of objects that are developed as a package to be integrated with a component framework such as .NET or J2EE.</a:t>
            </a:r>
          </a:p>
          <a:p>
            <a:pPr eaLnBrk="1" hangingPunct="1">
              <a:buFont typeface="Wingdings" pitchFamily="2" charset="2"/>
              <a:buChar char="²"/>
            </a:pPr>
            <a:r>
              <a:rPr lang="en-GB" dirty="0">
                <a:latin typeface="Arial" pitchFamily="34" charset="0"/>
                <a:ea typeface="ＭＳ Ｐゴシック"/>
                <a:cs typeface="Arial" pitchFamily="34" charset="0"/>
              </a:rPr>
              <a:t>Stand-alone software systems (COTS) that are configured for use in a particular environment.</a:t>
            </a:r>
          </a:p>
          <a:p>
            <a:pPr eaLnBrk="1" hangingPunct="1">
              <a:buFont typeface="Wingdings" pitchFamily="2" charset="2"/>
              <a:buChar char="²"/>
            </a:pPr>
            <a:endParaRPr lang="en-US" dirty="0">
              <a:latin typeface="Arial" pitchFamily="34" charset="0"/>
              <a:ea typeface="ＭＳ Ｐゴシック"/>
              <a:cs typeface="Arial" pitchFamily="34" charset="0"/>
            </a:endParaRPr>
          </a:p>
        </p:txBody>
      </p:sp>
      <p:sp>
        <p:nvSpPr>
          <p:cNvPr id="4" name="Slide Number Placeholder 3"/>
          <p:cNvSpPr>
            <a:spLocks noGrp="1"/>
          </p:cNvSpPr>
          <p:nvPr>
            <p:ph type="sldNum" sz="quarter" idx="12"/>
          </p:nvPr>
        </p:nvSpPr>
        <p:spPr/>
        <p:txBody>
          <a:bodyPr/>
          <a:lstStyle/>
          <a:p>
            <a:pPr>
              <a:defRPr/>
            </a:pPr>
            <a:fld id="{AEE4754E-6043-43DE-A13D-0D964C148198}" type="slidenum">
              <a:rPr lang="en-US"/>
              <a:pPr>
                <a:defRPr/>
              </a:pPr>
              <a:t>35</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GB" dirty="0">
                <a:latin typeface="Arial" pitchFamily="34" charset="0"/>
                <a:ea typeface="ＭＳ Ｐゴシック"/>
                <a:cs typeface="Arial" pitchFamily="34" charset="0"/>
              </a:rPr>
              <a:t>Reuse-oriented software engineering</a:t>
            </a:r>
            <a:endParaRPr lang="en-US" dirty="0">
              <a:latin typeface="Arial" pitchFamily="34" charset="0"/>
              <a:ea typeface="ＭＳ Ｐゴシック"/>
              <a:cs typeface="Arial" pitchFamily="34" charset="0"/>
            </a:endParaRPr>
          </a:p>
        </p:txBody>
      </p:sp>
      <p:sp>
        <p:nvSpPr>
          <p:cNvPr id="40963"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marL="0" indent="0" eaLnBrk="1" hangingPunct="1">
              <a:buNone/>
            </a:pPr>
            <a:r>
              <a:rPr lang="en-GB" dirty="0">
                <a:latin typeface="Arial" pitchFamily="34" charset="0"/>
                <a:ea typeface="ＭＳ Ｐゴシック"/>
                <a:cs typeface="Arial" pitchFamily="34" charset="0"/>
              </a:rPr>
              <a:t>Advantage</a:t>
            </a:r>
          </a:p>
          <a:p>
            <a:pPr eaLnBrk="1" hangingPunct="1"/>
            <a:r>
              <a:rPr lang="en-GB" dirty="0">
                <a:latin typeface="Arial" pitchFamily="34" charset="0"/>
                <a:ea typeface="ＭＳ Ｐゴシック"/>
                <a:cs typeface="Arial" pitchFamily="34" charset="0"/>
              </a:rPr>
              <a:t>Reduce amount of application to be developed</a:t>
            </a:r>
          </a:p>
          <a:p>
            <a:pPr eaLnBrk="1" hangingPunct="1"/>
            <a:r>
              <a:rPr lang="en-GB" dirty="0">
                <a:latin typeface="Arial" pitchFamily="34" charset="0"/>
                <a:ea typeface="ＭＳ Ｐゴシック"/>
                <a:cs typeface="Arial" pitchFamily="34" charset="0"/>
              </a:rPr>
              <a:t>Reduce cost and risks</a:t>
            </a:r>
          </a:p>
          <a:p>
            <a:pPr eaLnBrk="1" hangingPunct="1"/>
            <a:r>
              <a:rPr lang="en-GB" dirty="0">
                <a:latin typeface="Arial" pitchFamily="34" charset="0"/>
                <a:ea typeface="ＭＳ Ｐゴシック"/>
                <a:cs typeface="Arial" pitchFamily="34" charset="0"/>
              </a:rPr>
              <a:t>Faster delivery of software</a:t>
            </a:r>
          </a:p>
          <a:p>
            <a:pPr eaLnBrk="1" hangingPunct="1"/>
            <a:endParaRPr lang="en-GB" dirty="0">
              <a:latin typeface="Arial" pitchFamily="34" charset="0"/>
              <a:ea typeface="ＭＳ Ｐゴシック"/>
              <a:cs typeface="Arial" pitchFamily="34" charset="0"/>
            </a:endParaRPr>
          </a:p>
          <a:p>
            <a:pPr marL="0" indent="0" eaLnBrk="1" hangingPunct="1">
              <a:buNone/>
            </a:pPr>
            <a:r>
              <a:rPr lang="en-GB" dirty="0">
                <a:latin typeface="Arial" pitchFamily="34" charset="0"/>
                <a:ea typeface="ＭＳ Ｐゴシック"/>
                <a:cs typeface="Arial" pitchFamily="34" charset="0"/>
              </a:rPr>
              <a:t>Drawbacks</a:t>
            </a:r>
          </a:p>
          <a:p>
            <a:pPr eaLnBrk="1" hangingPunct="1"/>
            <a:r>
              <a:rPr lang="en-GB" dirty="0">
                <a:latin typeface="Arial" pitchFamily="34" charset="0"/>
                <a:ea typeface="ＭＳ Ｐゴシック"/>
                <a:cs typeface="Arial" pitchFamily="34" charset="0"/>
              </a:rPr>
              <a:t>Requirements compromise leads to system that does not meet real user’s requirements</a:t>
            </a:r>
            <a:endParaRPr lang="en-US" dirty="0">
              <a:latin typeface="Arial" pitchFamily="34" charset="0"/>
              <a:ea typeface="ＭＳ Ｐゴシック"/>
              <a:cs typeface="Arial" pitchFamily="34" charset="0"/>
            </a:endParaRPr>
          </a:p>
        </p:txBody>
      </p:sp>
      <p:sp>
        <p:nvSpPr>
          <p:cNvPr id="4" name="Slide Number Placeholder 3"/>
          <p:cNvSpPr>
            <a:spLocks noGrp="1"/>
          </p:cNvSpPr>
          <p:nvPr>
            <p:ph type="sldNum" sz="quarter" idx="12"/>
          </p:nvPr>
        </p:nvSpPr>
        <p:spPr/>
        <p:txBody>
          <a:bodyPr/>
          <a:lstStyle/>
          <a:p>
            <a:pPr>
              <a:defRPr/>
            </a:pPr>
            <a:fld id="{AEE4754E-6043-43DE-A13D-0D964C148198}" type="slidenum">
              <a:rPr lang="en-US"/>
              <a:pPr>
                <a:defRPr/>
              </a:pPr>
              <a:t>36</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
        <p:nvSpPr>
          <p:cNvPr id="7" name="AutoShape 10">
            <a:hlinkClick r:id="rId2" action="ppaction://hlinksldjump" highlightClick="1"/>
          </p:cNvPr>
          <p:cNvSpPr>
            <a:spLocks noChangeArrowheads="1"/>
          </p:cNvSpPr>
          <p:nvPr/>
        </p:nvSpPr>
        <p:spPr bwMode="auto">
          <a:xfrm>
            <a:off x="7750175" y="6045200"/>
            <a:ext cx="503237" cy="431800"/>
          </a:xfrm>
          <a:prstGeom prst="actionButtonBackPrevious">
            <a:avLst/>
          </a:prstGeom>
          <a:solidFill>
            <a:schemeClr val="accent1"/>
          </a:solidFill>
          <a:ln w="9525">
            <a:noFill/>
            <a:miter lim="800000"/>
            <a:headEnd/>
            <a:tailEnd/>
          </a:ln>
          <a:effectLst/>
        </p:spPr>
        <p:txBody>
          <a:bodyPr wrap="none" anchor="ctr"/>
          <a:lstStyle/>
          <a:p>
            <a:endParaRPr lang="en-US"/>
          </a:p>
        </p:txBody>
      </p:sp>
    </p:spTree>
    <p:extLst>
      <p:ext uri="{BB962C8B-B14F-4D97-AF65-F5344CB8AC3E}">
        <p14:creationId xmlns:p14="http://schemas.microsoft.com/office/powerpoint/2010/main" val="3508577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GB" dirty="0">
                <a:latin typeface="Arial" pitchFamily="34" charset="0"/>
                <a:ea typeface="ＭＳ Ｐゴシック"/>
                <a:cs typeface="Arial" pitchFamily="34" charset="0"/>
              </a:rPr>
              <a:t>ITERATIVE PROCESS</a:t>
            </a:r>
          </a:p>
        </p:txBody>
      </p:sp>
      <p:sp>
        <p:nvSpPr>
          <p:cNvPr id="31747"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r>
              <a:rPr lang="en-US" dirty="0"/>
              <a:t>Change is inevitable in all large software projects.</a:t>
            </a:r>
          </a:p>
          <a:p>
            <a:pPr lvl="1"/>
            <a:r>
              <a:rPr lang="en-US" dirty="0"/>
              <a:t>Business changes lead to new and changed system requirements</a:t>
            </a:r>
          </a:p>
          <a:p>
            <a:pPr lvl="1"/>
            <a:r>
              <a:rPr lang="en-US" dirty="0"/>
              <a:t>New technologies open up new possibilities for improving implementations</a:t>
            </a:r>
          </a:p>
          <a:p>
            <a:pPr lvl="1"/>
            <a:r>
              <a:rPr lang="en-US" dirty="0"/>
              <a:t>Changing platforms require application changes</a:t>
            </a:r>
          </a:p>
          <a:p>
            <a:pPr>
              <a:buFont typeface="Wingdings" charset="2"/>
              <a:buChar char="²"/>
            </a:pPr>
            <a:r>
              <a:rPr lang="en-US" dirty="0"/>
              <a:t>Iterative process model:</a:t>
            </a:r>
          </a:p>
          <a:p>
            <a:pPr lvl="1">
              <a:buFont typeface="Wingdings" charset="2"/>
              <a:buChar char="²"/>
            </a:pPr>
            <a:r>
              <a:rPr lang="en-US" dirty="0">
                <a:hlinkClick r:id="rId3" action="ppaction://hlinksldjump"/>
              </a:rPr>
              <a:t>Software prototyping</a:t>
            </a:r>
            <a:endParaRPr lang="en-GB" dirty="0"/>
          </a:p>
        </p:txBody>
      </p:sp>
      <p:sp>
        <p:nvSpPr>
          <p:cNvPr id="9" name="Slide Number Placeholder 8"/>
          <p:cNvSpPr>
            <a:spLocks noGrp="1"/>
          </p:cNvSpPr>
          <p:nvPr>
            <p:ph type="sldNum" sz="quarter" idx="12"/>
          </p:nvPr>
        </p:nvSpPr>
        <p:spPr/>
        <p:txBody>
          <a:bodyPr/>
          <a:lstStyle/>
          <a:p>
            <a:pPr>
              <a:defRPr/>
            </a:pPr>
            <a:fld id="{13F20DCD-50D3-4EC4-998F-F057984E61FB}" type="slidenum">
              <a:rPr lang="en-US"/>
              <a:pPr>
                <a:defRPr/>
              </a:pPr>
              <a:t>37</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
        <p:nvSpPr>
          <p:cNvPr id="7" name="AutoShape 10">
            <a:hlinkClick r:id="rId4" action="ppaction://hlinksldjump" highlightClick="1"/>
          </p:cNvPr>
          <p:cNvSpPr>
            <a:spLocks noChangeArrowheads="1"/>
          </p:cNvSpPr>
          <p:nvPr/>
        </p:nvSpPr>
        <p:spPr bwMode="auto">
          <a:xfrm rot="10800000">
            <a:off x="7750175" y="6045200"/>
            <a:ext cx="503237" cy="431800"/>
          </a:xfrm>
          <a:prstGeom prst="actionButtonBackPrevious">
            <a:avLst/>
          </a:prstGeom>
          <a:solidFill>
            <a:schemeClr val="accent1"/>
          </a:solidFill>
          <a:ln w="9525">
            <a:noFill/>
            <a:miter lim="800000"/>
            <a:headEnd/>
            <a:tailEnd/>
          </a:ln>
          <a:effectLst/>
        </p:spPr>
        <p:txBody>
          <a:bodyPr wrap="none" anchor="ctr"/>
          <a:lstStyle/>
          <a:p>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dirty="0">
                <a:solidFill>
                  <a:schemeClr val="tx2">
                    <a:lumMod val="60000"/>
                    <a:lumOff val="40000"/>
                  </a:schemeClr>
                </a:solidFill>
                <a:latin typeface="Arial" pitchFamily="34" charset="0"/>
                <a:ea typeface="ＭＳ Ｐゴシック"/>
                <a:cs typeface="Arial" pitchFamily="34" charset="0"/>
              </a:rPr>
              <a:t>Software prototyping</a:t>
            </a:r>
          </a:p>
        </p:txBody>
      </p:sp>
      <p:sp>
        <p:nvSpPr>
          <p:cNvPr id="59395"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a:latin typeface="Arial" pitchFamily="34" charset="0"/>
                <a:ea typeface="ＭＳ Ｐゴシック"/>
                <a:cs typeface="Arial" pitchFamily="34" charset="0"/>
              </a:rPr>
              <a:t>A prototype is an initial version of a system used to demonstrate concepts and try out design options.</a:t>
            </a:r>
          </a:p>
          <a:p>
            <a:pPr eaLnBrk="1" hangingPunct="1">
              <a:buFont typeface="Wingdings" pitchFamily="2" charset="2"/>
              <a:buChar char="²"/>
            </a:pPr>
            <a:r>
              <a:rPr lang="en-US">
                <a:latin typeface="Arial" pitchFamily="34" charset="0"/>
                <a:ea typeface="ＭＳ Ｐゴシック"/>
                <a:cs typeface="Arial" pitchFamily="34" charset="0"/>
              </a:rPr>
              <a:t>A prototype can be used in:</a:t>
            </a:r>
          </a:p>
          <a:p>
            <a:pPr lvl="1" eaLnBrk="1" hangingPunct="1">
              <a:buFont typeface="Wingdings" pitchFamily="2" charset="2"/>
              <a:buChar char="§"/>
            </a:pPr>
            <a:r>
              <a:rPr lang="en-US">
                <a:latin typeface="Arial" pitchFamily="34" charset="0"/>
                <a:ea typeface="ＭＳ Ｐゴシック"/>
                <a:cs typeface="Arial" pitchFamily="34" charset="0"/>
              </a:rPr>
              <a:t>The requirements engineering process to help with requirements elicitation and validation;</a:t>
            </a:r>
          </a:p>
          <a:p>
            <a:pPr lvl="1" eaLnBrk="1" hangingPunct="1">
              <a:buFont typeface="Wingdings" pitchFamily="2" charset="2"/>
              <a:buChar char="§"/>
            </a:pPr>
            <a:r>
              <a:rPr lang="en-US">
                <a:latin typeface="Arial" pitchFamily="34" charset="0"/>
                <a:ea typeface="ＭＳ Ｐゴシック"/>
                <a:cs typeface="Arial" pitchFamily="34" charset="0"/>
              </a:rPr>
              <a:t>In design processes to explore options and develop a UI design;</a:t>
            </a:r>
          </a:p>
          <a:p>
            <a:pPr lvl="1" eaLnBrk="1" hangingPunct="1">
              <a:buFont typeface="Wingdings" pitchFamily="2" charset="2"/>
              <a:buChar char="§"/>
            </a:pPr>
            <a:r>
              <a:rPr lang="en-US">
                <a:latin typeface="Arial" pitchFamily="34" charset="0"/>
                <a:ea typeface="ＭＳ Ｐゴシック"/>
                <a:cs typeface="Arial" pitchFamily="34" charset="0"/>
              </a:rPr>
              <a:t>In the testing process to run back-to-back tests.</a:t>
            </a:r>
          </a:p>
        </p:txBody>
      </p:sp>
      <p:sp>
        <p:nvSpPr>
          <p:cNvPr id="6" name="Slide Number Placeholder 5"/>
          <p:cNvSpPr>
            <a:spLocks noGrp="1"/>
          </p:cNvSpPr>
          <p:nvPr>
            <p:ph type="sldNum" sz="quarter" idx="12"/>
          </p:nvPr>
        </p:nvSpPr>
        <p:spPr/>
        <p:txBody>
          <a:bodyPr/>
          <a:lstStyle/>
          <a:p>
            <a:pPr>
              <a:defRPr/>
            </a:pPr>
            <a:fld id="{53ED5E04-84FD-4B74-8AA9-4351F538ADE8}" type="slidenum">
              <a:rPr lang="en-US"/>
              <a:pPr>
                <a:defRPr/>
              </a:pPr>
              <a:t>38</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atin typeface="Arial" pitchFamily="34" charset="0"/>
                <a:ea typeface="ＭＳ Ｐゴシック"/>
                <a:cs typeface="Arial" pitchFamily="34" charset="0"/>
              </a:rPr>
              <a:t>Benefits of prototyping</a:t>
            </a:r>
          </a:p>
        </p:txBody>
      </p:sp>
      <p:sp>
        <p:nvSpPr>
          <p:cNvPr id="60419"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a:latin typeface="Arial" pitchFamily="34" charset="0"/>
                <a:ea typeface="ＭＳ Ｐゴシック"/>
                <a:cs typeface="Arial" pitchFamily="34" charset="0"/>
              </a:rPr>
              <a:t>Improved system usability.</a:t>
            </a:r>
          </a:p>
          <a:p>
            <a:pPr eaLnBrk="1" hangingPunct="1">
              <a:buFont typeface="Wingdings" pitchFamily="2" charset="2"/>
              <a:buChar char="²"/>
            </a:pPr>
            <a:r>
              <a:rPr lang="en-US">
                <a:latin typeface="Arial" pitchFamily="34" charset="0"/>
                <a:ea typeface="ＭＳ Ｐゴシック"/>
                <a:cs typeface="Arial" pitchFamily="34" charset="0"/>
              </a:rPr>
              <a:t>A closer match to users’ real needs.</a:t>
            </a:r>
          </a:p>
          <a:p>
            <a:pPr eaLnBrk="1" hangingPunct="1">
              <a:buFont typeface="Wingdings" pitchFamily="2" charset="2"/>
              <a:buChar char="²"/>
            </a:pPr>
            <a:r>
              <a:rPr lang="en-US">
                <a:latin typeface="Arial" pitchFamily="34" charset="0"/>
                <a:ea typeface="ＭＳ Ｐゴシック"/>
                <a:cs typeface="Arial" pitchFamily="34" charset="0"/>
              </a:rPr>
              <a:t>Improved design quality.</a:t>
            </a:r>
          </a:p>
          <a:p>
            <a:pPr eaLnBrk="1" hangingPunct="1">
              <a:buFont typeface="Wingdings" pitchFamily="2" charset="2"/>
              <a:buChar char="²"/>
            </a:pPr>
            <a:r>
              <a:rPr lang="en-US">
                <a:latin typeface="Arial" pitchFamily="34" charset="0"/>
                <a:ea typeface="ＭＳ Ｐゴシック"/>
                <a:cs typeface="Arial" pitchFamily="34" charset="0"/>
              </a:rPr>
              <a:t>Improved maintainability.</a:t>
            </a:r>
          </a:p>
          <a:p>
            <a:pPr eaLnBrk="1" hangingPunct="1">
              <a:buFont typeface="Wingdings" pitchFamily="2" charset="2"/>
              <a:buChar char="²"/>
            </a:pPr>
            <a:r>
              <a:rPr lang="en-US">
                <a:latin typeface="Arial" pitchFamily="34" charset="0"/>
                <a:ea typeface="ＭＳ Ｐゴシック"/>
                <a:cs typeface="Arial" pitchFamily="34" charset="0"/>
              </a:rPr>
              <a:t>Reduced development effort.</a:t>
            </a:r>
          </a:p>
        </p:txBody>
      </p:sp>
      <p:sp>
        <p:nvSpPr>
          <p:cNvPr id="6" name="Slide Number Placeholder 5"/>
          <p:cNvSpPr>
            <a:spLocks noGrp="1"/>
          </p:cNvSpPr>
          <p:nvPr>
            <p:ph type="sldNum" sz="quarter" idx="12"/>
          </p:nvPr>
        </p:nvSpPr>
        <p:spPr/>
        <p:txBody>
          <a:bodyPr/>
          <a:lstStyle/>
          <a:p>
            <a:pPr>
              <a:defRPr/>
            </a:pPr>
            <a:fld id="{B554B9AA-96B3-4D53-8A79-15DA35B3A9CD}" type="slidenum">
              <a:rPr lang="en-US"/>
              <a:pPr>
                <a:defRPr/>
              </a:pPr>
              <a:t>39</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pPr eaLnBrk="1" hangingPunct="1"/>
            <a:r>
              <a:rPr lang="en-GB">
                <a:latin typeface="Arial" pitchFamily="34" charset="0"/>
                <a:ea typeface="ＭＳ Ｐゴシック"/>
                <a:cs typeface="Arial" pitchFamily="34" charset="0"/>
              </a:rPr>
              <a:t>The process of prototype development</a:t>
            </a:r>
            <a:br>
              <a:rPr lang="en-GB">
                <a:latin typeface="Arial" pitchFamily="34" charset="0"/>
                <a:ea typeface="ＭＳ Ｐゴシック"/>
                <a:cs typeface="Arial" pitchFamily="34" charset="0"/>
              </a:rPr>
            </a:br>
            <a:endParaRPr lang="en-US">
              <a:latin typeface="Arial" pitchFamily="34" charset="0"/>
              <a:ea typeface="ＭＳ Ｐゴシック"/>
              <a:cs typeface="Arial" pitchFamily="34" charset="0"/>
            </a:endParaRPr>
          </a:p>
        </p:txBody>
      </p:sp>
      <p:pic>
        <p:nvPicPr>
          <p:cNvPr id="61443" name="Picture 3" descr="2.9 PrototypeProcess.eps"/>
          <p:cNvPicPr>
            <a:picLocks noChangeAspect="1"/>
          </p:cNvPicPr>
          <p:nvPr/>
        </p:nvPicPr>
        <p:blipFill>
          <a:blip r:embed="rId2"/>
          <a:srcRect/>
          <a:stretch>
            <a:fillRect/>
          </a:stretch>
        </p:blipFill>
        <p:spPr bwMode="auto">
          <a:xfrm>
            <a:off x="969963" y="2608263"/>
            <a:ext cx="7627937" cy="2163762"/>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pPr>
              <a:defRPr/>
            </a:pPr>
            <a:fld id="{91FCC3EA-03C1-4A03-93D6-9AEA9345271A}" type="slidenum">
              <a:rPr lang="en-US"/>
              <a:pPr>
                <a:defRPr/>
              </a:pPr>
              <a:t>40</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Prototype development</a:t>
            </a:r>
          </a:p>
        </p:txBody>
      </p:sp>
      <p:sp>
        <p:nvSpPr>
          <p:cNvPr id="62467"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a:latin typeface="Arial" pitchFamily="34" charset="0"/>
                <a:ea typeface="ＭＳ Ｐゴシック"/>
                <a:cs typeface="Arial" pitchFamily="34" charset="0"/>
              </a:rPr>
              <a:t>May be based on rapid prototyping languages or tools</a:t>
            </a:r>
          </a:p>
          <a:p>
            <a:pPr eaLnBrk="1" hangingPunct="1">
              <a:buFont typeface="Wingdings" pitchFamily="2" charset="2"/>
              <a:buChar char="²"/>
            </a:pPr>
            <a:r>
              <a:rPr lang="en-US">
                <a:latin typeface="Arial" pitchFamily="34" charset="0"/>
                <a:ea typeface="ＭＳ Ｐゴシック"/>
                <a:cs typeface="Arial" pitchFamily="34" charset="0"/>
              </a:rPr>
              <a:t>May involve leaving out functionality</a:t>
            </a:r>
          </a:p>
          <a:p>
            <a:pPr lvl="1" eaLnBrk="1" hangingPunct="1">
              <a:buFont typeface="Wingdings" pitchFamily="2" charset="2"/>
              <a:buChar char="§"/>
            </a:pPr>
            <a:r>
              <a:rPr lang="en-US">
                <a:latin typeface="Arial" pitchFamily="34" charset="0"/>
                <a:ea typeface="ＭＳ Ｐゴシック"/>
                <a:cs typeface="Arial" pitchFamily="34" charset="0"/>
              </a:rPr>
              <a:t>Prototype should focus on areas of the product that are not well-understood;</a:t>
            </a:r>
          </a:p>
          <a:p>
            <a:pPr lvl="1" eaLnBrk="1" hangingPunct="1">
              <a:buFont typeface="Wingdings" pitchFamily="2" charset="2"/>
              <a:buChar char="§"/>
            </a:pPr>
            <a:r>
              <a:rPr lang="en-US">
                <a:latin typeface="Arial" pitchFamily="34" charset="0"/>
                <a:ea typeface="ＭＳ Ｐゴシック"/>
                <a:cs typeface="Arial" pitchFamily="34" charset="0"/>
              </a:rPr>
              <a:t>Error checking and recovery may not be included in the prototype;</a:t>
            </a:r>
          </a:p>
          <a:p>
            <a:pPr lvl="1" eaLnBrk="1" hangingPunct="1">
              <a:buFont typeface="Wingdings" pitchFamily="2" charset="2"/>
              <a:buChar char="§"/>
            </a:pPr>
            <a:r>
              <a:rPr lang="en-US">
                <a:latin typeface="Arial" pitchFamily="34" charset="0"/>
                <a:ea typeface="ＭＳ Ｐゴシック"/>
                <a:cs typeface="Arial" pitchFamily="34" charset="0"/>
              </a:rPr>
              <a:t>Focus on functional rather than non-functional requirements such as reliability and security</a:t>
            </a:r>
          </a:p>
        </p:txBody>
      </p:sp>
      <p:sp>
        <p:nvSpPr>
          <p:cNvPr id="5" name="Slide Number Placeholder 4"/>
          <p:cNvSpPr>
            <a:spLocks noGrp="1"/>
          </p:cNvSpPr>
          <p:nvPr>
            <p:ph type="sldNum" sz="quarter" idx="12"/>
          </p:nvPr>
        </p:nvSpPr>
        <p:spPr/>
        <p:txBody>
          <a:bodyPr/>
          <a:lstStyle/>
          <a:p>
            <a:pPr>
              <a:defRPr/>
            </a:pPr>
            <a:fld id="{17DE0F1A-DDDA-42D7-BF3A-71BD82EFB8D3}" type="slidenum">
              <a:rPr lang="en-US"/>
              <a:pPr>
                <a:defRPr/>
              </a:pPr>
              <a:t>41</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atin typeface="Arial" pitchFamily="34" charset="0"/>
                <a:ea typeface="ＭＳ Ｐゴシック"/>
                <a:cs typeface="Arial" pitchFamily="34" charset="0"/>
              </a:rPr>
              <a:t>Throw-away prototypes</a:t>
            </a:r>
          </a:p>
        </p:txBody>
      </p:sp>
      <p:sp>
        <p:nvSpPr>
          <p:cNvPr id="63491"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a:latin typeface="Arial" pitchFamily="34" charset="0"/>
                <a:ea typeface="ＭＳ Ｐゴシック"/>
                <a:cs typeface="Arial" pitchFamily="34" charset="0"/>
              </a:rPr>
              <a:t>Prototypes should be discarded after development as they are not a good basis for a production system:</a:t>
            </a:r>
          </a:p>
          <a:p>
            <a:pPr lvl="1" eaLnBrk="1" hangingPunct="1">
              <a:buFont typeface="Wingdings" pitchFamily="2" charset="2"/>
              <a:buChar char="§"/>
            </a:pPr>
            <a:r>
              <a:rPr lang="en-US">
                <a:latin typeface="Arial" pitchFamily="34" charset="0"/>
                <a:ea typeface="ＭＳ Ｐゴシック"/>
                <a:cs typeface="Arial" pitchFamily="34" charset="0"/>
              </a:rPr>
              <a:t>It may be impossible to tune the system to meet non-functional requirements;</a:t>
            </a:r>
          </a:p>
          <a:p>
            <a:pPr lvl="1" eaLnBrk="1" hangingPunct="1">
              <a:buFont typeface="Wingdings" pitchFamily="2" charset="2"/>
              <a:buChar char="§"/>
            </a:pPr>
            <a:r>
              <a:rPr lang="en-US">
                <a:latin typeface="Arial" pitchFamily="34" charset="0"/>
                <a:ea typeface="ＭＳ Ｐゴシック"/>
                <a:cs typeface="Arial" pitchFamily="34" charset="0"/>
              </a:rPr>
              <a:t>Prototypes are normally undocumented;</a:t>
            </a:r>
          </a:p>
          <a:p>
            <a:pPr lvl="1" eaLnBrk="1" hangingPunct="1">
              <a:buFont typeface="Wingdings" pitchFamily="2" charset="2"/>
              <a:buChar char="§"/>
            </a:pPr>
            <a:r>
              <a:rPr lang="en-US">
                <a:latin typeface="Arial" pitchFamily="34" charset="0"/>
                <a:ea typeface="ＭＳ Ｐゴシック"/>
                <a:cs typeface="Arial" pitchFamily="34" charset="0"/>
              </a:rPr>
              <a:t>The prototype structure is usually degraded through rapid change;</a:t>
            </a:r>
          </a:p>
          <a:p>
            <a:pPr lvl="1" eaLnBrk="1" hangingPunct="1">
              <a:buFont typeface="Wingdings" pitchFamily="2" charset="2"/>
              <a:buChar char="§"/>
            </a:pPr>
            <a:r>
              <a:rPr lang="en-US">
                <a:latin typeface="Arial" pitchFamily="34" charset="0"/>
                <a:ea typeface="ＭＳ Ｐゴシック"/>
                <a:cs typeface="Arial" pitchFamily="34" charset="0"/>
              </a:rPr>
              <a:t>The prototype probably will not meet normal organisational quality standards.</a:t>
            </a:r>
          </a:p>
        </p:txBody>
      </p:sp>
      <p:sp>
        <p:nvSpPr>
          <p:cNvPr id="6" name="Slide Number Placeholder 5"/>
          <p:cNvSpPr>
            <a:spLocks noGrp="1"/>
          </p:cNvSpPr>
          <p:nvPr>
            <p:ph type="sldNum" sz="quarter" idx="12"/>
          </p:nvPr>
        </p:nvSpPr>
        <p:spPr/>
        <p:txBody>
          <a:bodyPr/>
          <a:lstStyle/>
          <a:p>
            <a:pPr>
              <a:defRPr/>
            </a:pPr>
            <a:fld id="{DC886A35-B774-41C6-87BE-7BBB008037C4}" type="slidenum">
              <a:rPr lang="en-US"/>
              <a:pPr>
                <a:defRPr/>
              </a:pPr>
              <a:t>42</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dirty="0">
                <a:latin typeface="Arial" pitchFamily="34" charset="0"/>
                <a:ea typeface="ＭＳ Ｐゴシック"/>
                <a:cs typeface="Arial" pitchFamily="34" charset="0"/>
              </a:rPr>
              <a:t>THE RATIONAL UNIFIED PROCESS (RUP)</a:t>
            </a:r>
          </a:p>
        </p:txBody>
      </p:sp>
      <p:sp>
        <p:nvSpPr>
          <p:cNvPr id="73731"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dirty="0">
                <a:latin typeface="Arial" pitchFamily="34" charset="0"/>
                <a:ea typeface="ＭＳ Ｐゴシック"/>
                <a:cs typeface="Arial" pitchFamily="34" charset="0"/>
              </a:rPr>
              <a:t>A modern generic process derived from the work on the UML and associated process.</a:t>
            </a:r>
          </a:p>
          <a:p>
            <a:pPr eaLnBrk="1" hangingPunct="1">
              <a:buFont typeface="Wingdings" pitchFamily="2" charset="2"/>
              <a:buChar char="²"/>
            </a:pPr>
            <a:r>
              <a:rPr lang="en-US" dirty="0">
                <a:latin typeface="Arial" pitchFamily="34" charset="0"/>
                <a:ea typeface="ＭＳ Ｐゴシック"/>
                <a:cs typeface="Arial" pitchFamily="34" charset="0"/>
              </a:rPr>
              <a:t>Brings together aspects of the </a:t>
            </a:r>
            <a:r>
              <a:rPr lang="en-US" b="1" dirty="0">
                <a:latin typeface="Arial" pitchFamily="34" charset="0"/>
                <a:ea typeface="ＭＳ Ｐゴシック"/>
                <a:cs typeface="Arial" pitchFamily="34" charset="0"/>
              </a:rPr>
              <a:t>3 generic process models </a:t>
            </a:r>
            <a:r>
              <a:rPr lang="en-US" dirty="0">
                <a:latin typeface="Arial" pitchFamily="34" charset="0"/>
                <a:ea typeface="ＭＳ Ｐゴシック"/>
                <a:cs typeface="Arial" pitchFamily="34" charset="0"/>
              </a:rPr>
              <a:t>discussed previously.</a:t>
            </a:r>
          </a:p>
          <a:p>
            <a:pPr eaLnBrk="1" hangingPunct="1">
              <a:buFont typeface="Wingdings" pitchFamily="2" charset="2"/>
              <a:buChar char="²"/>
            </a:pPr>
            <a:r>
              <a:rPr lang="en-US" dirty="0">
                <a:latin typeface="Arial" pitchFamily="34" charset="0"/>
                <a:ea typeface="ＭＳ Ｐゴシック"/>
                <a:cs typeface="Arial" pitchFamily="34" charset="0"/>
              </a:rPr>
              <a:t>Normally described from 3 perspectives</a:t>
            </a:r>
          </a:p>
          <a:p>
            <a:pPr lvl="1" eaLnBrk="1" hangingPunct="1">
              <a:buFont typeface="Wingdings" pitchFamily="2" charset="2"/>
              <a:buChar char="§"/>
            </a:pPr>
            <a:r>
              <a:rPr lang="en-US" dirty="0">
                <a:latin typeface="Arial" pitchFamily="34" charset="0"/>
                <a:ea typeface="ＭＳ Ｐゴシック"/>
                <a:cs typeface="Arial" pitchFamily="34" charset="0"/>
              </a:rPr>
              <a:t>A dynamic perspective that shows phases over time;</a:t>
            </a:r>
          </a:p>
          <a:p>
            <a:pPr lvl="1" eaLnBrk="1" hangingPunct="1">
              <a:buFont typeface="Wingdings" pitchFamily="2" charset="2"/>
              <a:buChar char="§"/>
            </a:pPr>
            <a:r>
              <a:rPr lang="en-US" dirty="0">
                <a:latin typeface="Arial" pitchFamily="34" charset="0"/>
                <a:ea typeface="ＭＳ Ｐゴシック"/>
                <a:cs typeface="Arial" pitchFamily="34" charset="0"/>
              </a:rPr>
              <a:t>A static perspective that shows process activities;</a:t>
            </a:r>
          </a:p>
          <a:p>
            <a:pPr lvl="1" eaLnBrk="1" hangingPunct="1">
              <a:buFont typeface="Wingdings" pitchFamily="2" charset="2"/>
              <a:buChar char="§"/>
            </a:pPr>
            <a:r>
              <a:rPr lang="en-US" dirty="0">
                <a:latin typeface="Arial" pitchFamily="34" charset="0"/>
                <a:ea typeface="ＭＳ Ｐゴシック"/>
                <a:cs typeface="Arial" pitchFamily="34" charset="0"/>
              </a:rPr>
              <a:t>A practice perspective that suggests good practice.</a:t>
            </a:r>
          </a:p>
        </p:txBody>
      </p:sp>
      <p:sp>
        <p:nvSpPr>
          <p:cNvPr id="6" name="Slide Number Placeholder 5"/>
          <p:cNvSpPr>
            <a:spLocks noGrp="1"/>
          </p:cNvSpPr>
          <p:nvPr>
            <p:ph type="sldNum" sz="quarter" idx="12"/>
          </p:nvPr>
        </p:nvSpPr>
        <p:spPr/>
        <p:txBody>
          <a:bodyPr/>
          <a:lstStyle/>
          <a:p>
            <a:pPr>
              <a:defRPr/>
            </a:pPr>
            <a:fld id="{7F965F94-7B84-4FF2-A58F-E00022EC6DF4}" type="slidenum">
              <a:rPr lang="en-US"/>
              <a:pPr>
                <a:defRPr/>
              </a:pPr>
              <a:t>43</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pPr eaLnBrk="1" hangingPunct="1"/>
            <a:r>
              <a:rPr lang="en-GB">
                <a:latin typeface="Arial" pitchFamily="34" charset="0"/>
                <a:ea typeface="ＭＳ Ｐゴシック"/>
                <a:cs typeface="Arial" pitchFamily="34" charset="0"/>
              </a:rPr>
              <a:t>Phases in the Rational Unified Process </a:t>
            </a:r>
            <a:endParaRPr lang="en-US">
              <a:latin typeface="Arial" pitchFamily="34" charset="0"/>
              <a:ea typeface="ＭＳ Ｐゴシック"/>
              <a:cs typeface="Arial" pitchFamily="34" charset="0"/>
            </a:endParaRPr>
          </a:p>
        </p:txBody>
      </p:sp>
      <p:pic>
        <p:nvPicPr>
          <p:cNvPr id="74755" name="Picture 3" descr="2.12 RUP phases.eps"/>
          <p:cNvPicPr>
            <a:picLocks noChangeAspect="1"/>
          </p:cNvPicPr>
          <p:nvPr/>
        </p:nvPicPr>
        <p:blipFill>
          <a:blip r:embed="rId2"/>
          <a:srcRect/>
          <a:stretch>
            <a:fillRect/>
          </a:stretch>
        </p:blipFill>
        <p:spPr bwMode="auto">
          <a:xfrm>
            <a:off x="457200" y="2774950"/>
            <a:ext cx="7969250" cy="1831975"/>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pPr>
              <a:defRPr/>
            </a:pPr>
            <a:fld id="{7C9B547D-AC53-4C4F-A977-4CA95071B2B5}" type="slidenum">
              <a:rPr lang="en-US"/>
              <a:pPr>
                <a:defRPr/>
              </a:pPr>
              <a:t>44</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pPr eaLnBrk="1" hangingPunct="1"/>
            <a:r>
              <a:rPr lang="en-GB">
                <a:latin typeface="Arial" pitchFamily="34" charset="0"/>
                <a:ea typeface="ＭＳ Ｐゴシック"/>
                <a:cs typeface="Arial" pitchFamily="34" charset="0"/>
              </a:rPr>
              <a:t>Phases in the Rational Unified Process </a:t>
            </a:r>
            <a:endParaRPr lang="en-US">
              <a:latin typeface="Arial" pitchFamily="34" charset="0"/>
              <a:ea typeface="ＭＳ Ｐゴシック"/>
              <a:cs typeface="Arial" pitchFamily="34" charset="0"/>
            </a:endParaRPr>
          </a:p>
        </p:txBody>
      </p:sp>
      <p:sp>
        <p:nvSpPr>
          <p:cNvPr id="7" name="Slide Number Placeholder 6"/>
          <p:cNvSpPr>
            <a:spLocks noGrp="1"/>
          </p:cNvSpPr>
          <p:nvPr>
            <p:ph type="sldNum" sz="quarter" idx="12"/>
          </p:nvPr>
        </p:nvSpPr>
        <p:spPr/>
        <p:txBody>
          <a:bodyPr/>
          <a:lstStyle/>
          <a:p>
            <a:pPr>
              <a:defRPr/>
            </a:pPr>
            <a:fld id="{7C9B547D-AC53-4C4F-A977-4CA95071B2B5}" type="slidenum">
              <a:rPr lang="en-US"/>
              <a:pPr>
                <a:defRPr/>
              </a:pPr>
              <a:t>45</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417638"/>
            <a:ext cx="7898130" cy="4938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3856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rup.jpg"/>
          <p:cNvPicPr>
            <a:picLocks noChangeAspect="1"/>
          </p:cNvPicPr>
          <p:nvPr/>
        </p:nvPicPr>
        <p:blipFill>
          <a:blip r:embed="rId2"/>
          <a:stretch>
            <a:fillRect/>
          </a:stretch>
        </p:blipFill>
        <p:spPr>
          <a:xfrm>
            <a:off x="6772759" y="5998867"/>
            <a:ext cx="1450344" cy="683970"/>
          </a:xfrm>
          <a:prstGeom prst="rect">
            <a:avLst/>
          </a:prstGeom>
        </p:spPr>
      </p:pic>
      <p:sp>
        <p:nvSpPr>
          <p:cNvPr id="75778" name="Rectangle 2"/>
          <p:cNvSpPr>
            <a:spLocks noGrp="1" noChangeArrowheads="1"/>
          </p:cNvSpPr>
          <p:nvPr>
            <p:ph type="title"/>
          </p:nvPr>
        </p:nvSpPr>
        <p:spPr/>
        <p:txBody>
          <a:bodyPr/>
          <a:lstStyle/>
          <a:p>
            <a:pPr eaLnBrk="1" hangingPunct="1"/>
            <a:r>
              <a:rPr lang="en-US">
                <a:latin typeface="Arial" pitchFamily="34" charset="0"/>
                <a:ea typeface="ＭＳ Ｐゴシック"/>
                <a:cs typeface="Arial" pitchFamily="34" charset="0"/>
              </a:rPr>
              <a:t>RUP phases</a:t>
            </a:r>
          </a:p>
        </p:txBody>
      </p:sp>
      <p:sp>
        <p:nvSpPr>
          <p:cNvPr id="75779" name="Rectangle 3"/>
          <p:cNvSpPr>
            <a:spLocks noGrp="1" noChangeArrowheads="1"/>
          </p:cNvSpPr>
          <p:nvPr>
            <p:ph type="body" idx="1"/>
          </p:nvPr>
        </p:nvSpPr>
        <p:spPr bwMode="auto">
          <a:xfrm>
            <a:off x="457200" y="1468007"/>
            <a:ext cx="8229600" cy="3801653"/>
          </a:xfrm>
          <a:noFill/>
          <a:ln>
            <a:miter lim="800000"/>
            <a:headEnd/>
            <a:tailEnd/>
          </a:ln>
        </p:spPr>
        <p:txBody>
          <a:bodyPr vert="horz" wrap="square" lIns="91440" tIns="45720" rIns="91440" bIns="45720" numCol="1" anchor="t" anchorCtr="0" compatLnSpc="1">
            <a:prstTxWarp prst="textNoShape">
              <a:avLst/>
            </a:prstTxWarp>
          </a:bodyPr>
          <a:lstStyle/>
          <a:p>
            <a:pPr marL="0" indent="0">
              <a:buNone/>
            </a:pPr>
            <a:r>
              <a:rPr lang="en-MY" dirty="0"/>
              <a:t>Phases are goal directed and yield deliverables:</a:t>
            </a:r>
          </a:p>
          <a:p>
            <a:r>
              <a:rPr lang="en-MY" b="1" dirty="0"/>
              <a:t>Inception </a:t>
            </a:r>
            <a:r>
              <a:rPr lang="en-MY" dirty="0"/>
              <a:t>– Establish the business case. Identify external entities (actors, systems). Estimate ROI.</a:t>
            </a:r>
          </a:p>
          <a:p>
            <a:r>
              <a:rPr lang="en-MY" b="1" dirty="0"/>
              <a:t>Elaboration </a:t>
            </a:r>
            <a:r>
              <a:rPr lang="en-MY" dirty="0"/>
              <a:t>– Understand problem domain.</a:t>
            </a:r>
          </a:p>
          <a:p>
            <a:r>
              <a:rPr lang="en-MY" dirty="0"/>
              <a:t>Establish architecture, and consider design trade-offs. Identify project risks. Estimate and schedule project. Decide on build vs. buy.</a:t>
            </a:r>
          </a:p>
          <a:p>
            <a:r>
              <a:rPr lang="en-MY" b="1" dirty="0"/>
              <a:t>Construction </a:t>
            </a:r>
            <a:r>
              <a:rPr lang="en-MY" dirty="0"/>
              <a:t>– Design, program and test. Components are bought and integrated.</a:t>
            </a:r>
          </a:p>
          <a:p>
            <a:r>
              <a:rPr lang="en-MY" b="1" dirty="0"/>
              <a:t>Transition </a:t>
            </a:r>
            <a:r>
              <a:rPr lang="en-MY" dirty="0"/>
              <a:t>– release a mature version and deploy in real world.</a:t>
            </a:r>
          </a:p>
          <a:p>
            <a:pPr marL="0" indent="0">
              <a:buNone/>
            </a:pPr>
            <a:endParaRPr lang="en-US" dirty="0">
              <a:latin typeface="Arial" pitchFamily="34" charset="0"/>
              <a:ea typeface="ＭＳ Ｐゴシック"/>
              <a:cs typeface="Arial" pitchFamily="34" charset="0"/>
            </a:endParaRPr>
          </a:p>
        </p:txBody>
      </p:sp>
      <p:sp>
        <p:nvSpPr>
          <p:cNvPr id="6" name="Slide Number Placeholder 5"/>
          <p:cNvSpPr>
            <a:spLocks noGrp="1"/>
          </p:cNvSpPr>
          <p:nvPr>
            <p:ph type="sldNum" sz="quarter" idx="12"/>
          </p:nvPr>
        </p:nvSpPr>
        <p:spPr/>
        <p:txBody>
          <a:bodyPr/>
          <a:lstStyle/>
          <a:p>
            <a:pPr>
              <a:defRPr/>
            </a:pPr>
            <a:fld id="{61D0E294-5034-4AF6-A454-43452290E97B}" type="slidenum">
              <a:rPr lang="en-US"/>
              <a:pPr>
                <a:defRPr/>
              </a:pPr>
              <a:t>46</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n-US">
                <a:latin typeface="Arial" pitchFamily="34" charset="0"/>
                <a:ea typeface="ＭＳ Ｐゴシック"/>
                <a:cs typeface="Arial" pitchFamily="34" charset="0"/>
              </a:rPr>
              <a:t>RUP good practice</a:t>
            </a:r>
          </a:p>
        </p:txBody>
      </p:sp>
      <p:sp>
        <p:nvSpPr>
          <p:cNvPr id="79875"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dirty="0">
                <a:solidFill>
                  <a:schemeClr val="tx1"/>
                </a:solidFill>
                <a:latin typeface="Arial" pitchFamily="34" charset="0"/>
                <a:ea typeface="ＭＳ Ｐゴシック"/>
                <a:cs typeface="Arial" pitchFamily="34" charset="0"/>
              </a:rPr>
              <a:t>Develop software iteratively</a:t>
            </a:r>
          </a:p>
          <a:p>
            <a:pPr lvl="1" eaLnBrk="1" hangingPunct="1">
              <a:buFont typeface="Wingdings" pitchFamily="2" charset="2"/>
              <a:buChar char="§"/>
            </a:pPr>
            <a:r>
              <a:rPr lang="en-US" dirty="0">
                <a:solidFill>
                  <a:schemeClr val="tx1"/>
                </a:solidFill>
                <a:latin typeface="Arial" pitchFamily="34" charset="0"/>
                <a:ea typeface="ＭＳ Ｐゴシック"/>
                <a:cs typeface="Arial" pitchFamily="34" charset="0"/>
              </a:rPr>
              <a:t>Plan increments based on customer priorities and deliver highest priority increments first.</a:t>
            </a:r>
          </a:p>
          <a:p>
            <a:pPr eaLnBrk="1" hangingPunct="1">
              <a:buFont typeface="Wingdings" pitchFamily="2" charset="2"/>
              <a:buChar char="²"/>
            </a:pPr>
            <a:r>
              <a:rPr lang="en-US" dirty="0">
                <a:solidFill>
                  <a:schemeClr val="tx1"/>
                </a:solidFill>
                <a:latin typeface="Arial" pitchFamily="34" charset="0"/>
                <a:ea typeface="ＭＳ Ｐゴシック"/>
                <a:cs typeface="Arial" pitchFamily="34" charset="0"/>
              </a:rPr>
              <a:t>Manage requirements</a:t>
            </a:r>
          </a:p>
          <a:p>
            <a:pPr lvl="1" eaLnBrk="1" hangingPunct="1">
              <a:buFont typeface="Wingdings" pitchFamily="2" charset="2"/>
              <a:buChar char="§"/>
            </a:pPr>
            <a:r>
              <a:rPr lang="en-US" dirty="0">
                <a:solidFill>
                  <a:schemeClr val="tx1"/>
                </a:solidFill>
                <a:latin typeface="Arial" pitchFamily="34" charset="0"/>
                <a:ea typeface="ＭＳ Ｐゴシック"/>
                <a:cs typeface="Arial" pitchFamily="34" charset="0"/>
              </a:rPr>
              <a:t>Explicitly document customer requirements and keep track of changes to these requirements.</a:t>
            </a:r>
          </a:p>
          <a:p>
            <a:pPr eaLnBrk="1" hangingPunct="1">
              <a:buFont typeface="Wingdings" pitchFamily="2" charset="2"/>
              <a:buChar char="²"/>
            </a:pPr>
            <a:r>
              <a:rPr lang="en-US" dirty="0">
                <a:solidFill>
                  <a:schemeClr val="tx1"/>
                </a:solidFill>
                <a:latin typeface="Arial" pitchFamily="34" charset="0"/>
                <a:ea typeface="ＭＳ Ｐゴシック"/>
                <a:cs typeface="Arial" pitchFamily="34" charset="0"/>
              </a:rPr>
              <a:t>Use component-based architectures</a:t>
            </a:r>
          </a:p>
          <a:p>
            <a:pPr lvl="1" eaLnBrk="1" hangingPunct="1">
              <a:buFont typeface="Wingdings" pitchFamily="2" charset="2"/>
              <a:buChar char="§"/>
            </a:pPr>
            <a:r>
              <a:rPr lang="en-US" dirty="0">
                <a:solidFill>
                  <a:schemeClr val="tx1"/>
                </a:solidFill>
                <a:latin typeface="Arial" pitchFamily="34" charset="0"/>
                <a:ea typeface="ＭＳ Ｐゴシック"/>
                <a:cs typeface="Arial" pitchFamily="34" charset="0"/>
              </a:rPr>
              <a:t>Organize the system architecture as a set of reusable components.</a:t>
            </a:r>
          </a:p>
        </p:txBody>
      </p:sp>
      <p:sp>
        <p:nvSpPr>
          <p:cNvPr id="6" name="Slide Number Placeholder 5"/>
          <p:cNvSpPr>
            <a:spLocks noGrp="1"/>
          </p:cNvSpPr>
          <p:nvPr>
            <p:ph type="sldNum" sz="quarter" idx="12"/>
          </p:nvPr>
        </p:nvSpPr>
        <p:spPr/>
        <p:txBody>
          <a:bodyPr/>
          <a:lstStyle/>
          <a:p>
            <a:pPr>
              <a:defRPr/>
            </a:pPr>
            <a:fld id="{D5EE73B7-B2FC-46CD-81E1-535D564C8DD7}" type="slidenum">
              <a:rPr lang="en-US"/>
              <a:pPr>
                <a:defRPr/>
              </a:pPr>
              <a:t>47</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pPr eaLnBrk="1" hangingPunct="1"/>
            <a:r>
              <a:rPr lang="en-US" dirty="0">
                <a:latin typeface="Arial" pitchFamily="34" charset="0"/>
                <a:ea typeface="ＭＳ Ｐゴシック"/>
                <a:cs typeface="Arial" pitchFamily="34" charset="0"/>
              </a:rPr>
              <a:t>RUP good practice (cont.)</a:t>
            </a:r>
          </a:p>
        </p:txBody>
      </p:sp>
      <p:sp>
        <p:nvSpPr>
          <p:cNvPr id="80899"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US" dirty="0">
                <a:solidFill>
                  <a:schemeClr val="tx1"/>
                </a:solidFill>
                <a:latin typeface="Arial" pitchFamily="34" charset="0"/>
                <a:ea typeface="ＭＳ Ｐゴシック"/>
                <a:cs typeface="Arial" pitchFamily="34" charset="0"/>
              </a:rPr>
              <a:t>Visually model software</a:t>
            </a:r>
          </a:p>
          <a:p>
            <a:pPr lvl="1" eaLnBrk="1" hangingPunct="1">
              <a:buFont typeface="Wingdings" pitchFamily="2" charset="2"/>
              <a:buChar char="§"/>
            </a:pPr>
            <a:r>
              <a:rPr lang="en-US" dirty="0">
                <a:solidFill>
                  <a:schemeClr val="tx1"/>
                </a:solidFill>
                <a:latin typeface="Arial" pitchFamily="34" charset="0"/>
                <a:ea typeface="ＭＳ Ｐゴシック"/>
                <a:cs typeface="Arial" pitchFamily="34" charset="0"/>
              </a:rPr>
              <a:t>Use graphical UML models to present static and dynamic views of the software.</a:t>
            </a:r>
          </a:p>
          <a:p>
            <a:pPr eaLnBrk="1" hangingPunct="1">
              <a:buFont typeface="Wingdings" pitchFamily="2" charset="2"/>
              <a:buChar char="²"/>
            </a:pPr>
            <a:r>
              <a:rPr lang="en-US" dirty="0">
                <a:solidFill>
                  <a:schemeClr val="tx1"/>
                </a:solidFill>
                <a:latin typeface="Arial" pitchFamily="34" charset="0"/>
                <a:ea typeface="ＭＳ Ｐゴシック"/>
                <a:cs typeface="Arial" pitchFamily="34" charset="0"/>
              </a:rPr>
              <a:t>Verify software quality</a:t>
            </a:r>
          </a:p>
          <a:p>
            <a:pPr lvl="1" eaLnBrk="1" hangingPunct="1">
              <a:buFont typeface="Wingdings" pitchFamily="2" charset="2"/>
              <a:buChar char="§"/>
            </a:pPr>
            <a:r>
              <a:rPr lang="en-US" dirty="0">
                <a:solidFill>
                  <a:schemeClr val="tx1"/>
                </a:solidFill>
                <a:latin typeface="Arial" pitchFamily="34" charset="0"/>
                <a:ea typeface="ＭＳ Ｐゴシック"/>
                <a:cs typeface="Arial" pitchFamily="34" charset="0"/>
              </a:rPr>
              <a:t>Ensure that the software meet’s organizational quality standards.</a:t>
            </a:r>
          </a:p>
          <a:p>
            <a:pPr eaLnBrk="1" hangingPunct="1">
              <a:buFont typeface="Wingdings" pitchFamily="2" charset="2"/>
              <a:buChar char="²"/>
            </a:pPr>
            <a:r>
              <a:rPr lang="en-US" dirty="0">
                <a:solidFill>
                  <a:schemeClr val="tx1"/>
                </a:solidFill>
                <a:latin typeface="Arial" pitchFamily="34" charset="0"/>
                <a:ea typeface="ＭＳ Ｐゴシック"/>
                <a:cs typeface="Arial" pitchFamily="34" charset="0"/>
              </a:rPr>
              <a:t>Control changes to software</a:t>
            </a:r>
          </a:p>
          <a:p>
            <a:pPr lvl="1" eaLnBrk="1" hangingPunct="1">
              <a:buFont typeface="Wingdings" pitchFamily="2" charset="2"/>
              <a:buChar char="§"/>
            </a:pPr>
            <a:r>
              <a:rPr lang="en-US" dirty="0">
                <a:solidFill>
                  <a:schemeClr val="tx1"/>
                </a:solidFill>
                <a:latin typeface="Arial" pitchFamily="34" charset="0"/>
                <a:ea typeface="ＭＳ Ｐゴシック"/>
                <a:cs typeface="Arial" pitchFamily="34" charset="0"/>
              </a:rPr>
              <a:t>Manage software changes using a change management system and configuration management tools.</a:t>
            </a:r>
          </a:p>
        </p:txBody>
      </p:sp>
      <p:sp>
        <p:nvSpPr>
          <p:cNvPr id="5" name="Slide Number Placeholder 4"/>
          <p:cNvSpPr>
            <a:spLocks noGrp="1"/>
          </p:cNvSpPr>
          <p:nvPr>
            <p:ph type="sldNum" sz="quarter" idx="12"/>
          </p:nvPr>
        </p:nvSpPr>
        <p:spPr/>
        <p:txBody>
          <a:bodyPr/>
          <a:lstStyle/>
          <a:p>
            <a:pPr>
              <a:defRPr/>
            </a:pPr>
            <a:fld id="{F51AC001-1C66-4EEE-A11B-EC554F370C7A}" type="slidenum">
              <a:rPr lang="en-US"/>
              <a:pPr>
                <a:defRPr/>
              </a:pPr>
              <a:t>48</a:t>
            </a:fld>
            <a:endParaRPr lang="en-US"/>
          </a:p>
        </p:txBody>
      </p:sp>
      <p:sp>
        <p:nvSpPr>
          <p:cNvPr id="6"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Key points</a:t>
            </a:r>
          </a:p>
        </p:txBody>
      </p:sp>
      <p:sp>
        <p:nvSpPr>
          <p:cNvPr id="81923"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a:latin typeface="Arial" pitchFamily="34" charset="0"/>
                <a:ea typeface="ＭＳ Ｐゴシック"/>
                <a:cs typeface="Arial" pitchFamily="34" charset="0"/>
              </a:rPr>
              <a:t>Software engineering is an engineering discipline that is concerned with all aspects of software production.</a:t>
            </a:r>
          </a:p>
          <a:p>
            <a:pPr eaLnBrk="1" hangingPunct="1">
              <a:buFont typeface="Wingdings" pitchFamily="2" charset="2"/>
              <a:buChar char="²"/>
            </a:pPr>
            <a:r>
              <a:rPr lang="en-GB">
                <a:latin typeface="Arial" pitchFamily="34" charset="0"/>
                <a:ea typeface="ＭＳ Ｐゴシック"/>
                <a:cs typeface="Arial" pitchFamily="34" charset="0"/>
              </a:rPr>
              <a:t>Essential software product attributes are maintainability, dependability and security, efficiency and acceptability.</a:t>
            </a:r>
          </a:p>
          <a:p>
            <a:pPr eaLnBrk="1" hangingPunct="1">
              <a:buFont typeface="Wingdings" pitchFamily="2" charset="2"/>
              <a:buChar char="²"/>
            </a:pPr>
            <a:r>
              <a:rPr lang="en-GB">
                <a:latin typeface="Arial" pitchFamily="34" charset="0"/>
                <a:ea typeface="ＭＳ Ｐゴシック"/>
                <a:cs typeface="Arial" pitchFamily="34" charset="0"/>
              </a:rPr>
              <a:t>The high-level activities of specification, development, validation and evolution are part of all software processes.</a:t>
            </a:r>
          </a:p>
          <a:p>
            <a:pPr eaLnBrk="1" hangingPunct="1">
              <a:buFont typeface="Wingdings" pitchFamily="2" charset="2"/>
              <a:buChar char="²"/>
            </a:pPr>
            <a:r>
              <a:rPr lang="en-GB">
                <a:latin typeface="Arial" pitchFamily="34" charset="0"/>
                <a:ea typeface="ＭＳ Ｐゴシック"/>
                <a:cs typeface="Arial" pitchFamily="34" charset="0"/>
              </a:rPr>
              <a:t>The fundamental notions of software engineering are universally applicable to all types of system development.  </a:t>
            </a: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ECD1BB56-2B35-4109-90E2-B749F8C02DCD}" type="slidenum">
              <a:rPr lang="en-US" smtClean="0"/>
              <a:pPr>
                <a:defRPr/>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Key points</a:t>
            </a:r>
          </a:p>
        </p:txBody>
      </p:sp>
      <p:sp>
        <p:nvSpPr>
          <p:cNvPr id="82947" name="Content Placeholder 2"/>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a:latin typeface="Arial" pitchFamily="34" charset="0"/>
                <a:ea typeface="ＭＳ Ｐゴシック"/>
                <a:cs typeface="Arial" pitchFamily="34" charset="0"/>
              </a:rPr>
              <a:t>There are many different types of system and each requires appropriate software engineering tools and techniques for their development. </a:t>
            </a:r>
          </a:p>
          <a:p>
            <a:pPr eaLnBrk="1" hangingPunct="1">
              <a:buFont typeface="Wingdings" pitchFamily="2" charset="2"/>
              <a:buChar char="²"/>
            </a:pPr>
            <a:r>
              <a:rPr lang="en-GB">
                <a:latin typeface="Arial" pitchFamily="34" charset="0"/>
                <a:ea typeface="ＭＳ Ｐゴシック"/>
                <a:cs typeface="Arial" pitchFamily="34" charset="0"/>
              </a:rPr>
              <a:t>The fundamental ideas of software engineering are applicable to all types of software system. </a:t>
            </a:r>
            <a:endParaRPr lang="en-US">
              <a:latin typeface="Arial" pitchFamily="34" charset="0"/>
              <a:ea typeface="ＭＳ Ｐゴシック"/>
              <a:cs typeface="Arial" pitchFamily="34" charset="0"/>
            </a:endParaRPr>
          </a:p>
          <a:p>
            <a:pPr eaLnBrk="1" hangingPunct="1">
              <a:buFont typeface="Wingdings" pitchFamily="2" charset="2"/>
              <a:buNone/>
            </a:pPr>
            <a:endParaRPr lang="en-US">
              <a:latin typeface="Arial" pitchFamily="34" charset="0"/>
              <a:ea typeface="ＭＳ Ｐゴシック"/>
              <a:cs typeface="Arial" pitchFamily="34" charset="0"/>
            </a:endParaRPr>
          </a:p>
        </p:txBody>
      </p:sp>
      <p:sp>
        <p:nvSpPr>
          <p:cNvPr id="4" name="Footer Placeholder 3"/>
          <p:cNvSpPr>
            <a:spLocks noGrp="1"/>
          </p:cNvSpPr>
          <p:nvPr>
            <p:ph type="ftr" sz="quarter" idx="11"/>
          </p:nvPr>
        </p:nvSpPr>
        <p:spPr/>
        <p:txBody>
          <a:bodyPr/>
          <a:lstStyle/>
          <a:p>
            <a:pPr>
              <a:defRPr/>
            </a:pPr>
            <a:r>
              <a:rPr lang="en-US"/>
              <a:t>Chapter 1  Introduction</a:t>
            </a:r>
          </a:p>
        </p:txBody>
      </p:sp>
      <p:sp>
        <p:nvSpPr>
          <p:cNvPr id="5" name="Slide Number Placeholder 4"/>
          <p:cNvSpPr>
            <a:spLocks noGrp="1"/>
          </p:cNvSpPr>
          <p:nvPr>
            <p:ph type="sldNum" sz="quarter" idx="12"/>
          </p:nvPr>
        </p:nvSpPr>
        <p:spPr/>
        <p:txBody>
          <a:bodyPr/>
          <a:lstStyle/>
          <a:p>
            <a:pPr>
              <a:defRPr/>
            </a:pPr>
            <a:fld id="{7CEDC1F4-8378-4941-B3EC-180CBC507B61}" type="slidenum">
              <a:rPr lang="en-US" smtClean="0"/>
              <a:pPr>
                <a:defRPr/>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Key points</a:t>
            </a:r>
          </a:p>
        </p:txBody>
      </p:sp>
      <p:sp>
        <p:nvSpPr>
          <p:cNvPr id="54275" name="Content Placeholder 4"/>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Software processes are the activities involved in producing a software system. Software process models are abstract representations of these processes.</a:t>
            </a:r>
          </a:p>
          <a:p>
            <a:pPr eaLnBrk="1" hangingPunct="1">
              <a:buFont typeface="Wingdings" pitchFamily="2" charset="2"/>
              <a:buChar char="²"/>
            </a:pPr>
            <a:r>
              <a:rPr lang="en-GB" dirty="0">
                <a:latin typeface="Arial" pitchFamily="34" charset="0"/>
                <a:ea typeface="ＭＳ Ｐゴシック"/>
                <a:cs typeface="Arial" pitchFamily="34" charset="0"/>
              </a:rPr>
              <a:t>General process models describe the organization of software processes. Examples of these general models include the ‘waterfall’ model,  incremental development and reuse-oriented development. </a:t>
            </a:r>
          </a:p>
          <a:p>
            <a:pPr eaLnBrk="1" hangingPunct="1">
              <a:buFont typeface="Wingdings" pitchFamily="2" charset="2"/>
              <a:buChar char="²"/>
            </a:pPr>
            <a:r>
              <a:rPr lang="en-GB" dirty="0">
                <a:latin typeface="Arial" pitchFamily="34" charset="0"/>
                <a:ea typeface="ＭＳ Ｐゴシック"/>
                <a:cs typeface="Arial" pitchFamily="34" charset="0"/>
              </a:rPr>
              <a:t>Iterative process model includes software prototyping.</a:t>
            </a:r>
          </a:p>
        </p:txBody>
      </p:sp>
      <p:sp>
        <p:nvSpPr>
          <p:cNvPr id="6" name="Slide Number Placeholder 5"/>
          <p:cNvSpPr>
            <a:spLocks noGrp="1"/>
          </p:cNvSpPr>
          <p:nvPr>
            <p:ph type="sldNum" sz="quarter" idx="12"/>
          </p:nvPr>
        </p:nvSpPr>
        <p:spPr/>
        <p:txBody>
          <a:bodyPr/>
          <a:lstStyle/>
          <a:p>
            <a:pPr>
              <a:defRPr/>
            </a:pPr>
            <a:fld id="{04CC3BD6-6C66-47D5-8EC7-15FDEB8203A5}" type="slidenum">
              <a:rPr lang="en-US"/>
              <a:pPr>
                <a:defRPr/>
              </a:pPr>
              <a:t>51</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pPr eaLnBrk="1" hangingPunct="1"/>
            <a:r>
              <a:rPr lang="en-US">
                <a:latin typeface="Arial" pitchFamily="34" charset="0"/>
                <a:ea typeface="ＭＳ Ｐゴシック"/>
                <a:cs typeface="Arial" pitchFamily="34" charset="0"/>
              </a:rPr>
              <a:t>Key points</a:t>
            </a:r>
          </a:p>
        </p:txBody>
      </p:sp>
      <p:sp>
        <p:nvSpPr>
          <p:cNvPr id="84995" name="Content Placeholder 4"/>
          <p:cNvSpPr>
            <a:spLocks noGrp="1"/>
          </p:cNvSpPr>
          <p:nvPr>
            <p:ph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Char char="²"/>
            </a:pPr>
            <a:r>
              <a:rPr lang="en-GB" dirty="0">
                <a:latin typeface="Arial" pitchFamily="34" charset="0"/>
                <a:ea typeface="ＭＳ Ｐゴシック"/>
                <a:cs typeface="Arial" pitchFamily="34" charset="0"/>
              </a:rPr>
              <a:t>The Rational Unified Process is a modern generic process model that is organized into phases (inception, elaboration, construction and transition) but separates activities (requirements, analysis and design, etc.) from these phases.</a:t>
            </a:r>
          </a:p>
          <a:p>
            <a:pPr eaLnBrk="1" hangingPunct="1">
              <a:buFont typeface="Wingdings" pitchFamily="2" charset="2"/>
              <a:buChar char="²"/>
            </a:pPr>
            <a:endParaRPr lang="en-US" dirty="0">
              <a:latin typeface="Arial" pitchFamily="34" charset="0"/>
              <a:ea typeface="ＭＳ Ｐゴシック"/>
              <a:cs typeface="Arial" pitchFamily="34" charset="0"/>
            </a:endParaRPr>
          </a:p>
        </p:txBody>
      </p:sp>
      <p:sp>
        <p:nvSpPr>
          <p:cNvPr id="6" name="Slide Number Placeholder 5"/>
          <p:cNvSpPr>
            <a:spLocks noGrp="1"/>
          </p:cNvSpPr>
          <p:nvPr>
            <p:ph type="sldNum" sz="quarter" idx="12"/>
          </p:nvPr>
        </p:nvSpPr>
        <p:spPr/>
        <p:txBody>
          <a:bodyPr/>
          <a:lstStyle/>
          <a:p>
            <a:pPr>
              <a:defRPr/>
            </a:pPr>
            <a:fld id="{7354551B-9245-4238-A9D0-D72EE0CBAF76}" type="slidenum">
              <a:rPr lang="en-US"/>
              <a:pPr>
                <a:defRPr/>
              </a:pPr>
              <a:t>52</a:t>
            </a:fld>
            <a:endParaRPr lang="en-US"/>
          </a:p>
        </p:txBody>
      </p:sp>
      <p:sp>
        <p:nvSpPr>
          <p:cNvPr id="8" name="Footer Placeholder 6"/>
          <p:cNvSpPr>
            <a:spLocks noGrp="1"/>
          </p:cNvSpPr>
          <p:nvPr>
            <p:ph type="ftr" sz="quarter" idx="11"/>
          </p:nvPr>
        </p:nvSpPr>
        <p:spPr/>
        <p:txBody>
          <a:bodyPr/>
          <a:lstStyle/>
          <a:p>
            <a:pPr>
              <a:defRPr/>
            </a:pPr>
            <a:r>
              <a:rPr lang="en-US"/>
              <a:t>Chapter 1 Introduction</a:t>
            </a:r>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10643</TotalTime>
  <Words>3267</Words>
  <Application>Microsoft Macintosh PowerPoint</Application>
  <PresentationFormat>On-screen Show (4:3)</PresentationFormat>
  <Paragraphs>379</Paragraphs>
  <Slides>52</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Wingdings</vt:lpstr>
      <vt:lpstr>SE9</vt:lpstr>
      <vt:lpstr>Chapter 1 – Introduction</vt:lpstr>
      <vt:lpstr>Topics covered</vt:lpstr>
      <vt:lpstr>INTRODUCTION TO SOFTWARE ENGINEERING</vt:lpstr>
      <vt:lpstr>Software costs</vt:lpstr>
      <vt:lpstr>Software products</vt:lpstr>
      <vt:lpstr>Product specification</vt:lpstr>
      <vt:lpstr>PowerPoint Presentation</vt:lpstr>
      <vt:lpstr>Frequently asked questions about software engineering </vt:lpstr>
      <vt:lpstr>Frequently asked questions about software engineering</vt:lpstr>
      <vt:lpstr>PowerPoint Presentation</vt:lpstr>
      <vt:lpstr>Essential attributes of good software</vt:lpstr>
      <vt:lpstr>Software engineering</vt:lpstr>
      <vt:lpstr>PowerPoint Presentation</vt:lpstr>
      <vt:lpstr>Importance of software engineering</vt:lpstr>
      <vt:lpstr>Application types</vt:lpstr>
      <vt:lpstr>Application types (cont.)</vt:lpstr>
      <vt:lpstr>Application types (cont.)</vt:lpstr>
      <vt:lpstr>THE SOFTWARE PROCESS</vt:lpstr>
      <vt:lpstr>Software process descriptions</vt:lpstr>
      <vt:lpstr>Plan-driven and agile processes</vt:lpstr>
      <vt:lpstr>SOFTWARE PROCESS MODELS</vt:lpstr>
      <vt:lpstr>The waterfall model </vt:lpstr>
      <vt:lpstr>Waterfall model phases</vt:lpstr>
      <vt:lpstr>Waterfall model problems</vt:lpstr>
      <vt:lpstr>Incremental development  </vt:lpstr>
      <vt:lpstr>Incremental delivery</vt:lpstr>
      <vt:lpstr>Incremental development and delivery</vt:lpstr>
      <vt:lpstr>Incremental delivery </vt:lpstr>
      <vt:lpstr>Incremental delivery advantages</vt:lpstr>
      <vt:lpstr>Incremental delivery problems</vt:lpstr>
      <vt:lpstr>Incremental development benefits</vt:lpstr>
      <vt:lpstr>Incremental development problems</vt:lpstr>
      <vt:lpstr>Reuse-oriented software engineering</vt:lpstr>
      <vt:lpstr>Reuse-oriented software engineering</vt:lpstr>
      <vt:lpstr>Types of software component</vt:lpstr>
      <vt:lpstr>Reuse-oriented software engineering</vt:lpstr>
      <vt:lpstr>ITERATIVE PROCESS</vt:lpstr>
      <vt:lpstr>Software prototyping</vt:lpstr>
      <vt:lpstr>Benefits of prototyping</vt:lpstr>
      <vt:lpstr>The process of prototype development </vt:lpstr>
      <vt:lpstr>Prototype development</vt:lpstr>
      <vt:lpstr>Throw-away prototypes</vt:lpstr>
      <vt:lpstr>THE RATIONAL UNIFIED PROCESS (RUP)</vt:lpstr>
      <vt:lpstr>Phases in the Rational Unified Process </vt:lpstr>
      <vt:lpstr>Phases in the Rational Unified Process </vt:lpstr>
      <vt:lpstr>RUP phases</vt:lpstr>
      <vt:lpstr>RUP good practice</vt:lpstr>
      <vt:lpstr>RUP good practice (cont.)</vt:lpstr>
      <vt:lpstr>Key points</vt:lpstr>
      <vt:lpstr>Key points</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Figures-Chapter</dc:title>
  <dc:creator>Ian Sommerville</dc:creator>
  <cp:lastModifiedBy>MUHAMAD SUFRI MUHAMMAD</cp:lastModifiedBy>
  <cp:revision>102</cp:revision>
  <dcterms:created xsi:type="dcterms:W3CDTF">2010-01-06T19:57:16Z</dcterms:created>
  <dcterms:modified xsi:type="dcterms:W3CDTF">2023-10-02T11:33:20Z</dcterms:modified>
</cp:coreProperties>
</file>
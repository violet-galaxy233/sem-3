
<file path=[Content_Types].xml><?xml version="1.0" encoding="utf-8"?>
<Types xmlns="http://schemas.openxmlformats.org/package/2006/content-types">
  <Default Extension="docx" ContentType="application/vnd.openxmlformats-officedocument.wordprocessingml.document"/>
  <Default Extension="jpeg" ContentType="image/jpeg"/>
  <Default Extension="pdf" ContentType="application/pdf"/>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72"/>
  </p:notesMasterIdLst>
  <p:handoutMasterIdLst>
    <p:handoutMasterId r:id="rId73"/>
  </p:handoutMasterIdLst>
  <p:sldIdLst>
    <p:sldId id="256" r:id="rId2"/>
    <p:sldId id="276" r:id="rId3"/>
    <p:sldId id="277" r:id="rId4"/>
    <p:sldId id="278" r:id="rId5"/>
    <p:sldId id="279" r:id="rId6"/>
    <p:sldId id="280" r:id="rId7"/>
    <p:sldId id="257" r:id="rId8"/>
    <p:sldId id="258" r:id="rId9"/>
    <p:sldId id="281" r:id="rId10"/>
    <p:sldId id="282" r:id="rId11"/>
    <p:sldId id="283" r:id="rId12"/>
    <p:sldId id="285" r:id="rId13"/>
    <p:sldId id="287" r:id="rId14"/>
    <p:sldId id="288" r:id="rId15"/>
    <p:sldId id="259" r:id="rId16"/>
    <p:sldId id="260" r:id="rId17"/>
    <p:sldId id="289" r:id="rId18"/>
    <p:sldId id="261" r:id="rId19"/>
    <p:sldId id="311" r:id="rId20"/>
    <p:sldId id="316" r:id="rId21"/>
    <p:sldId id="312" r:id="rId22"/>
    <p:sldId id="351" r:id="rId23"/>
    <p:sldId id="313" r:id="rId24"/>
    <p:sldId id="291" r:id="rId25"/>
    <p:sldId id="262" r:id="rId26"/>
    <p:sldId id="319" r:id="rId27"/>
    <p:sldId id="264" r:id="rId28"/>
    <p:sldId id="315" r:id="rId29"/>
    <p:sldId id="320" r:id="rId30"/>
    <p:sldId id="265" r:id="rId31"/>
    <p:sldId id="321" r:id="rId32"/>
    <p:sldId id="324" r:id="rId33"/>
    <p:sldId id="323" r:id="rId34"/>
    <p:sldId id="266" r:id="rId35"/>
    <p:sldId id="322" r:id="rId36"/>
    <p:sldId id="325" r:id="rId37"/>
    <p:sldId id="357" r:id="rId38"/>
    <p:sldId id="353" r:id="rId39"/>
    <p:sldId id="354" r:id="rId40"/>
    <p:sldId id="355" r:id="rId41"/>
    <p:sldId id="269" r:id="rId42"/>
    <p:sldId id="303" r:id="rId43"/>
    <p:sldId id="304" r:id="rId44"/>
    <p:sldId id="333" r:id="rId45"/>
    <p:sldId id="270" r:id="rId46"/>
    <p:sldId id="340" r:id="rId47"/>
    <p:sldId id="335" r:id="rId48"/>
    <p:sldId id="343" r:id="rId49"/>
    <p:sldId id="344" r:id="rId50"/>
    <p:sldId id="336" r:id="rId51"/>
    <p:sldId id="345" r:id="rId52"/>
    <p:sldId id="346" r:id="rId53"/>
    <p:sldId id="305" r:id="rId54"/>
    <p:sldId id="271" r:id="rId55"/>
    <p:sldId id="306" r:id="rId56"/>
    <p:sldId id="272" r:id="rId57"/>
    <p:sldId id="358" r:id="rId58"/>
    <p:sldId id="292" r:id="rId59"/>
    <p:sldId id="294" r:id="rId60"/>
    <p:sldId id="293" r:id="rId61"/>
    <p:sldId id="273" r:id="rId62"/>
    <p:sldId id="296" r:id="rId63"/>
    <p:sldId id="297" r:id="rId64"/>
    <p:sldId id="301" r:id="rId65"/>
    <p:sldId id="347" r:id="rId66"/>
    <p:sldId id="295" r:id="rId67"/>
    <p:sldId id="348" r:id="rId68"/>
    <p:sldId id="274" r:id="rId69"/>
    <p:sldId id="356" r:id="rId70"/>
    <p:sldId id="309" r:id="rId71"/>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921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10/27/2020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12472210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10/27/2020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4059591574"/>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B7B8CCC-C6F6-C744-8767-7124C04F432F}" type="datetime1">
              <a:rPr lang="en-US" smtClean="0"/>
              <a:pPr>
                <a:defRPr/>
              </a:pPr>
              <a:t>10/27/2020</a:t>
            </a:fld>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
        <p:nvSpPr>
          <p:cNvPr id="7" name="Date Placeholder 3"/>
          <p:cNvSpPr txBox="1">
            <a:spLocks/>
          </p:cNvSpPr>
          <p:nvPr userDrawn="1"/>
        </p:nvSpPr>
        <p:spPr>
          <a:xfrm>
            <a:off x="3203848" y="6356350"/>
            <a:ext cx="2736304"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Chapter 2 Requirement Engineering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904E52A-2476-1340-A5C3-5A2D80BAD226}" type="datetime1">
              <a:rPr lang="en-US" smtClean="0"/>
              <a:pPr>
                <a:defRPr/>
              </a:pPr>
              <a:t>10/27/2020</a:t>
            </a:fld>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
        <p:nvSpPr>
          <p:cNvPr id="8" name="Date Placeholder 3"/>
          <p:cNvSpPr txBox="1">
            <a:spLocks/>
          </p:cNvSpPr>
          <p:nvPr userDrawn="1"/>
        </p:nvSpPr>
        <p:spPr>
          <a:xfrm>
            <a:off x="3203848" y="6356350"/>
            <a:ext cx="2736304"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Chapter 2 Requirements Engineering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EC7F83E1-178D-8C43-BF4A-AE3EB8F3FFD3}" type="datetime1">
              <a:rPr lang="en-US" smtClean="0"/>
              <a:pPr>
                <a:defRPr/>
              </a:pPr>
              <a:t>10/27/2020</a:t>
            </a:fld>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
        <p:nvSpPr>
          <p:cNvPr id="7" name="Date Placeholder 3"/>
          <p:cNvSpPr txBox="1">
            <a:spLocks/>
          </p:cNvSpPr>
          <p:nvPr userDrawn="1"/>
        </p:nvSpPr>
        <p:spPr>
          <a:xfrm>
            <a:off x="3203848" y="6356350"/>
            <a:ext cx="2736304"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Chapter 2 Requirements Engineering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F33490DA-C9DF-CB45-8664-ABF7A824EA6C}" type="datetime1">
              <a:rPr lang="en-US" smtClean="0"/>
              <a:pPr>
                <a:defRPr/>
              </a:pPr>
              <a:t>10/27/2020</a:t>
            </a:fld>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
        <p:nvSpPr>
          <p:cNvPr id="8" name="Date Placeholder 3"/>
          <p:cNvSpPr txBox="1">
            <a:spLocks/>
          </p:cNvSpPr>
          <p:nvPr userDrawn="1"/>
        </p:nvSpPr>
        <p:spPr>
          <a:xfrm>
            <a:off x="3203848" y="6356350"/>
            <a:ext cx="2736304"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Chapter 2 Requirements Engineering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EDDC695B-01A5-4C45-BEA1-8984F49CB2EF}" type="datetime1">
              <a:rPr lang="en-US" smtClean="0"/>
              <a:pPr>
                <a:defRPr/>
              </a:pPr>
              <a:t>10/27/2020</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413090-8E42-D147-A70A-C9AE1F079D69}" type="datetime1">
              <a:rPr lang="en-US" smtClean="0"/>
              <a:pPr>
                <a:defRPr/>
              </a:pPr>
              <a:t>10/27/2020</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5D02FA-23E5-9145-8D5A-9638243413AD}" type="datetime1">
              <a:rPr lang="en-US" smtClean="0"/>
              <a:pPr>
                <a:defRPr/>
              </a:pPr>
              <a:t>10/27/2020</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902FC95B-596E-0D40-A740-F50075B914A9}" type="datetime1">
              <a:rPr lang="en-US" smtClean="0"/>
              <a:pPr>
                <a:defRPr/>
              </a:pPr>
              <a:t>10/27/2020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F0500769-F39E-4A4D-A4CE-92D09FFFECC9}" type="datetime1">
              <a:rPr lang="en-US" smtClean="0"/>
              <a:pPr>
                <a:defRPr/>
              </a:pPr>
              <a:t>10/27/2020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AB6CDEEB-0315-E64A-962D-B94AA3A20008}" type="datetime1">
              <a:rPr lang="en-US" smtClean="0"/>
              <a:pPr>
                <a:defRPr/>
              </a:pPr>
              <a:t>10/27/2020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99260568-3727-E744-9DC3-F092D60BBC91}" type="datetime1">
              <a:rPr lang="en-US" smtClean="0"/>
              <a:pPr>
                <a:defRPr/>
              </a:pPr>
              <a:t>10/27/2020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a:t>Chapter 2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C440C91-0FBE-0F48-8DA2-B770B0FEE374}" type="datetime1">
              <a:rPr lang="en-US" smtClean="0"/>
              <a:pPr>
                <a:defRPr/>
              </a:pPr>
              <a:t>10/27/2020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package" Target="../embeddings/Microsoft_Word_Document1.docx"/><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slide" Target="slide38.xml"/><Relationship Id="rId1" Type="http://schemas.openxmlformats.org/officeDocument/2006/relationships/slideLayout" Target="../slideLayouts/slideLayout2.xml"/><Relationship Id="rId4" Type="http://schemas.openxmlformats.org/officeDocument/2006/relationships/slide" Target="slide64.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package" Target="../embeddings/Microsoft_Word_Document3.doc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d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pd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2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a:ea typeface="+mn-ea"/>
                <a:cs typeface="+mn-cs"/>
              </a:rPr>
              <a:t>Lecture 1</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Functional and non-functional requirements</a:t>
            </a:r>
            <a:endParaRPr lang="en-GB" dirty="0"/>
          </a:p>
          <a:p>
            <a:r>
              <a:rPr lang="en-US" dirty="0"/>
              <a:t>The software requirements document </a:t>
            </a:r>
            <a:endParaRPr lang="en-GB" dirty="0"/>
          </a:p>
          <a:p>
            <a:r>
              <a:rPr lang="en-US" dirty="0"/>
              <a:t>Requirements specification</a:t>
            </a:r>
            <a:endParaRPr lang="en-GB" dirty="0"/>
          </a:p>
          <a:p>
            <a:r>
              <a:rPr lang="en-US" dirty="0"/>
              <a:t>Requirements engineering processes</a:t>
            </a:r>
            <a:endParaRPr lang="en-GB" dirty="0"/>
          </a:p>
          <a:p>
            <a:r>
              <a:rPr lang="en-US" dirty="0"/>
              <a:t>Requirements elicitation and analysis</a:t>
            </a:r>
            <a:endParaRPr lang="en-GB" dirty="0"/>
          </a:p>
          <a:p>
            <a:r>
              <a:rPr lang="en-US" dirty="0"/>
              <a:t>Requirements validation</a:t>
            </a:r>
            <a:endParaRPr lang="en-GB" dirty="0"/>
          </a:p>
          <a:p>
            <a:r>
              <a:rPr lang="en-US" dirty="0"/>
              <a:t>Requirements management</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that the customer requires from a system and the constraints under which it operates and is developed.</a:t>
            </a:r>
          </a:p>
          <a:p>
            <a:r>
              <a:rPr lang="en-GB"/>
              <a:t>The requirements themselves are the descriptions of the system services and constraints that are generated during the requirements engineering process.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6" name="Rectangle 5"/>
          <p:cNvSpPr/>
          <p:nvPr/>
        </p:nvSpPr>
        <p:spPr>
          <a:xfrm>
            <a:off x="457200" y="1951673"/>
            <a:ext cx="8305800" cy="2862322"/>
          </a:xfrm>
          <a:prstGeom prst="rect">
            <a:avLst/>
          </a:prstGeom>
        </p:spPr>
        <p:txBody>
          <a:bodyPr wrap="square">
            <a:spAutoFit/>
          </a:bodyPr>
          <a:lstStyle/>
          <a:p>
            <a:r>
              <a:rPr lang="en-US" sz="2000" dirty="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8" name="Footer Placeholder 7"/>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pic>
        <p:nvPicPr>
          <p:cNvPr id="4" name="Picture 3" descr="4.1 UserSysReq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143000" y="1626233"/>
            <a:ext cx="6553200" cy="4850767"/>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pic>
        <p:nvPicPr>
          <p:cNvPr id="4" name="Picture 3" descr="4.2 ReqReader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219200" y="2057400"/>
            <a:ext cx="6531232" cy="3651553"/>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endParaRPr lang="en-GB" sz="2000" dirty="0"/>
          </a:p>
          <a:p>
            <a:pPr>
              <a:lnSpc>
                <a:spcPct val="90000"/>
              </a:lnSpc>
            </a:pPr>
            <a:r>
              <a:rPr lang="en-GB" sz="2400" dirty="0"/>
              <a:t>Non-functional requirements</a:t>
            </a:r>
          </a:p>
          <a:p>
            <a:pPr lvl="1">
              <a:lnSpc>
                <a:spcPct val="90000"/>
              </a:lnSpc>
            </a:pPr>
            <a:r>
              <a:rPr lang="en-GB" dirty="0"/>
              <a:t>C</a:t>
            </a:r>
            <a:r>
              <a:rPr lang="en-GB" sz="2000" dirty="0"/>
              <a:t>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sz="2400" dirty="0"/>
              <a:t>Domain requirements</a:t>
            </a:r>
          </a:p>
          <a:p>
            <a:pPr lvl="1">
              <a:lnSpc>
                <a:spcPct val="90000"/>
              </a:lnSpc>
            </a:pPr>
            <a:r>
              <a:rPr lang="en-GB" sz="2000" dirty="0"/>
              <a:t>Constraints on the system from the domain </a:t>
            </a:r>
            <a:r>
              <a:rPr lang="en-GB" dirty="0"/>
              <a:t>of operation</a:t>
            </a:r>
            <a:endParaRPr lang="en-GB" sz="20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Functional requirements for the MHC-PMS</a:t>
            </a:r>
          </a:p>
        </p:txBody>
      </p:sp>
      <p:sp>
        <p:nvSpPr>
          <p:cNvPr id="77827" name="Rectangle 3"/>
          <p:cNvSpPr>
            <a:spLocks noGrp="1" noChangeArrowheads="1"/>
          </p:cNvSpPr>
          <p:nvPr>
            <p:ph idx="1"/>
          </p:nvPr>
        </p:nvSpPr>
        <p:spPr/>
        <p:txBody>
          <a:bodyPr/>
          <a:lstStyle/>
          <a:p>
            <a:r>
              <a:rPr lang="en-US" dirty="0"/>
              <a:t>A user shall be able to search the appointments lists for all clinics.</a:t>
            </a:r>
            <a:endParaRPr lang="en-GB" dirty="0"/>
          </a:p>
          <a:p>
            <a:r>
              <a:rPr lang="en-US" dirty="0"/>
              <a:t>The system shall generate each day, for each clinic, a list of patients who are expected to attend appointments that day. </a:t>
            </a:r>
            <a:endParaRPr lang="en-GB" dirty="0"/>
          </a:p>
          <a:p>
            <a:r>
              <a:rPr lang="en-US" dirty="0"/>
              <a:t>Each staff member using the system shall be uniquely identified by his or her 8-digit employee number.</a:t>
            </a:r>
            <a:r>
              <a:rPr lang="en-GB" dirty="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r>
              <a:rPr lang="en-GB" dirty="0"/>
              <a:t>Problems arise when requirements are not precisely stated.</a:t>
            </a:r>
          </a:p>
          <a:p>
            <a:r>
              <a:rPr lang="en-GB" dirty="0"/>
              <a:t>Ambiguous requirements may be interpreted in different ways by developers and users.</a:t>
            </a:r>
          </a:p>
          <a:p>
            <a:r>
              <a:rPr lang="en-GB" dirty="0"/>
              <a:t>Consider the term ‘search’ in requirement 1</a:t>
            </a:r>
          </a:p>
          <a:p>
            <a:pPr lvl="1"/>
            <a:r>
              <a:rPr lang="en-GB" dirty="0"/>
              <a:t>User intention – search for a patient name across all appointments in all clinics;</a:t>
            </a:r>
          </a:p>
          <a:p>
            <a:pPr lvl="1"/>
            <a:r>
              <a:rPr lang="en-GB" dirty="0"/>
              <a:t>Developer interpretation – search for a patient name in an individual clinic. User chooses clinic then search.</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pic>
        <p:nvPicPr>
          <p:cNvPr id="4" name="Picture 3" descr="4.3 Non-functionalReq.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990600" y="1911350"/>
            <a:ext cx="6915549" cy="38798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MHC-PMS</a:t>
            </a:r>
            <a:r>
              <a:rPr lang="en-GB" dirty="0"/>
              <a:t> </a:t>
            </a:r>
            <a:endParaRPr lang="en-US" dirty="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MHC-PMS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MHC-PMS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type="body"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GB"/>
              <a:t>Domain requirements</a:t>
            </a:r>
          </a:p>
        </p:txBody>
      </p:sp>
      <p:sp>
        <p:nvSpPr>
          <p:cNvPr id="49155" name="Rectangle 3"/>
          <p:cNvSpPr>
            <a:spLocks noGrp="1" noChangeArrowheads="1"/>
          </p:cNvSpPr>
          <p:nvPr>
            <p:ph type="body" idx="1"/>
          </p:nvPr>
        </p:nvSpPr>
        <p:spPr/>
        <p:txBody>
          <a:bodyPr/>
          <a:lstStyle/>
          <a:p>
            <a:r>
              <a:rPr lang="en-GB" dirty="0"/>
              <a:t>The system’s operational domain imposes requirements on the system.</a:t>
            </a:r>
          </a:p>
          <a:p>
            <a:pPr lvl="1"/>
            <a:r>
              <a:rPr lang="en-GB" dirty="0"/>
              <a:t>For example, a train control system has to take into account the braking characteristics in different weather conditions.</a:t>
            </a:r>
          </a:p>
          <a:p>
            <a:r>
              <a:rPr lang="en-GB" dirty="0"/>
              <a:t>Domain requirements be new functional requirements, constraints on existing requirements or define specific computations.</a:t>
            </a:r>
          </a:p>
          <a:p>
            <a:r>
              <a:rPr lang="en-GB" dirty="0"/>
              <a:t>If domain requirements are not satisfied, the system may be unworkable.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for a software system set out what the system should do and define constraints on its operation and implementation.</a:t>
            </a:r>
            <a:endParaRPr lang="en-GB" dirty="0"/>
          </a:p>
          <a:p>
            <a:r>
              <a:rPr lang="en-US" dirty="0"/>
              <a:t>Functional requirements are statements of the services that the system must provide or are descriptions of how some computations must be carried out. </a:t>
            </a:r>
            <a:endParaRPr lang="en-GB" dirty="0"/>
          </a:p>
          <a:p>
            <a:r>
              <a:rPr lang="en-US" dirty="0"/>
              <a:t>Non-functional requirements often constrain the system being developed and the development process being used. </a:t>
            </a:r>
          </a:p>
          <a:p>
            <a:r>
              <a:rPr lang="en-US" dirty="0"/>
              <a:t>They often relate to the emergent properties of the system and therefore apply to the system as a whole.</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Class exercise – identifying requirements</a:t>
            </a:r>
          </a:p>
        </p:txBody>
      </p:sp>
      <p:sp>
        <p:nvSpPr>
          <p:cNvPr id="3" name="Subtitle 2"/>
          <p:cNvSpPr>
            <a:spLocks noGrp="1"/>
          </p:cNvSpPr>
          <p:nvPr>
            <p:ph type="subTitle" idx="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B0C4763A-EFD4-7742-8F31-9C2F9300C28A}" type="slidenum">
              <a:rPr lang="en-US" smtClean="0"/>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a:xfrm>
            <a:off x="685800" y="2130425"/>
            <a:ext cx="7772400" cy="2234679"/>
          </a:xfrm>
        </p:spPr>
        <p:txBody>
          <a:bodyPr/>
          <a:lstStyle/>
          <a:p>
            <a:r>
              <a:rPr lang="en-US" dirty="0"/>
              <a:t>Chapter 2 –Requirements Engineering (Software Requirements </a:t>
            </a:r>
            <a:r>
              <a:rPr lang="en-GB" dirty="0"/>
              <a:t>Document)</a:t>
            </a:r>
            <a:br>
              <a:rPr lang="en-GB" dirty="0"/>
            </a:br>
            <a:br>
              <a:rPr lang="en-GB" dirty="0"/>
            </a:br>
            <a:r>
              <a:rPr lang="en-GB" dirty="0"/>
              <a:t># </a:t>
            </a:r>
            <a:r>
              <a:rPr lang="en-US" sz="2000" dirty="0"/>
              <a:t>This unit requires hands-on with IEEE SRS Template @ http:// </a:t>
            </a:r>
            <a:br>
              <a:rPr lang="en-US" dirty="0"/>
            </a:br>
            <a:endParaRPr lang="en-US" dirty="0"/>
          </a:p>
        </p:txBody>
      </p:sp>
      <p:sp>
        <p:nvSpPr>
          <p:cNvPr id="3" name="Subtitle 2"/>
          <p:cNvSpPr>
            <a:spLocks noGrp="1"/>
          </p:cNvSpPr>
          <p:nvPr>
            <p:ph type="subTitle" idx="1"/>
          </p:nvPr>
        </p:nvSpPr>
        <p:spPr>
          <a:xfrm>
            <a:off x="1371600" y="4365104"/>
            <a:ext cx="6400800" cy="1273696"/>
          </a:xfrm>
        </p:spPr>
        <p:txBody>
          <a:bodyPr/>
          <a:lstStyle/>
          <a:p>
            <a:pPr eaLnBrk="1" fontAlgn="auto" hangingPunct="1">
              <a:spcAft>
                <a:spcPts val="0"/>
              </a:spcAft>
              <a:buFont typeface="Arial"/>
              <a:buNone/>
              <a:defRPr/>
            </a:pPr>
            <a:r>
              <a:rPr lang="en-US" dirty="0">
                <a:ea typeface="+mn-ea"/>
                <a:cs typeface="+mn-cs"/>
              </a:rPr>
              <a:t>Lecture 2</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23</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 software requirements document</a:t>
            </a:r>
          </a:p>
        </p:txBody>
      </p:sp>
      <p:sp>
        <p:nvSpPr>
          <p:cNvPr id="16387" name="Rectangle 3"/>
          <p:cNvSpPr>
            <a:spLocks noGrp="1" noChangeArrowheads="1"/>
          </p:cNvSpPr>
          <p:nvPr>
            <p:ph type="body" idx="1"/>
          </p:nvPr>
        </p:nvSpPr>
        <p:spPr>
          <a:noFill/>
          <a:ln/>
        </p:spPr>
        <p:txBody>
          <a:bodyPr lIns="90487" tIns="44450" rIns="90487" bIns="44450"/>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pic>
        <p:nvPicPr>
          <p:cNvPr id="4" name="Picture 3" descr="4.6 ReqDocUser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514600" y="1486176"/>
            <a:ext cx="3810000" cy="4870174"/>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a:t>
            </a:r>
          </a:p>
        </p:txBody>
      </p:sp>
      <p:sp>
        <p:nvSpPr>
          <p:cNvPr id="3" name="Content Placeholder 2"/>
          <p:cNvSpPr>
            <a:spLocks noGrp="1"/>
          </p:cNvSpPr>
          <p:nvPr>
            <p:ph idx="1"/>
          </p:nvPr>
        </p:nvSpPr>
        <p:spPr/>
        <p:txBody>
          <a:bodyPr/>
          <a:lstStyle/>
          <a:p>
            <a:r>
              <a:rPr lang="en-US" dirty="0"/>
              <a:t>Information in requirements document depends on type of system and the approach to development used.</a:t>
            </a:r>
          </a:p>
          <a:p>
            <a:r>
              <a:rPr lang="en-US" dirty="0"/>
              <a:t>Systems developed incrementally will, typically, have less detail in the requirements document.</a:t>
            </a:r>
          </a:p>
          <a:p>
            <a:r>
              <a:rPr lang="en-US" dirty="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r>
              <a:rPr lang="en-US" dirty="0"/>
              <a:t>The process of writing down the user and system requirements in a requirements document.</a:t>
            </a:r>
          </a:p>
          <a:p>
            <a:r>
              <a:rPr lang="en-US" dirty="0"/>
              <a:t>User requirements have to be understandable by end-users and customers who do not have a technical background.</a:t>
            </a:r>
          </a:p>
          <a:p>
            <a:r>
              <a:rPr lang="en-US" dirty="0"/>
              <a:t>System requirements are more detailed requirements and may include more technical information.</a:t>
            </a:r>
          </a:p>
          <a:p>
            <a:r>
              <a:rPr lang="en-US" dirty="0"/>
              <a:t>The requirements may be part of a contract for the system development</a:t>
            </a:r>
          </a:p>
          <a:p>
            <a:pPr lvl="1"/>
            <a:r>
              <a:rPr lang="en-US" dirty="0"/>
              <a:t>It is therefore important that these are as complete as possible.</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graphicFrame>
        <p:nvGraphicFramePr>
          <p:cNvPr id="5" name="Table 4"/>
          <p:cNvGraphicFramePr>
            <a:graphicFrameLocks noGrp="1"/>
          </p:cNvGraphicFramePr>
          <p:nvPr/>
        </p:nvGraphicFramePr>
        <p:xfrm>
          <a:off x="685800" y="1595479"/>
          <a:ext cx="7924800" cy="4805322"/>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expressive, intuitive and universal. This means that the requirements  can be understood by users and customers.</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type="body"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p>
          <a:p>
            <a:r>
              <a:rPr lang="en-GB" dirty="0"/>
              <a:t>Include an explanation (rationale) of why a requirement is necessary.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type="body"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insulin pump software system</a:t>
            </a:r>
            <a:r>
              <a:rPr lang="en-GB" dirty="0"/>
              <a:t> </a:t>
            </a:r>
            <a:endParaRPr lang="en-US" dirty="0"/>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Maintain most of the expressiveness and understandability of natural language but ensure that some uniformity is imposed on the specifications.</a:t>
            </a:r>
          </a:p>
          <a:p>
            <a:r>
              <a:rPr lang="en-US" dirty="0"/>
              <a:t>This works well for some types of requirements e.g. requirements for embedded control system but is sometimes too rigid for writing business system requirements.</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type="body"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graphicFrame>
        <p:nvGraphicFramePr>
          <p:cNvPr id="27650" name="Object 2"/>
          <p:cNvGraphicFramePr>
            <a:graphicFrameLocks noChangeAspect="1"/>
          </p:cNvGraphicFramePr>
          <p:nvPr/>
        </p:nvGraphicFramePr>
        <p:xfrm>
          <a:off x="1331640" y="1576927"/>
          <a:ext cx="5328450" cy="2585865"/>
        </p:xfrm>
        <a:graphic>
          <a:graphicData uri="http://schemas.openxmlformats.org/presentationml/2006/ole">
            <mc:AlternateContent xmlns:mc="http://schemas.openxmlformats.org/markup-compatibility/2006">
              <mc:Choice xmlns:v="urn:schemas-microsoft-com:vml" Requires="v">
                <p:oleObj spid="_x0000_s166938" name="Document" r:id="rId3" imgW="5943381" imgH="3314578" progId="Word.Document.12">
                  <p:embed/>
                </p:oleObj>
              </mc:Choice>
              <mc:Fallback>
                <p:oleObj name="Document" r:id="rId3" imgW="5943381" imgH="3314578"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1576927"/>
                        <a:ext cx="5328450" cy="2585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graphicFrame>
        <p:nvGraphicFramePr>
          <p:cNvPr id="131075" name="Object 3"/>
          <p:cNvGraphicFramePr>
            <a:graphicFrameLocks noChangeAspect="1"/>
          </p:cNvGraphicFramePr>
          <p:nvPr>
            <p:extLst>
              <p:ext uri="{D42A27DB-BD31-4B8C-83A1-F6EECF244321}">
                <p14:modId xmlns:p14="http://schemas.microsoft.com/office/powerpoint/2010/main" val="1800299753"/>
              </p:ext>
            </p:extLst>
          </p:nvPr>
        </p:nvGraphicFramePr>
        <p:xfrm>
          <a:off x="1337358" y="4005064"/>
          <a:ext cx="5328450" cy="2558683"/>
        </p:xfrm>
        <a:graphic>
          <a:graphicData uri="http://schemas.openxmlformats.org/presentationml/2006/ole">
            <mc:AlternateContent xmlns:mc="http://schemas.openxmlformats.org/markup-compatibility/2006">
              <mc:Choice xmlns:v="urn:schemas-microsoft-com:vml" Requires="v">
                <p:oleObj spid="_x0000_s166939" name="Document" r:id="rId5" imgW="5943381" imgH="4444836" progId="Word.Document.12">
                  <p:embed/>
                </p:oleObj>
              </mc:Choice>
              <mc:Fallback>
                <p:oleObj name="Document" r:id="rId5" imgW="5943381" imgH="4444836" progId="Word.Document.12">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7358" y="4005064"/>
                        <a:ext cx="5328450" cy="2558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382000" cy="4525963"/>
          </a:xfrm>
        </p:spPr>
        <p:txBody>
          <a:bodyPr/>
          <a:lstStyle/>
          <a:p>
            <a:r>
              <a:rPr lang="en-US" dirty="0"/>
              <a:t>The software requirements document is an agreed statement of the system requirements. It should be organized so that both system customers and software developers can use it.</a:t>
            </a:r>
            <a:endParaRPr lang="en-GB"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2 – Requirements Engineering (Activities &amp;Techniques)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type="body"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hlinkClick r:id="rId2" action="ppaction://hlinksldjump"/>
              </a:rPr>
              <a:t>Requirements elicitation;</a:t>
            </a:r>
          </a:p>
          <a:p>
            <a:pPr lvl="1">
              <a:lnSpc>
                <a:spcPct val="90000"/>
              </a:lnSpc>
            </a:pPr>
            <a:r>
              <a:rPr lang="en-GB" dirty="0">
                <a:hlinkClick r:id="rId2" action="ppaction://hlinksldjump"/>
              </a:rPr>
              <a:t>Requirements analysis;</a:t>
            </a:r>
            <a:endParaRPr lang="en-GB" dirty="0"/>
          </a:p>
          <a:p>
            <a:pPr lvl="1">
              <a:lnSpc>
                <a:spcPct val="90000"/>
              </a:lnSpc>
            </a:pPr>
            <a:r>
              <a:rPr lang="en-GB" dirty="0">
                <a:hlinkClick r:id="rId3" action="ppaction://hlinksldjump"/>
              </a:rPr>
              <a:t>Requirements validation</a:t>
            </a:r>
            <a:r>
              <a:rPr lang="en-GB" dirty="0"/>
              <a:t>;</a:t>
            </a:r>
          </a:p>
          <a:p>
            <a:pPr lvl="1">
              <a:lnSpc>
                <a:spcPct val="90000"/>
              </a:lnSpc>
            </a:pPr>
            <a:r>
              <a:rPr lang="en-GB" dirty="0">
                <a:hlinkClick r:id="rId4" action="ppaction://hlinksldjump"/>
              </a:rPr>
              <a:t>Requirements management</a:t>
            </a:r>
            <a:r>
              <a:rPr lang="en-GB" dirty="0"/>
              <a:t>.</a:t>
            </a:r>
          </a:p>
          <a:p>
            <a:pPr>
              <a:lnSpc>
                <a:spcPct val="90000"/>
              </a:lnSpc>
            </a:pPr>
            <a:r>
              <a:rPr lang="en-GB" dirty="0"/>
              <a:t>In practice, RE is an iterative activity in which these processes are interleaved.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pic>
        <p:nvPicPr>
          <p:cNvPr id="4" name="Picture 3" descr="4.12 ReqEngSpiral.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974849" y="1417638"/>
            <a:ext cx="5510667" cy="47561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 and analysis</a:t>
            </a:r>
          </a:p>
        </p:txBody>
      </p:sp>
      <p:sp>
        <p:nvSpPr>
          <p:cNvPr id="7171" name="Rectangle 3"/>
          <p:cNvSpPr>
            <a:spLocks noGrp="1" noChangeArrowheads="1"/>
          </p:cNvSpPr>
          <p:nvPr>
            <p:ph type="body"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a:t>Problems of requirements analysis</a:t>
            </a:r>
          </a:p>
        </p:txBody>
      </p:sp>
      <p:sp>
        <p:nvSpPr>
          <p:cNvPr id="8195" name="Rectangle 3"/>
          <p:cNvSpPr>
            <a:spLocks noGrp="1" noChangeArrowheads="1"/>
          </p:cNvSpPr>
          <p:nvPr>
            <p:ph type="body"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may change.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 and analysis</a:t>
            </a:r>
          </a:p>
        </p:txBody>
      </p:sp>
      <p:sp>
        <p:nvSpPr>
          <p:cNvPr id="3" name="Content Placeholder 2"/>
          <p:cNvSpPr>
            <a:spLocks noGrp="1"/>
          </p:cNvSpPr>
          <p:nvPr>
            <p:ph idx="1"/>
          </p:nvPr>
        </p:nvSpPr>
        <p:spPr/>
        <p:txBody>
          <a:bodyPr/>
          <a:lstStyle/>
          <a:p>
            <a:r>
              <a:rPr lang="en-US" dirty="0"/>
              <a:t>Software engineers work with a range of system stakeholders to find out about the application domain, the services that the system should provide, the required system performance, hardware constraints, other systems, etc.</a:t>
            </a:r>
          </a:p>
          <a:p>
            <a:r>
              <a:rPr lang="en-US" dirty="0"/>
              <a:t>Stages include:</a:t>
            </a:r>
          </a:p>
          <a:p>
            <a:pPr lvl="1"/>
            <a:r>
              <a:rPr lang="en-US" dirty="0"/>
              <a:t>Requirements discovery,</a:t>
            </a:r>
          </a:p>
          <a:p>
            <a:pPr lvl="1"/>
            <a:r>
              <a:rPr lang="en-US" dirty="0"/>
              <a:t>Requirements classification and organization,</a:t>
            </a:r>
          </a:p>
          <a:p>
            <a:pPr lvl="1"/>
            <a:r>
              <a:rPr lang="en-US" dirty="0"/>
              <a:t>Requirements prioritization and negotiation,</a:t>
            </a:r>
          </a:p>
          <a:p>
            <a:pPr lvl="1"/>
            <a:r>
              <a:rPr lang="en-US" dirty="0"/>
              <a:t>Requirements specification.</a:t>
            </a:r>
          </a:p>
          <a:p>
            <a:endParaRPr lang="en-US" dirty="0"/>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pic>
        <p:nvPicPr>
          <p:cNvPr id="4" name="Picture 3" descr="4.13 RequirementsElicitatio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752600" y="1752600"/>
            <a:ext cx="4881613" cy="320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type="body"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the spiral.</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r>
              <a:rPr lang="en-US" dirty="0"/>
              <a:t>The process of gathering information about the required and existing systems and distilling the user and system requirements from this information.</a:t>
            </a:r>
          </a:p>
          <a:p>
            <a:r>
              <a:rPr lang="en-US" dirty="0"/>
              <a:t>Interaction is with system stakeholders from managers to external regulators.</a:t>
            </a:r>
          </a:p>
          <a:p>
            <a:r>
              <a:rPr lang="en-US" dirty="0"/>
              <a:t>Systems normally have a range of stakeholders.</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p:txBody>
          <a:bodyPr/>
          <a:lstStyle/>
          <a:p>
            <a:r>
              <a:rPr lang="en-US" dirty="0"/>
              <a:t>Patients</a:t>
            </a:r>
            <a:r>
              <a:rPr lang="en-US" i="1" dirty="0"/>
              <a:t> </a:t>
            </a:r>
            <a:r>
              <a:rPr lang="en-US" dirty="0"/>
              <a:t>whose information is recorded in the system.</a:t>
            </a:r>
            <a:endParaRPr lang="en-GB" dirty="0"/>
          </a:p>
          <a:p>
            <a:r>
              <a:rPr lang="en-US" dirty="0"/>
              <a:t>Doctors</a:t>
            </a:r>
            <a:r>
              <a:rPr lang="en-US" i="1" dirty="0"/>
              <a:t> </a:t>
            </a:r>
            <a:r>
              <a:rPr lang="en-US" dirty="0"/>
              <a:t>who are responsible for assessing and treating patients.</a:t>
            </a:r>
            <a:endParaRPr lang="en-GB" dirty="0"/>
          </a:p>
          <a:p>
            <a:r>
              <a:rPr lang="en-US" dirty="0"/>
              <a:t>Nurses who coordinate the consultations with doctors and administer some treatments.</a:t>
            </a:r>
            <a:endParaRPr lang="en-GB" dirty="0"/>
          </a:p>
          <a:p>
            <a:r>
              <a:rPr lang="en-US" dirty="0"/>
              <a:t>Medical receptionists</a:t>
            </a:r>
            <a:r>
              <a:rPr lang="en-US" i="1" dirty="0"/>
              <a:t> </a:t>
            </a:r>
            <a:r>
              <a:rPr lang="en-US" dirty="0"/>
              <a:t>who manage patients’ appointments.</a:t>
            </a:r>
            <a:endParaRPr lang="en-GB" dirty="0"/>
          </a:p>
          <a:p>
            <a:r>
              <a:rPr lang="en-US" dirty="0"/>
              <a:t>IT staff who are responsible for installing and maintaining the system.</a:t>
            </a:r>
            <a:endParaRPr lang="en-GB" dirty="0"/>
          </a:p>
          <a:p>
            <a:pPr>
              <a:buNone/>
            </a:pPr>
            <a:r>
              <a:rPr lang="en-US" dirty="0"/>
              <a:t>	</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p:txBody>
          <a:bodyPr/>
          <a:lstStyle/>
          <a:p>
            <a:r>
              <a:rPr lang="en-US" dirty="0"/>
              <a:t>A medical ethics manager who must ensure that the system meets current ethical guidelines for patient care.</a:t>
            </a:r>
            <a:endParaRPr lang="en-GB" dirty="0"/>
          </a:p>
          <a:p>
            <a:r>
              <a:rPr lang="en-US" dirty="0"/>
              <a:t>Health care managers</a:t>
            </a:r>
            <a:r>
              <a:rPr lang="en-US" i="1" dirty="0"/>
              <a:t> </a:t>
            </a:r>
            <a:r>
              <a:rPr lang="en-US" dirty="0"/>
              <a:t>who obtain management information from the system.</a:t>
            </a:r>
            <a:endParaRPr lang="en-GB" dirty="0"/>
          </a:p>
          <a:p>
            <a:r>
              <a:rPr lang="en-US" dirty="0"/>
              <a:t>Medical records staff</a:t>
            </a:r>
            <a:r>
              <a:rPr lang="en-US"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r>
              <a:rPr lang="en-US" dirty="0"/>
              <a:t>Formal or informal interviews with stakeholders are part of most RE processes.</a:t>
            </a:r>
          </a:p>
          <a:p>
            <a:r>
              <a:rPr lang="en-US" dirty="0"/>
              <a:t>Types of interview</a:t>
            </a:r>
          </a:p>
          <a:p>
            <a:pPr lvl="1"/>
            <a:r>
              <a:rPr lang="en-US" dirty="0"/>
              <a:t>Closed interviews based on pre-determined list of questions</a:t>
            </a:r>
          </a:p>
          <a:p>
            <a:pPr lvl="1"/>
            <a:r>
              <a:rPr lang="en-US" dirty="0"/>
              <a:t>Open interviews where various issues are explored with stakeholders.</a:t>
            </a:r>
          </a:p>
          <a:p>
            <a:r>
              <a:rPr lang="en-US" dirty="0"/>
              <a:t>Effective interviewing</a:t>
            </a:r>
          </a:p>
          <a:p>
            <a:pPr lvl="1"/>
            <a:r>
              <a:rPr lang="en-US" dirty="0"/>
              <a:t>Be open-minded, avoid pre-conceived ideas about the requirements and are willing to listen to stakeholders. </a:t>
            </a:r>
            <a:endParaRPr lang="en-GB" dirty="0"/>
          </a:p>
          <a:p>
            <a:pPr lvl="1"/>
            <a:r>
              <a:rPr lang="en-US" dirty="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type="body" idx="1"/>
          </p:nvPr>
        </p:nvSpPr>
        <p:spPr/>
        <p:txBody>
          <a:bodyPr/>
          <a:lstStyle/>
          <a:p>
            <a:pPr>
              <a:lnSpc>
                <a:spcPct val="90000"/>
              </a:lnSpc>
            </a:pPr>
            <a:r>
              <a:rPr lang="en-US" sz="2400"/>
              <a:t>Normally a mix of closed and open-ended interviewing.</a:t>
            </a:r>
          </a:p>
          <a:p>
            <a:pPr>
              <a:lnSpc>
                <a:spcPct val="90000"/>
              </a:lnSpc>
            </a:pPr>
            <a:r>
              <a:rPr lang="en-US" sz="2400"/>
              <a:t>Interviews are good for getting an overall understanding of what stakeholders do and how they might interact with the system.</a:t>
            </a:r>
          </a:p>
          <a:p>
            <a:pPr>
              <a:lnSpc>
                <a:spcPct val="90000"/>
              </a:lnSpc>
            </a:pPr>
            <a:r>
              <a:rPr lang="en-US" sz="2400"/>
              <a:t>Interviews are not good for understanding domain requirements</a:t>
            </a:r>
          </a:p>
          <a:p>
            <a:pPr lvl="1">
              <a:lnSpc>
                <a:spcPct val="90000"/>
              </a:lnSpc>
            </a:pPr>
            <a:r>
              <a:rPr lang="en-US" sz="2000"/>
              <a:t>Requirements engineers cannot understand specific domain terminology;</a:t>
            </a:r>
          </a:p>
          <a:p>
            <a:pPr lvl="1">
              <a:lnSpc>
                <a:spcPct val="90000"/>
              </a:lnSpc>
            </a:pPr>
            <a:r>
              <a:rPr lang="en-US" sz="2000"/>
              <a:t>Some domain knowledge is so familiar that people find it hard to articulate or think that it isn’t worth articulating.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Scenarios</a:t>
            </a:r>
          </a:p>
        </p:txBody>
      </p:sp>
      <p:sp>
        <p:nvSpPr>
          <p:cNvPr id="90115" name="Rectangle 3"/>
          <p:cNvSpPr>
            <a:spLocks noGrp="1" noChangeArrowheads="1"/>
          </p:cNvSpPr>
          <p:nvPr>
            <p:ph type="body" idx="1"/>
          </p:nvPr>
        </p:nvSpPr>
        <p:spPr/>
        <p:txBody>
          <a:bodyPr/>
          <a:lstStyle/>
          <a:p>
            <a:r>
              <a:rPr lang="en-US"/>
              <a:t>Scenarios are real-life examples of how a system can be used.</a:t>
            </a:r>
          </a:p>
          <a:p>
            <a:r>
              <a:rPr lang="en-US"/>
              <a:t>They should include</a:t>
            </a:r>
          </a:p>
          <a:p>
            <a:pPr lvl="1"/>
            <a:r>
              <a:rPr lang="en-US"/>
              <a:t>A description of the starting situation;</a:t>
            </a:r>
          </a:p>
          <a:p>
            <a:pPr lvl="1"/>
            <a:r>
              <a:rPr lang="en-US"/>
              <a:t>A description of the normal flow of events;</a:t>
            </a:r>
          </a:p>
          <a:p>
            <a:pPr lvl="1"/>
            <a:r>
              <a:rPr lang="en-US"/>
              <a:t>A description of what can go wrong;</a:t>
            </a:r>
          </a:p>
          <a:p>
            <a:pPr lvl="1"/>
            <a:r>
              <a:rPr lang="en-US"/>
              <a:t>Information about other concurrent activities;</a:t>
            </a:r>
          </a:p>
          <a:p>
            <a:pPr lvl="1"/>
            <a:r>
              <a:rPr lang="en-US"/>
              <a:t>A description of the state when the scenario finishes.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a:t>Scenario for collecting medical history in MHC-PMS</a:t>
            </a:r>
            <a:r>
              <a:rPr lang="en-GB" dirty="0"/>
              <a:t> </a:t>
            </a:r>
            <a:endParaRPr lang="en-US" dirty="0"/>
          </a:p>
        </p:txBody>
      </p:sp>
      <p:graphicFrame>
        <p:nvGraphicFramePr>
          <p:cNvPr id="31746" name="Object 2"/>
          <p:cNvGraphicFramePr>
            <a:graphicFrameLocks noChangeAspect="1"/>
          </p:cNvGraphicFramePr>
          <p:nvPr/>
        </p:nvGraphicFramePr>
        <p:xfrm>
          <a:off x="457200" y="1905000"/>
          <a:ext cx="8229600" cy="4394200"/>
        </p:xfrm>
        <a:graphic>
          <a:graphicData uri="http://schemas.openxmlformats.org/presentationml/2006/ole">
            <mc:AlternateContent xmlns:mc="http://schemas.openxmlformats.org/markup-compatibility/2006">
              <mc:Choice xmlns:v="urn:schemas-microsoft-com:vml" Requires="v">
                <p:oleObj spid="_x0000_s97294" name="Document" r:id="rId3" imgW="5943381" imgH="3505071" progId="Word.Document.12">
                  <p:embed/>
                </p:oleObj>
              </mc:Choice>
              <mc:Fallback>
                <p:oleObj name="Document" r:id="rId3" imgW="5943381" imgH="3505071"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905000"/>
                        <a:ext cx="8229600" cy="439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a:t>Scenario for collecting medical history in MHC-PMS</a:t>
            </a:r>
            <a:r>
              <a:rPr lang="en-GB" dirty="0"/>
              <a:t> </a:t>
            </a:r>
            <a:endParaRPr lang="en-US" dirty="0"/>
          </a:p>
        </p:txBody>
      </p:sp>
      <p:graphicFrame>
        <p:nvGraphicFramePr>
          <p:cNvPr id="31746" name="Object 2"/>
          <p:cNvGraphicFramePr>
            <a:graphicFrameLocks noChangeAspect="1"/>
          </p:cNvGraphicFramePr>
          <p:nvPr/>
        </p:nvGraphicFramePr>
        <p:xfrm>
          <a:off x="304800" y="1776412"/>
          <a:ext cx="8534400" cy="4319588"/>
        </p:xfrm>
        <a:graphic>
          <a:graphicData uri="http://schemas.openxmlformats.org/presentationml/2006/ole">
            <mc:AlternateContent xmlns:mc="http://schemas.openxmlformats.org/markup-compatibility/2006">
              <mc:Choice xmlns:v="urn:schemas-microsoft-com:vml" Requires="v">
                <p:oleObj spid="_x0000_s31758" name="Document" r:id="rId3" imgW="5943381" imgH="3936855" progId="Word.Document.12">
                  <p:embed/>
                </p:oleObj>
              </mc:Choice>
              <mc:Fallback>
                <p:oleObj name="Document" r:id="rId3" imgW="5943381" imgH="3936855"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776412"/>
                        <a:ext cx="8534400" cy="4319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type="body" idx="1"/>
          </p:nvPr>
        </p:nvSpPr>
        <p:spPr/>
        <p:txBody>
          <a:bodyPr/>
          <a:lstStyle/>
          <a:p>
            <a:r>
              <a:rPr lang="en-GB" dirty="0"/>
              <a:t>Use-cases are a scenario based technique in the UML which identify the actors in an interaction and which describe the interaction itself.</a:t>
            </a:r>
          </a:p>
          <a:p>
            <a:r>
              <a:rPr lang="en-GB" dirty="0"/>
              <a:t>A set of use cases should describe all possible interactions with the system.</a:t>
            </a:r>
          </a:p>
          <a:p>
            <a:r>
              <a:rPr lang="en-GB" dirty="0"/>
              <a:t>High-level graphical model supplemented by more detailed tabular description (see Chapter 5).</a:t>
            </a:r>
          </a:p>
          <a:p>
            <a:r>
              <a:rPr lang="en-GB" dirty="0"/>
              <a:t>Sequence diagrams may be used to add detail to use-cases by showing the sequence of event processing in the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MHC-PMS</a:t>
            </a:r>
            <a:r>
              <a:rPr lang="en-GB" dirty="0"/>
              <a:t> </a:t>
            </a:r>
            <a:endParaRPr lang="en-US" dirty="0"/>
          </a:p>
        </p:txBody>
      </p:sp>
      <p:pic>
        <p:nvPicPr>
          <p:cNvPr id="4" name="Picture 3" descr="4.15 UseCase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447799" y="1828800"/>
            <a:ext cx="6555509" cy="38862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sz="3200" dirty="0"/>
              <a:t>Use Case Diagram</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
        <p:nvSpPr>
          <p:cNvPr id="2" name="TextBox 1"/>
          <p:cNvSpPr txBox="1"/>
          <p:nvPr/>
        </p:nvSpPr>
        <p:spPr>
          <a:xfrm>
            <a:off x="1619672" y="2708920"/>
            <a:ext cx="5472608" cy="1569660"/>
          </a:xfrm>
          <a:prstGeom prst="rect">
            <a:avLst/>
          </a:prstGeom>
          <a:noFill/>
        </p:spPr>
        <p:txBody>
          <a:bodyPr wrap="square" rtlCol="0">
            <a:spAutoFit/>
          </a:bodyPr>
          <a:lstStyle/>
          <a:p>
            <a:r>
              <a:rPr lang="en-US" sz="3200" dirty="0"/>
              <a:t>Refer to notes on Use Case Diagram in Chapter 6</a:t>
            </a:r>
          </a:p>
          <a:p>
            <a:endParaRPr lang="en-MY" sz="3200" dirty="0"/>
          </a:p>
        </p:txBody>
      </p:sp>
    </p:spTree>
    <p:extLst>
      <p:ext uri="{BB962C8B-B14F-4D97-AF65-F5344CB8AC3E}">
        <p14:creationId xmlns:p14="http://schemas.microsoft.com/office/powerpoint/2010/main" val="1676000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type="body" idx="1"/>
          </p:nvPr>
        </p:nvSpPr>
        <p:spPr>
          <a:noFill/>
          <a:ln/>
        </p:spPr>
        <p:txBody>
          <a:bodyPr lIns="90487" tIns="44450" rIns="90487" bIns="44450"/>
          <a:lstStyle/>
          <a:p>
            <a:r>
              <a:rPr lang="en-GB" sz="2400" dirty="0"/>
              <a:t>A social scientist 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type="body"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p>
          <a:p>
            <a:pPr lvl="1"/>
            <a:r>
              <a:rPr lang="en-GB" dirty="0"/>
              <a:t>Awareness of what other people are doing leads to changes in the ways in which we do things.</a:t>
            </a:r>
          </a:p>
          <a:p>
            <a:r>
              <a:rPr lang="en-GB" dirty="0"/>
              <a:t>Ethnography is effective for understanding existing processes but cannot identify new features that should be added to a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type="body"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a:t>Ethnography and prototyping for requirements analysis</a:t>
            </a:r>
            <a:r>
              <a:rPr lang="en-GB" dirty="0"/>
              <a:t> </a:t>
            </a:r>
            <a:endParaRPr lang="en-US" dirty="0"/>
          </a:p>
        </p:txBody>
      </p:sp>
      <p:pic>
        <p:nvPicPr>
          <p:cNvPr id="4" name="Picture 3" descr="4.16 Ethno-prototyping.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143000" y="2819400"/>
            <a:ext cx="7394864" cy="193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type="body" idx="1"/>
          </p:nvPr>
        </p:nvSpPr>
        <p:spPr>
          <a:noFill/>
          <a:ln/>
        </p:spPr>
        <p:txBody>
          <a:bodyPr lIns="90487" tIns="44450" rIns="90487" bIns="44450"/>
          <a:lstStyle/>
          <a:p>
            <a:r>
              <a:rPr lang="en-GB" sz="2400" dirty="0">
                <a:solidFill>
                  <a:srgbClr val="FF0000"/>
                </a:solidFill>
              </a:rPr>
              <a:t>Validity</a:t>
            </a:r>
            <a:r>
              <a:rPr lang="en-GB" sz="2400" dirty="0"/>
              <a:t>. Does the system provide the functions which best support the customer’s needs?</a:t>
            </a:r>
          </a:p>
          <a:p>
            <a:r>
              <a:rPr lang="en-GB" sz="2400" dirty="0">
                <a:solidFill>
                  <a:srgbClr val="FF0000"/>
                </a:solidFill>
              </a:rPr>
              <a:t>Consistency</a:t>
            </a:r>
            <a:r>
              <a:rPr lang="en-GB" sz="2400" dirty="0"/>
              <a:t>. Are there any requirements conflicts?</a:t>
            </a:r>
          </a:p>
          <a:p>
            <a:r>
              <a:rPr lang="en-GB" sz="2400" dirty="0">
                <a:solidFill>
                  <a:srgbClr val="FF0000"/>
                </a:solidFill>
              </a:rPr>
              <a:t>Completeness</a:t>
            </a:r>
            <a:r>
              <a:rPr lang="en-GB" sz="2400" dirty="0"/>
              <a:t>. Are all functions required by the customer included?</a:t>
            </a:r>
          </a:p>
          <a:p>
            <a:r>
              <a:rPr lang="en-GB" sz="2400" dirty="0">
                <a:solidFill>
                  <a:srgbClr val="FF0000"/>
                </a:solidFill>
              </a:rPr>
              <a:t>Realism</a:t>
            </a:r>
            <a:r>
              <a:rPr lang="en-GB" sz="2400" dirty="0"/>
              <a:t>. Can the requirements be implemented given available budget and technology</a:t>
            </a:r>
          </a:p>
          <a:p>
            <a:r>
              <a:rPr lang="en-GB" sz="2400" dirty="0">
                <a:solidFill>
                  <a:srgbClr val="FF0000"/>
                </a:solidFill>
              </a:rPr>
              <a:t>Verifiability</a:t>
            </a:r>
            <a:r>
              <a:rPr lang="en-GB" sz="2400" dirty="0"/>
              <a:t>. Can the requirements be checked?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type="body"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 2.</a:t>
            </a:r>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type="body"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type="body"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pPr lvl="1"/>
            <a:r>
              <a:rPr lang="en-US" dirty="0"/>
              <a:t>The final system requirements are inevitably a compromise between them and, with experience, it is often discovered that the balance of support given to different users has to be changed.</a:t>
            </a:r>
          </a:p>
        </p:txBody>
      </p:sp>
      <p:sp>
        <p:nvSpPr>
          <p:cNvPr id="4" name="Footer Placeholder 3"/>
          <p:cNvSpPr>
            <a:spLocks noGrp="1"/>
          </p:cNvSpPr>
          <p:nvPr>
            <p:ph type="ftr" sz="quarter" idx="4294967295"/>
          </p:nvPr>
        </p:nvSpPr>
        <p:spPr>
          <a:xfrm>
            <a:off x="3124200" y="6356350"/>
            <a:ext cx="2895600" cy="365125"/>
          </a:xfrm>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pic>
        <p:nvPicPr>
          <p:cNvPr id="4" name="Picture 3" descr="4.17 ReqEvolutio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133600" y="2514600"/>
            <a:ext cx="5005917" cy="25146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6" name="Footer Placeholder 5"/>
          <p:cNvSpPr>
            <a:spLocks noGrp="1"/>
          </p:cNvSpPr>
          <p:nvPr>
            <p:ph type="ftr" sz="quarter" idx="4294967295"/>
          </p:nvPr>
        </p:nvSpPr>
        <p:spPr>
          <a:xfrm>
            <a:off x="3124200" y="6356350"/>
            <a:ext cx="2895600" cy="365125"/>
          </a:xfrm>
        </p:spPr>
        <p:txBody>
          <a:bodyPr/>
          <a:lstStyle/>
          <a:p>
            <a:pPr>
              <a:defRPr/>
            </a:pP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Mini project sample requirements present</a:t>
            </a:r>
          </a:p>
        </p:txBody>
      </p:sp>
      <p:sp>
        <p:nvSpPr>
          <p:cNvPr id="3" name="Subtitle 2"/>
          <p:cNvSpPr>
            <a:spLocks noGrp="1"/>
          </p:cNvSpPr>
          <p:nvPr>
            <p:ph type="subTitle" idx="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B0C4763A-EFD4-7742-8F31-9C2F9300C28A}" type="slidenum">
              <a:rPr lang="en-US" smtClean="0"/>
              <a:pPr>
                <a:defRPr/>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endParaRPr lang="en-US" dirty="0"/>
          </a:p>
        </p:txBody>
      </p:sp>
      <p:sp>
        <p:nvSpPr>
          <p:cNvPr id="3" name="Content Placeholder 2"/>
          <p:cNvSpPr>
            <a:spLocks noGrp="1"/>
          </p:cNvSpPr>
          <p:nvPr>
            <p:ph idx="1"/>
          </p:nvPr>
        </p:nvSpPr>
        <p:spPr/>
        <p:txBody>
          <a:bodyPr/>
          <a:lstStyle/>
          <a:p>
            <a:r>
              <a:rPr lang="en-US" dirty="0"/>
              <a:t>You can use a range of techniques for requirements elicitation including interviews, scenarios, use-cases and ethnography.</a:t>
            </a:r>
          </a:p>
          <a:p>
            <a:r>
              <a:rPr lang="en-US" dirty="0"/>
              <a:t>Requirements validation is the process of checking the requirements for validity, consistency, completeness, realism and verifiability. </a:t>
            </a:r>
            <a:endParaRPr lang="en-GB" dirty="0"/>
          </a:p>
          <a:p>
            <a:r>
              <a:rPr lang="en-US" dirty="0"/>
              <a:t>Business, organizational and technical changes inevitably lead to changes to the requirements for a software system. Requirements management is the process of managing and controlling these changes.</a:t>
            </a:r>
            <a:endParaRPr lang="en-GB" dirty="0"/>
          </a:p>
          <a:p>
            <a:endParaRPr lang="en-US" dirty="0"/>
          </a:p>
        </p:txBody>
      </p:sp>
      <p:sp>
        <p:nvSpPr>
          <p:cNvPr id="5" name="Footer Placeholder 4"/>
          <p:cNvSpPr>
            <a:spLocks noGrp="1"/>
          </p:cNvSpPr>
          <p:nvPr>
            <p:ph type="ftr" sz="quarter" idx="4294967295"/>
          </p:nvPr>
        </p:nvSpPr>
        <p:spPr>
          <a:xfrm>
            <a:off x="3124200" y="6356350"/>
            <a:ext cx="2895600" cy="365125"/>
          </a:xfrm>
        </p:spPr>
        <p:txBody>
          <a:bodyPr/>
          <a:lstStyle/>
          <a:p>
            <a:endParaRPr lang="en-US" dirty="0"/>
          </a:p>
        </p:txBody>
      </p:sp>
      <p:sp>
        <p:nvSpPr>
          <p:cNvPr id="4" name="Slide Number Placeholder 3"/>
          <p:cNvSpPr>
            <a:spLocks noGrp="1"/>
          </p:cNvSpPr>
          <p:nvPr>
            <p:ph type="sldNum" sz="quarter" idx="12"/>
          </p:nvPr>
        </p:nvSpPr>
        <p:spPr/>
        <p:txBody>
          <a:bodyPr/>
          <a:lstStyle/>
          <a:p>
            <a:fld id="{825F70CE-84E9-D04C-9B15-10C693AA0F2A}" type="slidenum">
              <a:rPr lang="en-US" smtClean="0"/>
              <a:pPr/>
              <a:t>70</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5759</TotalTime>
  <Words>4044</Words>
  <Application>Microsoft Office PowerPoint</Application>
  <PresentationFormat>On-screen Show (4:3)</PresentationFormat>
  <Paragraphs>408</Paragraphs>
  <Slides>70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76" baseType="lpstr">
      <vt:lpstr>Arial</vt:lpstr>
      <vt:lpstr>Calibri</vt:lpstr>
      <vt:lpstr>Wingdings</vt:lpstr>
      <vt:lpstr>Zapf Dingbats</vt:lpstr>
      <vt:lpstr>SE9</vt:lpstr>
      <vt:lpstr>Document</vt:lpstr>
      <vt:lpstr>Chapter 2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imprecision</vt:lpstr>
      <vt:lpstr>Non-functional requirements</vt:lpstr>
      <vt:lpstr>Non-functional classifications</vt:lpstr>
      <vt:lpstr>Types of nonfunctional requirement </vt:lpstr>
      <vt:lpstr>Examples of nonfunctional requirements in the MHC-PMS </vt:lpstr>
      <vt:lpstr>Goals and requirements</vt:lpstr>
      <vt:lpstr>Metrics for specifying nonfunctional requirements</vt:lpstr>
      <vt:lpstr>Usability requirements</vt:lpstr>
      <vt:lpstr>Domain requirements</vt:lpstr>
      <vt:lpstr>Key points</vt:lpstr>
      <vt:lpstr>Class exercise – identifying requirements</vt:lpstr>
      <vt:lpstr>Chapter 2 –Requirements Engineering (Software Requirements Document)  # This unit requires hands-on with IEEE SRS Template @ http://  </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specification</vt:lpstr>
      <vt:lpstr>Ways of writing a system requirements specification </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Key points</vt:lpstr>
      <vt:lpstr>Chapter 2 – Requirements Engineering (Activities &amp;Techniques)</vt:lpstr>
      <vt:lpstr>Requirements engineering processes</vt:lpstr>
      <vt:lpstr>A spiral view of the requirements engineering process </vt:lpstr>
      <vt:lpstr>Requirements elicitation and analysis</vt:lpstr>
      <vt:lpstr>Problems of requirements analysis</vt:lpstr>
      <vt:lpstr>Requirements elicitation and analysis</vt:lpstr>
      <vt:lpstr>The requirements elicitation and analysis process </vt:lpstr>
      <vt:lpstr>Process activities</vt:lpstr>
      <vt:lpstr>Requirements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Use Case Diagram</vt:lpstr>
      <vt:lpstr>Ethnography</vt:lpstr>
      <vt:lpstr>Scope of ethnography</vt:lpstr>
      <vt:lpstr>Focused ethnography</vt:lpstr>
      <vt:lpstr>Ethnography and prototyping for requirements analysis </vt:lpstr>
      <vt:lpstr>Requirements checking</vt:lpstr>
      <vt:lpstr>Requirements validation techniques</vt:lpstr>
      <vt:lpstr>Requirements management</vt:lpstr>
      <vt:lpstr>Changing requirements</vt:lpstr>
      <vt:lpstr>Requirements validation</vt:lpstr>
      <vt:lpstr>Changing requirements</vt:lpstr>
      <vt:lpstr>Requirements evolution </vt:lpstr>
      <vt:lpstr>Mini project sample requirements present</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Sufri</cp:lastModifiedBy>
  <cp:revision>74</cp:revision>
  <cp:lastPrinted>2010-01-11T10:54:43Z</cp:lastPrinted>
  <dcterms:created xsi:type="dcterms:W3CDTF">2010-01-08T19:43:52Z</dcterms:created>
  <dcterms:modified xsi:type="dcterms:W3CDTF">2020-10-27T01:15:45Z</dcterms:modified>
</cp:coreProperties>
</file>
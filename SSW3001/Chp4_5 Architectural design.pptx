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108"/>
  </p:notesMasterIdLst>
  <p:handoutMasterIdLst>
    <p:handoutMasterId r:id="rId109"/>
  </p:handoutMasterIdLst>
  <p:sldIdLst>
    <p:sldId id="256" r:id="rId2"/>
    <p:sldId id="277" r:id="rId3"/>
    <p:sldId id="430" r:id="rId4"/>
    <p:sldId id="431" r:id="rId5"/>
    <p:sldId id="432" r:id="rId6"/>
    <p:sldId id="433" r:id="rId7"/>
    <p:sldId id="434" r:id="rId8"/>
    <p:sldId id="435" r:id="rId9"/>
    <p:sldId id="436" r:id="rId10"/>
    <p:sldId id="278" r:id="rId11"/>
    <p:sldId id="437" r:id="rId12"/>
    <p:sldId id="438" r:id="rId13"/>
    <p:sldId id="439" r:id="rId14"/>
    <p:sldId id="320" r:id="rId15"/>
    <p:sldId id="308" r:id="rId16"/>
    <p:sldId id="425" r:id="rId17"/>
    <p:sldId id="441" r:id="rId18"/>
    <p:sldId id="442" r:id="rId19"/>
    <p:sldId id="280" r:id="rId20"/>
    <p:sldId id="309" r:id="rId21"/>
    <p:sldId id="284" r:id="rId22"/>
    <p:sldId id="310" r:id="rId23"/>
    <p:sldId id="319" r:id="rId24"/>
    <p:sldId id="285" r:id="rId25"/>
    <p:sldId id="321" r:id="rId26"/>
    <p:sldId id="287" r:id="rId27"/>
    <p:sldId id="311" r:id="rId28"/>
    <p:sldId id="322" r:id="rId29"/>
    <p:sldId id="298" r:id="rId30"/>
    <p:sldId id="426" r:id="rId31"/>
    <p:sldId id="427" r:id="rId32"/>
    <p:sldId id="323" r:id="rId33"/>
    <p:sldId id="312" r:id="rId34"/>
    <p:sldId id="324" r:id="rId35"/>
    <p:sldId id="443" r:id="rId36"/>
    <p:sldId id="386" r:id="rId37"/>
    <p:sldId id="363" r:id="rId38"/>
    <p:sldId id="444" r:id="rId39"/>
    <p:sldId id="291" r:id="rId40"/>
    <p:sldId id="445" r:id="rId41"/>
    <p:sldId id="522" r:id="rId42"/>
    <p:sldId id="293" r:id="rId43"/>
    <p:sldId id="296" r:id="rId44"/>
    <p:sldId id="297" r:id="rId45"/>
    <p:sldId id="448" r:id="rId46"/>
    <p:sldId id="449" r:id="rId47"/>
    <p:sldId id="450" r:id="rId48"/>
    <p:sldId id="453" r:id="rId49"/>
    <p:sldId id="454" r:id="rId50"/>
    <p:sldId id="455" r:id="rId51"/>
    <p:sldId id="461" r:id="rId52"/>
    <p:sldId id="462" r:id="rId53"/>
    <p:sldId id="463" r:id="rId54"/>
    <p:sldId id="317" r:id="rId55"/>
    <p:sldId id="318" r:id="rId56"/>
    <p:sldId id="466" r:id="rId57"/>
    <p:sldId id="467" r:id="rId58"/>
    <p:sldId id="325" r:id="rId59"/>
    <p:sldId id="383" r:id="rId60"/>
    <p:sldId id="299" r:id="rId61"/>
    <p:sldId id="460" r:id="rId62"/>
    <p:sldId id="456" r:id="rId63"/>
    <p:sldId id="496" r:id="rId64"/>
    <p:sldId id="469" r:id="rId65"/>
    <p:sldId id="494" r:id="rId66"/>
    <p:sldId id="258" r:id="rId67"/>
    <p:sldId id="259" r:id="rId68"/>
    <p:sldId id="260" r:id="rId69"/>
    <p:sldId id="516" r:id="rId70"/>
    <p:sldId id="266" r:id="rId71"/>
    <p:sldId id="295" r:id="rId72"/>
    <p:sldId id="465" r:id="rId73"/>
    <p:sldId id="514" r:id="rId74"/>
    <p:sldId id="495" r:id="rId75"/>
    <p:sldId id="288" r:id="rId76"/>
    <p:sldId id="261" r:id="rId77"/>
    <p:sldId id="262" r:id="rId78"/>
    <p:sldId id="513" r:id="rId79"/>
    <p:sldId id="263" r:id="rId80"/>
    <p:sldId id="497" r:id="rId81"/>
    <p:sldId id="498" r:id="rId82"/>
    <p:sldId id="517" r:id="rId83"/>
    <p:sldId id="521" r:id="rId84"/>
    <p:sldId id="518" r:id="rId85"/>
    <p:sldId id="519" r:id="rId86"/>
    <p:sldId id="292" r:id="rId87"/>
    <p:sldId id="264" r:id="rId88"/>
    <p:sldId id="265" r:id="rId89"/>
    <p:sldId id="327" r:id="rId90"/>
    <p:sldId id="300" r:id="rId91"/>
    <p:sldId id="301" r:id="rId92"/>
    <p:sldId id="379" r:id="rId93"/>
    <p:sldId id="370" r:id="rId94"/>
    <p:sldId id="371" r:id="rId95"/>
    <p:sldId id="372" r:id="rId96"/>
    <p:sldId id="374" r:id="rId97"/>
    <p:sldId id="376" r:id="rId98"/>
    <p:sldId id="380" r:id="rId99"/>
    <p:sldId id="381" r:id="rId100"/>
    <p:sldId id="493" r:id="rId101"/>
    <p:sldId id="490" r:id="rId102"/>
    <p:sldId id="491" r:id="rId103"/>
    <p:sldId id="492" r:id="rId104"/>
    <p:sldId id="326" r:id="rId105"/>
    <p:sldId id="307" r:id="rId106"/>
    <p:sldId id="382" r:id="rId10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53"/>
    <p:restoredTop sz="94453"/>
  </p:normalViewPr>
  <p:slideViewPr>
    <p:cSldViewPr snapToGrid="0" snapToObjects="1">
      <p:cViewPr varScale="1">
        <p:scale>
          <a:sx n="96" d="100"/>
          <a:sy n="96" d="100"/>
        </p:scale>
        <p:origin x="2248" y="176"/>
      </p:cViewPr>
      <p:guideLst>
        <p:guide orient="horz" pos="2160"/>
        <p:guide pos="2880"/>
      </p:guideLst>
    </p:cSldViewPr>
  </p:slideViewPr>
  <p:notesTextViewPr>
    <p:cViewPr>
      <p:scale>
        <a:sx n="100" d="100"/>
        <a:sy n="100" d="100"/>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handoutMaster" Target="handoutMasters/handout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ata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ata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28.svg"/></Relationships>
</file>

<file path=ppt/diagrams/_rels/data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1.svg"/><Relationship Id="rId1" Type="http://schemas.openxmlformats.org/officeDocument/2006/relationships/image" Target="../media/image30.png"/><Relationship Id="rId4" Type="http://schemas.openxmlformats.org/officeDocument/2006/relationships/image" Target="../media/image18.svg"/></Relationships>
</file>

<file path=ppt/diagrams/_rels/data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4" Type="http://schemas.openxmlformats.org/officeDocument/2006/relationships/image" Target="../media/image35.svg"/></Relationships>
</file>

<file path=ppt/diagrams/_rels/data6.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10" Type="http://schemas.openxmlformats.org/officeDocument/2006/relationships/image" Target="../media/image45.svg"/><Relationship Id="rId4" Type="http://schemas.openxmlformats.org/officeDocument/2006/relationships/image" Target="../media/image39.svg"/><Relationship Id="rId9" Type="http://schemas.openxmlformats.org/officeDocument/2006/relationships/image" Target="../media/image44.png"/></Relationships>
</file>

<file path=ppt/diagrams/_rels/data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8.svg"/></Relationships>
</file>

<file path=ppt/diagrams/_rels/data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31.svg"/><Relationship Id="rId1" Type="http://schemas.openxmlformats.org/officeDocument/2006/relationships/image" Target="../media/image30.png"/><Relationship Id="rId4" Type="http://schemas.openxmlformats.org/officeDocument/2006/relationships/image" Target="../media/image5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28.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1.svg"/><Relationship Id="rId1" Type="http://schemas.openxmlformats.org/officeDocument/2006/relationships/image" Target="../media/image30.png"/><Relationship Id="rId4" Type="http://schemas.openxmlformats.org/officeDocument/2006/relationships/image" Target="../media/image18.svg"/></Relationships>
</file>

<file path=ppt/diagrams/_rels/drawing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4" Type="http://schemas.openxmlformats.org/officeDocument/2006/relationships/image" Target="../media/image35.svg"/></Relationships>
</file>

<file path=ppt/diagrams/_rels/drawing6.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10" Type="http://schemas.openxmlformats.org/officeDocument/2006/relationships/image" Target="../media/image45.svg"/><Relationship Id="rId4" Type="http://schemas.openxmlformats.org/officeDocument/2006/relationships/image" Target="../media/image39.svg"/><Relationship Id="rId9" Type="http://schemas.openxmlformats.org/officeDocument/2006/relationships/image" Target="../media/image44.png"/></Relationships>
</file>

<file path=ppt/diagrams/_rels/drawing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8.svg"/></Relationships>
</file>

<file path=ppt/diagrams/_rels/drawing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31.svg"/><Relationship Id="rId1" Type="http://schemas.openxmlformats.org/officeDocument/2006/relationships/image" Target="../media/image30.png"/><Relationship Id="rId4" Type="http://schemas.openxmlformats.org/officeDocument/2006/relationships/image" Target="../media/image50.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ACBE2B-2EEB-4F71-94C1-10F751CCECC2}"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1119F85-2A69-4542-856D-81C31A136216}">
      <dgm:prSet/>
      <dgm:spPr/>
      <dgm:t>
        <a:bodyPr/>
        <a:lstStyle/>
        <a:p>
          <a:r>
            <a:rPr lang="en-US"/>
            <a:t>It</a:t>
          </a:r>
          <a:r>
            <a:rPr lang="ja-JP"/>
            <a:t>’</a:t>
          </a:r>
          <a:r>
            <a:rPr lang="en-US"/>
            <a:t>s about software design</a:t>
          </a:r>
        </a:p>
      </dgm:t>
    </dgm:pt>
    <dgm:pt modelId="{1FC0F94C-B46B-4608-8BB3-855F72FBD411}" type="parTrans" cxnId="{5C2F117E-ADF6-47D3-8A69-670349FE1949}">
      <dgm:prSet/>
      <dgm:spPr/>
      <dgm:t>
        <a:bodyPr/>
        <a:lstStyle/>
        <a:p>
          <a:endParaRPr lang="en-US"/>
        </a:p>
      </dgm:t>
    </dgm:pt>
    <dgm:pt modelId="{931AC06C-2F9E-477E-8A79-AF8167F0D4CA}" type="sibTrans" cxnId="{5C2F117E-ADF6-47D3-8A69-670349FE1949}">
      <dgm:prSet/>
      <dgm:spPr/>
      <dgm:t>
        <a:bodyPr/>
        <a:lstStyle/>
        <a:p>
          <a:endParaRPr lang="en-US"/>
        </a:p>
      </dgm:t>
    </dgm:pt>
    <dgm:pt modelId="{9CAE1B2A-90DE-49A0-9084-DDE6C2EBCC9C}">
      <dgm:prSet/>
      <dgm:spPr/>
      <dgm:t>
        <a:bodyPr/>
        <a:lstStyle/>
        <a:p>
          <a:r>
            <a:rPr lang="en-US"/>
            <a:t>All architecture is software design, but not all design is software architecture</a:t>
          </a:r>
        </a:p>
      </dgm:t>
    </dgm:pt>
    <dgm:pt modelId="{A04BF483-91AB-4EC3-B6F5-472A50CD9E5C}" type="parTrans" cxnId="{EF0D2014-58BE-44E7-BED1-0F1A04C129E1}">
      <dgm:prSet/>
      <dgm:spPr/>
      <dgm:t>
        <a:bodyPr/>
        <a:lstStyle/>
        <a:p>
          <a:endParaRPr lang="en-US"/>
        </a:p>
      </dgm:t>
    </dgm:pt>
    <dgm:pt modelId="{1ED0BC17-895C-41A7-AE92-7D7D0602FEE3}" type="sibTrans" cxnId="{EF0D2014-58BE-44E7-BED1-0F1A04C129E1}">
      <dgm:prSet/>
      <dgm:spPr/>
      <dgm:t>
        <a:bodyPr/>
        <a:lstStyle/>
        <a:p>
          <a:endParaRPr lang="en-US"/>
        </a:p>
      </dgm:t>
    </dgm:pt>
    <dgm:pt modelId="{EEBE2341-DF47-466B-B55D-9B061987472D}">
      <dgm:prSet/>
      <dgm:spPr/>
      <dgm:t>
        <a:bodyPr/>
        <a:lstStyle/>
        <a:p>
          <a:r>
            <a:rPr lang="en-US"/>
            <a:t>Part of the design process</a:t>
          </a:r>
        </a:p>
      </dgm:t>
    </dgm:pt>
    <dgm:pt modelId="{692A8867-6518-40A1-AC66-FC2CB993AA65}" type="parTrans" cxnId="{F8137C18-BA6F-4AC3-9C38-5DF13E48ED62}">
      <dgm:prSet/>
      <dgm:spPr/>
      <dgm:t>
        <a:bodyPr/>
        <a:lstStyle/>
        <a:p>
          <a:endParaRPr lang="en-US"/>
        </a:p>
      </dgm:t>
    </dgm:pt>
    <dgm:pt modelId="{10916717-E291-41CC-8B37-DF5469F95A32}" type="sibTrans" cxnId="{F8137C18-BA6F-4AC3-9C38-5DF13E48ED62}">
      <dgm:prSet/>
      <dgm:spPr/>
      <dgm:t>
        <a:bodyPr/>
        <a:lstStyle/>
        <a:p>
          <a:endParaRPr lang="en-US"/>
        </a:p>
      </dgm:t>
    </dgm:pt>
    <dgm:pt modelId="{2C6B751C-0756-44FB-8492-09E20AEFFE07}">
      <dgm:prSet/>
      <dgm:spPr/>
      <dgm:t>
        <a:bodyPr/>
        <a:lstStyle/>
        <a:p>
          <a:r>
            <a:rPr lang="en-US"/>
            <a:t>Simply, architecture focuses on </a:t>
          </a:r>
          <a:r>
            <a:rPr lang="ja-JP"/>
            <a:t>‘</a:t>
          </a:r>
          <a:r>
            <a:rPr lang="en-US"/>
            <a:t>issues that will be difficult/impossible to change once the system is built</a:t>
          </a:r>
          <a:r>
            <a:rPr lang="ja-JP"/>
            <a:t>’</a:t>
          </a:r>
          <a:endParaRPr lang="en-US"/>
        </a:p>
      </dgm:t>
    </dgm:pt>
    <dgm:pt modelId="{100E7753-7CBE-4534-95F3-46559198DA43}" type="parTrans" cxnId="{15BCD431-C63F-462F-9A5A-B27592246469}">
      <dgm:prSet/>
      <dgm:spPr/>
      <dgm:t>
        <a:bodyPr/>
        <a:lstStyle/>
        <a:p>
          <a:endParaRPr lang="en-US"/>
        </a:p>
      </dgm:t>
    </dgm:pt>
    <dgm:pt modelId="{5D8B12E2-0242-4D89-B859-7D9B4D2755FD}" type="sibTrans" cxnId="{15BCD431-C63F-462F-9A5A-B27592246469}">
      <dgm:prSet/>
      <dgm:spPr/>
      <dgm:t>
        <a:bodyPr/>
        <a:lstStyle/>
        <a:p>
          <a:endParaRPr lang="en-US"/>
        </a:p>
      </dgm:t>
    </dgm:pt>
    <dgm:pt modelId="{9DDADE12-7C62-4F2B-BB02-72FF3ED74127}">
      <dgm:prSet/>
      <dgm:spPr/>
      <dgm:t>
        <a:bodyPr/>
        <a:lstStyle/>
        <a:p>
          <a:r>
            <a:rPr lang="en-US"/>
            <a:t>Quality attributes like security, performance</a:t>
          </a:r>
        </a:p>
      </dgm:t>
    </dgm:pt>
    <dgm:pt modelId="{435D142B-C0F4-40C7-B460-D4174C8BD957}" type="parTrans" cxnId="{DFAF19C7-B1AF-4A0E-B2E3-9A55351BFFF9}">
      <dgm:prSet/>
      <dgm:spPr/>
      <dgm:t>
        <a:bodyPr/>
        <a:lstStyle/>
        <a:p>
          <a:endParaRPr lang="en-US"/>
        </a:p>
      </dgm:t>
    </dgm:pt>
    <dgm:pt modelId="{5C48E232-386A-4BF7-962D-CDB1BA005A97}" type="sibTrans" cxnId="{DFAF19C7-B1AF-4A0E-B2E3-9A55351BFFF9}">
      <dgm:prSet/>
      <dgm:spPr/>
      <dgm:t>
        <a:bodyPr/>
        <a:lstStyle/>
        <a:p>
          <a:endParaRPr lang="en-US"/>
        </a:p>
      </dgm:t>
    </dgm:pt>
    <dgm:pt modelId="{D7B252F1-78F7-46D5-8FDF-4C449AEA630A}">
      <dgm:prSet/>
      <dgm:spPr/>
      <dgm:t>
        <a:bodyPr/>
        <a:lstStyle/>
        <a:p>
          <a:r>
            <a:rPr lang="en-US"/>
            <a:t>Non-functional requirements like cost, deployment hardware</a:t>
          </a:r>
        </a:p>
      </dgm:t>
    </dgm:pt>
    <dgm:pt modelId="{38273FB4-DB4A-4773-9C14-A5E6CF3A10B2}" type="parTrans" cxnId="{7373C98A-796C-440C-86E7-4EC8DA20730F}">
      <dgm:prSet/>
      <dgm:spPr/>
      <dgm:t>
        <a:bodyPr/>
        <a:lstStyle/>
        <a:p>
          <a:endParaRPr lang="en-US"/>
        </a:p>
      </dgm:t>
    </dgm:pt>
    <dgm:pt modelId="{76FFC2B9-9E6A-4A20-91E4-2208D571C858}" type="sibTrans" cxnId="{7373C98A-796C-440C-86E7-4EC8DA20730F}">
      <dgm:prSet/>
      <dgm:spPr/>
      <dgm:t>
        <a:bodyPr/>
        <a:lstStyle/>
        <a:p>
          <a:endParaRPr lang="en-US"/>
        </a:p>
      </dgm:t>
    </dgm:pt>
    <dgm:pt modelId="{F6E8252D-4D99-4AC6-A992-08C14C1AE4EB}">
      <dgm:prSet/>
      <dgm:spPr/>
      <dgm:t>
        <a:bodyPr/>
        <a:lstStyle/>
        <a:p>
          <a:r>
            <a:rPr lang="en-US"/>
            <a:t>More on these later in this session</a:t>
          </a:r>
        </a:p>
      </dgm:t>
    </dgm:pt>
    <dgm:pt modelId="{0EAE990C-66D8-48E9-AC7D-CDA59D49CB64}" type="parTrans" cxnId="{D468E7C0-84D7-442F-B5E9-417AE7B19C70}">
      <dgm:prSet/>
      <dgm:spPr/>
      <dgm:t>
        <a:bodyPr/>
        <a:lstStyle/>
        <a:p>
          <a:endParaRPr lang="en-US"/>
        </a:p>
      </dgm:t>
    </dgm:pt>
    <dgm:pt modelId="{D7EE2A96-4FB4-482E-866E-170D655EB204}" type="sibTrans" cxnId="{D468E7C0-84D7-442F-B5E9-417AE7B19C70}">
      <dgm:prSet/>
      <dgm:spPr/>
      <dgm:t>
        <a:bodyPr/>
        <a:lstStyle/>
        <a:p>
          <a:endParaRPr lang="en-US"/>
        </a:p>
      </dgm:t>
    </dgm:pt>
    <dgm:pt modelId="{FA2D7C66-EA48-4418-8552-03FB816AFA48}" type="pres">
      <dgm:prSet presAssocID="{0AACBE2B-2EEB-4F71-94C1-10F751CCECC2}" presName="root" presStyleCnt="0">
        <dgm:presLayoutVars>
          <dgm:dir/>
          <dgm:resizeHandles val="exact"/>
        </dgm:presLayoutVars>
      </dgm:prSet>
      <dgm:spPr/>
    </dgm:pt>
    <dgm:pt modelId="{30886780-863B-4154-9423-23F99FF3F222}" type="pres">
      <dgm:prSet presAssocID="{91119F85-2A69-4542-856D-81C31A136216}" presName="compNode" presStyleCnt="0"/>
      <dgm:spPr/>
    </dgm:pt>
    <dgm:pt modelId="{E2EA667F-C475-4013-A465-C070922B59F2}" type="pres">
      <dgm:prSet presAssocID="{91119F85-2A69-4542-856D-81C31A136216}" presName="bgRect" presStyleLbl="bgShp" presStyleIdx="0" presStyleCnt="2"/>
      <dgm:spPr/>
    </dgm:pt>
    <dgm:pt modelId="{8E7D5D15-6515-4B39-B711-3A00BBE40EC0}" type="pres">
      <dgm:prSet presAssocID="{91119F85-2A69-4542-856D-81C31A13621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eb Design"/>
        </a:ext>
      </dgm:extLst>
    </dgm:pt>
    <dgm:pt modelId="{DBFEF2A1-CC8F-4475-845A-B27C1CBFC619}" type="pres">
      <dgm:prSet presAssocID="{91119F85-2A69-4542-856D-81C31A136216}" presName="spaceRect" presStyleCnt="0"/>
      <dgm:spPr/>
    </dgm:pt>
    <dgm:pt modelId="{B8134E17-9226-414D-A0B9-A17B027DEE46}" type="pres">
      <dgm:prSet presAssocID="{91119F85-2A69-4542-856D-81C31A136216}" presName="parTx" presStyleLbl="revTx" presStyleIdx="0" presStyleCnt="4">
        <dgm:presLayoutVars>
          <dgm:chMax val="0"/>
          <dgm:chPref val="0"/>
        </dgm:presLayoutVars>
      </dgm:prSet>
      <dgm:spPr/>
    </dgm:pt>
    <dgm:pt modelId="{1CBDD604-E207-4737-911B-C29C8B569983}" type="pres">
      <dgm:prSet presAssocID="{91119F85-2A69-4542-856D-81C31A136216}" presName="desTx" presStyleLbl="revTx" presStyleIdx="1" presStyleCnt="4">
        <dgm:presLayoutVars/>
      </dgm:prSet>
      <dgm:spPr/>
    </dgm:pt>
    <dgm:pt modelId="{7244B0C9-8BE8-47AB-9F85-2EB036B9F3B9}" type="pres">
      <dgm:prSet presAssocID="{931AC06C-2F9E-477E-8A79-AF8167F0D4CA}" presName="sibTrans" presStyleCnt="0"/>
      <dgm:spPr/>
    </dgm:pt>
    <dgm:pt modelId="{27B17CDB-2094-4137-A1D2-06503810EEF0}" type="pres">
      <dgm:prSet presAssocID="{2C6B751C-0756-44FB-8492-09E20AEFFE07}" presName="compNode" presStyleCnt="0"/>
      <dgm:spPr/>
    </dgm:pt>
    <dgm:pt modelId="{E92B41A6-D62B-41DE-ACBD-4557663401DA}" type="pres">
      <dgm:prSet presAssocID="{2C6B751C-0756-44FB-8492-09E20AEFFE07}" presName="bgRect" presStyleLbl="bgShp" presStyleIdx="1" presStyleCnt="2"/>
      <dgm:spPr/>
    </dgm:pt>
    <dgm:pt modelId="{B91D20CF-4678-485F-A649-E954E856D1B6}" type="pres">
      <dgm:prSet presAssocID="{2C6B751C-0756-44FB-8492-09E20AEFFE0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45843CA9-0C98-4A02-BE4C-3660522783D6}" type="pres">
      <dgm:prSet presAssocID="{2C6B751C-0756-44FB-8492-09E20AEFFE07}" presName="spaceRect" presStyleCnt="0"/>
      <dgm:spPr/>
    </dgm:pt>
    <dgm:pt modelId="{DC643C4A-C3AA-4AB4-84E5-CD24EDC33D5B}" type="pres">
      <dgm:prSet presAssocID="{2C6B751C-0756-44FB-8492-09E20AEFFE07}" presName="parTx" presStyleLbl="revTx" presStyleIdx="2" presStyleCnt="4">
        <dgm:presLayoutVars>
          <dgm:chMax val="0"/>
          <dgm:chPref val="0"/>
        </dgm:presLayoutVars>
      </dgm:prSet>
      <dgm:spPr/>
    </dgm:pt>
    <dgm:pt modelId="{9959F321-AEC8-459C-BFB4-44BF6983D084}" type="pres">
      <dgm:prSet presAssocID="{2C6B751C-0756-44FB-8492-09E20AEFFE07}" presName="desTx" presStyleLbl="revTx" presStyleIdx="3" presStyleCnt="4">
        <dgm:presLayoutVars/>
      </dgm:prSet>
      <dgm:spPr/>
    </dgm:pt>
  </dgm:ptLst>
  <dgm:cxnLst>
    <dgm:cxn modelId="{EF0D2014-58BE-44E7-BED1-0F1A04C129E1}" srcId="{91119F85-2A69-4542-856D-81C31A136216}" destId="{9CAE1B2A-90DE-49A0-9084-DDE6C2EBCC9C}" srcOrd="0" destOrd="0" parTransId="{A04BF483-91AB-4EC3-B6F5-472A50CD9E5C}" sibTransId="{1ED0BC17-895C-41A7-AE92-7D7D0602FEE3}"/>
    <dgm:cxn modelId="{F8137C18-BA6F-4AC3-9C38-5DF13E48ED62}" srcId="{91119F85-2A69-4542-856D-81C31A136216}" destId="{EEBE2341-DF47-466B-B55D-9B061987472D}" srcOrd="1" destOrd="0" parTransId="{692A8867-6518-40A1-AC66-FC2CB993AA65}" sibTransId="{10916717-E291-41CC-8B37-DF5469F95A32}"/>
    <dgm:cxn modelId="{1DDAFC23-1A3D-4515-BB6B-F027C2710A85}" type="presOf" srcId="{EEBE2341-DF47-466B-B55D-9B061987472D}" destId="{1CBDD604-E207-4737-911B-C29C8B569983}" srcOrd="0" destOrd="1" presId="urn:microsoft.com/office/officeart/2018/2/layout/IconVerticalSolidList"/>
    <dgm:cxn modelId="{71A7632C-30E8-43EF-B7DA-27BB56F01EAA}" type="presOf" srcId="{9DDADE12-7C62-4F2B-BB02-72FF3ED74127}" destId="{9959F321-AEC8-459C-BFB4-44BF6983D084}" srcOrd="0" destOrd="0" presId="urn:microsoft.com/office/officeart/2018/2/layout/IconVerticalSolidList"/>
    <dgm:cxn modelId="{15BCD431-C63F-462F-9A5A-B27592246469}" srcId="{0AACBE2B-2EEB-4F71-94C1-10F751CCECC2}" destId="{2C6B751C-0756-44FB-8492-09E20AEFFE07}" srcOrd="1" destOrd="0" parTransId="{100E7753-7CBE-4534-95F3-46559198DA43}" sibTransId="{5D8B12E2-0242-4D89-B859-7D9B4D2755FD}"/>
    <dgm:cxn modelId="{7BE15C38-C775-4623-A3D8-4AF81357DC1B}" type="presOf" srcId="{0AACBE2B-2EEB-4F71-94C1-10F751CCECC2}" destId="{FA2D7C66-EA48-4418-8552-03FB816AFA48}" srcOrd="0" destOrd="0" presId="urn:microsoft.com/office/officeart/2018/2/layout/IconVerticalSolidList"/>
    <dgm:cxn modelId="{514CCF4A-2A01-4802-897E-B5F72DAE9D5F}" type="presOf" srcId="{F6E8252D-4D99-4AC6-A992-08C14C1AE4EB}" destId="{9959F321-AEC8-459C-BFB4-44BF6983D084}" srcOrd="0" destOrd="2" presId="urn:microsoft.com/office/officeart/2018/2/layout/IconVerticalSolidList"/>
    <dgm:cxn modelId="{944A4363-6A57-4AF7-811C-CAF33BB9EAD1}" type="presOf" srcId="{D7B252F1-78F7-46D5-8FDF-4C449AEA630A}" destId="{9959F321-AEC8-459C-BFB4-44BF6983D084}" srcOrd="0" destOrd="1" presId="urn:microsoft.com/office/officeart/2018/2/layout/IconVerticalSolidList"/>
    <dgm:cxn modelId="{75C39D75-8C4E-4803-8284-7C91819809C6}" type="presOf" srcId="{2C6B751C-0756-44FB-8492-09E20AEFFE07}" destId="{DC643C4A-C3AA-4AB4-84E5-CD24EDC33D5B}" srcOrd="0" destOrd="0" presId="urn:microsoft.com/office/officeart/2018/2/layout/IconVerticalSolidList"/>
    <dgm:cxn modelId="{5C2F117E-ADF6-47D3-8A69-670349FE1949}" srcId="{0AACBE2B-2EEB-4F71-94C1-10F751CCECC2}" destId="{91119F85-2A69-4542-856D-81C31A136216}" srcOrd="0" destOrd="0" parTransId="{1FC0F94C-B46B-4608-8BB3-855F72FBD411}" sibTransId="{931AC06C-2F9E-477E-8A79-AF8167F0D4CA}"/>
    <dgm:cxn modelId="{7373C98A-796C-440C-86E7-4EC8DA20730F}" srcId="{2C6B751C-0756-44FB-8492-09E20AEFFE07}" destId="{D7B252F1-78F7-46D5-8FDF-4C449AEA630A}" srcOrd="1" destOrd="0" parTransId="{38273FB4-DB4A-4773-9C14-A5E6CF3A10B2}" sibTransId="{76FFC2B9-9E6A-4A20-91E4-2208D571C858}"/>
    <dgm:cxn modelId="{8773C6A8-F1AF-415D-85D2-CECD2C1730FB}" type="presOf" srcId="{91119F85-2A69-4542-856D-81C31A136216}" destId="{B8134E17-9226-414D-A0B9-A17B027DEE46}" srcOrd="0" destOrd="0" presId="urn:microsoft.com/office/officeart/2018/2/layout/IconVerticalSolidList"/>
    <dgm:cxn modelId="{D468E7C0-84D7-442F-B5E9-417AE7B19C70}" srcId="{2C6B751C-0756-44FB-8492-09E20AEFFE07}" destId="{F6E8252D-4D99-4AC6-A992-08C14C1AE4EB}" srcOrd="2" destOrd="0" parTransId="{0EAE990C-66D8-48E9-AC7D-CDA59D49CB64}" sibTransId="{D7EE2A96-4FB4-482E-866E-170D655EB204}"/>
    <dgm:cxn modelId="{DFAF19C7-B1AF-4A0E-B2E3-9A55351BFFF9}" srcId="{2C6B751C-0756-44FB-8492-09E20AEFFE07}" destId="{9DDADE12-7C62-4F2B-BB02-72FF3ED74127}" srcOrd="0" destOrd="0" parTransId="{435D142B-C0F4-40C7-B460-D4174C8BD957}" sibTransId="{5C48E232-386A-4BF7-962D-CDB1BA005A97}"/>
    <dgm:cxn modelId="{A10AF0E3-829E-46A6-A300-D9575A79CC4B}" type="presOf" srcId="{9CAE1B2A-90DE-49A0-9084-DDE6C2EBCC9C}" destId="{1CBDD604-E207-4737-911B-C29C8B569983}" srcOrd="0" destOrd="0" presId="urn:microsoft.com/office/officeart/2018/2/layout/IconVerticalSolidList"/>
    <dgm:cxn modelId="{4D84AAAB-6433-4786-8519-784BC4972762}" type="presParOf" srcId="{FA2D7C66-EA48-4418-8552-03FB816AFA48}" destId="{30886780-863B-4154-9423-23F99FF3F222}" srcOrd="0" destOrd="0" presId="urn:microsoft.com/office/officeart/2018/2/layout/IconVerticalSolidList"/>
    <dgm:cxn modelId="{C8BE994B-F953-4711-BABE-96D38C43C424}" type="presParOf" srcId="{30886780-863B-4154-9423-23F99FF3F222}" destId="{E2EA667F-C475-4013-A465-C070922B59F2}" srcOrd="0" destOrd="0" presId="urn:microsoft.com/office/officeart/2018/2/layout/IconVerticalSolidList"/>
    <dgm:cxn modelId="{4EDEBDA9-5823-4CE5-A5DF-A7B80477B1FC}" type="presParOf" srcId="{30886780-863B-4154-9423-23F99FF3F222}" destId="{8E7D5D15-6515-4B39-B711-3A00BBE40EC0}" srcOrd="1" destOrd="0" presId="urn:microsoft.com/office/officeart/2018/2/layout/IconVerticalSolidList"/>
    <dgm:cxn modelId="{80DBAF0B-6290-4430-AB6B-29C32E36EE30}" type="presParOf" srcId="{30886780-863B-4154-9423-23F99FF3F222}" destId="{DBFEF2A1-CC8F-4475-845A-B27C1CBFC619}" srcOrd="2" destOrd="0" presId="urn:microsoft.com/office/officeart/2018/2/layout/IconVerticalSolidList"/>
    <dgm:cxn modelId="{18C066F2-7F3A-4976-A080-5D26A49F39F6}" type="presParOf" srcId="{30886780-863B-4154-9423-23F99FF3F222}" destId="{B8134E17-9226-414D-A0B9-A17B027DEE46}" srcOrd="3" destOrd="0" presId="urn:microsoft.com/office/officeart/2018/2/layout/IconVerticalSolidList"/>
    <dgm:cxn modelId="{54C3AB59-24C3-41EC-AB21-C56EE826A32F}" type="presParOf" srcId="{30886780-863B-4154-9423-23F99FF3F222}" destId="{1CBDD604-E207-4737-911B-C29C8B569983}" srcOrd="4" destOrd="0" presId="urn:microsoft.com/office/officeart/2018/2/layout/IconVerticalSolidList"/>
    <dgm:cxn modelId="{909D862E-5FB3-423E-A132-517221F66C64}" type="presParOf" srcId="{FA2D7C66-EA48-4418-8552-03FB816AFA48}" destId="{7244B0C9-8BE8-47AB-9F85-2EB036B9F3B9}" srcOrd="1" destOrd="0" presId="urn:microsoft.com/office/officeart/2018/2/layout/IconVerticalSolidList"/>
    <dgm:cxn modelId="{EC98587A-7BB6-40D0-A2B8-B97B64A4301F}" type="presParOf" srcId="{FA2D7C66-EA48-4418-8552-03FB816AFA48}" destId="{27B17CDB-2094-4137-A1D2-06503810EEF0}" srcOrd="2" destOrd="0" presId="urn:microsoft.com/office/officeart/2018/2/layout/IconVerticalSolidList"/>
    <dgm:cxn modelId="{B2A426EE-BC4A-4B33-95D6-D0750A9D351A}" type="presParOf" srcId="{27B17CDB-2094-4137-A1D2-06503810EEF0}" destId="{E92B41A6-D62B-41DE-ACBD-4557663401DA}" srcOrd="0" destOrd="0" presId="urn:microsoft.com/office/officeart/2018/2/layout/IconVerticalSolidList"/>
    <dgm:cxn modelId="{3617E40C-E98A-4A2D-9C8B-0CE98FBEAF5B}" type="presParOf" srcId="{27B17CDB-2094-4137-A1D2-06503810EEF0}" destId="{B91D20CF-4678-485F-A649-E954E856D1B6}" srcOrd="1" destOrd="0" presId="urn:microsoft.com/office/officeart/2018/2/layout/IconVerticalSolidList"/>
    <dgm:cxn modelId="{FA29D3E6-C0DB-4DE5-9D94-C944D8F1907C}" type="presParOf" srcId="{27B17CDB-2094-4137-A1D2-06503810EEF0}" destId="{45843CA9-0C98-4A02-BE4C-3660522783D6}" srcOrd="2" destOrd="0" presId="urn:microsoft.com/office/officeart/2018/2/layout/IconVerticalSolidList"/>
    <dgm:cxn modelId="{B6F15C9D-AEC6-4E33-95FD-066F960EB7B7}" type="presParOf" srcId="{27B17CDB-2094-4137-A1D2-06503810EEF0}" destId="{DC643C4A-C3AA-4AB4-84E5-CD24EDC33D5B}" srcOrd="3" destOrd="0" presId="urn:microsoft.com/office/officeart/2018/2/layout/IconVerticalSolidList"/>
    <dgm:cxn modelId="{F980D86E-3CDF-428F-A41E-DEDD062F1BD4}" type="presParOf" srcId="{27B17CDB-2094-4137-A1D2-06503810EEF0}" destId="{9959F321-AEC8-459C-BFB4-44BF6983D084}"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8D0202-7CD3-4795-BF11-D63DEF371F87}"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8BB70BCB-A07B-4A6A-9F40-BF029AEC47F4}">
      <dgm:prSet/>
      <dgm:spPr/>
      <dgm:t>
        <a:bodyPr/>
        <a:lstStyle/>
        <a:p>
          <a:r>
            <a:rPr lang="en-US"/>
            <a:t>Simple, informal block diagrams showing entities and relationships are the most frequently used method for documenting software architectures.</a:t>
          </a:r>
        </a:p>
      </dgm:t>
    </dgm:pt>
    <dgm:pt modelId="{C63A7296-5448-4D64-B3B7-14F0EF9AE16A}" type="parTrans" cxnId="{F115707B-67DD-4F25-BF16-1D0FA8B9F7EE}">
      <dgm:prSet/>
      <dgm:spPr/>
      <dgm:t>
        <a:bodyPr/>
        <a:lstStyle/>
        <a:p>
          <a:endParaRPr lang="en-US"/>
        </a:p>
      </dgm:t>
    </dgm:pt>
    <dgm:pt modelId="{6E97FC8E-60F3-41C3-BD8B-DDF039E487C4}" type="sibTrans" cxnId="{F115707B-67DD-4F25-BF16-1D0FA8B9F7EE}">
      <dgm:prSet/>
      <dgm:spPr/>
      <dgm:t>
        <a:bodyPr/>
        <a:lstStyle/>
        <a:p>
          <a:endParaRPr lang="en-US"/>
        </a:p>
      </dgm:t>
    </dgm:pt>
    <dgm:pt modelId="{C13BA45D-1570-46BA-B26D-799DB990CE6F}">
      <dgm:prSet/>
      <dgm:spPr/>
      <dgm:t>
        <a:bodyPr/>
        <a:lstStyle/>
        <a:p>
          <a:r>
            <a:rPr lang="en-US"/>
            <a:t>But these have been criticised because they lack semantics, do not show the types of relationships between entities nor the visible properties of entities in the architecture.</a:t>
          </a:r>
        </a:p>
      </dgm:t>
    </dgm:pt>
    <dgm:pt modelId="{92B34C7B-EC6F-4B16-856E-7963EB850FD5}" type="parTrans" cxnId="{6F1FE3D0-4A44-4D30-861A-7054B09CBE56}">
      <dgm:prSet/>
      <dgm:spPr/>
      <dgm:t>
        <a:bodyPr/>
        <a:lstStyle/>
        <a:p>
          <a:endParaRPr lang="en-US"/>
        </a:p>
      </dgm:t>
    </dgm:pt>
    <dgm:pt modelId="{C67E02FE-3769-45DA-8664-EF679D18020C}" type="sibTrans" cxnId="{6F1FE3D0-4A44-4D30-861A-7054B09CBE56}">
      <dgm:prSet/>
      <dgm:spPr/>
      <dgm:t>
        <a:bodyPr/>
        <a:lstStyle/>
        <a:p>
          <a:endParaRPr lang="en-US"/>
        </a:p>
      </dgm:t>
    </dgm:pt>
    <dgm:pt modelId="{B873DCCA-5FEC-498F-9B69-E3EC0BBD3AD6}">
      <dgm:prSet/>
      <dgm:spPr/>
      <dgm:t>
        <a:bodyPr/>
        <a:lstStyle/>
        <a:p>
          <a:r>
            <a:rPr lang="en-US"/>
            <a:t>Depends on the use of architectural models.The  requirements for model semantics depends on how the models are used.</a:t>
          </a:r>
        </a:p>
      </dgm:t>
    </dgm:pt>
    <dgm:pt modelId="{B7CA365D-1783-4E4D-9247-09B7C8C39B84}" type="parTrans" cxnId="{88EA581A-8F1F-413C-8FC7-004F09D8A7C5}">
      <dgm:prSet/>
      <dgm:spPr/>
      <dgm:t>
        <a:bodyPr/>
        <a:lstStyle/>
        <a:p>
          <a:endParaRPr lang="en-US"/>
        </a:p>
      </dgm:t>
    </dgm:pt>
    <dgm:pt modelId="{5C5FC7FF-919A-4517-99F2-B6A9A7E8BC34}" type="sibTrans" cxnId="{88EA581A-8F1F-413C-8FC7-004F09D8A7C5}">
      <dgm:prSet/>
      <dgm:spPr/>
      <dgm:t>
        <a:bodyPr/>
        <a:lstStyle/>
        <a:p>
          <a:endParaRPr lang="en-US"/>
        </a:p>
      </dgm:t>
    </dgm:pt>
    <dgm:pt modelId="{3415EF3F-4119-40D4-A280-4CF35B7B4EF2}" type="pres">
      <dgm:prSet presAssocID="{D28D0202-7CD3-4795-BF11-D63DEF371F87}" presName="root" presStyleCnt="0">
        <dgm:presLayoutVars>
          <dgm:dir/>
          <dgm:resizeHandles val="exact"/>
        </dgm:presLayoutVars>
      </dgm:prSet>
      <dgm:spPr/>
    </dgm:pt>
    <dgm:pt modelId="{78884386-6AA9-4161-8C07-F9FC690ABCF7}" type="pres">
      <dgm:prSet presAssocID="{8BB70BCB-A07B-4A6A-9F40-BF029AEC47F4}" presName="compNode" presStyleCnt="0"/>
      <dgm:spPr/>
    </dgm:pt>
    <dgm:pt modelId="{AFCB5984-ECE8-48E2-A92C-05E6148FE162}" type="pres">
      <dgm:prSet presAssocID="{8BB70BCB-A07B-4A6A-9F40-BF029AEC47F4}" presName="bgRect" presStyleLbl="bgShp" presStyleIdx="0" presStyleCnt="3"/>
      <dgm:spPr/>
    </dgm:pt>
    <dgm:pt modelId="{8F30C757-5D1E-40FB-89CF-C5CB604F4FB3}" type="pres">
      <dgm:prSet presAssocID="{8BB70BCB-A07B-4A6A-9F40-BF029AEC47F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3B330670-EA82-4016-B9BD-F859527F0274}" type="pres">
      <dgm:prSet presAssocID="{8BB70BCB-A07B-4A6A-9F40-BF029AEC47F4}" presName="spaceRect" presStyleCnt="0"/>
      <dgm:spPr/>
    </dgm:pt>
    <dgm:pt modelId="{094422B1-7A58-465F-8C76-499C763AAD9E}" type="pres">
      <dgm:prSet presAssocID="{8BB70BCB-A07B-4A6A-9F40-BF029AEC47F4}" presName="parTx" presStyleLbl="revTx" presStyleIdx="0" presStyleCnt="3">
        <dgm:presLayoutVars>
          <dgm:chMax val="0"/>
          <dgm:chPref val="0"/>
        </dgm:presLayoutVars>
      </dgm:prSet>
      <dgm:spPr/>
    </dgm:pt>
    <dgm:pt modelId="{37B41D38-76BA-4119-BD72-7A897400CEDC}" type="pres">
      <dgm:prSet presAssocID="{6E97FC8E-60F3-41C3-BD8B-DDF039E487C4}" presName="sibTrans" presStyleCnt="0"/>
      <dgm:spPr/>
    </dgm:pt>
    <dgm:pt modelId="{8A79AF90-ECBF-4E6C-BAF7-E8159288E1ED}" type="pres">
      <dgm:prSet presAssocID="{C13BA45D-1570-46BA-B26D-799DB990CE6F}" presName="compNode" presStyleCnt="0"/>
      <dgm:spPr/>
    </dgm:pt>
    <dgm:pt modelId="{DF474153-EC39-45BF-B3C5-8430CEE26998}" type="pres">
      <dgm:prSet presAssocID="{C13BA45D-1570-46BA-B26D-799DB990CE6F}" presName="bgRect" presStyleLbl="bgShp" presStyleIdx="1" presStyleCnt="3"/>
      <dgm:spPr/>
    </dgm:pt>
    <dgm:pt modelId="{79EB8D98-D15C-4DBA-8873-9BD4B0EC74BB}" type="pres">
      <dgm:prSet presAssocID="{C13BA45D-1570-46BA-B26D-799DB990CE6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cted"/>
        </a:ext>
      </dgm:extLst>
    </dgm:pt>
    <dgm:pt modelId="{3FACCEC5-9AE3-4326-A621-C2FC7962F766}" type="pres">
      <dgm:prSet presAssocID="{C13BA45D-1570-46BA-B26D-799DB990CE6F}" presName="spaceRect" presStyleCnt="0"/>
      <dgm:spPr/>
    </dgm:pt>
    <dgm:pt modelId="{4407C2D4-EC3C-456E-80C4-A81F87842A95}" type="pres">
      <dgm:prSet presAssocID="{C13BA45D-1570-46BA-B26D-799DB990CE6F}" presName="parTx" presStyleLbl="revTx" presStyleIdx="1" presStyleCnt="3">
        <dgm:presLayoutVars>
          <dgm:chMax val="0"/>
          <dgm:chPref val="0"/>
        </dgm:presLayoutVars>
      </dgm:prSet>
      <dgm:spPr/>
    </dgm:pt>
    <dgm:pt modelId="{42D25953-621E-44C2-9926-C4A039C4409C}" type="pres">
      <dgm:prSet presAssocID="{C67E02FE-3769-45DA-8664-EF679D18020C}" presName="sibTrans" presStyleCnt="0"/>
      <dgm:spPr/>
    </dgm:pt>
    <dgm:pt modelId="{978F9342-82D4-481A-83A5-F9ED414B2CEE}" type="pres">
      <dgm:prSet presAssocID="{B873DCCA-5FEC-498F-9B69-E3EC0BBD3AD6}" presName="compNode" presStyleCnt="0"/>
      <dgm:spPr/>
    </dgm:pt>
    <dgm:pt modelId="{C51FA76B-55BD-4FA9-94D7-38D92C8B30F7}" type="pres">
      <dgm:prSet presAssocID="{B873DCCA-5FEC-498F-9B69-E3EC0BBD3AD6}" presName="bgRect" presStyleLbl="bgShp" presStyleIdx="2" presStyleCnt="3"/>
      <dgm:spPr/>
    </dgm:pt>
    <dgm:pt modelId="{6A080250-5A8B-4D82-838C-214C65F9B19E}" type="pres">
      <dgm:prSet presAssocID="{B873DCCA-5FEC-498F-9B69-E3EC0BBD3AD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rawing Compass"/>
        </a:ext>
      </dgm:extLst>
    </dgm:pt>
    <dgm:pt modelId="{57B6F4B6-0FE8-47AD-9B01-71E91C2E18F1}" type="pres">
      <dgm:prSet presAssocID="{B873DCCA-5FEC-498F-9B69-E3EC0BBD3AD6}" presName="spaceRect" presStyleCnt="0"/>
      <dgm:spPr/>
    </dgm:pt>
    <dgm:pt modelId="{81D63CE9-BC4D-48C6-9158-040789E652D5}" type="pres">
      <dgm:prSet presAssocID="{B873DCCA-5FEC-498F-9B69-E3EC0BBD3AD6}" presName="parTx" presStyleLbl="revTx" presStyleIdx="2" presStyleCnt="3">
        <dgm:presLayoutVars>
          <dgm:chMax val="0"/>
          <dgm:chPref val="0"/>
        </dgm:presLayoutVars>
      </dgm:prSet>
      <dgm:spPr/>
    </dgm:pt>
  </dgm:ptLst>
  <dgm:cxnLst>
    <dgm:cxn modelId="{472ED502-CDE0-4CCA-B228-3FCB68BD72C3}" type="presOf" srcId="{B873DCCA-5FEC-498F-9B69-E3EC0BBD3AD6}" destId="{81D63CE9-BC4D-48C6-9158-040789E652D5}" srcOrd="0" destOrd="0" presId="urn:microsoft.com/office/officeart/2018/2/layout/IconVerticalSolidList"/>
    <dgm:cxn modelId="{88EA581A-8F1F-413C-8FC7-004F09D8A7C5}" srcId="{D28D0202-7CD3-4795-BF11-D63DEF371F87}" destId="{B873DCCA-5FEC-498F-9B69-E3EC0BBD3AD6}" srcOrd="2" destOrd="0" parTransId="{B7CA365D-1783-4E4D-9247-09B7C8C39B84}" sibTransId="{5C5FC7FF-919A-4517-99F2-B6A9A7E8BC34}"/>
    <dgm:cxn modelId="{F115707B-67DD-4F25-BF16-1D0FA8B9F7EE}" srcId="{D28D0202-7CD3-4795-BF11-D63DEF371F87}" destId="{8BB70BCB-A07B-4A6A-9F40-BF029AEC47F4}" srcOrd="0" destOrd="0" parTransId="{C63A7296-5448-4D64-B3B7-14F0EF9AE16A}" sibTransId="{6E97FC8E-60F3-41C3-BD8B-DDF039E487C4}"/>
    <dgm:cxn modelId="{8E5767B9-4715-44D0-B18F-A24C0F376252}" type="presOf" srcId="{D28D0202-7CD3-4795-BF11-D63DEF371F87}" destId="{3415EF3F-4119-40D4-A280-4CF35B7B4EF2}" srcOrd="0" destOrd="0" presId="urn:microsoft.com/office/officeart/2018/2/layout/IconVerticalSolidList"/>
    <dgm:cxn modelId="{6F1FE3D0-4A44-4D30-861A-7054B09CBE56}" srcId="{D28D0202-7CD3-4795-BF11-D63DEF371F87}" destId="{C13BA45D-1570-46BA-B26D-799DB990CE6F}" srcOrd="1" destOrd="0" parTransId="{92B34C7B-EC6F-4B16-856E-7963EB850FD5}" sibTransId="{C67E02FE-3769-45DA-8664-EF679D18020C}"/>
    <dgm:cxn modelId="{1B0FAAD5-D6E1-4FF1-B7DB-F28195EC6D30}" type="presOf" srcId="{C13BA45D-1570-46BA-B26D-799DB990CE6F}" destId="{4407C2D4-EC3C-456E-80C4-A81F87842A95}" srcOrd="0" destOrd="0" presId="urn:microsoft.com/office/officeart/2018/2/layout/IconVerticalSolidList"/>
    <dgm:cxn modelId="{482CFADC-0DD7-4441-BAB5-3DBCEBFCF5CF}" type="presOf" srcId="{8BB70BCB-A07B-4A6A-9F40-BF029AEC47F4}" destId="{094422B1-7A58-465F-8C76-499C763AAD9E}" srcOrd="0" destOrd="0" presId="urn:microsoft.com/office/officeart/2018/2/layout/IconVerticalSolidList"/>
    <dgm:cxn modelId="{01BA2F25-382B-448D-A8DA-795F9726514C}" type="presParOf" srcId="{3415EF3F-4119-40D4-A280-4CF35B7B4EF2}" destId="{78884386-6AA9-4161-8C07-F9FC690ABCF7}" srcOrd="0" destOrd="0" presId="urn:microsoft.com/office/officeart/2018/2/layout/IconVerticalSolidList"/>
    <dgm:cxn modelId="{1428663F-03EF-41D7-A4BA-9AE850D639FF}" type="presParOf" srcId="{78884386-6AA9-4161-8C07-F9FC690ABCF7}" destId="{AFCB5984-ECE8-48E2-A92C-05E6148FE162}" srcOrd="0" destOrd="0" presId="urn:microsoft.com/office/officeart/2018/2/layout/IconVerticalSolidList"/>
    <dgm:cxn modelId="{43B79382-4122-4E91-A30E-676923835AA3}" type="presParOf" srcId="{78884386-6AA9-4161-8C07-F9FC690ABCF7}" destId="{8F30C757-5D1E-40FB-89CF-C5CB604F4FB3}" srcOrd="1" destOrd="0" presId="urn:microsoft.com/office/officeart/2018/2/layout/IconVerticalSolidList"/>
    <dgm:cxn modelId="{4D47A1C9-8F8D-4803-8DBA-DC04706B44E4}" type="presParOf" srcId="{78884386-6AA9-4161-8C07-F9FC690ABCF7}" destId="{3B330670-EA82-4016-B9BD-F859527F0274}" srcOrd="2" destOrd="0" presId="urn:microsoft.com/office/officeart/2018/2/layout/IconVerticalSolidList"/>
    <dgm:cxn modelId="{862CBF18-5C9E-4A9B-9C1C-51628ABEA3CB}" type="presParOf" srcId="{78884386-6AA9-4161-8C07-F9FC690ABCF7}" destId="{094422B1-7A58-465F-8C76-499C763AAD9E}" srcOrd="3" destOrd="0" presId="urn:microsoft.com/office/officeart/2018/2/layout/IconVerticalSolidList"/>
    <dgm:cxn modelId="{6CDAED71-32AA-423E-B651-88773FEF6913}" type="presParOf" srcId="{3415EF3F-4119-40D4-A280-4CF35B7B4EF2}" destId="{37B41D38-76BA-4119-BD72-7A897400CEDC}" srcOrd="1" destOrd="0" presId="urn:microsoft.com/office/officeart/2018/2/layout/IconVerticalSolidList"/>
    <dgm:cxn modelId="{4AED8919-32B0-40B9-BF0B-BCB6723DBA3F}" type="presParOf" srcId="{3415EF3F-4119-40D4-A280-4CF35B7B4EF2}" destId="{8A79AF90-ECBF-4E6C-BAF7-E8159288E1ED}" srcOrd="2" destOrd="0" presId="urn:microsoft.com/office/officeart/2018/2/layout/IconVerticalSolidList"/>
    <dgm:cxn modelId="{F949DB86-06C9-45B6-AC22-9B92D6976F5D}" type="presParOf" srcId="{8A79AF90-ECBF-4E6C-BAF7-E8159288E1ED}" destId="{DF474153-EC39-45BF-B3C5-8430CEE26998}" srcOrd="0" destOrd="0" presId="urn:microsoft.com/office/officeart/2018/2/layout/IconVerticalSolidList"/>
    <dgm:cxn modelId="{8FF7E004-A8FE-4137-AFD2-4E06D298ED12}" type="presParOf" srcId="{8A79AF90-ECBF-4E6C-BAF7-E8159288E1ED}" destId="{79EB8D98-D15C-4DBA-8873-9BD4B0EC74BB}" srcOrd="1" destOrd="0" presId="urn:microsoft.com/office/officeart/2018/2/layout/IconVerticalSolidList"/>
    <dgm:cxn modelId="{0AB19218-312B-4241-8A62-60A5DDE3772B}" type="presParOf" srcId="{8A79AF90-ECBF-4E6C-BAF7-E8159288E1ED}" destId="{3FACCEC5-9AE3-4326-A621-C2FC7962F766}" srcOrd="2" destOrd="0" presId="urn:microsoft.com/office/officeart/2018/2/layout/IconVerticalSolidList"/>
    <dgm:cxn modelId="{A724181F-E7AB-4FAC-8433-4A983A7009C6}" type="presParOf" srcId="{8A79AF90-ECBF-4E6C-BAF7-E8159288E1ED}" destId="{4407C2D4-EC3C-456E-80C4-A81F87842A95}" srcOrd="3" destOrd="0" presId="urn:microsoft.com/office/officeart/2018/2/layout/IconVerticalSolidList"/>
    <dgm:cxn modelId="{95401A91-DADB-44D5-AF02-82B4ADFDACD3}" type="presParOf" srcId="{3415EF3F-4119-40D4-A280-4CF35B7B4EF2}" destId="{42D25953-621E-44C2-9926-C4A039C4409C}" srcOrd="3" destOrd="0" presId="urn:microsoft.com/office/officeart/2018/2/layout/IconVerticalSolidList"/>
    <dgm:cxn modelId="{94CBD938-6C0C-41F9-A0B8-40D7F4FC5C84}" type="presParOf" srcId="{3415EF3F-4119-40D4-A280-4CF35B7B4EF2}" destId="{978F9342-82D4-481A-83A5-F9ED414B2CEE}" srcOrd="4" destOrd="0" presId="urn:microsoft.com/office/officeart/2018/2/layout/IconVerticalSolidList"/>
    <dgm:cxn modelId="{799AD410-E2B9-44E5-967F-23FAE4C70EF9}" type="presParOf" srcId="{978F9342-82D4-481A-83A5-F9ED414B2CEE}" destId="{C51FA76B-55BD-4FA9-94D7-38D92C8B30F7}" srcOrd="0" destOrd="0" presId="urn:microsoft.com/office/officeart/2018/2/layout/IconVerticalSolidList"/>
    <dgm:cxn modelId="{62D14AF0-178C-42D8-BCA7-49C64FC0ED23}" type="presParOf" srcId="{978F9342-82D4-481A-83A5-F9ED414B2CEE}" destId="{6A080250-5A8B-4D82-838C-214C65F9B19E}" srcOrd="1" destOrd="0" presId="urn:microsoft.com/office/officeart/2018/2/layout/IconVerticalSolidList"/>
    <dgm:cxn modelId="{DF2A0227-E7A4-4CB1-9487-555AB54E5690}" type="presParOf" srcId="{978F9342-82D4-481A-83A5-F9ED414B2CEE}" destId="{57B6F4B6-0FE8-47AD-9B01-71E91C2E18F1}" srcOrd="2" destOrd="0" presId="urn:microsoft.com/office/officeart/2018/2/layout/IconVerticalSolidList"/>
    <dgm:cxn modelId="{305BC50E-1316-44E1-B31D-C495A11D4321}" type="presParOf" srcId="{978F9342-82D4-481A-83A5-F9ED414B2CEE}" destId="{81D63CE9-BC4D-48C6-9158-040789E652D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E7F165A-81F4-4290-97CE-A3B7AA1FD820}"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4F879253-EC6C-40D4-81D9-90A9F31BFB8D}">
      <dgm:prSet/>
      <dgm:spPr/>
      <dgm:t>
        <a:bodyPr/>
        <a:lstStyle/>
        <a:p>
          <a:r>
            <a:rPr lang="en-US"/>
            <a:t>Many examples of poor performance in enterprise applications</a:t>
          </a:r>
        </a:p>
      </dgm:t>
    </dgm:pt>
    <dgm:pt modelId="{17F7EDE6-C79D-4F7D-9ED8-717D43C2C23E}" type="parTrans" cxnId="{674F5AF8-48C4-495C-92BD-001824D0B5AA}">
      <dgm:prSet/>
      <dgm:spPr/>
      <dgm:t>
        <a:bodyPr/>
        <a:lstStyle/>
        <a:p>
          <a:endParaRPr lang="en-US"/>
        </a:p>
      </dgm:t>
    </dgm:pt>
    <dgm:pt modelId="{7FDD8570-396F-4510-8B19-8DA2618D42DD}" type="sibTrans" cxnId="{674F5AF8-48C4-495C-92BD-001824D0B5AA}">
      <dgm:prSet/>
      <dgm:spPr/>
      <dgm:t>
        <a:bodyPr/>
        <a:lstStyle/>
        <a:p>
          <a:endParaRPr lang="en-US"/>
        </a:p>
      </dgm:t>
    </dgm:pt>
    <dgm:pt modelId="{2F38F14D-283F-478C-BFB3-23CD46D2845C}">
      <dgm:prSet/>
      <dgm:spPr/>
      <dgm:t>
        <a:bodyPr/>
        <a:lstStyle/>
        <a:p>
          <a:r>
            <a:rPr lang="en-US"/>
            <a:t>Performance requires a:</a:t>
          </a:r>
        </a:p>
      </dgm:t>
    </dgm:pt>
    <dgm:pt modelId="{6D1220D0-91C7-490C-8715-DB92D86B834C}" type="parTrans" cxnId="{98E33484-0977-4022-A63F-14C51900B027}">
      <dgm:prSet/>
      <dgm:spPr/>
      <dgm:t>
        <a:bodyPr/>
        <a:lstStyle/>
        <a:p>
          <a:endParaRPr lang="en-US"/>
        </a:p>
      </dgm:t>
    </dgm:pt>
    <dgm:pt modelId="{6318904A-5EBF-45E8-8625-49442E0652CB}" type="sibTrans" cxnId="{98E33484-0977-4022-A63F-14C51900B027}">
      <dgm:prSet/>
      <dgm:spPr/>
      <dgm:t>
        <a:bodyPr/>
        <a:lstStyle/>
        <a:p>
          <a:endParaRPr lang="en-US"/>
        </a:p>
      </dgm:t>
    </dgm:pt>
    <dgm:pt modelId="{610328F2-5F4F-47FB-B83D-5A61AD1C132D}">
      <dgm:prSet/>
      <dgm:spPr/>
      <dgm:t>
        <a:bodyPr/>
        <a:lstStyle/>
        <a:p>
          <a:r>
            <a:rPr lang="en-US"/>
            <a:t>Metric of amount of work performed in unit time</a:t>
          </a:r>
        </a:p>
      </dgm:t>
    </dgm:pt>
    <dgm:pt modelId="{7BD5318F-8119-422E-A974-092E10F295C3}" type="parTrans" cxnId="{030178B4-4B07-4412-8000-99A79C587FB3}">
      <dgm:prSet/>
      <dgm:spPr/>
      <dgm:t>
        <a:bodyPr/>
        <a:lstStyle/>
        <a:p>
          <a:endParaRPr lang="en-US"/>
        </a:p>
      </dgm:t>
    </dgm:pt>
    <dgm:pt modelId="{66920C72-8F4D-4027-AA45-663D82B45D03}" type="sibTrans" cxnId="{030178B4-4B07-4412-8000-99A79C587FB3}">
      <dgm:prSet/>
      <dgm:spPr/>
      <dgm:t>
        <a:bodyPr/>
        <a:lstStyle/>
        <a:p>
          <a:endParaRPr lang="en-US"/>
        </a:p>
      </dgm:t>
    </dgm:pt>
    <dgm:pt modelId="{9CA5C202-265B-4DF2-87D3-A218ADFED7F7}">
      <dgm:prSet/>
      <dgm:spPr/>
      <dgm:t>
        <a:bodyPr/>
        <a:lstStyle/>
        <a:p>
          <a:r>
            <a:rPr lang="en-US"/>
            <a:t>Deadline that must be met</a:t>
          </a:r>
        </a:p>
      </dgm:t>
    </dgm:pt>
    <dgm:pt modelId="{E149EA85-DB2A-4FE2-A253-DCE938C09829}" type="parTrans" cxnId="{B63DB716-3540-442D-AA10-9EF6618EDA3F}">
      <dgm:prSet/>
      <dgm:spPr/>
      <dgm:t>
        <a:bodyPr/>
        <a:lstStyle/>
        <a:p>
          <a:endParaRPr lang="en-US"/>
        </a:p>
      </dgm:t>
    </dgm:pt>
    <dgm:pt modelId="{1E6AA17E-F832-4BA8-AFA1-B5509D9BD111}" type="sibTrans" cxnId="{B63DB716-3540-442D-AA10-9EF6618EDA3F}">
      <dgm:prSet/>
      <dgm:spPr/>
      <dgm:t>
        <a:bodyPr/>
        <a:lstStyle/>
        <a:p>
          <a:endParaRPr lang="en-US"/>
        </a:p>
      </dgm:t>
    </dgm:pt>
    <dgm:pt modelId="{26753F09-5B23-43D7-84FC-A984206E947B}">
      <dgm:prSet/>
      <dgm:spPr/>
      <dgm:t>
        <a:bodyPr/>
        <a:lstStyle/>
        <a:p>
          <a:r>
            <a:rPr lang="en-US"/>
            <a:t>Enterprise applications often have strict performance requirements, e.g.</a:t>
          </a:r>
        </a:p>
      </dgm:t>
    </dgm:pt>
    <dgm:pt modelId="{92B912FE-F95C-4C57-8865-7C988266CEEF}" type="parTrans" cxnId="{EF2FFC94-95C4-4D83-B2E2-C7F26684A08F}">
      <dgm:prSet/>
      <dgm:spPr/>
      <dgm:t>
        <a:bodyPr/>
        <a:lstStyle/>
        <a:p>
          <a:endParaRPr lang="en-US"/>
        </a:p>
      </dgm:t>
    </dgm:pt>
    <dgm:pt modelId="{A406BE20-558C-476A-99F2-92573FB4F7BF}" type="sibTrans" cxnId="{EF2FFC94-95C4-4D83-B2E2-C7F26684A08F}">
      <dgm:prSet/>
      <dgm:spPr/>
      <dgm:t>
        <a:bodyPr/>
        <a:lstStyle/>
        <a:p>
          <a:endParaRPr lang="en-US"/>
        </a:p>
      </dgm:t>
    </dgm:pt>
    <dgm:pt modelId="{E6D119B1-2DC9-487E-BA1B-081D207AC0D6}">
      <dgm:prSet/>
      <dgm:spPr/>
      <dgm:t>
        <a:bodyPr/>
        <a:lstStyle/>
        <a:p>
          <a:r>
            <a:rPr lang="en-US"/>
            <a:t>1000 transactions per second</a:t>
          </a:r>
        </a:p>
      </dgm:t>
    </dgm:pt>
    <dgm:pt modelId="{0C400A2B-B0EB-471C-B795-E87D203C198A}" type="parTrans" cxnId="{47BB87C5-C3A5-48AA-AD61-F8243B113D91}">
      <dgm:prSet/>
      <dgm:spPr/>
      <dgm:t>
        <a:bodyPr/>
        <a:lstStyle/>
        <a:p>
          <a:endParaRPr lang="en-US"/>
        </a:p>
      </dgm:t>
    </dgm:pt>
    <dgm:pt modelId="{5342C9F5-6626-473A-B697-B031788896D1}" type="sibTrans" cxnId="{47BB87C5-C3A5-48AA-AD61-F8243B113D91}">
      <dgm:prSet/>
      <dgm:spPr/>
      <dgm:t>
        <a:bodyPr/>
        <a:lstStyle/>
        <a:p>
          <a:endParaRPr lang="en-US"/>
        </a:p>
      </dgm:t>
    </dgm:pt>
    <dgm:pt modelId="{49787A8B-6103-4927-8E5E-0390824FF8E5}">
      <dgm:prSet/>
      <dgm:spPr/>
      <dgm:t>
        <a:bodyPr/>
        <a:lstStyle/>
        <a:p>
          <a:r>
            <a:rPr lang="en-US"/>
            <a:t>3 second average latency for a request</a:t>
          </a:r>
        </a:p>
      </dgm:t>
    </dgm:pt>
    <dgm:pt modelId="{093B90D6-6FBD-4AB3-97C2-2E68A6340C1C}" type="parTrans" cxnId="{09F977E6-440D-4EEE-95C8-CCFC38E6FD31}">
      <dgm:prSet/>
      <dgm:spPr/>
      <dgm:t>
        <a:bodyPr/>
        <a:lstStyle/>
        <a:p>
          <a:endParaRPr lang="en-US"/>
        </a:p>
      </dgm:t>
    </dgm:pt>
    <dgm:pt modelId="{E599118F-5084-4E4D-9E00-5126CF4F525D}" type="sibTrans" cxnId="{09F977E6-440D-4EEE-95C8-CCFC38E6FD31}">
      <dgm:prSet/>
      <dgm:spPr/>
      <dgm:t>
        <a:bodyPr/>
        <a:lstStyle/>
        <a:p>
          <a:endParaRPr lang="en-US"/>
        </a:p>
      </dgm:t>
    </dgm:pt>
    <dgm:pt modelId="{6520A872-2E95-40F0-8FD0-38A16C5106C9}" type="pres">
      <dgm:prSet presAssocID="{5E7F165A-81F4-4290-97CE-A3B7AA1FD820}" presName="root" presStyleCnt="0">
        <dgm:presLayoutVars>
          <dgm:dir/>
          <dgm:resizeHandles val="exact"/>
        </dgm:presLayoutVars>
      </dgm:prSet>
      <dgm:spPr/>
    </dgm:pt>
    <dgm:pt modelId="{31CE925B-E749-426D-B402-8679ABDC3980}" type="pres">
      <dgm:prSet presAssocID="{4F879253-EC6C-40D4-81D9-90A9F31BFB8D}" presName="compNode" presStyleCnt="0"/>
      <dgm:spPr/>
    </dgm:pt>
    <dgm:pt modelId="{E7EFD8EA-9828-4589-A0D7-63DD2536D0DA}" type="pres">
      <dgm:prSet presAssocID="{4F879253-EC6C-40D4-81D9-90A9F31BFB8D}" presName="bgRect" presStyleLbl="bgShp" presStyleIdx="0" presStyleCnt="3"/>
      <dgm:spPr/>
    </dgm:pt>
    <dgm:pt modelId="{707B6AB7-8D26-4324-878E-6C1E92E9A416}" type="pres">
      <dgm:prSet presAssocID="{4F879253-EC6C-40D4-81D9-90A9F31BFB8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rning"/>
        </a:ext>
      </dgm:extLst>
    </dgm:pt>
    <dgm:pt modelId="{3E630C09-EFDB-4B56-9A85-14D81373645E}" type="pres">
      <dgm:prSet presAssocID="{4F879253-EC6C-40D4-81D9-90A9F31BFB8D}" presName="spaceRect" presStyleCnt="0"/>
      <dgm:spPr/>
    </dgm:pt>
    <dgm:pt modelId="{D3D1D281-1362-43D2-87CA-AEDD7EC18B32}" type="pres">
      <dgm:prSet presAssocID="{4F879253-EC6C-40D4-81D9-90A9F31BFB8D}" presName="parTx" presStyleLbl="revTx" presStyleIdx="0" presStyleCnt="5">
        <dgm:presLayoutVars>
          <dgm:chMax val="0"/>
          <dgm:chPref val="0"/>
        </dgm:presLayoutVars>
      </dgm:prSet>
      <dgm:spPr/>
    </dgm:pt>
    <dgm:pt modelId="{5D890204-A87C-48E6-A439-3220BDF904C3}" type="pres">
      <dgm:prSet presAssocID="{7FDD8570-396F-4510-8B19-8DA2618D42DD}" presName="sibTrans" presStyleCnt="0"/>
      <dgm:spPr/>
    </dgm:pt>
    <dgm:pt modelId="{D23ABE8A-7F22-4810-9F45-830784024EE6}" type="pres">
      <dgm:prSet presAssocID="{2F38F14D-283F-478C-BFB3-23CD46D2845C}" presName="compNode" presStyleCnt="0"/>
      <dgm:spPr/>
    </dgm:pt>
    <dgm:pt modelId="{AF6C96D5-5EF2-4486-BE90-E394725DDAAB}" type="pres">
      <dgm:prSet presAssocID="{2F38F14D-283F-478C-BFB3-23CD46D2845C}" presName="bgRect" presStyleLbl="bgShp" presStyleIdx="1" presStyleCnt="3"/>
      <dgm:spPr/>
    </dgm:pt>
    <dgm:pt modelId="{C555F583-2A9B-4BD9-9D34-96A1B60D8111}" type="pres">
      <dgm:prSet presAssocID="{2F38F14D-283F-478C-BFB3-23CD46D2845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338A774F-0501-4B21-9EAE-F512F8B8AD88}" type="pres">
      <dgm:prSet presAssocID="{2F38F14D-283F-478C-BFB3-23CD46D2845C}" presName="spaceRect" presStyleCnt="0"/>
      <dgm:spPr/>
    </dgm:pt>
    <dgm:pt modelId="{7333D0B4-0913-4A5E-9D42-9D6A106F14B2}" type="pres">
      <dgm:prSet presAssocID="{2F38F14D-283F-478C-BFB3-23CD46D2845C}" presName="parTx" presStyleLbl="revTx" presStyleIdx="1" presStyleCnt="5">
        <dgm:presLayoutVars>
          <dgm:chMax val="0"/>
          <dgm:chPref val="0"/>
        </dgm:presLayoutVars>
      </dgm:prSet>
      <dgm:spPr/>
    </dgm:pt>
    <dgm:pt modelId="{6F34E117-70DD-47FB-ADAB-6809FBBEFB44}" type="pres">
      <dgm:prSet presAssocID="{2F38F14D-283F-478C-BFB3-23CD46D2845C}" presName="desTx" presStyleLbl="revTx" presStyleIdx="2" presStyleCnt="5">
        <dgm:presLayoutVars/>
      </dgm:prSet>
      <dgm:spPr/>
    </dgm:pt>
    <dgm:pt modelId="{7467CCA0-37B1-4AB0-AFCC-28D425FA165E}" type="pres">
      <dgm:prSet presAssocID="{6318904A-5EBF-45E8-8625-49442E0652CB}" presName="sibTrans" presStyleCnt="0"/>
      <dgm:spPr/>
    </dgm:pt>
    <dgm:pt modelId="{61298204-F219-462F-BD57-974EC002F74C}" type="pres">
      <dgm:prSet presAssocID="{26753F09-5B23-43D7-84FC-A984206E947B}" presName="compNode" presStyleCnt="0"/>
      <dgm:spPr/>
    </dgm:pt>
    <dgm:pt modelId="{AC50CD13-935E-42C5-869B-E620B8E4968B}" type="pres">
      <dgm:prSet presAssocID="{26753F09-5B23-43D7-84FC-A984206E947B}" presName="bgRect" presStyleLbl="bgShp" presStyleIdx="2" presStyleCnt="3"/>
      <dgm:spPr/>
    </dgm:pt>
    <dgm:pt modelId="{0982AFC2-A551-4CE5-AC45-091111E19EBE}" type="pres">
      <dgm:prSet presAssocID="{26753F09-5B23-43D7-84FC-A984206E947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DFAED456-924B-4FE6-A649-1D7A893ECE3C}" type="pres">
      <dgm:prSet presAssocID="{26753F09-5B23-43D7-84FC-A984206E947B}" presName="spaceRect" presStyleCnt="0"/>
      <dgm:spPr/>
    </dgm:pt>
    <dgm:pt modelId="{178576A8-B4C3-457F-883F-8A9408C8C786}" type="pres">
      <dgm:prSet presAssocID="{26753F09-5B23-43D7-84FC-A984206E947B}" presName="parTx" presStyleLbl="revTx" presStyleIdx="3" presStyleCnt="5">
        <dgm:presLayoutVars>
          <dgm:chMax val="0"/>
          <dgm:chPref val="0"/>
        </dgm:presLayoutVars>
      </dgm:prSet>
      <dgm:spPr/>
    </dgm:pt>
    <dgm:pt modelId="{7FE30C30-065E-4A36-9C8F-EB71C8F73E7F}" type="pres">
      <dgm:prSet presAssocID="{26753F09-5B23-43D7-84FC-A984206E947B}" presName="desTx" presStyleLbl="revTx" presStyleIdx="4" presStyleCnt="5">
        <dgm:presLayoutVars/>
      </dgm:prSet>
      <dgm:spPr/>
    </dgm:pt>
  </dgm:ptLst>
  <dgm:cxnLst>
    <dgm:cxn modelId="{150C3708-2038-45B3-93E0-489FB38DC358}" type="presOf" srcId="{4F879253-EC6C-40D4-81D9-90A9F31BFB8D}" destId="{D3D1D281-1362-43D2-87CA-AEDD7EC18B32}" srcOrd="0" destOrd="0" presId="urn:microsoft.com/office/officeart/2018/2/layout/IconVerticalSolidList"/>
    <dgm:cxn modelId="{B63DB716-3540-442D-AA10-9EF6618EDA3F}" srcId="{2F38F14D-283F-478C-BFB3-23CD46D2845C}" destId="{9CA5C202-265B-4DF2-87D3-A218ADFED7F7}" srcOrd="1" destOrd="0" parTransId="{E149EA85-DB2A-4FE2-A253-DCE938C09829}" sibTransId="{1E6AA17E-F832-4BA8-AFA1-B5509D9BD111}"/>
    <dgm:cxn modelId="{94E16A70-C670-4F04-8983-E41247E397D8}" type="presOf" srcId="{26753F09-5B23-43D7-84FC-A984206E947B}" destId="{178576A8-B4C3-457F-883F-8A9408C8C786}" srcOrd="0" destOrd="0" presId="urn:microsoft.com/office/officeart/2018/2/layout/IconVerticalSolidList"/>
    <dgm:cxn modelId="{2C0D8C72-6DA4-4E3C-B9B0-06AA7E498FA5}" type="presOf" srcId="{5E7F165A-81F4-4290-97CE-A3B7AA1FD820}" destId="{6520A872-2E95-40F0-8FD0-38A16C5106C9}" srcOrd="0" destOrd="0" presId="urn:microsoft.com/office/officeart/2018/2/layout/IconVerticalSolidList"/>
    <dgm:cxn modelId="{7E588F74-657D-43E1-A1A7-6E0C2FADDB62}" type="presOf" srcId="{2F38F14D-283F-478C-BFB3-23CD46D2845C}" destId="{7333D0B4-0913-4A5E-9D42-9D6A106F14B2}" srcOrd="0" destOrd="0" presId="urn:microsoft.com/office/officeart/2018/2/layout/IconVerticalSolidList"/>
    <dgm:cxn modelId="{98E33484-0977-4022-A63F-14C51900B027}" srcId="{5E7F165A-81F4-4290-97CE-A3B7AA1FD820}" destId="{2F38F14D-283F-478C-BFB3-23CD46D2845C}" srcOrd="1" destOrd="0" parTransId="{6D1220D0-91C7-490C-8715-DB92D86B834C}" sibTransId="{6318904A-5EBF-45E8-8625-49442E0652CB}"/>
    <dgm:cxn modelId="{EF2FFC94-95C4-4D83-B2E2-C7F26684A08F}" srcId="{5E7F165A-81F4-4290-97CE-A3B7AA1FD820}" destId="{26753F09-5B23-43D7-84FC-A984206E947B}" srcOrd="2" destOrd="0" parTransId="{92B912FE-F95C-4C57-8865-7C988266CEEF}" sibTransId="{A406BE20-558C-476A-99F2-92573FB4F7BF}"/>
    <dgm:cxn modelId="{F3A8DEAE-D71F-4F70-A725-CB7CD3C8A207}" type="presOf" srcId="{9CA5C202-265B-4DF2-87D3-A218ADFED7F7}" destId="{6F34E117-70DD-47FB-ADAB-6809FBBEFB44}" srcOrd="0" destOrd="1" presId="urn:microsoft.com/office/officeart/2018/2/layout/IconVerticalSolidList"/>
    <dgm:cxn modelId="{030178B4-4B07-4412-8000-99A79C587FB3}" srcId="{2F38F14D-283F-478C-BFB3-23CD46D2845C}" destId="{610328F2-5F4F-47FB-B83D-5A61AD1C132D}" srcOrd="0" destOrd="0" parTransId="{7BD5318F-8119-422E-A974-092E10F295C3}" sibTransId="{66920C72-8F4D-4027-AA45-663D82B45D03}"/>
    <dgm:cxn modelId="{582F41C3-EE73-473E-9052-8DB5BAB66B1B}" type="presOf" srcId="{E6D119B1-2DC9-487E-BA1B-081D207AC0D6}" destId="{7FE30C30-065E-4A36-9C8F-EB71C8F73E7F}" srcOrd="0" destOrd="0" presId="urn:microsoft.com/office/officeart/2018/2/layout/IconVerticalSolidList"/>
    <dgm:cxn modelId="{47BB87C5-C3A5-48AA-AD61-F8243B113D91}" srcId="{26753F09-5B23-43D7-84FC-A984206E947B}" destId="{E6D119B1-2DC9-487E-BA1B-081D207AC0D6}" srcOrd="0" destOrd="0" parTransId="{0C400A2B-B0EB-471C-B795-E87D203C198A}" sibTransId="{5342C9F5-6626-473A-B697-B031788896D1}"/>
    <dgm:cxn modelId="{A7D2DACB-BC27-4F3F-BE0B-279B54332C0B}" type="presOf" srcId="{610328F2-5F4F-47FB-B83D-5A61AD1C132D}" destId="{6F34E117-70DD-47FB-ADAB-6809FBBEFB44}" srcOrd="0" destOrd="0" presId="urn:microsoft.com/office/officeart/2018/2/layout/IconVerticalSolidList"/>
    <dgm:cxn modelId="{09F977E6-440D-4EEE-95C8-CCFC38E6FD31}" srcId="{26753F09-5B23-43D7-84FC-A984206E947B}" destId="{49787A8B-6103-4927-8E5E-0390824FF8E5}" srcOrd="1" destOrd="0" parTransId="{093B90D6-6FBD-4AB3-97C2-2E68A6340C1C}" sibTransId="{E599118F-5084-4E4D-9E00-5126CF4F525D}"/>
    <dgm:cxn modelId="{4B0D83EF-5BC0-4E8B-996F-3160D46A6782}" type="presOf" srcId="{49787A8B-6103-4927-8E5E-0390824FF8E5}" destId="{7FE30C30-065E-4A36-9C8F-EB71C8F73E7F}" srcOrd="0" destOrd="1" presId="urn:microsoft.com/office/officeart/2018/2/layout/IconVerticalSolidList"/>
    <dgm:cxn modelId="{674F5AF8-48C4-495C-92BD-001824D0B5AA}" srcId="{5E7F165A-81F4-4290-97CE-A3B7AA1FD820}" destId="{4F879253-EC6C-40D4-81D9-90A9F31BFB8D}" srcOrd="0" destOrd="0" parTransId="{17F7EDE6-C79D-4F7D-9ED8-717D43C2C23E}" sibTransId="{7FDD8570-396F-4510-8B19-8DA2618D42DD}"/>
    <dgm:cxn modelId="{B6D61676-A8C0-4F4F-87FB-02B85D65BB0F}" type="presParOf" srcId="{6520A872-2E95-40F0-8FD0-38A16C5106C9}" destId="{31CE925B-E749-426D-B402-8679ABDC3980}" srcOrd="0" destOrd="0" presId="urn:microsoft.com/office/officeart/2018/2/layout/IconVerticalSolidList"/>
    <dgm:cxn modelId="{5928E799-7329-4FB3-807B-82B0789E25E1}" type="presParOf" srcId="{31CE925B-E749-426D-B402-8679ABDC3980}" destId="{E7EFD8EA-9828-4589-A0D7-63DD2536D0DA}" srcOrd="0" destOrd="0" presId="urn:microsoft.com/office/officeart/2018/2/layout/IconVerticalSolidList"/>
    <dgm:cxn modelId="{4782E2D8-B325-4C8C-81DC-0D54216DB1E3}" type="presParOf" srcId="{31CE925B-E749-426D-B402-8679ABDC3980}" destId="{707B6AB7-8D26-4324-878E-6C1E92E9A416}" srcOrd="1" destOrd="0" presId="urn:microsoft.com/office/officeart/2018/2/layout/IconVerticalSolidList"/>
    <dgm:cxn modelId="{939A4917-1432-4AD2-A5C1-7BE430210D3C}" type="presParOf" srcId="{31CE925B-E749-426D-B402-8679ABDC3980}" destId="{3E630C09-EFDB-4B56-9A85-14D81373645E}" srcOrd="2" destOrd="0" presId="urn:microsoft.com/office/officeart/2018/2/layout/IconVerticalSolidList"/>
    <dgm:cxn modelId="{30F8C6ED-D370-4FC0-9EB3-9ED202EF7A75}" type="presParOf" srcId="{31CE925B-E749-426D-B402-8679ABDC3980}" destId="{D3D1D281-1362-43D2-87CA-AEDD7EC18B32}" srcOrd="3" destOrd="0" presId="urn:microsoft.com/office/officeart/2018/2/layout/IconVerticalSolidList"/>
    <dgm:cxn modelId="{1293479B-3054-48D4-9E2E-D689648E73C2}" type="presParOf" srcId="{6520A872-2E95-40F0-8FD0-38A16C5106C9}" destId="{5D890204-A87C-48E6-A439-3220BDF904C3}" srcOrd="1" destOrd="0" presId="urn:microsoft.com/office/officeart/2018/2/layout/IconVerticalSolidList"/>
    <dgm:cxn modelId="{4DAE1E82-358D-4F01-AA0A-ECA3E3E15741}" type="presParOf" srcId="{6520A872-2E95-40F0-8FD0-38A16C5106C9}" destId="{D23ABE8A-7F22-4810-9F45-830784024EE6}" srcOrd="2" destOrd="0" presId="urn:microsoft.com/office/officeart/2018/2/layout/IconVerticalSolidList"/>
    <dgm:cxn modelId="{1111BA3B-7C49-4084-98EF-C7E5E6A7761A}" type="presParOf" srcId="{D23ABE8A-7F22-4810-9F45-830784024EE6}" destId="{AF6C96D5-5EF2-4486-BE90-E394725DDAAB}" srcOrd="0" destOrd="0" presId="urn:microsoft.com/office/officeart/2018/2/layout/IconVerticalSolidList"/>
    <dgm:cxn modelId="{F372B397-EF07-4EAB-AEFB-F6D38EB7DE8F}" type="presParOf" srcId="{D23ABE8A-7F22-4810-9F45-830784024EE6}" destId="{C555F583-2A9B-4BD9-9D34-96A1B60D8111}" srcOrd="1" destOrd="0" presId="urn:microsoft.com/office/officeart/2018/2/layout/IconVerticalSolidList"/>
    <dgm:cxn modelId="{968B7CD5-2C33-4AFF-BC45-D7B92A73E7E3}" type="presParOf" srcId="{D23ABE8A-7F22-4810-9F45-830784024EE6}" destId="{338A774F-0501-4B21-9EAE-F512F8B8AD88}" srcOrd="2" destOrd="0" presId="urn:microsoft.com/office/officeart/2018/2/layout/IconVerticalSolidList"/>
    <dgm:cxn modelId="{8668E260-FCD5-4103-820F-BBC5558330A0}" type="presParOf" srcId="{D23ABE8A-7F22-4810-9F45-830784024EE6}" destId="{7333D0B4-0913-4A5E-9D42-9D6A106F14B2}" srcOrd="3" destOrd="0" presId="urn:microsoft.com/office/officeart/2018/2/layout/IconVerticalSolidList"/>
    <dgm:cxn modelId="{E5F0C6C1-C0C6-46F4-83FA-1F5F262F6DAE}" type="presParOf" srcId="{D23ABE8A-7F22-4810-9F45-830784024EE6}" destId="{6F34E117-70DD-47FB-ADAB-6809FBBEFB44}" srcOrd="4" destOrd="0" presId="urn:microsoft.com/office/officeart/2018/2/layout/IconVerticalSolidList"/>
    <dgm:cxn modelId="{6F984CA2-E8C3-4809-BA99-7F9C82AF749A}" type="presParOf" srcId="{6520A872-2E95-40F0-8FD0-38A16C5106C9}" destId="{7467CCA0-37B1-4AB0-AFCC-28D425FA165E}" srcOrd="3" destOrd="0" presId="urn:microsoft.com/office/officeart/2018/2/layout/IconVerticalSolidList"/>
    <dgm:cxn modelId="{40E083E1-C8F1-4805-8BC9-98C8782E9133}" type="presParOf" srcId="{6520A872-2E95-40F0-8FD0-38A16C5106C9}" destId="{61298204-F219-462F-BD57-974EC002F74C}" srcOrd="4" destOrd="0" presId="urn:microsoft.com/office/officeart/2018/2/layout/IconVerticalSolidList"/>
    <dgm:cxn modelId="{0039890F-6901-4973-8361-0121D871EB8A}" type="presParOf" srcId="{61298204-F219-462F-BD57-974EC002F74C}" destId="{AC50CD13-935E-42C5-869B-E620B8E4968B}" srcOrd="0" destOrd="0" presId="urn:microsoft.com/office/officeart/2018/2/layout/IconVerticalSolidList"/>
    <dgm:cxn modelId="{B34FA986-D7DB-4C64-8CFB-7324456CB054}" type="presParOf" srcId="{61298204-F219-462F-BD57-974EC002F74C}" destId="{0982AFC2-A551-4CE5-AC45-091111E19EBE}" srcOrd="1" destOrd="0" presId="urn:microsoft.com/office/officeart/2018/2/layout/IconVerticalSolidList"/>
    <dgm:cxn modelId="{CC19F89D-05BB-48A1-B6AB-C9555EE18FF4}" type="presParOf" srcId="{61298204-F219-462F-BD57-974EC002F74C}" destId="{DFAED456-924B-4FE6-A649-1D7A893ECE3C}" srcOrd="2" destOrd="0" presId="urn:microsoft.com/office/officeart/2018/2/layout/IconVerticalSolidList"/>
    <dgm:cxn modelId="{FFF4B164-B569-4873-91A5-84B5921F9C8F}" type="presParOf" srcId="{61298204-F219-462F-BD57-974EC002F74C}" destId="{178576A8-B4C3-457F-883F-8A9408C8C786}" srcOrd="3" destOrd="0" presId="urn:microsoft.com/office/officeart/2018/2/layout/IconVerticalSolidList"/>
    <dgm:cxn modelId="{0F316218-97C3-4ED7-8B8C-907E2FFF1168}" type="presParOf" srcId="{61298204-F219-462F-BD57-974EC002F74C}" destId="{7FE30C30-065E-4A36-9C8F-EB71C8F73E7F}"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C06D03B-4B87-44EF-B012-CD3655DB138E}"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6A21FC31-BC30-4479-B1F9-07CE25B3AFCD}">
      <dgm:prSet/>
      <dgm:spPr/>
      <dgm:t>
        <a:bodyPr/>
        <a:lstStyle/>
        <a:p>
          <a:r>
            <a:rPr lang="ja-JP" i="1"/>
            <a:t>“</a:t>
          </a:r>
          <a:r>
            <a:rPr lang="en-US" i="1"/>
            <a:t>How well a solution to some problem will work when the size of the problem increases.</a:t>
          </a:r>
          <a:r>
            <a:rPr lang="ja-JP" i="1"/>
            <a:t>”</a:t>
          </a:r>
          <a:r>
            <a:rPr lang="en-US" i="1"/>
            <a:t> - How a design can cope with  some aspect of the application’s requirements increasing in size </a:t>
          </a:r>
          <a:endParaRPr lang="en-US"/>
        </a:p>
      </dgm:t>
    </dgm:pt>
    <dgm:pt modelId="{9239D84A-9C7B-498F-A67D-6F50D5059EBB}" type="parTrans" cxnId="{A1FCB04F-08C3-48DF-B9EB-83BDB988120C}">
      <dgm:prSet/>
      <dgm:spPr/>
      <dgm:t>
        <a:bodyPr/>
        <a:lstStyle/>
        <a:p>
          <a:endParaRPr lang="en-US"/>
        </a:p>
      </dgm:t>
    </dgm:pt>
    <dgm:pt modelId="{87C34C9D-893B-4A7D-9878-BD834DF8F4A3}" type="sibTrans" cxnId="{A1FCB04F-08C3-48DF-B9EB-83BDB988120C}">
      <dgm:prSet/>
      <dgm:spPr/>
      <dgm:t>
        <a:bodyPr/>
        <a:lstStyle/>
        <a:p>
          <a:endParaRPr lang="en-US"/>
        </a:p>
      </dgm:t>
    </dgm:pt>
    <dgm:pt modelId="{36FB1F3C-BBC0-41AE-9B63-4895460BE982}">
      <dgm:prSet/>
      <dgm:spPr/>
      <dgm:t>
        <a:bodyPr/>
        <a:lstStyle/>
        <a:p>
          <a:r>
            <a:rPr lang="en-US"/>
            <a:t>4 common scalability issues in IT systems:</a:t>
          </a:r>
        </a:p>
      </dgm:t>
    </dgm:pt>
    <dgm:pt modelId="{C25F8D1A-6E7A-4982-B891-E2B63D70CBD9}" type="parTrans" cxnId="{19610C99-85ED-4FE3-9911-069DE299DEB4}">
      <dgm:prSet/>
      <dgm:spPr/>
      <dgm:t>
        <a:bodyPr/>
        <a:lstStyle/>
        <a:p>
          <a:endParaRPr lang="en-US"/>
        </a:p>
      </dgm:t>
    </dgm:pt>
    <dgm:pt modelId="{44BA633A-6CE1-465B-9E2D-ED3ECCB7563B}" type="sibTrans" cxnId="{19610C99-85ED-4FE3-9911-069DE299DEB4}">
      <dgm:prSet/>
      <dgm:spPr/>
      <dgm:t>
        <a:bodyPr/>
        <a:lstStyle/>
        <a:p>
          <a:endParaRPr lang="en-US"/>
        </a:p>
      </dgm:t>
    </dgm:pt>
    <dgm:pt modelId="{3F05483D-EB88-42FC-BF95-5491DF568CBF}">
      <dgm:prSet/>
      <dgm:spPr/>
      <dgm:t>
        <a:bodyPr/>
        <a:lstStyle/>
        <a:p>
          <a:r>
            <a:rPr lang="en-US"/>
            <a:t>Request load</a:t>
          </a:r>
        </a:p>
      </dgm:t>
    </dgm:pt>
    <dgm:pt modelId="{419D7FD0-B1FA-405E-AB92-A75E492588BE}" type="parTrans" cxnId="{CC99F573-4EA5-43C4-BEDD-D8D97C417EB9}">
      <dgm:prSet/>
      <dgm:spPr/>
      <dgm:t>
        <a:bodyPr/>
        <a:lstStyle/>
        <a:p>
          <a:endParaRPr lang="en-US"/>
        </a:p>
      </dgm:t>
    </dgm:pt>
    <dgm:pt modelId="{250BD7C2-3586-480E-83F7-1BC796ECEE95}" type="sibTrans" cxnId="{CC99F573-4EA5-43C4-BEDD-D8D97C417EB9}">
      <dgm:prSet/>
      <dgm:spPr/>
      <dgm:t>
        <a:bodyPr/>
        <a:lstStyle/>
        <a:p>
          <a:endParaRPr lang="en-US"/>
        </a:p>
      </dgm:t>
    </dgm:pt>
    <dgm:pt modelId="{67487751-789D-4EAD-AD4C-005743DA8DEA}">
      <dgm:prSet/>
      <dgm:spPr/>
      <dgm:t>
        <a:bodyPr/>
        <a:lstStyle/>
        <a:p>
          <a:r>
            <a:rPr lang="en-US"/>
            <a:t>Connections</a:t>
          </a:r>
        </a:p>
      </dgm:t>
    </dgm:pt>
    <dgm:pt modelId="{95B5C528-5301-4D9B-AF7F-C0926DE1BAF6}" type="parTrans" cxnId="{4D9F6D36-B9E7-4B31-98C0-F67C387845C5}">
      <dgm:prSet/>
      <dgm:spPr/>
      <dgm:t>
        <a:bodyPr/>
        <a:lstStyle/>
        <a:p>
          <a:endParaRPr lang="en-US"/>
        </a:p>
      </dgm:t>
    </dgm:pt>
    <dgm:pt modelId="{B541C12C-EF82-4877-B03B-289B8ECBD525}" type="sibTrans" cxnId="{4D9F6D36-B9E7-4B31-98C0-F67C387845C5}">
      <dgm:prSet/>
      <dgm:spPr/>
      <dgm:t>
        <a:bodyPr/>
        <a:lstStyle/>
        <a:p>
          <a:endParaRPr lang="en-US"/>
        </a:p>
      </dgm:t>
    </dgm:pt>
    <dgm:pt modelId="{5832F613-DCBA-4558-B9B1-B1860DF68261}">
      <dgm:prSet/>
      <dgm:spPr/>
      <dgm:t>
        <a:bodyPr/>
        <a:lstStyle/>
        <a:p>
          <a:r>
            <a:rPr lang="en-US"/>
            <a:t>Data size</a:t>
          </a:r>
        </a:p>
      </dgm:t>
    </dgm:pt>
    <dgm:pt modelId="{B1FCB929-72E2-4FB7-B66D-60AE05D1095B}" type="parTrans" cxnId="{75CCA74F-8F57-4E89-9CC2-0BC1C2FD83F4}">
      <dgm:prSet/>
      <dgm:spPr/>
      <dgm:t>
        <a:bodyPr/>
        <a:lstStyle/>
        <a:p>
          <a:endParaRPr lang="en-US"/>
        </a:p>
      </dgm:t>
    </dgm:pt>
    <dgm:pt modelId="{8EB30F7E-B1AD-4D6A-AA5B-7C0EBC3F6A75}" type="sibTrans" cxnId="{75CCA74F-8F57-4E89-9CC2-0BC1C2FD83F4}">
      <dgm:prSet/>
      <dgm:spPr/>
      <dgm:t>
        <a:bodyPr/>
        <a:lstStyle/>
        <a:p>
          <a:endParaRPr lang="en-US"/>
        </a:p>
      </dgm:t>
    </dgm:pt>
    <dgm:pt modelId="{340361D5-DB43-46CB-A2A8-938B5E3E5679}">
      <dgm:prSet/>
      <dgm:spPr/>
      <dgm:t>
        <a:bodyPr/>
        <a:lstStyle/>
        <a:p>
          <a:r>
            <a:rPr lang="en-US"/>
            <a:t>Deployments</a:t>
          </a:r>
        </a:p>
      </dgm:t>
    </dgm:pt>
    <dgm:pt modelId="{21148CDD-77A4-4232-A438-EDE137DB3820}" type="parTrans" cxnId="{CBE61438-1EE0-43EF-A026-995CCDAE6EF7}">
      <dgm:prSet/>
      <dgm:spPr/>
      <dgm:t>
        <a:bodyPr/>
        <a:lstStyle/>
        <a:p>
          <a:endParaRPr lang="en-US"/>
        </a:p>
      </dgm:t>
    </dgm:pt>
    <dgm:pt modelId="{006824C5-3237-45BD-84F2-11EA2D5425C7}" type="sibTrans" cxnId="{CBE61438-1EE0-43EF-A026-995CCDAE6EF7}">
      <dgm:prSet/>
      <dgm:spPr/>
      <dgm:t>
        <a:bodyPr/>
        <a:lstStyle/>
        <a:p>
          <a:endParaRPr lang="en-US"/>
        </a:p>
      </dgm:t>
    </dgm:pt>
    <dgm:pt modelId="{65564EE3-E54C-47E9-8848-7C6305153B0E}" type="pres">
      <dgm:prSet presAssocID="{4C06D03B-4B87-44EF-B012-CD3655DB138E}" presName="root" presStyleCnt="0">
        <dgm:presLayoutVars>
          <dgm:dir/>
          <dgm:resizeHandles val="exact"/>
        </dgm:presLayoutVars>
      </dgm:prSet>
      <dgm:spPr/>
    </dgm:pt>
    <dgm:pt modelId="{B55215AA-9E70-445A-8D69-7DB3C77B3174}" type="pres">
      <dgm:prSet presAssocID="{6A21FC31-BC30-4479-B1F9-07CE25B3AFCD}" presName="compNode" presStyleCnt="0"/>
      <dgm:spPr/>
    </dgm:pt>
    <dgm:pt modelId="{823265D0-54D9-4805-9DE7-01FC6F0D69DF}" type="pres">
      <dgm:prSet presAssocID="{6A21FC31-BC30-4479-B1F9-07CE25B3AFCD}" presName="bgRect" presStyleLbl="bgShp" presStyleIdx="0" presStyleCnt="2"/>
      <dgm:spPr/>
    </dgm:pt>
    <dgm:pt modelId="{F409AB9C-1081-4D59-98F3-62D0EDF0EFF8}" type="pres">
      <dgm:prSet presAssocID="{6A21FC31-BC30-4479-B1F9-07CE25B3AFC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 Bulb and Gear"/>
        </a:ext>
      </dgm:extLst>
    </dgm:pt>
    <dgm:pt modelId="{8254314C-ED0A-4D6C-8373-07831737DB43}" type="pres">
      <dgm:prSet presAssocID="{6A21FC31-BC30-4479-B1F9-07CE25B3AFCD}" presName="spaceRect" presStyleCnt="0"/>
      <dgm:spPr/>
    </dgm:pt>
    <dgm:pt modelId="{98E4A7B0-436F-40E9-97D9-6184880161D9}" type="pres">
      <dgm:prSet presAssocID="{6A21FC31-BC30-4479-B1F9-07CE25B3AFCD}" presName="parTx" presStyleLbl="revTx" presStyleIdx="0" presStyleCnt="3">
        <dgm:presLayoutVars>
          <dgm:chMax val="0"/>
          <dgm:chPref val="0"/>
        </dgm:presLayoutVars>
      </dgm:prSet>
      <dgm:spPr/>
    </dgm:pt>
    <dgm:pt modelId="{D57A9647-48E0-4918-9242-AF32B3280AF9}" type="pres">
      <dgm:prSet presAssocID="{87C34C9D-893B-4A7D-9878-BD834DF8F4A3}" presName="sibTrans" presStyleCnt="0"/>
      <dgm:spPr/>
    </dgm:pt>
    <dgm:pt modelId="{0AB1C29A-0B27-4B66-BAEE-07A4B752791D}" type="pres">
      <dgm:prSet presAssocID="{36FB1F3C-BBC0-41AE-9B63-4895460BE982}" presName="compNode" presStyleCnt="0"/>
      <dgm:spPr/>
    </dgm:pt>
    <dgm:pt modelId="{93FD1493-1BB2-4176-A844-468F5A0E1384}" type="pres">
      <dgm:prSet presAssocID="{36FB1F3C-BBC0-41AE-9B63-4895460BE982}" presName="bgRect" presStyleLbl="bgShp" presStyleIdx="1" presStyleCnt="2"/>
      <dgm:spPr/>
    </dgm:pt>
    <dgm:pt modelId="{C83AE8F9-97B3-43F7-8FEA-9E984B1CFFD4}" type="pres">
      <dgm:prSet presAssocID="{36FB1F3C-BBC0-41AE-9B63-4895460BE98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cted"/>
        </a:ext>
      </dgm:extLst>
    </dgm:pt>
    <dgm:pt modelId="{0B3F4226-2742-458E-B2CF-04F4C79B7B5A}" type="pres">
      <dgm:prSet presAssocID="{36FB1F3C-BBC0-41AE-9B63-4895460BE982}" presName="spaceRect" presStyleCnt="0"/>
      <dgm:spPr/>
    </dgm:pt>
    <dgm:pt modelId="{F6AC329C-DBE6-40B4-8828-6440456200D7}" type="pres">
      <dgm:prSet presAssocID="{36FB1F3C-BBC0-41AE-9B63-4895460BE982}" presName="parTx" presStyleLbl="revTx" presStyleIdx="1" presStyleCnt="3">
        <dgm:presLayoutVars>
          <dgm:chMax val="0"/>
          <dgm:chPref val="0"/>
        </dgm:presLayoutVars>
      </dgm:prSet>
      <dgm:spPr/>
    </dgm:pt>
    <dgm:pt modelId="{9792FB90-BA7F-4C15-A9BE-99A2401CF687}" type="pres">
      <dgm:prSet presAssocID="{36FB1F3C-BBC0-41AE-9B63-4895460BE982}" presName="desTx" presStyleLbl="revTx" presStyleIdx="2" presStyleCnt="3">
        <dgm:presLayoutVars/>
      </dgm:prSet>
      <dgm:spPr/>
    </dgm:pt>
  </dgm:ptLst>
  <dgm:cxnLst>
    <dgm:cxn modelId="{9967E504-398C-4DA2-B8BD-AE9F2BF686CD}" type="presOf" srcId="{67487751-789D-4EAD-AD4C-005743DA8DEA}" destId="{9792FB90-BA7F-4C15-A9BE-99A2401CF687}" srcOrd="0" destOrd="1" presId="urn:microsoft.com/office/officeart/2018/2/layout/IconVerticalSolidList"/>
    <dgm:cxn modelId="{91D15726-27FD-4243-B1D4-215A1E053243}" type="presOf" srcId="{5832F613-DCBA-4558-B9B1-B1860DF68261}" destId="{9792FB90-BA7F-4C15-A9BE-99A2401CF687}" srcOrd="0" destOrd="2" presId="urn:microsoft.com/office/officeart/2018/2/layout/IconVerticalSolidList"/>
    <dgm:cxn modelId="{4D9F6D36-B9E7-4B31-98C0-F67C387845C5}" srcId="{36FB1F3C-BBC0-41AE-9B63-4895460BE982}" destId="{67487751-789D-4EAD-AD4C-005743DA8DEA}" srcOrd="1" destOrd="0" parTransId="{95B5C528-5301-4D9B-AF7F-C0926DE1BAF6}" sibTransId="{B541C12C-EF82-4877-B03B-289B8ECBD525}"/>
    <dgm:cxn modelId="{CBE61438-1EE0-43EF-A026-995CCDAE6EF7}" srcId="{36FB1F3C-BBC0-41AE-9B63-4895460BE982}" destId="{340361D5-DB43-46CB-A2A8-938B5E3E5679}" srcOrd="3" destOrd="0" parTransId="{21148CDD-77A4-4232-A438-EDE137DB3820}" sibTransId="{006824C5-3237-45BD-84F2-11EA2D5425C7}"/>
    <dgm:cxn modelId="{75CCA74F-8F57-4E89-9CC2-0BC1C2FD83F4}" srcId="{36FB1F3C-BBC0-41AE-9B63-4895460BE982}" destId="{5832F613-DCBA-4558-B9B1-B1860DF68261}" srcOrd="2" destOrd="0" parTransId="{B1FCB929-72E2-4FB7-B66D-60AE05D1095B}" sibTransId="{8EB30F7E-B1AD-4D6A-AA5B-7C0EBC3F6A75}"/>
    <dgm:cxn modelId="{A1FCB04F-08C3-48DF-B9EB-83BDB988120C}" srcId="{4C06D03B-4B87-44EF-B012-CD3655DB138E}" destId="{6A21FC31-BC30-4479-B1F9-07CE25B3AFCD}" srcOrd="0" destOrd="0" parTransId="{9239D84A-9C7B-498F-A67D-6F50D5059EBB}" sibTransId="{87C34C9D-893B-4A7D-9878-BD834DF8F4A3}"/>
    <dgm:cxn modelId="{6B528953-4507-482B-87D7-3B08A4F16412}" type="presOf" srcId="{340361D5-DB43-46CB-A2A8-938B5E3E5679}" destId="{9792FB90-BA7F-4C15-A9BE-99A2401CF687}" srcOrd="0" destOrd="3" presId="urn:microsoft.com/office/officeart/2018/2/layout/IconVerticalSolidList"/>
    <dgm:cxn modelId="{01EB8B71-AB4B-4AA6-BA48-846265434FFE}" type="presOf" srcId="{36FB1F3C-BBC0-41AE-9B63-4895460BE982}" destId="{F6AC329C-DBE6-40B4-8828-6440456200D7}" srcOrd="0" destOrd="0" presId="urn:microsoft.com/office/officeart/2018/2/layout/IconVerticalSolidList"/>
    <dgm:cxn modelId="{CC99F573-4EA5-43C4-BEDD-D8D97C417EB9}" srcId="{36FB1F3C-BBC0-41AE-9B63-4895460BE982}" destId="{3F05483D-EB88-42FC-BF95-5491DF568CBF}" srcOrd="0" destOrd="0" parTransId="{419D7FD0-B1FA-405E-AB92-A75E492588BE}" sibTransId="{250BD7C2-3586-480E-83F7-1BC796ECEE95}"/>
    <dgm:cxn modelId="{69B62576-72FA-4347-9073-0E9E1F7AA079}" type="presOf" srcId="{3F05483D-EB88-42FC-BF95-5491DF568CBF}" destId="{9792FB90-BA7F-4C15-A9BE-99A2401CF687}" srcOrd="0" destOrd="0" presId="urn:microsoft.com/office/officeart/2018/2/layout/IconVerticalSolidList"/>
    <dgm:cxn modelId="{19610C99-85ED-4FE3-9911-069DE299DEB4}" srcId="{4C06D03B-4B87-44EF-B012-CD3655DB138E}" destId="{36FB1F3C-BBC0-41AE-9B63-4895460BE982}" srcOrd="1" destOrd="0" parTransId="{C25F8D1A-6E7A-4982-B891-E2B63D70CBD9}" sibTransId="{44BA633A-6CE1-465B-9E2D-ED3ECCB7563B}"/>
    <dgm:cxn modelId="{09BA11D1-8853-4C8E-B013-F9F2CA169BFB}" type="presOf" srcId="{4C06D03B-4B87-44EF-B012-CD3655DB138E}" destId="{65564EE3-E54C-47E9-8848-7C6305153B0E}" srcOrd="0" destOrd="0" presId="urn:microsoft.com/office/officeart/2018/2/layout/IconVerticalSolidList"/>
    <dgm:cxn modelId="{E2ED75E8-17DD-4B8F-B869-BE8C1A72DC6D}" type="presOf" srcId="{6A21FC31-BC30-4479-B1F9-07CE25B3AFCD}" destId="{98E4A7B0-436F-40E9-97D9-6184880161D9}" srcOrd="0" destOrd="0" presId="urn:microsoft.com/office/officeart/2018/2/layout/IconVerticalSolidList"/>
    <dgm:cxn modelId="{F6CC751E-69B0-48EF-A9B3-96CFF011AAF4}" type="presParOf" srcId="{65564EE3-E54C-47E9-8848-7C6305153B0E}" destId="{B55215AA-9E70-445A-8D69-7DB3C77B3174}" srcOrd="0" destOrd="0" presId="urn:microsoft.com/office/officeart/2018/2/layout/IconVerticalSolidList"/>
    <dgm:cxn modelId="{4E35AA85-CB03-419E-B028-81A6E535BBB9}" type="presParOf" srcId="{B55215AA-9E70-445A-8D69-7DB3C77B3174}" destId="{823265D0-54D9-4805-9DE7-01FC6F0D69DF}" srcOrd="0" destOrd="0" presId="urn:microsoft.com/office/officeart/2018/2/layout/IconVerticalSolidList"/>
    <dgm:cxn modelId="{44729DF1-65C3-411C-AEAB-C1D84AF799D7}" type="presParOf" srcId="{B55215AA-9E70-445A-8D69-7DB3C77B3174}" destId="{F409AB9C-1081-4D59-98F3-62D0EDF0EFF8}" srcOrd="1" destOrd="0" presId="urn:microsoft.com/office/officeart/2018/2/layout/IconVerticalSolidList"/>
    <dgm:cxn modelId="{92422911-FB1B-4EC7-9D78-B3CD23F5319D}" type="presParOf" srcId="{B55215AA-9E70-445A-8D69-7DB3C77B3174}" destId="{8254314C-ED0A-4D6C-8373-07831737DB43}" srcOrd="2" destOrd="0" presId="urn:microsoft.com/office/officeart/2018/2/layout/IconVerticalSolidList"/>
    <dgm:cxn modelId="{89253AC5-49D2-4BED-B104-4A88F40020C7}" type="presParOf" srcId="{B55215AA-9E70-445A-8D69-7DB3C77B3174}" destId="{98E4A7B0-436F-40E9-97D9-6184880161D9}" srcOrd="3" destOrd="0" presId="urn:microsoft.com/office/officeart/2018/2/layout/IconVerticalSolidList"/>
    <dgm:cxn modelId="{181E7E40-A0A5-4B07-82FE-ED35F786CBF3}" type="presParOf" srcId="{65564EE3-E54C-47E9-8848-7C6305153B0E}" destId="{D57A9647-48E0-4918-9242-AF32B3280AF9}" srcOrd="1" destOrd="0" presId="urn:microsoft.com/office/officeart/2018/2/layout/IconVerticalSolidList"/>
    <dgm:cxn modelId="{F8A25AC1-D85A-4104-AAEF-4BC932586360}" type="presParOf" srcId="{65564EE3-E54C-47E9-8848-7C6305153B0E}" destId="{0AB1C29A-0B27-4B66-BAEE-07A4B752791D}" srcOrd="2" destOrd="0" presId="urn:microsoft.com/office/officeart/2018/2/layout/IconVerticalSolidList"/>
    <dgm:cxn modelId="{32480335-26CD-45EB-8048-BEC0F266120D}" type="presParOf" srcId="{0AB1C29A-0B27-4B66-BAEE-07A4B752791D}" destId="{93FD1493-1BB2-4176-A844-468F5A0E1384}" srcOrd="0" destOrd="0" presId="urn:microsoft.com/office/officeart/2018/2/layout/IconVerticalSolidList"/>
    <dgm:cxn modelId="{2748C299-BB9B-4D59-B439-C3A9397EDD21}" type="presParOf" srcId="{0AB1C29A-0B27-4B66-BAEE-07A4B752791D}" destId="{C83AE8F9-97B3-43F7-8FEA-9E984B1CFFD4}" srcOrd="1" destOrd="0" presId="urn:microsoft.com/office/officeart/2018/2/layout/IconVerticalSolidList"/>
    <dgm:cxn modelId="{BD00117D-D9B1-4A48-B7D8-7A0B06E1FFE9}" type="presParOf" srcId="{0AB1C29A-0B27-4B66-BAEE-07A4B752791D}" destId="{0B3F4226-2742-458E-B2CF-04F4C79B7B5A}" srcOrd="2" destOrd="0" presId="urn:microsoft.com/office/officeart/2018/2/layout/IconVerticalSolidList"/>
    <dgm:cxn modelId="{DB1D79CB-6679-4C80-B9FD-B7157DC7B1F2}" type="presParOf" srcId="{0AB1C29A-0B27-4B66-BAEE-07A4B752791D}" destId="{F6AC329C-DBE6-40B4-8828-6440456200D7}" srcOrd="3" destOrd="0" presId="urn:microsoft.com/office/officeart/2018/2/layout/IconVerticalSolidList"/>
    <dgm:cxn modelId="{9D4C5116-3CC2-4C75-93C9-CB8FFE84CC6A}" type="presParOf" srcId="{0AB1C29A-0B27-4B66-BAEE-07A4B752791D}" destId="{9792FB90-BA7F-4C15-A9BE-99A2401CF687}"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107B06E-A163-40A4-BFB0-E803AB0F312D}"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E903958D-8982-425C-846D-FCA7DFF57947}">
      <dgm:prSet/>
      <dgm:spPr/>
      <dgm:t>
        <a:bodyPr/>
        <a:lstStyle/>
        <a:p>
          <a:r>
            <a:rPr lang="en-US"/>
            <a:t>Difficult, specialized quality attribute:</a:t>
          </a:r>
        </a:p>
      </dgm:t>
    </dgm:pt>
    <dgm:pt modelId="{2532183C-70D5-4C11-9757-3C10D21F5272}" type="parTrans" cxnId="{F090E6E8-7157-4FF2-83C0-ED327AA956E8}">
      <dgm:prSet/>
      <dgm:spPr/>
      <dgm:t>
        <a:bodyPr/>
        <a:lstStyle/>
        <a:p>
          <a:endParaRPr lang="en-US"/>
        </a:p>
      </dgm:t>
    </dgm:pt>
    <dgm:pt modelId="{E2B655DC-8788-42CE-AD5B-A738FC6B8BE3}" type="sibTrans" cxnId="{F090E6E8-7157-4FF2-83C0-ED327AA956E8}">
      <dgm:prSet/>
      <dgm:spPr/>
      <dgm:t>
        <a:bodyPr/>
        <a:lstStyle/>
        <a:p>
          <a:endParaRPr lang="en-US"/>
        </a:p>
      </dgm:t>
    </dgm:pt>
    <dgm:pt modelId="{22B1FEFC-325A-4E20-A06C-A4D2A0A87E9B}">
      <dgm:prSet/>
      <dgm:spPr/>
      <dgm:t>
        <a:bodyPr/>
        <a:lstStyle/>
        <a:p>
          <a:r>
            <a:rPr lang="en-US"/>
            <a:t>Lots of technology available</a:t>
          </a:r>
        </a:p>
      </dgm:t>
    </dgm:pt>
    <dgm:pt modelId="{FD488637-E32B-43C2-B8CD-51D834DD17BE}" type="parTrans" cxnId="{68338BA8-B565-410B-88A0-D6B76A346A46}">
      <dgm:prSet/>
      <dgm:spPr/>
      <dgm:t>
        <a:bodyPr/>
        <a:lstStyle/>
        <a:p>
          <a:endParaRPr lang="en-US"/>
        </a:p>
      </dgm:t>
    </dgm:pt>
    <dgm:pt modelId="{08D7AC5E-873A-4CC1-972E-746EE4F8C55C}" type="sibTrans" cxnId="{68338BA8-B565-410B-88A0-D6B76A346A46}">
      <dgm:prSet/>
      <dgm:spPr/>
      <dgm:t>
        <a:bodyPr/>
        <a:lstStyle/>
        <a:p>
          <a:endParaRPr lang="en-US"/>
        </a:p>
      </dgm:t>
    </dgm:pt>
    <dgm:pt modelId="{389566AC-B098-4F70-9317-EF097C158253}">
      <dgm:prSet/>
      <dgm:spPr/>
      <dgm:t>
        <a:bodyPr/>
        <a:lstStyle/>
        <a:p>
          <a:r>
            <a:rPr lang="en-US"/>
            <a:t>Requires deep knowledge of approaches and solutions</a:t>
          </a:r>
        </a:p>
      </dgm:t>
    </dgm:pt>
    <dgm:pt modelId="{3253EE70-0F94-46C7-B88E-7B83ABA8583A}" type="parTrans" cxnId="{81741BAE-DB34-4304-B34D-824DB4E366EE}">
      <dgm:prSet/>
      <dgm:spPr/>
      <dgm:t>
        <a:bodyPr/>
        <a:lstStyle/>
        <a:p>
          <a:endParaRPr lang="en-US"/>
        </a:p>
      </dgm:t>
    </dgm:pt>
    <dgm:pt modelId="{A4AF383F-D47C-4546-9E98-76DCCF73DC23}" type="sibTrans" cxnId="{81741BAE-DB34-4304-B34D-824DB4E366EE}">
      <dgm:prSet/>
      <dgm:spPr/>
      <dgm:t>
        <a:bodyPr/>
        <a:lstStyle/>
        <a:p>
          <a:endParaRPr lang="en-US"/>
        </a:p>
      </dgm:t>
    </dgm:pt>
    <dgm:pt modelId="{1C6BDF7F-CF21-433C-850B-A49734404E01}">
      <dgm:prSet/>
      <dgm:spPr/>
      <dgm:t>
        <a:bodyPr/>
        <a:lstStyle/>
        <a:p>
          <a:r>
            <a:rPr lang="en-US"/>
            <a:t>Security is a multi-faceted quality …</a:t>
          </a:r>
        </a:p>
      </dgm:t>
    </dgm:pt>
    <dgm:pt modelId="{A1D62DB9-D4F6-4018-A324-C434FDDBFEBD}" type="parTrans" cxnId="{4680417C-D8D1-4D02-83FC-44F30440BD4F}">
      <dgm:prSet/>
      <dgm:spPr/>
      <dgm:t>
        <a:bodyPr/>
        <a:lstStyle/>
        <a:p>
          <a:endParaRPr lang="en-US"/>
        </a:p>
      </dgm:t>
    </dgm:pt>
    <dgm:pt modelId="{0BA908B9-97DE-40BB-A05A-5187F97CCFB6}" type="sibTrans" cxnId="{4680417C-D8D1-4D02-83FC-44F30440BD4F}">
      <dgm:prSet/>
      <dgm:spPr/>
      <dgm:t>
        <a:bodyPr/>
        <a:lstStyle/>
        <a:p>
          <a:endParaRPr lang="en-US"/>
        </a:p>
      </dgm:t>
    </dgm:pt>
    <dgm:pt modelId="{8524BB00-23DC-4D47-816E-D2B8C75E6B89}" type="pres">
      <dgm:prSet presAssocID="{0107B06E-A163-40A4-BFB0-E803AB0F312D}" presName="root" presStyleCnt="0">
        <dgm:presLayoutVars>
          <dgm:dir/>
          <dgm:resizeHandles val="exact"/>
        </dgm:presLayoutVars>
      </dgm:prSet>
      <dgm:spPr/>
    </dgm:pt>
    <dgm:pt modelId="{BE8F58C4-EFE2-4D0C-B552-DEEF0321BE5D}" type="pres">
      <dgm:prSet presAssocID="{E903958D-8982-425C-846D-FCA7DFF57947}" presName="compNode" presStyleCnt="0"/>
      <dgm:spPr/>
    </dgm:pt>
    <dgm:pt modelId="{4A11D260-24FB-4557-ABC8-057FD99F7C6C}" type="pres">
      <dgm:prSet presAssocID="{E903958D-8982-425C-846D-FCA7DFF57947}" presName="bgRect" presStyleLbl="bgShp" presStyleIdx="0" presStyleCnt="2"/>
      <dgm:spPr/>
    </dgm:pt>
    <dgm:pt modelId="{F5FF3B3C-1564-468F-8010-65C7C49B623F}" type="pres">
      <dgm:prSet presAssocID="{E903958D-8982-425C-846D-FCA7DFF5794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estions"/>
        </a:ext>
      </dgm:extLst>
    </dgm:pt>
    <dgm:pt modelId="{E5F8B452-48C5-4CF4-89B8-761BE05DBFD0}" type="pres">
      <dgm:prSet presAssocID="{E903958D-8982-425C-846D-FCA7DFF57947}" presName="spaceRect" presStyleCnt="0"/>
      <dgm:spPr/>
    </dgm:pt>
    <dgm:pt modelId="{CBAC54EA-F126-4B19-8EBF-C060208B1A1F}" type="pres">
      <dgm:prSet presAssocID="{E903958D-8982-425C-846D-FCA7DFF57947}" presName="parTx" presStyleLbl="revTx" presStyleIdx="0" presStyleCnt="3">
        <dgm:presLayoutVars>
          <dgm:chMax val="0"/>
          <dgm:chPref val="0"/>
        </dgm:presLayoutVars>
      </dgm:prSet>
      <dgm:spPr/>
    </dgm:pt>
    <dgm:pt modelId="{4B0CCA2C-9862-4304-A748-11E7499335DA}" type="pres">
      <dgm:prSet presAssocID="{E903958D-8982-425C-846D-FCA7DFF57947}" presName="desTx" presStyleLbl="revTx" presStyleIdx="1" presStyleCnt="3">
        <dgm:presLayoutVars/>
      </dgm:prSet>
      <dgm:spPr/>
    </dgm:pt>
    <dgm:pt modelId="{7A6802E1-3490-46B4-BBB2-CB154D6B7B4B}" type="pres">
      <dgm:prSet presAssocID="{E2B655DC-8788-42CE-AD5B-A738FC6B8BE3}" presName="sibTrans" presStyleCnt="0"/>
      <dgm:spPr/>
    </dgm:pt>
    <dgm:pt modelId="{9970E77A-4A22-4830-98E5-F1971FB483A2}" type="pres">
      <dgm:prSet presAssocID="{1C6BDF7F-CF21-433C-850B-A49734404E01}" presName="compNode" presStyleCnt="0"/>
      <dgm:spPr/>
    </dgm:pt>
    <dgm:pt modelId="{C6918EC6-9F8F-4294-8E57-631023382B81}" type="pres">
      <dgm:prSet presAssocID="{1C6BDF7F-CF21-433C-850B-A49734404E01}" presName="bgRect" presStyleLbl="bgShp" presStyleIdx="1" presStyleCnt="2"/>
      <dgm:spPr/>
    </dgm:pt>
    <dgm:pt modelId="{B4D3036A-BEF2-4179-9AEA-28EF3B5D69B7}" type="pres">
      <dgm:prSet presAssocID="{1C6BDF7F-CF21-433C-850B-A49734404E0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inger Print"/>
        </a:ext>
      </dgm:extLst>
    </dgm:pt>
    <dgm:pt modelId="{CB00E839-5B5A-4EA0-B45C-2D15843BA1E4}" type="pres">
      <dgm:prSet presAssocID="{1C6BDF7F-CF21-433C-850B-A49734404E01}" presName="spaceRect" presStyleCnt="0"/>
      <dgm:spPr/>
    </dgm:pt>
    <dgm:pt modelId="{9DE0EC9E-9C6B-44CC-BD88-D6A20F868466}" type="pres">
      <dgm:prSet presAssocID="{1C6BDF7F-CF21-433C-850B-A49734404E01}" presName="parTx" presStyleLbl="revTx" presStyleIdx="2" presStyleCnt="3">
        <dgm:presLayoutVars>
          <dgm:chMax val="0"/>
          <dgm:chPref val="0"/>
        </dgm:presLayoutVars>
      </dgm:prSet>
      <dgm:spPr/>
    </dgm:pt>
  </dgm:ptLst>
  <dgm:cxnLst>
    <dgm:cxn modelId="{E2AA147A-4A4E-4D5F-98CC-6002DF4880D8}" type="presOf" srcId="{0107B06E-A163-40A4-BFB0-E803AB0F312D}" destId="{8524BB00-23DC-4D47-816E-D2B8C75E6B89}" srcOrd="0" destOrd="0" presId="urn:microsoft.com/office/officeart/2018/2/layout/IconVerticalSolidList"/>
    <dgm:cxn modelId="{4680417C-D8D1-4D02-83FC-44F30440BD4F}" srcId="{0107B06E-A163-40A4-BFB0-E803AB0F312D}" destId="{1C6BDF7F-CF21-433C-850B-A49734404E01}" srcOrd="1" destOrd="0" parTransId="{A1D62DB9-D4F6-4018-A324-C434FDDBFEBD}" sibTransId="{0BA908B9-97DE-40BB-A05A-5187F97CCFB6}"/>
    <dgm:cxn modelId="{0B644E99-4869-483C-90CB-C6FE5425760D}" type="presOf" srcId="{E903958D-8982-425C-846D-FCA7DFF57947}" destId="{CBAC54EA-F126-4B19-8EBF-C060208B1A1F}" srcOrd="0" destOrd="0" presId="urn:microsoft.com/office/officeart/2018/2/layout/IconVerticalSolidList"/>
    <dgm:cxn modelId="{68338BA8-B565-410B-88A0-D6B76A346A46}" srcId="{E903958D-8982-425C-846D-FCA7DFF57947}" destId="{22B1FEFC-325A-4E20-A06C-A4D2A0A87E9B}" srcOrd="0" destOrd="0" parTransId="{FD488637-E32B-43C2-B8CD-51D834DD17BE}" sibTransId="{08D7AC5E-873A-4CC1-972E-746EE4F8C55C}"/>
    <dgm:cxn modelId="{81741BAE-DB34-4304-B34D-824DB4E366EE}" srcId="{E903958D-8982-425C-846D-FCA7DFF57947}" destId="{389566AC-B098-4F70-9317-EF097C158253}" srcOrd="1" destOrd="0" parTransId="{3253EE70-0F94-46C7-B88E-7B83ABA8583A}" sibTransId="{A4AF383F-D47C-4546-9E98-76DCCF73DC23}"/>
    <dgm:cxn modelId="{D1659CC9-0709-4F05-8E5E-48E097709D04}" type="presOf" srcId="{389566AC-B098-4F70-9317-EF097C158253}" destId="{4B0CCA2C-9862-4304-A748-11E7499335DA}" srcOrd="0" destOrd="1" presId="urn:microsoft.com/office/officeart/2018/2/layout/IconVerticalSolidList"/>
    <dgm:cxn modelId="{621637DB-EAB2-41EE-A488-2C08A5188618}" type="presOf" srcId="{1C6BDF7F-CF21-433C-850B-A49734404E01}" destId="{9DE0EC9E-9C6B-44CC-BD88-D6A20F868466}" srcOrd="0" destOrd="0" presId="urn:microsoft.com/office/officeart/2018/2/layout/IconVerticalSolidList"/>
    <dgm:cxn modelId="{F090E6E8-7157-4FF2-83C0-ED327AA956E8}" srcId="{0107B06E-A163-40A4-BFB0-E803AB0F312D}" destId="{E903958D-8982-425C-846D-FCA7DFF57947}" srcOrd="0" destOrd="0" parTransId="{2532183C-70D5-4C11-9757-3C10D21F5272}" sibTransId="{E2B655DC-8788-42CE-AD5B-A738FC6B8BE3}"/>
    <dgm:cxn modelId="{2E3AA3EE-5C4E-43AE-813D-0F46036DC9E4}" type="presOf" srcId="{22B1FEFC-325A-4E20-A06C-A4D2A0A87E9B}" destId="{4B0CCA2C-9862-4304-A748-11E7499335DA}" srcOrd="0" destOrd="0" presId="urn:microsoft.com/office/officeart/2018/2/layout/IconVerticalSolidList"/>
    <dgm:cxn modelId="{35AED5FD-D2F1-4A9A-9AC6-499DF281FEA5}" type="presParOf" srcId="{8524BB00-23DC-4D47-816E-D2B8C75E6B89}" destId="{BE8F58C4-EFE2-4D0C-B552-DEEF0321BE5D}" srcOrd="0" destOrd="0" presId="urn:microsoft.com/office/officeart/2018/2/layout/IconVerticalSolidList"/>
    <dgm:cxn modelId="{8592C1EB-D65B-4B10-AB0D-56D668653C57}" type="presParOf" srcId="{BE8F58C4-EFE2-4D0C-B552-DEEF0321BE5D}" destId="{4A11D260-24FB-4557-ABC8-057FD99F7C6C}" srcOrd="0" destOrd="0" presId="urn:microsoft.com/office/officeart/2018/2/layout/IconVerticalSolidList"/>
    <dgm:cxn modelId="{34550914-2E09-4A1C-BA89-C2265008C12F}" type="presParOf" srcId="{BE8F58C4-EFE2-4D0C-B552-DEEF0321BE5D}" destId="{F5FF3B3C-1564-468F-8010-65C7C49B623F}" srcOrd="1" destOrd="0" presId="urn:microsoft.com/office/officeart/2018/2/layout/IconVerticalSolidList"/>
    <dgm:cxn modelId="{67DAF638-7B5A-4EB7-AE92-1865F66998D1}" type="presParOf" srcId="{BE8F58C4-EFE2-4D0C-B552-DEEF0321BE5D}" destId="{E5F8B452-48C5-4CF4-89B8-761BE05DBFD0}" srcOrd="2" destOrd="0" presId="urn:microsoft.com/office/officeart/2018/2/layout/IconVerticalSolidList"/>
    <dgm:cxn modelId="{9B6168FA-3E78-4623-B84A-5BD44BD4474B}" type="presParOf" srcId="{BE8F58C4-EFE2-4D0C-B552-DEEF0321BE5D}" destId="{CBAC54EA-F126-4B19-8EBF-C060208B1A1F}" srcOrd="3" destOrd="0" presId="urn:microsoft.com/office/officeart/2018/2/layout/IconVerticalSolidList"/>
    <dgm:cxn modelId="{D9811F63-481F-4DE0-9C0E-3A24506EAEB5}" type="presParOf" srcId="{BE8F58C4-EFE2-4D0C-B552-DEEF0321BE5D}" destId="{4B0CCA2C-9862-4304-A748-11E7499335DA}" srcOrd="4" destOrd="0" presId="urn:microsoft.com/office/officeart/2018/2/layout/IconVerticalSolidList"/>
    <dgm:cxn modelId="{899BAE96-23FC-435A-BF25-C8308413E54A}" type="presParOf" srcId="{8524BB00-23DC-4D47-816E-D2B8C75E6B89}" destId="{7A6802E1-3490-46B4-BBB2-CB154D6B7B4B}" srcOrd="1" destOrd="0" presId="urn:microsoft.com/office/officeart/2018/2/layout/IconVerticalSolidList"/>
    <dgm:cxn modelId="{34B90547-22F7-487F-998F-6FCA58E9DE7B}" type="presParOf" srcId="{8524BB00-23DC-4D47-816E-D2B8C75E6B89}" destId="{9970E77A-4A22-4830-98E5-F1971FB483A2}" srcOrd="2" destOrd="0" presId="urn:microsoft.com/office/officeart/2018/2/layout/IconVerticalSolidList"/>
    <dgm:cxn modelId="{2BFCE200-C23C-41EA-A813-D581EBEF195B}" type="presParOf" srcId="{9970E77A-4A22-4830-98E5-F1971FB483A2}" destId="{C6918EC6-9F8F-4294-8E57-631023382B81}" srcOrd="0" destOrd="0" presId="urn:microsoft.com/office/officeart/2018/2/layout/IconVerticalSolidList"/>
    <dgm:cxn modelId="{70545646-3E81-44FC-B1D1-9416135D07CA}" type="presParOf" srcId="{9970E77A-4A22-4830-98E5-F1971FB483A2}" destId="{B4D3036A-BEF2-4179-9AEA-28EF3B5D69B7}" srcOrd="1" destOrd="0" presId="urn:microsoft.com/office/officeart/2018/2/layout/IconVerticalSolidList"/>
    <dgm:cxn modelId="{2787AF7C-0586-43A3-B1AA-B3D4BFAC3A31}" type="presParOf" srcId="{9970E77A-4A22-4830-98E5-F1971FB483A2}" destId="{CB00E839-5B5A-4EA0-B45C-2D15843BA1E4}" srcOrd="2" destOrd="0" presId="urn:microsoft.com/office/officeart/2018/2/layout/IconVerticalSolidList"/>
    <dgm:cxn modelId="{1F0E9C78-90B5-40E4-9711-42CB166FC441}" type="presParOf" srcId="{9970E77A-4A22-4830-98E5-F1971FB483A2}" destId="{9DE0EC9E-9C6B-44CC-BD88-D6A20F86846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3F776DA-0071-43D5-9C75-BF51E29CF81F}"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B898EB40-E5FB-472F-8782-CB2C64B843DD}">
      <dgm:prSet/>
      <dgm:spPr/>
      <dgm:t>
        <a:bodyPr/>
        <a:lstStyle/>
        <a:p>
          <a:r>
            <a:rPr lang="en-US" b="1"/>
            <a:t>Authentication: </a:t>
          </a:r>
          <a:r>
            <a:rPr lang="en-US"/>
            <a:t>Applications can verify the identity of their users and other applications with which they communicate.</a:t>
          </a:r>
        </a:p>
      </dgm:t>
    </dgm:pt>
    <dgm:pt modelId="{286611A4-9B33-4B03-8F95-5FF4B6361D3D}" type="parTrans" cxnId="{6FAB3742-4291-44AE-9D04-17B2F2EF864A}">
      <dgm:prSet/>
      <dgm:spPr/>
      <dgm:t>
        <a:bodyPr/>
        <a:lstStyle/>
        <a:p>
          <a:endParaRPr lang="en-US"/>
        </a:p>
      </dgm:t>
    </dgm:pt>
    <dgm:pt modelId="{E2B0BE16-5734-4F9D-9486-031A98502D5C}" type="sibTrans" cxnId="{6FAB3742-4291-44AE-9D04-17B2F2EF864A}">
      <dgm:prSet/>
      <dgm:spPr/>
      <dgm:t>
        <a:bodyPr/>
        <a:lstStyle/>
        <a:p>
          <a:endParaRPr lang="en-US"/>
        </a:p>
      </dgm:t>
    </dgm:pt>
    <dgm:pt modelId="{DDA306EE-05AA-492A-B3E2-3254068D3C86}">
      <dgm:prSet/>
      <dgm:spPr/>
      <dgm:t>
        <a:bodyPr/>
        <a:lstStyle/>
        <a:p>
          <a:r>
            <a:rPr lang="en-US" b="1"/>
            <a:t>Authorization:</a:t>
          </a:r>
          <a:r>
            <a:rPr lang="en-US"/>
            <a:t> Authenticated users and applications have defined access rights to the resources of the system. </a:t>
          </a:r>
        </a:p>
      </dgm:t>
    </dgm:pt>
    <dgm:pt modelId="{3B65C209-EB14-4E98-AA38-21DE95212CF2}" type="parTrans" cxnId="{7AF6DDA9-AED9-4709-9E26-3CD112FC5FC7}">
      <dgm:prSet/>
      <dgm:spPr/>
      <dgm:t>
        <a:bodyPr/>
        <a:lstStyle/>
        <a:p>
          <a:endParaRPr lang="en-US"/>
        </a:p>
      </dgm:t>
    </dgm:pt>
    <dgm:pt modelId="{0FE65C0B-1C0B-4D3F-9A23-BA8AAC77C5C3}" type="sibTrans" cxnId="{7AF6DDA9-AED9-4709-9E26-3CD112FC5FC7}">
      <dgm:prSet/>
      <dgm:spPr/>
      <dgm:t>
        <a:bodyPr/>
        <a:lstStyle/>
        <a:p>
          <a:endParaRPr lang="en-US"/>
        </a:p>
      </dgm:t>
    </dgm:pt>
    <dgm:pt modelId="{25DC1837-C52F-4B06-B2F1-78B1E717D914}">
      <dgm:prSet/>
      <dgm:spPr/>
      <dgm:t>
        <a:bodyPr/>
        <a:lstStyle/>
        <a:p>
          <a:r>
            <a:rPr lang="en-US" b="1"/>
            <a:t>Encryption:</a:t>
          </a:r>
          <a:r>
            <a:rPr lang="en-US"/>
            <a:t> The messages sent to/from the application are encrypted. </a:t>
          </a:r>
        </a:p>
      </dgm:t>
    </dgm:pt>
    <dgm:pt modelId="{1DC2E4C1-CEE4-4EF5-9EAD-BD9A62E6C9CC}" type="parTrans" cxnId="{F94C7050-D7B9-49FF-A976-BE5EC938466D}">
      <dgm:prSet/>
      <dgm:spPr/>
      <dgm:t>
        <a:bodyPr/>
        <a:lstStyle/>
        <a:p>
          <a:endParaRPr lang="en-US"/>
        </a:p>
      </dgm:t>
    </dgm:pt>
    <dgm:pt modelId="{118BED38-AFA4-4026-BC20-569AFD9650C2}" type="sibTrans" cxnId="{F94C7050-D7B9-49FF-A976-BE5EC938466D}">
      <dgm:prSet/>
      <dgm:spPr/>
      <dgm:t>
        <a:bodyPr/>
        <a:lstStyle/>
        <a:p>
          <a:endParaRPr lang="en-US"/>
        </a:p>
      </dgm:t>
    </dgm:pt>
    <dgm:pt modelId="{14D9CFA3-FAB4-408D-8655-4B2FE26192AB}">
      <dgm:prSet/>
      <dgm:spPr/>
      <dgm:t>
        <a:bodyPr/>
        <a:lstStyle/>
        <a:p>
          <a:r>
            <a:rPr lang="en-US" b="1"/>
            <a:t>Integrity:</a:t>
          </a:r>
          <a:r>
            <a:rPr lang="en-US"/>
            <a:t> This ensures the contents of a message are not altered in transit.</a:t>
          </a:r>
        </a:p>
      </dgm:t>
    </dgm:pt>
    <dgm:pt modelId="{16F29A24-8D74-4C97-9384-5B23E7CE4CB6}" type="parTrans" cxnId="{3E69255B-094B-4A64-AC5F-B3AB9BF7EDCE}">
      <dgm:prSet/>
      <dgm:spPr/>
      <dgm:t>
        <a:bodyPr/>
        <a:lstStyle/>
        <a:p>
          <a:endParaRPr lang="en-US"/>
        </a:p>
      </dgm:t>
    </dgm:pt>
    <dgm:pt modelId="{FE675912-A4CD-4520-9597-BF6C991A61FE}" type="sibTrans" cxnId="{3E69255B-094B-4A64-AC5F-B3AB9BF7EDCE}">
      <dgm:prSet/>
      <dgm:spPr/>
      <dgm:t>
        <a:bodyPr/>
        <a:lstStyle/>
        <a:p>
          <a:endParaRPr lang="en-US"/>
        </a:p>
      </dgm:t>
    </dgm:pt>
    <dgm:pt modelId="{67D1491E-4B2C-4CF8-82AF-63EB3E1A6619}">
      <dgm:prSet/>
      <dgm:spPr/>
      <dgm:t>
        <a:bodyPr/>
        <a:lstStyle/>
        <a:p>
          <a:r>
            <a:rPr lang="en-US" b="1"/>
            <a:t>Non-repudiation:</a:t>
          </a:r>
          <a:r>
            <a:rPr lang="en-US"/>
            <a:t> The sender of a message has proof of delivery and the receiver is assured of the sender</a:t>
          </a:r>
          <a:r>
            <a:rPr lang="ja-JP"/>
            <a:t>’</a:t>
          </a:r>
          <a:r>
            <a:rPr lang="en-US"/>
            <a:t>s identity. This means neither can subsequently refute their participation in the message exchange.</a:t>
          </a:r>
        </a:p>
      </dgm:t>
    </dgm:pt>
    <dgm:pt modelId="{3E1F2295-DC72-4EBF-860B-0A1F4604C7FA}" type="parTrans" cxnId="{DC188054-A793-465B-8552-EB3A2F0ADC08}">
      <dgm:prSet/>
      <dgm:spPr/>
      <dgm:t>
        <a:bodyPr/>
        <a:lstStyle/>
        <a:p>
          <a:endParaRPr lang="en-US"/>
        </a:p>
      </dgm:t>
    </dgm:pt>
    <dgm:pt modelId="{B0C1BC36-8FC9-483B-9262-8747D97175F5}" type="sibTrans" cxnId="{DC188054-A793-465B-8552-EB3A2F0ADC08}">
      <dgm:prSet/>
      <dgm:spPr/>
      <dgm:t>
        <a:bodyPr/>
        <a:lstStyle/>
        <a:p>
          <a:endParaRPr lang="en-US"/>
        </a:p>
      </dgm:t>
    </dgm:pt>
    <dgm:pt modelId="{0A656FB6-5B96-4ADF-A447-8C8DC421B6DA}" type="pres">
      <dgm:prSet presAssocID="{53F776DA-0071-43D5-9C75-BF51E29CF81F}" presName="root" presStyleCnt="0">
        <dgm:presLayoutVars>
          <dgm:dir/>
          <dgm:resizeHandles val="exact"/>
        </dgm:presLayoutVars>
      </dgm:prSet>
      <dgm:spPr/>
    </dgm:pt>
    <dgm:pt modelId="{A15A8472-6FE9-4942-B96B-D190BEBAE84E}" type="pres">
      <dgm:prSet presAssocID="{B898EB40-E5FB-472F-8782-CB2C64B843DD}" presName="compNode" presStyleCnt="0"/>
      <dgm:spPr/>
    </dgm:pt>
    <dgm:pt modelId="{84F0F8D9-CC6D-48D1-B6FF-E839EC25FC3E}" type="pres">
      <dgm:prSet presAssocID="{B898EB40-E5FB-472F-8782-CB2C64B843DD}" presName="bgRect" presStyleLbl="bgShp" presStyleIdx="0" presStyleCnt="5"/>
      <dgm:spPr/>
    </dgm:pt>
    <dgm:pt modelId="{4F84AE6E-272F-4A89-A7EB-CC25C6E3B063}" type="pres">
      <dgm:prSet presAssocID="{B898EB40-E5FB-472F-8782-CB2C64B843DD}"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nlock"/>
        </a:ext>
      </dgm:extLst>
    </dgm:pt>
    <dgm:pt modelId="{F77BD74E-04F4-422D-BFA1-43DAF8ECB4E3}" type="pres">
      <dgm:prSet presAssocID="{B898EB40-E5FB-472F-8782-CB2C64B843DD}" presName="spaceRect" presStyleCnt="0"/>
      <dgm:spPr/>
    </dgm:pt>
    <dgm:pt modelId="{34BD0572-C94E-4F1F-BC67-A0FBD4EFE5FE}" type="pres">
      <dgm:prSet presAssocID="{B898EB40-E5FB-472F-8782-CB2C64B843DD}" presName="parTx" presStyleLbl="revTx" presStyleIdx="0" presStyleCnt="5">
        <dgm:presLayoutVars>
          <dgm:chMax val="0"/>
          <dgm:chPref val="0"/>
        </dgm:presLayoutVars>
      </dgm:prSet>
      <dgm:spPr/>
    </dgm:pt>
    <dgm:pt modelId="{23CB081B-7B8A-4DF6-B044-F122C0061F33}" type="pres">
      <dgm:prSet presAssocID="{E2B0BE16-5734-4F9D-9486-031A98502D5C}" presName="sibTrans" presStyleCnt="0"/>
      <dgm:spPr/>
    </dgm:pt>
    <dgm:pt modelId="{BED0B232-94F2-498A-988A-2189FD92274D}" type="pres">
      <dgm:prSet presAssocID="{DDA306EE-05AA-492A-B3E2-3254068D3C86}" presName="compNode" presStyleCnt="0"/>
      <dgm:spPr/>
    </dgm:pt>
    <dgm:pt modelId="{7896D84F-FF3F-434A-975F-363EEE5FCB0A}" type="pres">
      <dgm:prSet presAssocID="{DDA306EE-05AA-492A-B3E2-3254068D3C86}" presName="bgRect" presStyleLbl="bgShp" presStyleIdx="1" presStyleCnt="5"/>
      <dgm:spPr/>
    </dgm:pt>
    <dgm:pt modelId="{E7E3B3F7-6BF6-4C2F-8335-E80808B51D57}" type="pres">
      <dgm:prSet presAssocID="{DDA306EE-05AA-492A-B3E2-3254068D3C86}"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ey"/>
        </a:ext>
      </dgm:extLst>
    </dgm:pt>
    <dgm:pt modelId="{401564EA-8970-4EEA-BF60-0D9CFA5F47A5}" type="pres">
      <dgm:prSet presAssocID="{DDA306EE-05AA-492A-B3E2-3254068D3C86}" presName="spaceRect" presStyleCnt="0"/>
      <dgm:spPr/>
    </dgm:pt>
    <dgm:pt modelId="{600930AE-1FC7-4311-9DA4-0DAD64421987}" type="pres">
      <dgm:prSet presAssocID="{DDA306EE-05AA-492A-B3E2-3254068D3C86}" presName="parTx" presStyleLbl="revTx" presStyleIdx="1" presStyleCnt="5">
        <dgm:presLayoutVars>
          <dgm:chMax val="0"/>
          <dgm:chPref val="0"/>
        </dgm:presLayoutVars>
      </dgm:prSet>
      <dgm:spPr/>
    </dgm:pt>
    <dgm:pt modelId="{BA52D5E6-3FA3-426D-A77C-CF8965F72A3D}" type="pres">
      <dgm:prSet presAssocID="{0FE65C0B-1C0B-4D3F-9A23-BA8AAC77C5C3}" presName="sibTrans" presStyleCnt="0"/>
      <dgm:spPr/>
    </dgm:pt>
    <dgm:pt modelId="{CD0B1887-0486-483C-9403-CE67F99D27A8}" type="pres">
      <dgm:prSet presAssocID="{25DC1837-C52F-4B06-B2F1-78B1E717D914}" presName="compNode" presStyleCnt="0"/>
      <dgm:spPr/>
    </dgm:pt>
    <dgm:pt modelId="{DF233A0C-691D-410E-8064-5030E9BFBFC0}" type="pres">
      <dgm:prSet presAssocID="{25DC1837-C52F-4B06-B2F1-78B1E717D914}" presName="bgRect" presStyleLbl="bgShp" presStyleIdx="2" presStyleCnt="5"/>
      <dgm:spPr/>
    </dgm:pt>
    <dgm:pt modelId="{AF46E2F0-EDB4-43A6-9033-14519C8940E2}" type="pres">
      <dgm:prSet presAssocID="{25DC1837-C52F-4B06-B2F1-78B1E717D914}"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ock"/>
        </a:ext>
      </dgm:extLst>
    </dgm:pt>
    <dgm:pt modelId="{35719CC2-E6AB-4BA1-8645-21E276B575F8}" type="pres">
      <dgm:prSet presAssocID="{25DC1837-C52F-4B06-B2F1-78B1E717D914}" presName="spaceRect" presStyleCnt="0"/>
      <dgm:spPr/>
    </dgm:pt>
    <dgm:pt modelId="{B5401D7F-6D34-4358-901D-C7532FF4B8B6}" type="pres">
      <dgm:prSet presAssocID="{25DC1837-C52F-4B06-B2F1-78B1E717D914}" presName="parTx" presStyleLbl="revTx" presStyleIdx="2" presStyleCnt="5">
        <dgm:presLayoutVars>
          <dgm:chMax val="0"/>
          <dgm:chPref val="0"/>
        </dgm:presLayoutVars>
      </dgm:prSet>
      <dgm:spPr/>
    </dgm:pt>
    <dgm:pt modelId="{E2456399-F274-48B9-AAF4-81051B1DB3B3}" type="pres">
      <dgm:prSet presAssocID="{118BED38-AFA4-4026-BC20-569AFD9650C2}" presName="sibTrans" presStyleCnt="0"/>
      <dgm:spPr/>
    </dgm:pt>
    <dgm:pt modelId="{7DC5624A-6795-4D15-9025-2B351B488E65}" type="pres">
      <dgm:prSet presAssocID="{14D9CFA3-FAB4-408D-8655-4B2FE26192AB}" presName="compNode" presStyleCnt="0"/>
      <dgm:spPr/>
    </dgm:pt>
    <dgm:pt modelId="{B80981BF-B771-48BB-919A-622D4F93D5A6}" type="pres">
      <dgm:prSet presAssocID="{14D9CFA3-FAB4-408D-8655-4B2FE26192AB}" presName="bgRect" presStyleLbl="bgShp" presStyleIdx="3" presStyleCnt="5"/>
      <dgm:spPr/>
    </dgm:pt>
    <dgm:pt modelId="{6C5DB335-8501-4E74-B306-C248A6D94CED}" type="pres">
      <dgm:prSet presAssocID="{14D9CFA3-FAB4-408D-8655-4B2FE26192A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cument"/>
        </a:ext>
      </dgm:extLst>
    </dgm:pt>
    <dgm:pt modelId="{A2A50767-E4F6-4C46-B809-CCC082532E7F}" type="pres">
      <dgm:prSet presAssocID="{14D9CFA3-FAB4-408D-8655-4B2FE26192AB}" presName="spaceRect" presStyleCnt="0"/>
      <dgm:spPr/>
    </dgm:pt>
    <dgm:pt modelId="{7777425A-E35D-4E17-9C03-401B76A1E002}" type="pres">
      <dgm:prSet presAssocID="{14D9CFA3-FAB4-408D-8655-4B2FE26192AB}" presName="parTx" presStyleLbl="revTx" presStyleIdx="3" presStyleCnt="5">
        <dgm:presLayoutVars>
          <dgm:chMax val="0"/>
          <dgm:chPref val="0"/>
        </dgm:presLayoutVars>
      </dgm:prSet>
      <dgm:spPr/>
    </dgm:pt>
    <dgm:pt modelId="{776A3251-E33E-4078-9525-A2B531F8573D}" type="pres">
      <dgm:prSet presAssocID="{FE675912-A4CD-4520-9597-BF6C991A61FE}" presName="sibTrans" presStyleCnt="0"/>
      <dgm:spPr/>
    </dgm:pt>
    <dgm:pt modelId="{5AB66B46-F9BF-4E91-A28D-CC0D8021E8D0}" type="pres">
      <dgm:prSet presAssocID="{67D1491E-4B2C-4CF8-82AF-63EB3E1A6619}" presName="compNode" presStyleCnt="0"/>
      <dgm:spPr/>
    </dgm:pt>
    <dgm:pt modelId="{922429EA-7EC5-40C5-90C1-247A59A69A39}" type="pres">
      <dgm:prSet presAssocID="{67D1491E-4B2C-4CF8-82AF-63EB3E1A6619}" presName="bgRect" presStyleLbl="bgShp" presStyleIdx="4" presStyleCnt="5"/>
      <dgm:spPr/>
    </dgm:pt>
    <dgm:pt modelId="{30FAFC45-8BF2-467C-8287-08400416D18B}" type="pres">
      <dgm:prSet presAssocID="{67D1491E-4B2C-4CF8-82AF-63EB3E1A661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ubtitles"/>
        </a:ext>
      </dgm:extLst>
    </dgm:pt>
    <dgm:pt modelId="{6BFC621B-7153-4AD1-AE04-C807EBA9FA74}" type="pres">
      <dgm:prSet presAssocID="{67D1491E-4B2C-4CF8-82AF-63EB3E1A6619}" presName="spaceRect" presStyleCnt="0"/>
      <dgm:spPr/>
    </dgm:pt>
    <dgm:pt modelId="{AB313247-C970-4F68-92FB-01BEDFE889D6}" type="pres">
      <dgm:prSet presAssocID="{67D1491E-4B2C-4CF8-82AF-63EB3E1A6619}" presName="parTx" presStyleLbl="revTx" presStyleIdx="4" presStyleCnt="5">
        <dgm:presLayoutVars>
          <dgm:chMax val="0"/>
          <dgm:chPref val="0"/>
        </dgm:presLayoutVars>
      </dgm:prSet>
      <dgm:spPr/>
    </dgm:pt>
  </dgm:ptLst>
  <dgm:cxnLst>
    <dgm:cxn modelId="{7A651F32-8EA7-4742-B635-97A193ABAC55}" type="presOf" srcId="{67D1491E-4B2C-4CF8-82AF-63EB3E1A6619}" destId="{AB313247-C970-4F68-92FB-01BEDFE889D6}" srcOrd="0" destOrd="0" presId="urn:microsoft.com/office/officeart/2018/2/layout/IconVerticalSolidList"/>
    <dgm:cxn modelId="{6FAB3742-4291-44AE-9D04-17B2F2EF864A}" srcId="{53F776DA-0071-43D5-9C75-BF51E29CF81F}" destId="{B898EB40-E5FB-472F-8782-CB2C64B843DD}" srcOrd="0" destOrd="0" parTransId="{286611A4-9B33-4B03-8F95-5FF4B6361D3D}" sibTransId="{E2B0BE16-5734-4F9D-9486-031A98502D5C}"/>
    <dgm:cxn modelId="{F94C7050-D7B9-49FF-A976-BE5EC938466D}" srcId="{53F776DA-0071-43D5-9C75-BF51E29CF81F}" destId="{25DC1837-C52F-4B06-B2F1-78B1E717D914}" srcOrd="2" destOrd="0" parTransId="{1DC2E4C1-CEE4-4EF5-9EAD-BD9A62E6C9CC}" sibTransId="{118BED38-AFA4-4026-BC20-569AFD9650C2}"/>
    <dgm:cxn modelId="{DC188054-A793-465B-8552-EB3A2F0ADC08}" srcId="{53F776DA-0071-43D5-9C75-BF51E29CF81F}" destId="{67D1491E-4B2C-4CF8-82AF-63EB3E1A6619}" srcOrd="4" destOrd="0" parTransId="{3E1F2295-DC72-4EBF-860B-0A1F4604C7FA}" sibTransId="{B0C1BC36-8FC9-483B-9262-8747D97175F5}"/>
    <dgm:cxn modelId="{3E69255B-094B-4A64-AC5F-B3AB9BF7EDCE}" srcId="{53F776DA-0071-43D5-9C75-BF51E29CF81F}" destId="{14D9CFA3-FAB4-408D-8655-4B2FE26192AB}" srcOrd="3" destOrd="0" parTransId="{16F29A24-8D74-4C97-9384-5B23E7CE4CB6}" sibTransId="{FE675912-A4CD-4520-9597-BF6C991A61FE}"/>
    <dgm:cxn modelId="{2937F85D-D640-4AB6-A3CF-E3CE5D953AD9}" type="presOf" srcId="{B898EB40-E5FB-472F-8782-CB2C64B843DD}" destId="{34BD0572-C94E-4F1F-BC67-A0FBD4EFE5FE}" srcOrd="0" destOrd="0" presId="urn:microsoft.com/office/officeart/2018/2/layout/IconVerticalSolidList"/>
    <dgm:cxn modelId="{7AF6DDA9-AED9-4709-9E26-3CD112FC5FC7}" srcId="{53F776DA-0071-43D5-9C75-BF51E29CF81F}" destId="{DDA306EE-05AA-492A-B3E2-3254068D3C86}" srcOrd="1" destOrd="0" parTransId="{3B65C209-EB14-4E98-AA38-21DE95212CF2}" sibTransId="{0FE65C0B-1C0B-4D3F-9A23-BA8AAC77C5C3}"/>
    <dgm:cxn modelId="{E2684DC1-9A01-438C-984F-D22A8708991F}" type="presOf" srcId="{25DC1837-C52F-4B06-B2F1-78B1E717D914}" destId="{B5401D7F-6D34-4358-901D-C7532FF4B8B6}" srcOrd="0" destOrd="0" presId="urn:microsoft.com/office/officeart/2018/2/layout/IconVerticalSolidList"/>
    <dgm:cxn modelId="{1CF170D9-AF0B-4BFE-8C08-E4B5C88C44B8}" type="presOf" srcId="{14D9CFA3-FAB4-408D-8655-4B2FE26192AB}" destId="{7777425A-E35D-4E17-9C03-401B76A1E002}" srcOrd="0" destOrd="0" presId="urn:microsoft.com/office/officeart/2018/2/layout/IconVerticalSolidList"/>
    <dgm:cxn modelId="{4837CCE2-0325-4B30-9C04-A920FB8987F9}" type="presOf" srcId="{53F776DA-0071-43D5-9C75-BF51E29CF81F}" destId="{0A656FB6-5B96-4ADF-A447-8C8DC421B6DA}" srcOrd="0" destOrd="0" presId="urn:microsoft.com/office/officeart/2018/2/layout/IconVerticalSolidList"/>
    <dgm:cxn modelId="{A24A04F1-22EF-48BD-BF48-A38852E6C585}" type="presOf" srcId="{DDA306EE-05AA-492A-B3E2-3254068D3C86}" destId="{600930AE-1FC7-4311-9DA4-0DAD64421987}" srcOrd="0" destOrd="0" presId="urn:microsoft.com/office/officeart/2018/2/layout/IconVerticalSolidList"/>
    <dgm:cxn modelId="{B9141578-7236-4FD2-A4F8-9DA66ECBD71D}" type="presParOf" srcId="{0A656FB6-5B96-4ADF-A447-8C8DC421B6DA}" destId="{A15A8472-6FE9-4942-B96B-D190BEBAE84E}" srcOrd="0" destOrd="0" presId="urn:microsoft.com/office/officeart/2018/2/layout/IconVerticalSolidList"/>
    <dgm:cxn modelId="{995325CD-E4EE-4488-906B-66F46EF33FE6}" type="presParOf" srcId="{A15A8472-6FE9-4942-B96B-D190BEBAE84E}" destId="{84F0F8D9-CC6D-48D1-B6FF-E839EC25FC3E}" srcOrd="0" destOrd="0" presId="urn:microsoft.com/office/officeart/2018/2/layout/IconVerticalSolidList"/>
    <dgm:cxn modelId="{C8EBB12C-6516-4B6B-9C93-5DE6017D891C}" type="presParOf" srcId="{A15A8472-6FE9-4942-B96B-D190BEBAE84E}" destId="{4F84AE6E-272F-4A89-A7EB-CC25C6E3B063}" srcOrd="1" destOrd="0" presId="urn:microsoft.com/office/officeart/2018/2/layout/IconVerticalSolidList"/>
    <dgm:cxn modelId="{5E10A639-A096-4530-B1A6-7BE4C003E5C8}" type="presParOf" srcId="{A15A8472-6FE9-4942-B96B-D190BEBAE84E}" destId="{F77BD74E-04F4-422D-BFA1-43DAF8ECB4E3}" srcOrd="2" destOrd="0" presId="urn:microsoft.com/office/officeart/2018/2/layout/IconVerticalSolidList"/>
    <dgm:cxn modelId="{139CD549-F695-43C6-AC30-43116D6FFA79}" type="presParOf" srcId="{A15A8472-6FE9-4942-B96B-D190BEBAE84E}" destId="{34BD0572-C94E-4F1F-BC67-A0FBD4EFE5FE}" srcOrd="3" destOrd="0" presId="urn:microsoft.com/office/officeart/2018/2/layout/IconVerticalSolidList"/>
    <dgm:cxn modelId="{8F5D5833-8165-461C-8F48-23E69190C6CC}" type="presParOf" srcId="{0A656FB6-5B96-4ADF-A447-8C8DC421B6DA}" destId="{23CB081B-7B8A-4DF6-B044-F122C0061F33}" srcOrd="1" destOrd="0" presId="urn:microsoft.com/office/officeart/2018/2/layout/IconVerticalSolidList"/>
    <dgm:cxn modelId="{9376F9C8-82D0-4E03-95B8-CEEBA4138D7A}" type="presParOf" srcId="{0A656FB6-5B96-4ADF-A447-8C8DC421B6DA}" destId="{BED0B232-94F2-498A-988A-2189FD92274D}" srcOrd="2" destOrd="0" presId="urn:microsoft.com/office/officeart/2018/2/layout/IconVerticalSolidList"/>
    <dgm:cxn modelId="{93E6A3D3-79FB-4776-B7C3-668934F265E6}" type="presParOf" srcId="{BED0B232-94F2-498A-988A-2189FD92274D}" destId="{7896D84F-FF3F-434A-975F-363EEE5FCB0A}" srcOrd="0" destOrd="0" presId="urn:microsoft.com/office/officeart/2018/2/layout/IconVerticalSolidList"/>
    <dgm:cxn modelId="{EF94E0A8-5CEF-480B-B394-6F4D140B253A}" type="presParOf" srcId="{BED0B232-94F2-498A-988A-2189FD92274D}" destId="{E7E3B3F7-6BF6-4C2F-8335-E80808B51D57}" srcOrd="1" destOrd="0" presId="urn:microsoft.com/office/officeart/2018/2/layout/IconVerticalSolidList"/>
    <dgm:cxn modelId="{B13B6E54-6CD7-469C-83C1-913976E35839}" type="presParOf" srcId="{BED0B232-94F2-498A-988A-2189FD92274D}" destId="{401564EA-8970-4EEA-BF60-0D9CFA5F47A5}" srcOrd="2" destOrd="0" presId="urn:microsoft.com/office/officeart/2018/2/layout/IconVerticalSolidList"/>
    <dgm:cxn modelId="{4F8CAC69-C976-49F6-8CF8-9774923C000C}" type="presParOf" srcId="{BED0B232-94F2-498A-988A-2189FD92274D}" destId="{600930AE-1FC7-4311-9DA4-0DAD64421987}" srcOrd="3" destOrd="0" presId="urn:microsoft.com/office/officeart/2018/2/layout/IconVerticalSolidList"/>
    <dgm:cxn modelId="{56565293-E34F-4B29-9FF2-B9D758FFA018}" type="presParOf" srcId="{0A656FB6-5B96-4ADF-A447-8C8DC421B6DA}" destId="{BA52D5E6-3FA3-426D-A77C-CF8965F72A3D}" srcOrd="3" destOrd="0" presId="urn:microsoft.com/office/officeart/2018/2/layout/IconVerticalSolidList"/>
    <dgm:cxn modelId="{1D08FB4F-9699-452C-928C-EA39A3F3216E}" type="presParOf" srcId="{0A656FB6-5B96-4ADF-A447-8C8DC421B6DA}" destId="{CD0B1887-0486-483C-9403-CE67F99D27A8}" srcOrd="4" destOrd="0" presId="urn:microsoft.com/office/officeart/2018/2/layout/IconVerticalSolidList"/>
    <dgm:cxn modelId="{01808039-FDD4-4716-AFBD-D3BC066ABDEB}" type="presParOf" srcId="{CD0B1887-0486-483C-9403-CE67F99D27A8}" destId="{DF233A0C-691D-410E-8064-5030E9BFBFC0}" srcOrd="0" destOrd="0" presId="urn:microsoft.com/office/officeart/2018/2/layout/IconVerticalSolidList"/>
    <dgm:cxn modelId="{5A23C281-1638-4265-BBF1-AFB6502D9461}" type="presParOf" srcId="{CD0B1887-0486-483C-9403-CE67F99D27A8}" destId="{AF46E2F0-EDB4-43A6-9033-14519C8940E2}" srcOrd="1" destOrd="0" presId="urn:microsoft.com/office/officeart/2018/2/layout/IconVerticalSolidList"/>
    <dgm:cxn modelId="{3E0A773D-73D0-4C16-96F5-5AE880D2AEE2}" type="presParOf" srcId="{CD0B1887-0486-483C-9403-CE67F99D27A8}" destId="{35719CC2-E6AB-4BA1-8645-21E276B575F8}" srcOrd="2" destOrd="0" presId="urn:microsoft.com/office/officeart/2018/2/layout/IconVerticalSolidList"/>
    <dgm:cxn modelId="{4D58D944-ACB9-4417-835A-5FBF232C61CC}" type="presParOf" srcId="{CD0B1887-0486-483C-9403-CE67F99D27A8}" destId="{B5401D7F-6D34-4358-901D-C7532FF4B8B6}" srcOrd="3" destOrd="0" presId="urn:microsoft.com/office/officeart/2018/2/layout/IconVerticalSolidList"/>
    <dgm:cxn modelId="{F265F1D3-E036-438B-BABF-28CD37C50EE3}" type="presParOf" srcId="{0A656FB6-5B96-4ADF-A447-8C8DC421B6DA}" destId="{E2456399-F274-48B9-AAF4-81051B1DB3B3}" srcOrd="5" destOrd="0" presId="urn:microsoft.com/office/officeart/2018/2/layout/IconVerticalSolidList"/>
    <dgm:cxn modelId="{687FC78C-F3B1-42A3-A69A-241F51C2C524}" type="presParOf" srcId="{0A656FB6-5B96-4ADF-A447-8C8DC421B6DA}" destId="{7DC5624A-6795-4D15-9025-2B351B488E65}" srcOrd="6" destOrd="0" presId="urn:microsoft.com/office/officeart/2018/2/layout/IconVerticalSolidList"/>
    <dgm:cxn modelId="{6A478528-A520-4B9F-8B4C-66440C15E522}" type="presParOf" srcId="{7DC5624A-6795-4D15-9025-2B351B488E65}" destId="{B80981BF-B771-48BB-919A-622D4F93D5A6}" srcOrd="0" destOrd="0" presId="urn:microsoft.com/office/officeart/2018/2/layout/IconVerticalSolidList"/>
    <dgm:cxn modelId="{A2CEA75B-089C-41F1-8FE3-AC13F2EE5156}" type="presParOf" srcId="{7DC5624A-6795-4D15-9025-2B351B488E65}" destId="{6C5DB335-8501-4E74-B306-C248A6D94CED}" srcOrd="1" destOrd="0" presId="urn:microsoft.com/office/officeart/2018/2/layout/IconVerticalSolidList"/>
    <dgm:cxn modelId="{1CED2FDE-A4BF-4D4B-AC6B-BDE148266D7F}" type="presParOf" srcId="{7DC5624A-6795-4D15-9025-2B351B488E65}" destId="{A2A50767-E4F6-4C46-B809-CCC082532E7F}" srcOrd="2" destOrd="0" presId="urn:microsoft.com/office/officeart/2018/2/layout/IconVerticalSolidList"/>
    <dgm:cxn modelId="{E30B0AF8-E825-4592-B0DC-55C695115164}" type="presParOf" srcId="{7DC5624A-6795-4D15-9025-2B351B488E65}" destId="{7777425A-E35D-4E17-9C03-401B76A1E002}" srcOrd="3" destOrd="0" presId="urn:microsoft.com/office/officeart/2018/2/layout/IconVerticalSolidList"/>
    <dgm:cxn modelId="{DB391359-DF3E-4532-BF04-18B39863BE6C}" type="presParOf" srcId="{0A656FB6-5B96-4ADF-A447-8C8DC421B6DA}" destId="{776A3251-E33E-4078-9525-A2B531F8573D}" srcOrd="7" destOrd="0" presId="urn:microsoft.com/office/officeart/2018/2/layout/IconVerticalSolidList"/>
    <dgm:cxn modelId="{B3241B62-796A-4D6E-9DA7-8EA8969CC849}" type="presParOf" srcId="{0A656FB6-5B96-4ADF-A447-8C8DC421B6DA}" destId="{5AB66B46-F9BF-4E91-A28D-CC0D8021E8D0}" srcOrd="8" destOrd="0" presId="urn:microsoft.com/office/officeart/2018/2/layout/IconVerticalSolidList"/>
    <dgm:cxn modelId="{5F23480D-1A77-4D8A-92DB-0FFA56572F42}" type="presParOf" srcId="{5AB66B46-F9BF-4E91-A28D-CC0D8021E8D0}" destId="{922429EA-7EC5-40C5-90C1-247A59A69A39}" srcOrd="0" destOrd="0" presId="urn:microsoft.com/office/officeart/2018/2/layout/IconVerticalSolidList"/>
    <dgm:cxn modelId="{C1A62BC9-D269-488F-9ADE-3CB6FA690C68}" type="presParOf" srcId="{5AB66B46-F9BF-4E91-A28D-CC0D8021E8D0}" destId="{30FAFC45-8BF2-467C-8287-08400416D18B}" srcOrd="1" destOrd="0" presId="urn:microsoft.com/office/officeart/2018/2/layout/IconVerticalSolidList"/>
    <dgm:cxn modelId="{876C6638-DC3C-4295-8429-E91917C0172F}" type="presParOf" srcId="{5AB66B46-F9BF-4E91-A28D-CC0D8021E8D0}" destId="{6BFC621B-7153-4AD1-AE04-C807EBA9FA74}" srcOrd="2" destOrd="0" presId="urn:microsoft.com/office/officeart/2018/2/layout/IconVerticalSolidList"/>
    <dgm:cxn modelId="{4051B071-B221-4011-8481-5E7A5467CE59}" type="presParOf" srcId="{5AB66B46-F9BF-4E91-A28D-CC0D8021E8D0}" destId="{AB313247-C970-4F68-92FB-01BEDFE889D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E0D52EC-9303-4A52-8DD1-9BECE8D5126B}"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F39E45F4-3BF2-40E2-B780-6006D0EBFB92}">
      <dgm:prSet/>
      <dgm:spPr/>
      <dgm:t>
        <a:bodyPr/>
        <a:lstStyle/>
        <a:p>
          <a:r>
            <a:rPr lang="en-US"/>
            <a:t>Key requirement for most IT applications</a:t>
          </a:r>
        </a:p>
      </dgm:t>
    </dgm:pt>
    <dgm:pt modelId="{D59689DA-B422-4282-9D82-B73747A83E6E}" type="parTrans" cxnId="{F9336950-4C00-4F69-BEE6-C6B969A0E999}">
      <dgm:prSet/>
      <dgm:spPr/>
      <dgm:t>
        <a:bodyPr/>
        <a:lstStyle/>
        <a:p>
          <a:endParaRPr lang="en-US"/>
        </a:p>
      </dgm:t>
    </dgm:pt>
    <dgm:pt modelId="{4D36F4EB-C07C-4A77-AC2C-F9F2486EDFC3}" type="sibTrans" cxnId="{F9336950-4C00-4F69-BEE6-C6B969A0E999}">
      <dgm:prSet/>
      <dgm:spPr/>
      <dgm:t>
        <a:bodyPr/>
        <a:lstStyle/>
        <a:p>
          <a:endParaRPr lang="en-US"/>
        </a:p>
      </dgm:t>
    </dgm:pt>
    <dgm:pt modelId="{F68D8140-E372-403A-9AF5-7B80F0B95F0A}">
      <dgm:prSet/>
      <dgm:spPr/>
      <dgm:t>
        <a:bodyPr/>
        <a:lstStyle/>
        <a:p>
          <a:r>
            <a:rPr lang="en-US"/>
            <a:t>Measured by the proportion of the required time it is useable. E.g.</a:t>
          </a:r>
        </a:p>
      </dgm:t>
    </dgm:pt>
    <dgm:pt modelId="{3D26C481-ADD7-4C7A-A2B5-C0A30CAC8668}" type="parTrans" cxnId="{296E4329-DCC5-4C1B-BB8D-D59EDA0CA7C3}">
      <dgm:prSet/>
      <dgm:spPr/>
      <dgm:t>
        <a:bodyPr/>
        <a:lstStyle/>
        <a:p>
          <a:endParaRPr lang="en-US"/>
        </a:p>
      </dgm:t>
    </dgm:pt>
    <dgm:pt modelId="{5F65E711-5192-405E-95A3-F0B66E9F85B5}" type="sibTrans" cxnId="{296E4329-DCC5-4C1B-BB8D-D59EDA0CA7C3}">
      <dgm:prSet/>
      <dgm:spPr/>
      <dgm:t>
        <a:bodyPr/>
        <a:lstStyle/>
        <a:p>
          <a:endParaRPr lang="en-US"/>
        </a:p>
      </dgm:t>
    </dgm:pt>
    <dgm:pt modelId="{70F18899-F048-498F-B72E-5E5757CFCD31}">
      <dgm:prSet/>
      <dgm:spPr/>
      <dgm:t>
        <a:bodyPr/>
        <a:lstStyle/>
        <a:p>
          <a:r>
            <a:rPr lang="en-US"/>
            <a:t>100% available during business hours</a:t>
          </a:r>
        </a:p>
      </dgm:t>
    </dgm:pt>
    <dgm:pt modelId="{0B68C941-E013-4A29-8EA1-411957F0A05E}" type="parTrans" cxnId="{F1BE848B-7777-4100-AEFD-DFCF82F2422E}">
      <dgm:prSet/>
      <dgm:spPr/>
      <dgm:t>
        <a:bodyPr/>
        <a:lstStyle/>
        <a:p>
          <a:endParaRPr lang="en-US"/>
        </a:p>
      </dgm:t>
    </dgm:pt>
    <dgm:pt modelId="{07D73C9F-56ED-4CA4-BE8F-F11131C9378C}" type="sibTrans" cxnId="{F1BE848B-7777-4100-AEFD-DFCF82F2422E}">
      <dgm:prSet/>
      <dgm:spPr/>
      <dgm:t>
        <a:bodyPr/>
        <a:lstStyle/>
        <a:p>
          <a:endParaRPr lang="en-US"/>
        </a:p>
      </dgm:t>
    </dgm:pt>
    <dgm:pt modelId="{A2328E59-94EF-4041-9036-AC8FC83D10F5}">
      <dgm:prSet/>
      <dgm:spPr/>
      <dgm:t>
        <a:bodyPr/>
        <a:lstStyle/>
        <a:p>
          <a:r>
            <a:rPr lang="en-US"/>
            <a:t>No more than 2 hours scheduled downtime per week</a:t>
          </a:r>
        </a:p>
      </dgm:t>
    </dgm:pt>
    <dgm:pt modelId="{4EEA3393-C10C-407B-A262-98AB75823AD2}" type="parTrans" cxnId="{CC85AE10-3823-4A90-8FC8-5BEA437A3E10}">
      <dgm:prSet/>
      <dgm:spPr/>
      <dgm:t>
        <a:bodyPr/>
        <a:lstStyle/>
        <a:p>
          <a:endParaRPr lang="en-US"/>
        </a:p>
      </dgm:t>
    </dgm:pt>
    <dgm:pt modelId="{738BE092-48CA-4E91-B384-C49995EDE5C8}" type="sibTrans" cxnId="{CC85AE10-3823-4A90-8FC8-5BEA437A3E10}">
      <dgm:prSet/>
      <dgm:spPr/>
      <dgm:t>
        <a:bodyPr/>
        <a:lstStyle/>
        <a:p>
          <a:endParaRPr lang="en-US"/>
        </a:p>
      </dgm:t>
    </dgm:pt>
    <dgm:pt modelId="{3C766272-2F48-44CD-977D-FA27D56BF954}">
      <dgm:prSet/>
      <dgm:spPr/>
      <dgm:t>
        <a:bodyPr/>
        <a:lstStyle/>
        <a:p>
          <a:r>
            <a:rPr lang="en-US"/>
            <a:t>24x7x52 (100% availability)</a:t>
          </a:r>
        </a:p>
      </dgm:t>
    </dgm:pt>
    <dgm:pt modelId="{E367F86F-94EA-4508-BE11-F431B6B34CB1}" type="parTrans" cxnId="{CB59F745-EFBF-4758-8532-ABFD39C447D7}">
      <dgm:prSet/>
      <dgm:spPr/>
      <dgm:t>
        <a:bodyPr/>
        <a:lstStyle/>
        <a:p>
          <a:endParaRPr lang="en-US"/>
        </a:p>
      </dgm:t>
    </dgm:pt>
    <dgm:pt modelId="{982E7BF4-B577-4777-823F-2264A076633F}" type="sibTrans" cxnId="{CB59F745-EFBF-4758-8532-ABFD39C447D7}">
      <dgm:prSet/>
      <dgm:spPr/>
      <dgm:t>
        <a:bodyPr/>
        <a:lstStyle/>
        <a:p>
          <a:endParaRPr lang="en-US"/>
        </a:p>
      </dgm:t>
    </dgm:pt>
    <dgm:pt modelId="{90217DDA-94A8-4839-96BA-861026FDB153}">
      <dgm:prSet/>
      <dgm:spPr/>
      <dgm:t>
        <a:bodyPr/>
        <a:lstStyle/>
        <a:p>
          <a:r>
            <a:rPr lang="en-US"/>
            <a:t>Related to an application</a:t>
          </a:r>
          <a:r>
            <a:rPr lang="ja-JP"/>
            <a:t>’</a:t>
          </a:r>
          <a:r>
            <a:rPr lang="en-US"/>
            <a:t>s reliability </a:t>
          </a:r>
        </a:p>
      </dgm:t>
    </dgm:pt>
    <dgm:pt modelId="{0433EAF1-06D0-4D83-B2CB-105535D1C382}" type="parTrans" cxnId="{248ED16C-3BD2-4515-8B6E-FA8563D8B220}">
      <dgm:prSet/>
      <dgm:spPr/>
      <dgm:t>
        <a:bodyPr/>
        <a:lstStyle/>
        <a:p>
          <a:endParaRPr lang="en-US"/>
        </a:p>
      </dgm:t>
    </dgm:pt>
    <dgm:pt modelId="{8A9A98F4-2395-4E11-9BC8-9CA45ADBF73B}" type="sibTrans" cxnId="{248ED16C-3BD2-4515-8B6E-FA8563D8B220}">
      <dgm:prSet/>
      <dgm:spPr/>
      <dgm:t>
        <a:bodyPr/>
        <a:lstStyle/>
        <a:p>
          <a:endParaRPr lang="en-US"/>
        </a:p>
      </dgm:t>
    </dgm:pt>
    <dgm:pt modelId="{4F5E6E4A-3696-4E99-AFC3-CEC76729ECDF}">
      <dgm:prSet/>
      <dgm:spPr/>
      <dgm:t>
        <a:bodyPr/>
        <a:lstStyle/>
        <a:p>
          <a:r>
            <a:rPr lang="en-US"/>
            <a:t>Unreliable applications suffer poor availability</a:t>
          </a:r>
        </a:p>
      </dgm:t>
    </dgm:pt>
    <dgm:pt modelId="{F3E10A4E-6071-41DF-93BA-AF104C0AF322}" type="parTrans" cxnId="{745B6C11-8016-40D7-BA11-BC0A762F72D7}">
      <dgm:prSet/>
      <dgm:spPr/>
      <dgm:t>
        <a:bodyPr/>
        <a:lstStyle/>
        <a:p>
          <a:endParaRPr lang="en-US"/>
        </a:p>
      </dgm:t>
    </dgm:pt>
    <dgm:pt modelId="{EEAAAC89-500D-4ED2-B48A-96DDDAA2D913}" type="sibTrans" cxnId="{745B6C11-8016-40D7-BA11-BC0A762F72D7}">
      <dgm:prSet/>
      <dgm:spPr/>
      <dgm:t>
        <a:bodyPr/>
        <a:lstStyle/>
        <a:p>
          <a:endParaRPr lang="en-US"/>
        </a:p>
      </dgm:t>
    </dgm:pt>
    <dgm:pt modelId="{F9648320-BCF4-497D-BDB0-4A5669413A00}" type="pres">
      <dgm:prSet presAssocID="{DE0D52EC-9303-4A52-8DD1-9BECE8D5126B}" presName="root" presStyleCnt="0">
        <dgm:presLayoutVars>
          <dgm:dir/>
          <dgm:resizeHandles val="exact"/>
        </dgm:presLayoutVars>
      </dgm:prSet>
      <dgm:spPr/>
    </dgm:pt>
    <dgm:pt modelId="{46268CB2-78F6-4426-90C7-BB722DD1B6F9}" type="pres">
      <dgm:prSet presAssocID="{F39E45F4-3BF2-40E2-B780-6006D0EBFB92}" presName="compNode" presStyleCnt="0"/>
      <dgm:spPr/>
    </dgm:pt>
    <dgm:pt modelId="{FAEC06CC-06D1-4EF8-9A87-6074D1D086AF}" type="pres">
      <dgm:prSet presAssocID="{F39E45F4-3BF2-40E2-B780-6006D0EBFB92}" presName="bgRect" presStyleLbl="bgShp" presStyleIdx="0" presStyleCnt="3"/>
      <dgm:spPr/>
    </dgm:pt>
    <dgm:pt modelId="{B94C49C7-6C73-453F-8F2C-99FF159B5248}" type="pres">
      <dgm:prSet presAssocID="{F39E45F4-3BF2-40E2-B780-6006D0EBFB9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ick"/>
        </a:ext>
      </dgm:extLst>
    </dgm:pt>
    <dgm:pt modelId="{C1916EFE-39EA-4BED-B7DC-81C6D228BE82}" type="pres">
      <dgm:prSet presAssocID="{F39E45F4-3BF2-40E2-B780-6006D0EBFB92}" presName="spaceRect" presStyleCnt="0"/>
      <dgm:spPr/>
    </dgm:pt>
    <dgm:pt modelId="{43080984-E8E4-4098-A708-3A71F8E5377B}" type="pres">
      <dgm:prSet presAssocID="{F39E45F4-3BF2-40E2-B780-6006D0EBFB92}" presName="parTx" presStyleLbl="revTx" presStyleIdx="0" presStyleCnt="5">
        <dgm:presLayoutVars>
          <dgm:chMax val="0"/>
          <dgm:chPref val="0"/>
        </dgm:presLayoutVars>
      </dgm:prSet>
      <dgm:spPr/>
    </dgm:pt>
    <dgm:pt modelId="{EF2B0C86-84A7-4755-BBB7-A21634B295C7}" type="pres">
      <dgm:prSet presAssocID="{4D36F4EB-C07C-4A77-AC2C-F9F2486EDFC3}" presName="sibTrans" presStyleCnt="0"/>
      <dgm:spPr/>
    </dgm:pt>
    <dgm:pt modelId="{58B76F88-2E7F-47C3-83E3-855C22EAACCD}" type="pres">
      <dgm:prSet presAssocID="{F68D8140-E372-403A-9AF5-7B80F0B95F0A}" presName="compNode" presStyleCnt="0"/>
      <dgm:spPr/>
    </dgm:pt>
    <dgm:pt modelId="{030AE39F-BCFC-4403-AECD-962844CAB98C}" type="pres">
      <dgm:prSet presAssocID="{F68D8140-E372-403A-9AF5-7B80F0B95F0A}" presName="bgRect" presStyleLbl="bgShp" presStyleIdx="1" presStyleCnt="3"/>
      <dgm:spPr/>
    </dgm:pt>
    <dgm:pt modelId="{E269A70F-4793-438F-ABBE-1CFC988AF42A}" type="pres">
      <dgm:prSet presAssocID="{F68D8140-E372-403A-9AF5-7B80F0B95F0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45046317-1D51-4690-A67D-B0F8FCA1587F}" type="pres">
      <dgm:prSet presAssocID="{F68D8140-E372-403A-9AF5-7B80F0B95F0A}" presName="spaceRect" presStyleCnt="0"/>
      <dgm:spPr/>
    </dgm:pt>
    <dgm:pt modelId="{E53DED9C-3986-4A4E-9963-43856200DFE1}" type="pres">
      <dgm:prSet presAssocID="{F68D8140-E372-403A-9AF5-7B80F0B95F0A}" presName="parTx" presStyleLbl="revTx" presStyleIdx="1" presStyleCnt="5">
        <dgm:presLayoutVars>
          <dgm:chMax val="0"/>
          <dgm:chPref val="0"/>
        </dgm:presLayoutVars>
      </dgm:prSet>
      <dgm:spPr/>
    </dgm:pt>
    <dgm:pt modelId="{B3368B02-88F7-4391-ABC5-0C0FD6A4E1DA}" type="pres">
      <dgm:prSet presAssocID="{F68D8140-E372-403A-9AF5-7B80F0B95F0A}" presName="desTx" presStyleLbl="revTx" presStyleIdx="2" presStyleCnt="5">
        <dgm:presLayoutVars/>
      </dgm:prSet>
      <dgm:spPr/>
    </dgm:pt>
    <dgm:pt modelId="{5341AA8D-DA9A-4268-8792-0BCF10652B1E}" type="pres">
      <dgm:prSet presAssocID="{5F65E711-5192-405E-95A3-F0B66E9F85B5}" presName="sibTrans" presStyleCnt="0"/>
      <dgm:spPr/>
    </dgm:pt>
    <dgm:pt modelId="{5364C181-8DDA-42F2-8308-9346BE54946E}" type="pres">
      <dgm:prSet presAssocID="{90217DDA-94A8-4839-96BA-861026FDB153}" presName="compNode" presStyleCnt="0"/>
      <dgm:spPr/>
    </dgm:pt>
    <dgm:pt modelId="{2F536FFA-6496-4077-8CED-AB3B5154D30D}" type="pres">
      <dgm:prSet presAssocID="{90217DDA-94A8-4839-96BA-861026FDB153}" presName="bgRect" presStyleLbl="bgShp" presStyleIdx="2" presStyleCnt="3"/>
      <dgm:spPr/>
    </dgm:pt>
    <dgm:pt modelId="{FA156B97-8682-4422-A085-553A851D3DA9}" type="pres">
      <dgm:prSet presAssocID="{90217DDA-94A8-4839-96BA-861026FDB15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arning"/>
        </a:ext>
      </dgm:extLst>
    </dgm:pt>
    <dgm:pt modelId="{61D33CF4-8BB7-4294-927F-9C037E62C037}" type="pres">
      <dgm:prSet presAssocID="{90217DDA-94A8-4839-96BA-861026FDB153}" presName="spaceRect" presStyleCnt="0"/>
      <dgm:spPr/>
    </dgm:pt>
    <dgm:pt modelId="{0DFF8BE2-BB10-4FAC-8154-9E884BF92A03}" type="pres">
      <dgm:prSet presAssocID="{90217DDA-94A8-4839-96BA-861026FDB153}" presName="parTx" presStyleLbl="revTx" presStyleIdx="3" presStyleCnt="5">
        <dgm:presLayoutVars>
          <dgm:chMax val="0"/>
          <dgm:chPref val="0"/>
        </dgm:presLayoutVars>
      </dgm:prSet>
      <dgm:spPr/>
    </dgm:pt>
    <dgm:pt modelId="{18F79F68-E646-4E69-906E-61513B45E871}" type="pres">
      <dgm:prSet presAssocID="{90217DDA-94A8-4839-96BA-861026FDB153}" presName="desTx" presStyleLbl="revTx" presStyleIdx="4" presStyleCnt="5">
        <dgm:presLayoutVars/>
      </dgm:prSet>
      <dgm:spPr/>
    </dgm:pt>
  </dgm:ptLst>
  <dgm:cxnLst>
    <dgm:cxn modelId="{7DC9D201-8355-48DA-A23B-3454C94022B4}" type="presOf" srcId="{F39E45F4-3BF2-40E2-B780-6006D0EBFB92}" destId="{43080984-E8E4-4098-A708-3A71F8E5377B}" srcOrd="0" destOrd="0" presId="urn:microsoft.com/office/officeart/2018/2/layout/IconVerticalSolidList"/>
    <dgm:cxn modelId="{7D431309-A54D-41BF-9C91-20018BEFF538}" type="presOf" srcId="{70F18899-F048-498F-B72E-5E5757CFCD31}" destId="{B3368B02-88F7-4391-ABC5-0C0FD6A4E1DA}" srcOrd="0" destOrd="0" presId="urn:microsoft.com/office/officeart/2018/2/layout/IconVerticalSolidList"/>
    <dgm:cxn modelId="{CC85AE10-3823-4A90-8FC8-5BEA437A3E10}" srcId="{F68D8140-E372-403A-9AF5-7B80F0B95F0A}" destId="{A2328E59-94EF-4041-9036-AC8FC83D10F5}" srcOrd="1" destOrd="0" parTransId="{4EEA3393-C10C-407B-A262-98AB75823AD2}" sibTransId="{738BE092-48CA-4E91-B384-C49995EDE5C8}"/>
    <dgm:cxn modelId="{745B6C11-8016-40D7-BA11-BC0A762F72D7}" srcId="{90217DDA-94A8-4839-96BA-861026FDB153}" destId="{4F5E6E4A-3696-4E99-AFC3-CEC76729ECDF}" srcOrd="0" destOrd="0" parTransId="{F3E10A4E-6071-41DF-93BA-AF104C0AF322}" sibTransId="{EEAAAC89-500D-4ED2-B48A-96DDDAA2D913}"/>
    <dgm:cxn modelId="{296E4329-DCC5-4C1B-BB8D-D59EDA0CA7C3}" srcId="{DE0D52EC-9303-4A52-8DD1-9BECE8D5126B}" destId="{F68D8140-E372-403A-9AF5-7B80F0B95F0A}" srcOrd="1" destOrd="0" parTransId="{3D26C481-ADD7-4C7A-A2B5-C0A30CAC8668}" sibTransId="{5F65E711-5192-405E-95A3-F0B66E9F85B5}"/>
    <dgm:cxn modelId="{3B948E45-48CD-4E57-8C92-A0687C34A9F5}" type="presOf" srcId="{3C766272-2F48-44CD-977D-FA27D56BF954}" destId="{B3368B02-88F7-4391-ABC5-0C0FD6A4E1DA}" srcOrd="0" destOrd="2" presId="urn:microsoft.com/office/officeart/2018/2/layout/IconVerticalSolidList"/>
    <dgm:cxn modelId="{CB59F745-EFBF-4758-8532-ABFD39C447D7}" srcId="{F68D8140-E372-403A-9AF5-7B80F0B95F0A}" destId="{3C766272-2F48-44CD-977D-FA27D56BF954}" srcOrd="2" destOrd="0" parTransId="{E367F86F-94EA-4508-BE11-F431B6B34CB1}" sibTransId="{982E7BF4-B577-4777-823F-2264A076633F}"/>
    <dgm:cxn modelId="{F9336950-4C00-4F69-BEE6-C6B969A0E999}" srcId="{DE0D52EC-9303-4A52-8DD1-9BECE8D5126B}" destId="{F39E45F4-3BF2-40E2-B780-6006D0EBFB92}" srcOrd="0" destOrd="0" parTransId="{D59689DA-B422-4282-9D82-B73747A83E6E}" sibTransId="{4D36F4EB-C07C-4A77-AC2C-F9F2486EDFC3}"/>
    <dgm:cxn modelId="{248ED16C-3BD2-4515-8B6E-FA8563D8B220}" srcId="{DE0D52EC-9303-4A52-8DD1-9BECE8D5126B}" destId="{90217DDA-94A8-4839-96BA-861026FDB153}" srcOrd="2" destOrd="0" parTransId="{0433EAF1-06D0-4D83-B2CB-105535D1C382}" sibTransId="{8A9A98F4-2395-4E11-9BC8-9CA45ADBF73B}"/>
    <dgm:cxn modelId="{56DE656D-8470-4DE4-9C66-3CD0893149C8}" type="presOf" srcId="{4F5E6E4A-3696-4E99-AFC3-CEC76729ECDF}" destId="{18F79F68-E646-4E69-906E-61513B45E871}" srcOrd="0" destOrd="0" presId="urn:microsoft.com/office/officeart/2018/2/layout/IconVerticalSolidList"/>
    <dgm:cxn modelId="{F3E93A74-0D69-4BEA-A21E-6E0946DE4ADD}" type="presOf" srcId="{90217DDA-94A8-4839-96BA-861026FDB153}" destId="{0DFF8BE2-BB10-4FAC-8154-9E884BF92A03}" srcOrd="0" destOrd="0" presId="urn:microsoft.com/office/officeart/2018/2/layout/IconVerticalSolidList"/>
    <dgm:cxn modelId="{A681487A-5316-41F9-9F71-44E6F3F514B3}" type="presOf" srcId="{A2328E59-94EF-4041-9036-AC8FC83D10F5}" destId="{B3368B02-88F7-4391-ABC5-0C0FD6A4E1DA}" srcOrd="0" destOrd="1" presId="urn:microsoft.com/office/officeart/2018/2/layout/IconVerticalSolidList"/>
    <dgm:cxn modelId="{E577E682-7946-4569-A821-950782698AE2}" type="presOf" srcId="{DE0D52EC-9303-4A52-8DD1-9BECE8D5126B}" destId="{F9648320-BCF4-497D-BDB0-4A5669413A00}" srcOrd="0" destOrd="0" presId="urn:microsoft.com/office/officeart/2018/2/layout/IconVerticalSolidList"/>
    <dgm:cxn modelId="{F1BE848B-7777-4100-AEFD-DFCF82F2422E}" srcId="{F68D8140-E372-403A-9AF5-7B80F0B95F0A}" destId="{70F18899-F048-498F-B72E-5E5757CFCD31}" srcOrd="0" destOrd="0" parTransId="{0B68C941-E013-4A29-8EA1-411957F0A05E}" sibTransId="{07D73C9F-56ED-4CA4-BE8F-F11131C9378C}"/>
    <dgm:cxn modelId="{393947F9-1D2A-44CD-ADF9-82E028852760}" type="presOf" srcId="{F68D8140-E372-403A-9AF5-7B80F0B95F0A}" destId="{E53DED9C-3986-4A4E-9963-43856200DFE1}" srcOrd="0" destOrd="0" presId="urn:microsoft.com/office/officeart/2018/2/layout/IconVerticalSolidList"/>
    <dgm:cxn modelId="{2E8F730A-7DAB-4F89-ADA5-D6FF3DCB9649}" type="presParOf" srcId="{F9648320-BCF4-497D-BDB0-4A5669413A00}" destId="{46268CB2-78F6-4426-90C7-BB722DD1B6F9}" srcOrd="0" destOrd="0" presId="urn:microsoft.com/office/officeart/2018/2/layout/IconVerticalSolidList"/>
    <dgm:cxn modelId="{F19350FF-47D1-4BCE-96B7-11F718169121}" type="presParOf" srcId="{46268CB2-78F6-4426-90C7-BB722DD1B6F9}" destId="{FAEC06CC-06D1-4EF8-9A87-6074D1D086AF}" srcOrd="0" destOrd="0" presId="urn:microsoft.com/office/officeart/2018/2/layout/IconVerticalSolidList"/>
    <dgm:cxn modelId="{BB44032A-C300-4B6D-AFA9-FBD8E03EAD5A}" type="presParOf" srcId="{46268CB2-78F6-4426-90C7-BB722DD1B6F9}" destId="{B94C49C7-6C73-453F-8F2C-99FF159B5248}" srcOrd="1" destOrd="0" presId="urn:microsoft.com/office/officeart/2018/2/layout/IconVerticalSolidList"/>
    <dgm:cxn modelId="{175B5962-ADCC-44FF-9910-8E5CB231E974}" type="presParOf" srcId="{46268CB2-78F6-4426-90C7-BB722DD1B6F9}" destId="{C1916EFE-39EA-4BED-B7DC-81C6D228BE82}" srcOrd="2" destOrd="0" presId="urn:microsoft.com/office/officeart/2018/2/layout/IconVerticalSolidList"/>
    <dgm:cxn modelId="{C5B7964D-8FBA-4335-8074-C5C84C41DB56}" type="presParOf" srcId="{46268CB2-78F6-4426-90C7-BB722DD1B6F9}" destId="{43080984-E8E4-4098-A708-3A71F8E5377B}" srcOrd="3" destOrd="0" presId="urn:microsoft.com/office/officeart/2018/2/layout/IconVerticalSolidList"/>
    <dgm:cxn modelId="{C4813697-D16F-4DE4-A921-CAFBED2C1F25}" type="presParOf" srcId="{F9648320-BCF4-497D-BDB0-4A5669413A00}" destId="{EF2B0C86-84A7-4755-BBB7-A21634B295C7}" srcOrd="1" destOrd="0" presId="urn:microsoft.com/office/officeart/2018/2/layout/IconVerticalSolidList"/>
    <dgm:cxn modelId="{17E6F3FD-C2A4-4CC1-A193-BF3FB75D6E43}" type="presParOf" srcId="{F9648320-BCF4-497D-BDB0-4A5669413A00}" destId="{58B76F88-2E7F-47C3-83E3-855C22EAACCD}" srcOrd="2" destOrd="0" presId="urn:microsoft.com/office/officeart/2018/2/layout/IconVerticalSolidList"/>
    <dgm:cxn modelId="{69712796-D66C-4C31-99BB-69BE15FD7BA3}" type="presParOf" srcId="{58B76F88-2E7F-47C3-83E3-855C22EAACCD}" destId="{030AE39F-BCFC-4403-AECD-962844CAB98C}" srcOrd="0" destOrd="0" presId="urn:microsoft.com/office/officeart/2018/2/layout/IconVerticalSolidList"/>
    <dgm:cxn modelId="{6EC4A0BD-6773-41A4-BE4B-0EB38ADFE18A}" type="presParOf" srcId="{58B76F88-2E7F-47C3-83E3-855C22EAACCD}" destId="{E269A70F-4793-438F-ABBE-1CFC988AF42A}" srcOrd="1" destOrd="0" presId="urn:microsoft.com/office/officeart/2018/2/layout/IconVerticalSolidList"/>
    <dgm:cxn modelId="{CA283F01-D9A7-40B1-8BC3-2A8E3AD00DE0}" type="presParOf" srcId="{58B76F88-2E7F-47C3-83E3-855C22EAACCD}" destId="{45046317-1D51-4690-A67D-B0F8FCA1587F}" srcOrd="2" destOrd="0" presId="urn:microsoft.com/office/officeart/2018/2/layout/IconVerticalSolidList"/>
    <dgm:cxn modelId="{D24EC0B4-B28C-47B5-BDFF-58BC34770C10}" type="presParOf" srcId="{58B76F88-2E7F-47C3-83E3-855C22EAACCD}" destId="{E53DED9C-3986-4A4E-9963-43856200DFE1}" srcOrd="3" destOrd="0" presId="urn:microsoft.com/office/officeart/2018/2/layout/IconVerticalSolidList"/>
    <dgm:cxn modelId="{16E8053C-AED9-4BCA-AD5E-2A8C085352A7}" type="presParOf" srcId="{58B76F88-2E7F-47C3-83E3-855C22EAACCD}" destId="{B3368B02-88F7-4391-ABC5-0C0FD6A4E1DA}" srcOrd="4" destOrd="0" presId="urn:microsoft.com/office/officeart/2018/2/layout/IconVerticalSolidList"/>
    <dgm:cxn modelId="{3E3E788A-7D95-4F64-A1C4-255191E8CF32}" type="presParOf" srcId="{F9648320-BCF4-497D-BDB0-4A5669413A00}" destId="{5341AA8D-DA9A-4268-8792-0BCF10652B1E}" srcOrd="3" destOrd="0" presId="urn:microsoft.com/office/officeart/2018/2/layout/IconVerticalSolidList"/>
    <dgm:cxn modelId="{0727456E-FF5E-43B9-8199-927B42F17A41}" type="presParOf" srcId="{F9648320-BCF4-497D-BDB0-4A5669413A00}" destId="{5364C181-8DDA-42F2-8308-9346BE54946E}" srcOrd="4" destOrd="0" presId="urn:microsoft.com/office/officeart/2018/2/layout/IconVerticalSolidList"/>
    <dgm:cxn modelId="{3813D5AC-DB4C-497D-814B-8F3D723026F2}" type="presParOf" srcId="{5364C181-8DDA-42F2-8308-9346BE54946E}" destId="{2F536FFA-6496-4077-8CED-AB3B5154D30D}" srcOrd="0" destOrd="0" presId="urn:microsoft.com/office/officeart/2018/2/layout/IconVerticalSolidList"/>
    <dgm:cxn modelId="{BF042BAE-1F3D-4ACE-86B4-780588D9F2D1}" type="presParOf" srcId="{5364C181-8DDA-42F2-8308-9346BE54946E}" destId="{FA156B97-8682-4422-A085-553A851D3DA9}" srcOrd="1" destOrd="0" presId="urn:microsoft.com/office/officeart/2018/2/layout/IconVerticalSolidList"/>
    <dgm:cxn modelId="{F6BB388E-6D94-459E-BA28-B7F1A08D919B}" type="presParOf" srcId="{5364C181-8DDA-42F2-8308-9346BE54946E}" destId="{61D33CF4-8BB7-4294-927F-9C037E62C037}" srcOrd="2" destOrd="0" presId="urn:microsoft.com/office/officeart/2018/2/layout/IconVerticalSolidList"/>
    <dgm:cxn modelId="{C3A4A85D-8C41-42C0-B77F-636FD0341933}" type="presParOf" srcId="{5364C181-8DDA-42F2-8308-9346BE54946E}" destId="{0DFF8BE2-BB10-4FAC-8154-9E884BF92A03}" srcOrd="3" destOrd="0" presId="urn:microsoft.com/office/officeart/2018/2/layout/IconVerticalSolidList"/>
    <dgm:cxn modelId="{86012B90-D747-44EF-9A64-71E43A1AF37C}" type="presParOf" srcId="{5364C181-8DDA-42F2-8308-9346BE54946E}" destId="{18F79F68-E646-4E69-906E-61513B45E871}"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FDF436B-F4E8-44F8-B06B-E124DFCB9B49}"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FF706974-9DB6-4400-A1AD-95A8EAD4FCEA}">
      <dgm:prSet/>
      <dgm:spPr/>
      <dgm:t>
        <a:bodyPr/>
        <a:lstStyle/>
        <a:p>
          <a:r>
            <a:rPr lang="en-US"/>
            <a:t>ease with which an application can be incorporated into a broader application context </a:t>
          </a:r>
        </a:p>
      </dgm:t>
    </dgm:pt>
    <dgm:pt modelId="{FEF8DFED-EE9D-4391-A7BD-6996772BCE21}" type="parTrans" cxnId="{81B1A14C-7A72-45F8-A8B4-3A118EC14648}">
      <dgm:prSet/>
      <dgm:spPr/>
      <dgm:t>
        <a:bodyPr/>
        <a:lstStyle/>
        <a:p>
          <a:endParaRPr lang="en-US"/>
        </a:p>
      </dgm:t>
    </dgm:pt>
    <dgm:pt modelId="{18AE0099-DD64-4850-BA48-49B370EB300C}" type="sibTrans" cxnId="{81B1A14C-7A72-45F8-A8B4-3A118EC14648}">
      <dgm:prSet/>
      <dgm:spPr/>
      <dgm:t>
        <a:bodyPr/>
        <a:lstStyle/>
        <a:p>
          <a:endParaRPr lang="en-US"/>
        </a:p>
      </dgm:t>
    </dgm:pt>
    <dgm:pt modelId="{06D229C8-8025-42F8-91D2-A665A0055EBD}">
      <dgm:prSet/>
      <dgm:spPr/>
      <dgm:t>
        <a:bodyPr/>
        <a:lstStyle/>
        <a:p>
          <a:r>
            <a:rPr lang="en-US"/>
            <a:t>Use component in ways that the designer did not originally anticipate </a:t>
          </a:r>
        </a:p>
      </dgm:t>
    </dgm:pt>
    <dgm:pt modelId="{AD683CE0-96D0-4709-AEEF-653BD61CDF46}" type="parTrans" cxnId="{82C17D6D-CA38-4233-A339-F8871D9702D2}">
      <dgm:prSet/>
      <dgm:spPr/>
      <dgm:t>
        <a:bodyPr/>
        <a:lstStyle/>
        <a:p>
          <a:endParaRPr lang="en-US"/>
        </a:p>
      </dgm:t>
    </dgm:pt>
    <dgm:pt modelId="{AF964384-2AB9-4326-A02B-5CCC17DBAA0A}" type="sibTrans" cxnId="{82C17D6D-CA38-4233-A339-F8871D9702D2}">
      <dgm:prSet/>
      <dgm:spPr/>
      <dgm:t>
        <a:bodyPr/>
        <a:lstStyle/>
        <a:p>
          <a:endParaRPr lang="en-US"/>
        </a:p>
      </dgm:t>
    </dgm:pt>
    <dgm:pt modelId="{87D1F868-15DF-4EE5-9801-CDAFBB390C2D}">
      <dgm:prSet/>
      <dgm:spPr/>
      <dgm:t>
        <a:bodyPr/>
        <a:lstStyle/>
        <a:p>
          <a:r>
            <a:rPr lang="en-US"/>
            <a:t>Typically achieved by:</a:t>
          </a:r>
        </a:p>
      </dgm:t>
    </dgm:pt>
    <dgm:pt modelId="{778DD981-401F-4582-A12D-3320BDBC4534}" type="parTrans" cxnId="{D940FBAC-0662-40C6-BC7E-17BF59CE1991}">
      <dgm:prSet/>
      <dgm:spPr/>
      <dgm:t>
        <a:bodyPr/>
        <a:lstStyle/>
        <a:p>
          <a:endParaRPr lang="en-US"/>
        </a:p>
      </dgm:t>
    </dgm:pt>
    <dgm:pt modelId="{BF92CB1C-8CA7-4444-AD4A-A1D099B05660}" type="sibTrans" cxnId="{D940FBAC-0662-40C6-BC7E-17BF59CE1991}">
      <dgm:prSet/>
      <dgm:spPr/>
      <dgm:t>
        <a:bodyPr/>
        <a:lstStyle/>
        <a:p>
          <a:endParaRPr lang="en-US"/>
        </a:p>
      </dgm:t>
    </dgm:pt>
    <dgm:pt modelId="{BB76A6AE-F540-4DD6-9173-14453066AC7C}">
      <dgm:prSet/>
      <dgm:spPr/>
      <dgm:t>
        <a:bodyPr/>
        <a:lstStyle/>
        <a:p>
          <a:r>
            <a:rPr lang="en-US"/>
            <a:t>Programmatic APIs</a:t>
          </a:r>
        </a:p>
      </dgm:t>
    </dgm:pt>
    <dgm:pt modelId="{2A83C296-39B7-46E8-B660-D097AA4CA6C0}" type="parTrans" cxnId="{70C10D12-18EC-4269-8EFB-B7CE0875525F}">
      <dgm:prSet/>
      <dgm:spPr/>
      <dgm:t>
        <a:bodyPr/>
        <a:lstStyle/>
        <a:p>
          <a:endParaRPr lang="en-US"/>
        </a:p>
      </dgm:t>
    </dgm:pt>
    <dgm:pt modelId="{009E22AF-053B-46C1-B9AF-69FFFDD79AEB}" type="sibTrans" cxnId="{70C10D12-18EC-4269-8EFB-B7CE0875525F}">
      <dgm:prSet/>
      <dgm:spPr/>
      <dgm:t>
        <a:bodyPr/>
        <a:lstStyle/>
        <a:p>
          <a:endParaRPr lang="en-US"/>
        </a:p>
      </dgm:t>
    </dgm:pt>
    <dgm:pt modelId="{AE3CCFA0-1444-4F7C-B1A4-E5C24EDE2285}">
      <dgm:prSet/>
      <dgm:spPr/>
      <dgm:t>
        <a:bodyPr/>
        <a:lstStyle/>
        <a:p>
          <a:r>
            <a:rPr lang="en-US"/>
            <a:t>Data integration</a:t>
          </a:r>
        </a:p>
      </dgm:t>
    </dgm:pt>
    <dgm:pt modelId="{F667C5C2-1517-4D2E-A0B7-EB6667446739}" type="parTrans" cxnId="{FA0277D6-D77F-4E04-89D1-9C2A7ADB6517}">
      <dgm:prSet/>
      <dgm:spPr/>
      <dgm:t>
        <a:bodyPr/>
        <a:lstStyle/>
        <a:p>
          <a:endParaRPr lang="en-US"/>
        </a:p>
      </dgm:t>
    </dgm:pt>
    <dgm:pt modelId="{CDA6D18E-547A-4DF5-9346-8AED25F84D8F}" type="sibTrans" cxnId="{FA0277D6-D77F-4E04-89D1-9C2A7ADB6517}">
      <dgm:prSet/>
      <dgm:spPr/>
      <dgm:t>
        <a:bodyPr/>
        <a:lstStyle/>
        <a:p>
          <a:endParaRPr lang="en-US"/>
        </a:p>
      </dgm:t>
    </dgm:pt>
    <dgm:pt modelId="{43B418A3-E207-4053-A54F-4FEF7C6EC700}" type="pres">
      <dgm:prSet presAssocID="{4FDF436B-F4E8-44F8-B06B-E124DFCB9B49}" presName="root" presStyleCnt="0">
        <dgm:presLayoutVars>
          <dgm:dir/>
          <dgm:resizeHandles val="exact"/>
        </dgm:presLayoutVars>
      </dgm:prSet>
      <dgm:spPr/>
    </dgm:pt>
    <dgm:pt modelId="{43108072-8006-46FD-8224-BAEF4C6CA603}" type="pres">
      <dgm:prSet presAssocID="{FF706974-9DB6-4400-A1AD-95A8EAD4FCEA}" presName="compNode" presStyleCnt="0"/>
      <dgm:spPr/>
    </dgm:pt>
    <dgm:pt modelId="{84F5C857-AB76-4FEE-A100-8B18FF5928EC}" type="pres">
      <dgm:prSet presAssocID="{FF706974-9DB6-4400-A1AD-95A8EAD4FCEA}" presName="bgRect" presStyleLbl="bgShp" presStyleIdx="0" presStyleCnt="2"/>
      <dgm:spPr/>
    </dgm:pt>
    <dgm:pt modelId="{13652D16-72C0-42CD-83CF-A490B552B655}" type="pres">
      <dgm:prSet presAssocID="{FF706974-9DB6-4400-A1AD-95A8EAD4FCE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 Bulb and Gear"/>
        </a:ext>
      </dgm:extLst>
    </dgm:pt>
    <dgm:pt modelId="{9231B1D7-3B32-42AC-9228-4524E5B22257}" type="pres">
      <dgm:prSet presAssocID="{FF706974-9DB6-4400-A1AD-95A8EAD4FCEA}" presName="spaceRect" presStyleCnt="0"/>
      <dgm:spPr/>
    </dgm:pt>
    <dgm:pt modelId="{93A2AFC8-DA94-449C-A460-22F9996181A0}" type="pres">
      <dgm:prSet presAssocID="{FF706974-9DB6-4400-A1AD-95A8EAD4FCEA}" presName="parTx" presStyleLbl="revTx" presStyleIdx="0" presStyleCnt="4">
        <dgm:presLayoutVars>
          <dgm:chMax val="0"/>
          <dgm:chPref val="0"/>
        </dgm:presLayoutVars>
      </dgm:prSet>
      <dgm:spPr/>
    </dgm:pt>
    <dgm:pt modelId="{28BAC7A7-51A5-439D-8475-F79BEA97D2D3}" type="pres">
      <dgm:prSet presAssocID="{FF706974-9DB6-4400-A1AD-95A8EAD4FCEA}" presName="desTx" presStyleLbl="revTx" presStyleIdx="1" presStyleCnt="4">
        <dgm:presLayoutVars/>
      </dgm:prSet>
      <dgm:spPr/>
    </dgm:pt>
    <dgm:pt modelId="{4DB7A9BF-32C0-4A27-928E-0A835C889DAE}" type="pres">
      <dgm:prSet presAssocID="{18AE0099-DD64-4850-BA48-49B370EB300C}" presName="sibTrans" presStyleCnt="0"/>
      <dgm:spPr/>
    </dgm:pt>
    <dgm:pt modelId="{ED674658-F1C5-4F0F-AC64-3502C5D3B918}" type="pres">
      <dgm:prSet presAssocID="{87D1F868-15DF-4EE5-9801-CDAFBB390C2D}" presName="compNode" presStyleCnt="0"/>
      <dgm:spPr/>
    </dgm:pt>
    <dgm:pt modelId="{289D0438-01BA-4B72-9B25-2D6D39FA784D}" type="pres">
      <dgm:prSet presAssocID="{87D1F868-15DF-4EE5-9801-CDAFBB390C2D}" presName="bgRect" presStyleLbl="bgShp" presStyleIdx="1" presStyleCnt="2"/>
      <dgm:spPr/>
    </dgm:pt>
    <dgm:pt modelId="{CC59650C-CAB2-4D86-ABE4-E371DCE84510}" type="pres">
      <dgm:prSet presAssocID="{87D1F868-15DF-4EE5-9801-CDAFBB390C2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58740417-9086-4BA6-A84E-68F19F7C01C8}" type="pres">
      <dgm:prSet presAssocID="{87D1F868-15DF-4EE5-9801-CDAFBB390C2D}" presName="spaceRect" presStyleCnt="0"/>
      <dgm:spPr/>
    </dgm:pt>
    <dgm:pt modelId="{E8124CDA-983A-4F3D-A036-E73F04D335C9}" type="pres">
      <dgm:prSet presAssocID="{87D1F868-15DF-4EE5-9801-CDAFBB390C2D}" presName="parTx" presStyleLbl="revTx" presStyleIdx="2" presStyleCnt="4">
        <dgm:presLayoutVars>
          <dgm:chMax val="0"/>
          <dgm:chPref val="0"/>
        </dgm:presLayoutVars>
      </dgm:prSet>
      <dgm:spPr/>
    </dgm:pt>
    <dgm:pt modelId="{360850AF-73CA-409F-B8D5-F607183723A8}" type="pres">
      <dgm:prSet presAssocID="{87D1F868-15DF-4EE5-9801-CDAFBB390C2D}" presName="desTx" presStyleLbl="revTx" presStyleIdx="3" presStyleCnt="4">
        <dgm:presLayoutVars/>
      </dgm:prSet>
      <dgm:spPr/>
    </dgm:pt>
  </dgm:ptLst>
  <dgm:cxnLst>
    <dgm:cxn modelId="{70C10D12-18EC-4269-8EFB-B7CE0875525F}" srcId="{87D1F868-15DF-4EE5-9801-CDAFBB390C2D}" destId="{BB76A6AE-F540-4DD6-9173-14453066AC7C}" srcOrd="0" destOrd="0" parTransId="{2A83C296-39B7-46E8-B660-D097AA4CA6C0}" sibTransId="{009E22AF-053B-46C1-B9AF-69FFFDD79AEB}"/>
    <dgm:cxn modelId="{4E95E23A-834A-4D57-8EFE-F285253FE09D}" type="presOf" srcId="{87D1F868-15DF-4EE5-9801-CDAFBB390C2D}" destId="{E8124CDA-983A-4F3D-A036-E73F04D335C9}" srcOrd="0" destOrd="0" presId="urn:microsoft.com/office/officeart/2018/2/layout/IconVerticalSolidList"/>
    <dgm:cxn modelId="{81B1A14C-7A72-45F8-A8B4-3A118EC14648}" srcId="{4FDF436B-F4E8-44F8-B06B-E124DFCB9B49}" destId="{FF706974-9DB6-4400-A1AD-95A8EAD4FCEA}" srcOrd="0" destOrd="0" parTransId="{FEF8DFED-EE9D-4391-A7BD-6996772BCE21}" sibTransId="{18AE0099-DD64-4850-BA48-49B370EB300C}"/>
    <dgm:cxn modelId="{671BC651-FA8E-43DF-8E91-E70FC8FFC22E}" type="presOf" srcId="{FF706974-9DB6-4400-A1AD-95A8EAD4FCEA}" destId="{93A2AFC8-DA94-449C-A460-22F9996181A0}" srcOrd="0" destOrd="0" presId="urn:microsoft.com/office/officeart/2018/2/layout/IconVerticalSolidList"/>
    <dgm:cxn modelId="{82C17D6D-CA38-4233-A339-F8871D9702D2}" srcId="{FF706974-9DB6-4400-A1AD-95A8EAD4FCEA}" destId="{06D229C8-8025-42F8-91D2-A665A0055EBD}" srcOrd="0" destOrd="0" parTransId="{AD683CE0-96D0-4709-AEEF-653BD61CDF46}" sibTransId="{AF964384-2AB9-4326-A02B-5CCC17DBAA0A}"/>
    <dgm:cxn modelId="{B3838E83-8574-4104-931C-F6907910C481}" type="presOf" srcId="{4FDF436B-F4E8-44F8-B06B-E124DFCB9B49}" destId="{43B418A3-E207-4053-A54F-4FEF7C6EC700}" srcOrd="0" destOrd="0" presId="urn:microsoft.com/office/officeart/2018/2/layout/IconVerticalSolidList"/>
    <dgm:cxn modelId="{D940FBAC-0662-40C6-BC7E-17BF59CE1991}" srcId="{4FDF436B-F4E8-44F8-B06B-E124DFCB9B49}" destId="{87D1F868-15DF-4EE5-9801-CDAFBB390C2D}" srcOrd="1" destOrd="0" parTransId="{778DD981-401F-4582-A12D-3320BDBC4534}" sibTransId="{BF92CB1C-8CA7-4444-AD4A-A1D099B05660}"/>
    <dgm:cxn modelId="{34F145B5-E91F-4DBC-995E-62A60E06515C}" type="presOf" srcId="{AE3CCFA0-1444-4F7C-B1A4-E5C24EDE2285}" destId="{360850AF-73CA-409F-B8D5-F607183723A8}" srcOrd="0" destOrd="1" presId="urn:microsoft.com/office/officeart/2018/2/layout/IconVerticalSolidList"/>
    <dgm:cxn modelId="{83C296C7-7751-48E4-B212-249FB78A3AFA}" type="presOf" srcId="{06D229C8-8025-42F8-91D2-A665A0055EBD}" destId="{28BAC7A7-51A5-439D-8475-F79BEA97D2D3}" srcOrd="0" destOrd="0" presId="urn:microsoft.com/office/officeart/2018/2/layout/IconVerticalSolidList"/>
    <dgm:cxn modelId="{FA0277D6-D77F-4E04-89D1-9C2A7ADB6517}" srcId="{87D1F868-15DF-4EE5-9801-CDAFBB390C2D}" destId="{AE3CCFA0-1444-4F7C-B1A4-E5C24EDE2285}" srcOrd="1" destOrd="0" parTransId="{F667C5C2-1517-4D2E-A0B7-EB6667446739}" sibTransId="{CDA6D18E-547A-4DF5-9346-8AED25F84D8F}"/>
    <dgm:cxn modelId="{9AC785E5-F2AB-4E3D-BC66-369211AED074}" type="presOf" srcId="{BB76A6AE-F540-4DD6-9173-14453066AC7C}" destId="{360850AF-73CA-409F-B8D5-F607183723A8}" srcOrd="0" destOrd="0" presId="urn:microsoft.com/office/officeart/2018/2/layout/IconVerticalSolidList"/>
    <dgm:cxn modelId="{39CD68D0-69A4-407C-AF6D-62D31BF179B6}" type="presParOf" srcId="{43B418A3-E207-4053-A54F-4FEF7C6EC700}" destId="{43108072-8006-46FD-8224-BAEF4C6CA603}" srcOrd="0" destOrd="0" presId="urn:microsoft.com/office/officeart/2018/2/layout/IconVerticalSolidList"/>
    <dgm:cxn modelId="{92F149A0-8C5A-4DB1-94E2-48B8F89E0458}" type="presParOf" srcId="{43108072-8006-46FD-8224-BAEF4C6CA603}" destId="{84F5C857-AB76-4FEE-A100-8B18FF5928EC}" srcOrd="0" destOrd="0" presId="urn:microsoft.com/office/officeart/2018/2/layout/IconVerticalSolidList"/>
    <dgm:cxn modelId="{74714B01-2714-41C9-B468-724FAFC1C5FA}" type="presParOf" srcId="{43108072-8006-46FD-8224-BAEF4C6CA603}" destId="{13652D16-72C0-42CD-83CF-A490B552B655}" srcOrd="1" destOrd="0" presId="urn:microsoft.com/office/officeart/2018/2/layout/IconVerticalSolidList"/>
    <dgm:cxn modelId="{C89C9C7D-33BA-4230-8A80-75972F9C6779}" type="presParOf" srcId="{43108072-8006-46FD-8224-BAEF4C6CA603}" destId="{9231B1D7-3B32-42AC-9228-4524E5B22257}" srcOrd="2" destOrd="0" presId="urn:microsoft.com/office/officeart/2018/2/layout/IconVerticalSolidList"/>
    <dgm:cxn modelId="{DB94D3C3-3F85-4636-A244-C3CB76F76B44}" type="presParOf" srcId="{43108072-8006-46FD-8224-BAEF4C6CA603}" destId="{93A2AFC8-DA94-449C-A460-22F9996181A0}" srcOrd="3" destOrd="0" presId="urn:microsoft.com/office/officeart/2018/2/layout/IconVerticalSolidList"/>
    <dgm:cxn modelId="{36763AD5-9A12-488E-8C1A-EFD0539BEA53}" type="presParOf" srcId="{43108072-8006-46FD-8224-BAEF4C6CA603}" destId="{28BAC7A7-51A5-439D-8475-F79BEA97D2D3}" srcOrd="4" destOrd="0" presId="urn:microsoft.com/office/officeart/2018/2/layout/IconVerticalSolidList"/>
    <dgm:cxn modelId="{5BD74D6F-D6D5-4CB5-97C1-D7AFF3EE2A01}" type="presParOf" srcId="{43B418A3-E207-4053-A54F-4FEF7C6EC700}" destId="{4DB7A9BF-32C0-4A27-928E-0A835C889DAE}" srcOrd="1" destOrd="0" presId="urn:microsoft.com/office/officeart/2018/2/layout/IconVerticalSolidList"/>
    <dgm:cxn modelId="{3AAB6B87-09FE-4FB7-8CD4-9E4FC631B56B}" type="presParOf" srcId="{43B418A3-E207-4053-A54F-4FEF7C6EC700}" destId="{ED674658-F1C5-4F0F-AC64-3502C5D3B918}" srcOrd="2" destOrd="0" presId="urn:microsoft.com/office/officeart/2018/2/layout/IconVerticalSolidList"/>
    <dgm:cxn modelId="{37CED9A4-90E7-4874-8D6B-192CCDE28036}" type="presParOf" srcId="{ED674658-F1C5-4F0F-AC64-3502C5D3B918}" destId="{289D0438-01BA-4B72-9B25-2D6D39FA784D}" srcOrd="0" destOrd="0" presId="urn:microsoft.com/office/officeart/2018/2/layout/IconVerticalSolidList"/>
    <dgm:cxn modelId="{E0B3C99A-862E-4795-9554-25139DDBF1A3}" type="presParOf" srcId="{ED674658-F1C5-4F0F-AC64-3502C5D3B918}" destId="{CC59650C-CAB2-4D86-ABE4-E371DCE84510}" srcOrd="1" destOrd="0" presId="urn:microsoft.com/office/officeart/2018/2/layout/IconVerticalSolidList"/>
    <dgm:cxn modelId="{F5BB9EE0-58D5-4144-9D06-8D8FAC79F5DA}" type="presParOf" srcId="{ED674658-F1C5-4F0F-AC64-3502C5D3B918}" destId="{58740417-9086-4BA6-A84E-68F19F7C01C8}" srcOrd="2" destOrd="0" presId="urn:microsoft.com/office/officeart/2018/2/layout/IconVerticalSolidList"/>
    <dgm:cxn modelId="{1E4CA8EB-BD22-4564-A38D-27DFD038F183}" type="presParOf" srcId="{ED674658-F1C5-4F0F-AC64-3502C5D3B918}" destId="{E8124CDA-983A-4F3D-A036-E73F04D335C9}" srcOrd="3" destOrd="0" presId="urn:microsoft.com/office/officeart/2018/2/layout/IconVerticalSolidList"/>
    <dgm:cxn modelId="{F27EAE77-3389-4EC6-8C86-59CF571DA41B}" type="presParOf" srcId="{ED674658-F1C5-4F0F-AC64-3502C5D3B918}" destId="{360850AF-73CA-409F-B8D5-F607183723A8}"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D6A9D74-F540-45D0-9B64-9417072935F5}" type="doc">
      <dgm:prSet loTypeId="urn:microsoft.com/office/officeart/2005/8/layout/vList5" loCatId="list" qsTypeId="urn:microsoft.com/office/officeart/2005/8/quickstyle/simple4" qsCatId="simple" csTypeId="urn:microsoft.com/office/officeart/2005/8/colors/accent3_2" csCatId="accent3" phldr="1"/>
      <dgm:spPr/>
      <dgm:t>
        <a:bodyPr/>
        <a:lstStyle/>
        <a:p>
          <a:endParaRPr lang="en-US"/>
        </a:p>
      </dgm:t>
    </dgm:pt>
    <dgm:pt modelId="{5AA67C8D-9236-40DE-810F-F72DDE80091F}">
      <dgm:prSet/>
      <dgm:spPr/>
      <dgm:t>
        <a:bodyPr/>
        <a:lstStyle/>
        <a:p>
          <a:r>
            <a:rPr lang="en-US"/>
            <a:t>.NET</a:t>
          </a:r>
        </a:p>
      </dgm:t>
    </dgm:pt>
    <dgm:pt modelId="{87E4D2F8-D444-4261-A2F0-48D1417EED8F}" type="parTrans" cxnId="{D7524A4D-982B-42D9-A45E-5D0B83E50673}">
      <dgm:prSet/>
      <dgm:spPr/>
      <dgm:t>
        <a:bodyPr/>
        <a:lstStyle/>
        <a:p>
          <a:endParaRPr lang="en-US"/>
        </a:p>
      </dgm:t>
    </dgm:pt>
    <dgm:pt modelId="{A6158570-5531-45E6-BE59-2AF320B25D25}" type="sibTrans" cxnId="{D7524A4D-982B-42D9-A45E-5D0B83E50673}">
      <dgm:prSet/>
      <dgm:spPr/>
      <dgm:t>
        <a:bodyPr/>
        <a:lstStyle/>
        <a:p>
          <a:endParaRPr lang="en-US"/>
        </a:p>
      </dgm:t>
    </dgm:pt>
    <dgm:pt modelId="{1D69E184-3B60-48AD-B25C-D7EF2C24AECF}">
      <dgm:prSet/>
      <dgm:spPr/>
      <dgm:t>
        <a:bodyPr/>
        <a:lstStyle/>
        <a:p>
          <a:r>
            <a:rPr lang="en-US"/>
            <a:t>ASP.NET MVC, MonoRail</a:t>
          </a:r>
        </a:p>
      </dgm:t>
    </dgm:pt>
    <dgm:pt modelId="{4124CA7D-1810-40FF-A509-D10A14592D06}" type="parTrans" cxnId="{A3C0E5FD-8E6F-46B8-B134-AA2079ED1D30}">
      <dgm:prSet/>
      <dgm:spPr/>
      <dgm:t>
        <a:bodyPr/>
        <a:lstStyle/>
        <a:p>
          <a:endParaRPr lang="en-US"/>
        </a:p>
      </dgm:t>
    </dgm:pt>
    <dgm:pt modelId="{8B11E4C6-023F-47A9-8C14-B9A7114B49FC}" type="sibTrans" cxnId="{A3C0E5FD-8E6F-46B8-B134-AA2079ED1D30}">
      <dgm:prSet/>
      <dgm:spPr/>
      <dgm:t>
        <a:bodyPr/>
        <a:lstStyle/>
        <a:p>
          <a:endParaRPr lang="en-US"/>
        </a:p>
      </dgm:t>
    </dgm:pt>
    <dgm:pt modelId="{C1C43971-8886-4109-8218-B9AF435589B0}">
      <dgm:prSet/>
      <dgm:spPr/>
      <dgm:t>
        <a:bodyPr/>
        <a:lstStyle/>
        <a:p>
          <a:r>
            <a:rPr lang="en-US"/>
            <a:t>Java</a:t>
          </a:r>
        </a:p>
      </dgm:t>
    </dgm:pt>
    <dgm:pt modelId="{B9A527AA-04D5-4FCF-BF1E-7BF48EF99BBD}" type="parTrans" cxnId="{562645B6-F9C2-483A-8046-68178C962724}">
      <dgm:prSet/>
      <dgm:spPr/>
      <dgm:t>
        <a:bodyPr/>
        <a:lstStyle/>
        <a:p>
          <a:endParaRPr lang="en-US"/>
        </a:p>
      </dgm:t>
    </dgm:pt>
    <dgm:pt modelId="{56EDE402-E39B-4B6A-A31E-644FBA0B3923}" type="sibTrans" cxnId="{562645B6-F9C2-483A-8046-68178C962724}">
      <dgm:prSet/>
      <dgm:spPr/>
      <dgm:t>
        <a:bodyPr/>
        <a:lstStyle/>
        <a:p>
          <a:endParaRPr lang="en-US"/>
        </a:p>
      </dgm:t>
    </dgm:pt>
    <dgm:pt modelId="{5B98BD34-DB54-4219-9B8C-19C7EF57AA65}">
      <dgm:prSet/>
      <dgm:spPr/>
      <dgm:t>
        <a:bodyPr/>
        <a:lstStyle/>
        <a:p>
          <a:r>
            <a:rPr lang="en-US"/>
            <a:t>JavaServer Faces (JSF), Struts, Spring Web MVC, Tapestry, JBoss Seam, Swing</a:t>
          </a:r>
        </a:p>
      </dgm:t>
    </dgm:pt>
    <dgm:pt modelId="{6220A4EE-4A13-4A86-80DA-049BF87AF886}" type="parTrans" cxnId="{758BAA61-B4A3-4D99-8081-F89C96B3659D}">
      <dgm:prSet/>
      <dgm:spPr/>
      <dgm:t>
        <a:bodyPr/>
        <a:lstStyle/>
        <a:p>
          <a:endParaRPr lang="en-US"/>
        </a:p>
      </dgm:t>
    </dgm:pt>
    <dgm:pt modelId="{0A68C8E9-8F47-4166-8D31-166A23934960}" type="sibTrans" cxnId="{758BAA61-B4A3-4D99-8081-F89C96B3659D}">
      <dgm:prSet/>
      <dgm:spPr/>
      <dgm:t>
        <a:bodyPr/>
        <a:lstStyle/>
        <a:p>
          <a:endParaRPr lang="en-US"/>
        </a:p>
      </dgm:t>
    </dgm:pt>
    <dgm:pt modelId="{EBE78299-B9E2-492A-82F9-89EFEA0B3359}">
      <dgm:prSet/>
      <dgm:spPr/>
      <dgm:t>
        <a:bodyPr/>
        <a:lstStyle/>
        <a:p>
          <a:r>
            <a:rPr lang="en-US"/>
            <a:t>PHP</a:t>
          </a:r>
        </a:p>
      </dgm:t>
    </dgm:pt>
    <dgm:pt modelId="{52C1DB37-6509-43CA-93B5-679D9699A4CE}" type="parTrans" cxnId="{CA39C99D-F059-4A7B-A8B5-C21F02CFFB55}">
      <dgm:prSet/>
      <dgm:spPr/>
      <dgm:t>
        <a:bodyPr/>
        <a:lstStyle/>
        <a:p>
          <a:endParaRPr lang="en-US"/>
        </a:p>
      </dgm:t>
    </dgm:pt>
    <dgm:pt modelId="{6F35A414-E7B0-4C1C-A0C8-96328AB49F32}" type="sibTrans" cxnId="{CA39C99D-F059-4A7B-A8B5-C21F02CFFB55}">
      <dgm:prSet/>
      <dgm:spPr/>
      <dgm:t>
        <a:bodyPr/>
        <a:lstStyle/>
        <a:p>
          <a:endParaRPr lang="en-US"/>
        </a:p>
      </dgm:t>
    </dgm:pt>
    <dgm:pt modelId="{C100F6B9-ADB6-4CD8-8269-665DFC65BDFA}">
      <dgm:prSet/>
      <dgm:spPr/>
      <dgm:t>
        <a:bodyPr/>
        <a:lstStyle/>
        <a:p>
          <a:r>
            <a:rPr lang="en-US"/>
            <a:t>CakePHP, Symfony, Zend</a:t>
          </a:r>
          <a:r>
            <a:rPr lang="bg-BG"/>
            <a:t>, </a:t>
          </a:r>
          <a:r>
            <a:rPr lang="en-US"/>
            <a:t>Joomla</a:t>
          </a:r>
          <a:r>
            <a:rPr lang="bg-BG"/>
            <a:t>, </a:t>
          </a:r>
          <a:r>
            <a:rPr lang="en-US"/>
            <a:t>Yii, Mojavi</a:t>
          </a:r>
        </a:p>
      </dgm:t>
    </dgm:pt>
    <dgm:pt modelId="{D75D29AF-6259-473B-B37C-CDC80C743A38}" type="parTrans" cxnId="{74299942-1021-4303-986E-51535AA8D73C}">
      <dgm:prSet/>
      <dgm:spPr/>
      <dgm:t>
        <a:bodyPr/>
        <a:lstStyle/>
        <a:p>
          <a:endParaRPr lang="en-US"/>
        </a:p>
      </dgm:t>
    </dgm:pt>
    <dgm:pt modelId="{A00D21DC-8C18-4D0F-A240-0EFF4BFF4DBB}" type="sibTrans" cxnId="{74299942-1021-4303-986E-51535AA8D73C}">
      <dgm:prSet/>
      <dgm:spPr/>
      <dgm:t>
        <a:bodyPr/>
        <a:lstStyle/>
        <a:p>
          <a:endParaRPr lang="en-US"/>
        </a:p>
      </dgm:t>
    </dgm:pt>
    <dgm:pt modelId="{2F21BF43-0F2E-4F27-A78A-A5D21881EE76}">
      <dgm:prSet/>
      <dgm:spPr/>
      <dgm:t>
        <a:bodyPr/>
        <a:lstStyle/>
        <a:p>
          <a:r>
            <a:rPr lang="en-US"/>
            <a:t>Python</a:t>
          </a:r>
        </a:p>
      </dgm:t>
    </dgm:pt>
    <dgm:pt modelId="{84934AC4-4850-433D-9360-2F15D401EF1C}" type="parTrans" cxnId="{BB0FB9A6-E6B9-4C93-9472-A55EAE0125CF}">
      <dgm:prSet/>
      <dgm:spPr/>
      <dgm:t>
        <a:bodyPr/>
        <a:lstStyle/>
        <a:p>
          <a:endParaRPr lang="en-US"/>
        </a:p>
      </dgm:t>
    </dgm:pt>
    <dgm:pt modelId="{479D8EDB-D4BF-4565-977A-76B8D10DB7D4}" type="sibTrans" cxnId="{BB0FB9A6-E6B9-4C93-9472-A55EAE0125CF}">
      <dgm:prSet/>
      <dgm:spPr/>
      <dgm:t>
        <a:bodyPr/>
        <a:lstStyle/>
        <a:p>
          <a:endParaRPr lang="en-US"/>
        </a:p>
      </dgm:t>
    </dgm:pt>
    <dgm:pt modelId="{7A6E50B0-3960-43CB-BE96-90F8DBEAB25B}">
      <dgm:prSet/>
      <dgm:spPr/>
      <dgm:t>
        <a:bodyPr/>
        <a:lstStyle/>
        <a:p>
          <a:r>
            <a:rPr lang="en-US"/>
            <a:t>Django, Zope Application Server, TurboGears</a:t>
          </a:r>
        </a:p>
      </dgm:t>
    </dgm:pt>
    <dgm:pt modelId="{4175B070-0017-4536-902A-8942B9908D04}" type="parTrans" cxnId="{04B61D46-48B0-4789-978B-14D7C95A890F}">
      <dgm:prSet/>
      <dgm:spPr/>
      <dgm:t>
        <a:bodyPr/>
        <a:lstStyle/>
        <a:p>
          <a:endParaRPr lang="en-US"/>
        </a:p>
      </dgm:t>
    </dgm:pt>
    <dgm:pt modelId="{BE6B24E4-DC2F-480B-8700-0F26AF36DCE3}" type="sibTrans" cxnId="{04B61D46-48B0-4789-978B-14D7C95A890F}">
      <dgm:prSet/>
      <dgm:spPr/>
      <dgm:t>
        <a:bodyPr/>
        <a:lstStyle/>
        <a:p>
          <a:endParaRPr lang="en-US"/>
        </a:p>
      </dgm:t>
    </dgm:pt>
    <dgm:pt modelId="{728A193F-1C12-49F7-A32E-352FE284CA70}">
      <dgm:prSet/>
      <dgm:spPr/>
      <dgm:t>
        <a:bodyPr/>
        <a:lstStyle/>
        <a:p>
          <a:r>
            <a:rPr lang="en-US"/>
            <a:t>Ruby on Rails</a:t>
          </a:r>
          <a:endParaRPr lang="en-US" dirty="0"/>
        </a:p>
      </dgm:t>
    </dgm:pt>
    <dgm:pt modelId="{86C703D5-8C0E-4BD3-AAF7-35430EE15A4D}" type="parTrans" cxnId="{4B81C37A-F181-4ECE-9037-477B3EEA18EB}">
      <dgm:prSet/>
      <dgm:spPr/>
      <dgm:t>
        <a:bodyPr/>
        <a:lstStyle/>
        <a:p>
          <a:endParaRPr lang="en-US"/>
        </a:p>
      </dgm:t>
    </dgm:pt>
    <dgm:pt modelId="{7F500327-6AD1-41BC-B0F2-A778686224A2}" type="sibTrans" cxnId="{4B81C37A-F181-4ECE-9037-477B3EEA18EB}">
      <dgm:prSet/>
      <dgm:spPr/>
      <dgm:t>
        <a:bodyPr/>
        <a:lstStyle/>
        <a:p>
          <a:endParaRPr lang="en-US"/>
        </a:p>
      </dgm:t>
    </dgm:pt>
    <dgm:pt modelId="{FF44BB6D-4F32-D14F-B27A-A1A3A10D49B5}">
      <dgm:prSet/>
      <dgm:spPr/>
      <dgm:t>
        <a:bodyPr/>
        <a:lstStyle/>
        <a:p>
          <a:r>
            <a:rPr lang="en-US"/>
            <a:t>Ruby on Rails</a:t>
          </a:r>
          <a:endParaRPr lang="en-US" dirty="0"/>
        </a:p>
      </dgm:t>
    </dgm:pt>
    <dgm:pt modelId="{241BA217-4101-F841-8D4C-623503A57E48}" type="parTrans" cxnId="{22ABD6A8-1DF4-EB48-8788-5F2252B1B8A7}">
      <dgm:prSet/>
      <dgm:spPr/>
      <dgm:t>
        <a:bodyPr/>
        <a:lstStyle/>
        <a:p>
          <a:endParaRPr lang="en-GB"/>
        </a:p>
      </dgm:t>
    </dgm:pt>
    <dgm:pt modelId="{C721867B-1DDF-3E46-99A6-F97EA02BA31A}" type="sibTrans" cxnId="{22ABD6A8-1DF4-EB48-8788-5F2252B1B8A7}">
      <dgm:prSet/>
      <dgm:spPr/>
      <dgm:t>
        <a:bodyPr/>
        <a:lstStyle/>
        <a:p>
          <a:endParaRPr lang="en-GB"/>
        </a:p>
      </dgm:t>
    </dgm:pt>
    <dgm:pt modelId="{CD1FC9B2-2558-0145-8D9D-EC4AAC3A60B3}" type="pres">
      <dgm:prSet presAssocID="{FD6A9D74-F540-45D0-9B64-9417072935F5}" presName="Name0" presStyleCnt="0">
        <dgm:presLayoutVars>
          <dgm:dir/>
          <dgm:animLvl val="lvl"/>
          <dgm:resizeHandles val="exact"/>
        </dgm:presLayoutVars>
      </dgm:prSet>
      <dgm:spPr/>
    </dgm:pt>
    <dgm:pt modelId="{223D51F3-77A2-DB47-ABFD-294A0EB7D826}" type="pres">
      <dgm:prSet presAssocID="{5AA67C8D-9236-40DE-810F-F72DDE80091F}" presName="linNode" presStyleCnt="0"/>
      <dgm:spPr/>
    </dgm:pt>
    <dgm:pt modelId="{E684424F-6F63-E342-B13E-3C9E1278DA52}" type="pres">
      <dgm:prSet presAssocID="{5AA67C8D-9236-40DE-810F-F72DDE80091F}" presName="parentText" presStyleLbl="node1" presStyleIdx="0" presStyleCnt="5">
        <dgm:presLayoutVars>
          <dgm:chMax val="1"/>
          <dgm:bulletEnabled val="1"/>
        </dgm:presLayoutVars>
      </dgm:prSet>
      <dgm:spPr/>
    </dgm:pt>
    <dgm:pt modelId="{2BC8858A-A960-814C-B28A-B6C664798A12}" type="pres">
      <dgm:prSet presAssocID="{5AA67C8D-9236-40DE-810F-F72DDE80091F}" presName="descendantText" presStyleLbl="alignAccFollowNode1" presStyleIdx="0" presStyleCnt="5">
        <dgm:presLayoutVars>
          <dgm:bulletEnabled val="1"/>
        </dgm:presLayoutVars>
      </dgm:prSet>
      <dgm:spPr/>
    </dgm:pt>
    <dgm:pt modelId="{A71DC030-30E3-444A-A7D1-78965284F0E0}" type="pres">
      <dgm:prSet presAssocID="{A6158570-5531-45E6-BE59-2AF320B25D25}" presName="sp" presStyleCnt="0"/>
      <dgm:spPr/>
    </dgm:pt>
    <dgm:pt modelId="{438FD5D6-6503-4B4D-AE4B-68ED053576CF}" type="pres">
      <dgm:prSet presAssocID="{C1C43971-8886-4109-8218-B9AF435589B0}" presName="linNode" presStyleCnt="0"/>
      <dgm:spPr/>
    </dgm:pt>
    <dgm:pt modelId="{2F16E492-B192-4043-A789-F40D24111D4D}" type="pres">
      <dgm:prSet presAssocID="{C1C43971-8886-4109-8218-B9AF435589B0}" presName="parentText" presStyleLbl="node1" presStyleIdx="1" presStyleCnt="5">
        <dgm:presLayoutVars>
          <dgm:chMax val="1"/>
          <dgm:bulletEnabled val="1"/>
        </dgm:presLayoutVars>
      </dgm:prSet>
      <dgm:spPr/>
    </dgm:pt>
    <dgm:pt modelId="{EE164DC8-E4CE-4D49-9C3D-FF49AD4E838A}" type="pres">
      <dgm:prSet presAssocID="{C1C43971-8886-4109-8218-B9AF435589B0}" presName="descendantText" presStyleLbl="alignAccFollowNode1" presStyleIdx="1" presStyleCnt="5">
        <dgm:presLayoutVars>
          <dgm:bulletEnabled val="1"/>
        </dgm:presLayoutVars>
      </dgm:prSet>
      <dgm:spPr/>
    </dgm:pt>
    <dgm:pt modelId="{ED6A0B2F-064B-6942-BCA7-B39D1F73E018}" type="pres">
      <dgm:prSet presAssocID="{56EDE402-E39B-4B6A-A31E-644FBA0B3923}" presName="sp" presStyleCnt="0"/>
      <dgm:spPr/>
    </dgm:pt>
    <dgm:pt modelId="{9190358B-B7B0-144C-823B-E757B27BA555}" type="pres">
      <dgm:prSet presAssocID="{EBE78299-B9E2-492A-82F9-89EFEA0B3359}" presName="linNode" presStyleCnt="0"/>
      <dgm:spPr/>
    </dgm:pt>
    <dgm:pt modelId="{CBD38066-E899-F641-8ADA-1CCC82932C97}" type="pres">
      <dgm:prSet presAssocID="{EBE78299-B9E2-492A-82F9-89EFEA0B3359}" presName="parentText" presStyleLbl="node1" presStyleIdx="2" presStyleCnt="5">
        <dgm:presLayoutVars>
          <dgm:chMax val="1"/>
          <dgm:bulletEnabled val="1"/>
        </dgm:presLayoutVars>
      </dgm:prSet>
      <dgm:spPr/>
    </dgm:pt>
    <dgm:pt modelId="{9748E661-2856-6548-B4E0-FD99A650F61C}" type="pres">
      <dgm:prSet presAssocID="{EBE78299-B9E2-492A-82F9-89EFEA0B3359}" presName="descendantText" presStyleLbl="alignAccFollowNode1" presStyleIdx="2" presStyleCnt="5">
        <dgm:presLayoutVars>
          <dgm:bulletEnabled val="1"/>
        </dgm:presLayoutVars>
      </dgm:prSet>
      <dgm:spPr/>
    </dgm:pt>
    <dgm:pt modelId="{0C050A13-9F0D-E34B-8E45-3F1E76631A42}" type="pres">
      <dgm:prSet presAssocID="{6F35A414-E7B0-4C1C-A0C8-96328AB49F32}" presName="sp" presStyleCnt="0"/>
      <dgm:spPr/>
    </dgm:pt>
    <dgm:pt modelId="{3118A479-BA00-B041-AFAA-DA45B9AA90BA}" type="pres">
      <dgm:prSet presAssocID="{2F21BF43-0F2E-4F27-A78A-A5D21881EE76}" presName="linNode" presStyleCnt="0"/>
      <dgm:spPr/>
    </dgm:pt>
    <dgm:pt modelId="{D58381F3-BC4F-A942-AE41-7DC5B81C8279}" type="pres">
      <dgm:prSet presAssocID="{2F21BF43-0F2E-4F27-A78A-A5D21881EE76}" presName="parentText" presStyleLbl="node1" presStyleIdx="3" presStyleCnt="5">
        <dgm:presLayoutVars>
          <dgm:chMax val="1"/>
          <dgm:bulletEnabled val="1"/>
        </dgm:presLayoutVars>
      </dgm:prSet>
      <dgm:spPr/>
    </dgm:pt>
    <dgm:pt modelId="{B86FEE03-8F98-444E-AECB-D4B75E1D3C4F}" type="pres">
      <dgm:prSet presAssocID="{2F21BF43-0F2E-4F27-A78A-A5D21881EE76}" presName="descendantText" presStyleLbl="alignAccFollowNode1" presStyleIdx="3" presStyleCnt="5">
        <dgm:presLayoutVars>
          <dgm:bulletEnabled val="1"/>
        </dgm:presLayoutVars>
      </dgm:prSet>
      <dgm:spPr/>
    </dgm:pt>
    <dgm:pt modelId="{7884CC4E-8CA8-3D4D-8242-C0F3A624FD12}" type="pres">
      <dgm:prSet presAssocID="{479D8EDB-D4BF-4565-977A-76B8D10DB7D4}" presName="sp" presStyleCnt="0"/>
      <dgm:spPr/>
    </dgm:pt>
    <dgm:pt modelId="{2E6735B7-3123-BD4E-8D96-7BB03AF5D1D5}" type="pres">
      <dgm:prSet presAssocID="{728A193F-1C12-49F7-A32E-352FE284CA70}" presName="linNode" presStyleCnt="0"/>
      <dgm:spPr/>
    </dgm:pt>
    <dgm:pt modelId="{24E747AB-96BA-FC4D-92E8-6885CC634F79}" type="pres">
      <dgm:prSet presAssocID="{728A193F-1C12-49F7-A32E-352FE284CA70}" presName="parentText" presStyleLbl="node1" presStyleIdx="4" presStyleCnt="5">
        <dgm:presLayoutVars>
          <dgm:chMax val="1"/>
          <dgm:bulletEnabled val="1"/>
        </dgm:presLayoutVars>
      </dgm:prSet>
      <dgm:spPr/>
    </dgm:pt>
    <dgm:pt modelId="{461FB9AE-8929-BF47-A629-3AF656045903}" type="pres">
      <dgm:prSet presAssocID="{728A193F-1C12-49F7-A32E-352FE284CA70}" presName="descendantText" presStyleLbl="alignAccFollowNode1" presStyleIdx="4" presStyleCnt="5">
        <dgm:presLayoutVars>
          <dgm:bulletEnabled val="1"/>
        </dgm:presLayoutVars>
      </dgm:prSet>
      <dgm:spPr/>
    </dgm:pt>
  </dgm:ptLst>
  <dgm:cxnLst>
    <dgm:cxn modelId="{FB182F31-D82E-0042-8D79-F55149C2157A}" type="presOf" srcId="{7A6E50B0-3960-43CB-BE96-90F8DBEAB25B}" destId="{B86FEE03-8F98-444E-AECB-D4B75E1D3C4F}" srcOrd="0" destOrd="0" presId="urn:microsoft.com/office/officeart/2005/8/layout/vList5"/>
    <dgm:cxn modelId="{74299942-1021-4303-986E-51535AA8D73C}" srcId="{EBE78299-B9E2-492A-82F9-89EFEA0B3359}" destId="{C100F6B9-ADB6-4CD8-8269-665DFC65BDFA}" srcOrd="0" destOrd="0" parTransId="{D75D29AF-6259-473B-B37C-CDC80C743A38}" sibTransId="{A00D21DC-8C18-4D0F-A240-0EFF4BFF4DBB}"/>
    <dgm:cxn modelId="{04B61D46-48B0-4789-978B-14D7C95A890F}" srcId="{2F21BF43-0F2E-4F27-A78A-A5D21881EE76}" destId="{7A6E50B0-3960-43CB-BE96-90F8DBEAB25B}" srcOrd="0" destOrd="0" parTransId="{4175B070-0017-4536-902A-8942B9908D04}" sibTransId="{BE6B24E4-DC2F-480B-8700-0F26AF36DCE3}"/>
    <dgm:cxn modelId="{D7524A4D-982B-42D9-A45E-5D0B83E50673}" srcId="{FD6A9D74-F540-45D0-9B64-9417072935F5}" destId="{5AA67C8D-9236-40DE-810F-F72DDE80091F}" srcOrd="0" destOrd="0" parTransId="{87E4D2F8-D444-4261-A2F0-48D1417EED8F}" sibTransId="{A6158570-5531-45E6-BE59-2AF320B25D25}"/>
    <dgm:cxn modelId="{5681D950-B660-6C4E-AE1C-54E4CB7D980F}" type="presOf" srcId="{EBE78299-B9E2-492A-82F9-89EFEA0B3359}" destId="{CBD38066-E899-F641-8ADA-1CCC82932C97}" srcOrd="0" destOrd="0" presId="urn:microsoft.com/office/officeart/2005/8/layout/vList5"/>
    <dgm:cxn modelId="{2C881351-B579-B744-A918-719D9F131A04}" type="presOf" srcId="{C1C43971-8886-4109-8218-B9AF435589B0}" destId="{2F16E492-B192-4043-A789-F40D24111D4D}" srcOrd="0" destOrd="0" presId="urn:microsoft.com/office/officeart/2005/8/layout/vList5"/>
    <dgm:cxn modelId="{179E1159-9F66-1844-81F3-DDA2C9F73A3C}" type="presOf" srcId="{5B98BD34-DB54-4219-9B8C-19C7EF57AA65}" destId="{EE164DC8-E4CE-4D49-9C3D-FF49AD4E838A}" srcOrd="0" destOrd="0" presId="urn:microsoft.com/office/officeart/2005/8/layout/vList5"/>
    <dgm:cxn modelId="{28D7965A-8FFB-1C44-9966-A778BA506A7C}" type="presOf" srcId="{FD6A9D74-F540-45D0-9B64-9417072935F5}" destId="{CD1FC9B2-2558-0145-8D9D-EC4AAC3A60B3}" srcOrd="0" destOrd="0" presId="urn:microsoft.com/office/officeart/2005/8/layout/vList5"/>
    <dgm:cxn modelId="{1EF6B75B-C70D-4F42-996B-A5ACEB101434}" type="presOf" srcId="{FF44BB6D-4F32-D14F-B27A-A1A3A10D49B5}" destId="{461FB9AE-8929-BF47-A629-3AF656045903}" srcOrd="0" destOrd="0" presId="urn:microsoft.com/office/officeart/2005/8/layout/vList5"/>
    <dgm:cxn modelId="{758BAA61-B4A3-4D99-8081-F89C96B3659D}" srcId="{C1C43971-8886-4109-8218-B9AF435589B0}" destId="{5B98BD34-DB54-4219-9B8C-19C7EF57AA65}" srcOrd="0" destOrd="0" parTransId="{6220A4EE-4A13-4A86-80DA-049BF87AF886}" sibTransId="{0A68C8E9-8F47-4166-8D31-166A23934960}"/>
    <dgm:cxn modelId="{4B81C37A-F181-4ECE-9037-477B3EEA18EB}" srcId="{FD6A9D74-F540-45D0-9B64-9417072935F5}" destId="{728A193F-1C12-49F7-A32E-352FE284CA70}" srcOrd="4" destOrd="0" parTransId="{86C703D5-8C0E-4BD3-AAF7-35430EE15A4D}" sibTransId="{7F500327-6AD1-41BC-B0F2-A778686224A2}"/>
    <dgm:cxn modelId="{E8E1F58A-9B04-204F-A8AE-019812898061}" type="presOf" srcId="{C100F6B9-ADB6-4CD8-8269-665DFC65BDFA}" destId="{9748E661-2856-6548-B4E0-FD99A650F61C}" srcOrd="0" destOrd="0" presId="urn:microsoft.com/office/officeart/2005/8/layout/vList5"/>
    <dgm:cxn modelId="{CA39C99D-F059-4A7B-A8B5-C21F02CFFB55}" srcId="{FD6A9D74-F540-45D0-9B64-9417072935F5}" destId="{EBE78299-B9E2-492A-82F9-89EFEA0B3359}" srcOrd="2" destOrd="0" parTransId="{52C1DB37-6509-43CA-93B5-679D9699A4CE}" sibTransId="{6F35A414-E7B0-4C1C-A0C8-96328AB49F32}"/>
    <dgm:cxn modelId="{0E93FEA3-8DC6-EA47-B7CC-B359B906F6FE}" type="presOf" srcId="{1D69E184-3B60-48AD-B25C-D7EF2C24AECF}" destId="{2BC8858A-A960-814C-B28A-B6C664798A12}" srcOrd="0" destOrd="0" presId="urn:microsoft.com/office/officeart/2005/8/layout/vList5"/>
    <dgm:cxn modelId="{BB0FB9A6-E6B9-4C93-9472-A55EAE0125CF}" srcId="{FD6A9D74-F540-45D0-9B64-9417072935F5}" destId="{2F21BF43-0F2E-4F27-A78A-A5D21881EE76}" srcOrd="3" destOrd="0" parTransId="{84934AC4-4850-433D-9360-2F15D401EF1C}" sibTransId="{479D8EDB-D4BF-4565-977A-76B8D10DB7D4}"/>
    <dgm:cxn modelId="{22ABD6A8-1DF4-EB48-8788-5F2252B1B8A7}" srcId="{728A193F-1C12-49F7-A32E-352FE284CA70}" destId="{FF44BB6D-4F32-D14F-B27A-A1A3A10D49B5}" srcOrd="0" destOrd="0" parTransId="{241BA217-4101-F841-8D4C-623503A57E48}" sibTransId="{C721867B-1DDF-3E46-99A6-F97EA02BA31A}"/>
    <dgm:cxn modelId="{AD88A4AF-63AE-2D4E-AE16-8EB866BD6B87}" type="presOf" srcId="{2F21BF43-0F2E-4F27-A78A-A5D21881EE76}" destId="{D58381F3-BC4F-A942-AE41-7DC5B81C8279}" srcOrd="0" destOrd="0" presId="urn:microsoft.com/office/officeart/2005/8/layout/vList5"/>
    <dgm:cxn modelId="{88CABDB0-31A9-5C49-8A60-66B7FACF508C}" type="presOf" srcId="{728A193F-1C12-49F7-A32E-352FE284CA70}" destId="{24E747AB-96BA-FC4D-92E8-6885CC634F79}" srcOrd="0" destOrd="0" presId="urn:microsoft.com/office/officeart/2005/8/layout/vList5"/>
    <dgm:cxn modelId="{562645B6-F9C2-483A-8046-68178C962724}" srcId="{FD6A9D74-F540-45D0-9B64-9417072935F5}" destId="{C1C43971-8886-4109-8218-B9AF435589B0}" srcOrd="1" destOrd="0" parTransId="{B9A527AA-04D5-4FCF-BF1E-7BF48EF99BBD}" sibTransId="{56EDE402-E39B-4B6A-A31E-644FBA0B3923}"/>
    <dgm:cxn modelId="{0C9AADCB-092A-784D-8C08-67DB1BB249BC}" type="presOf" srcId="{5AA67C8D-9236-40DE-810F-F72DDE80091F}" destId="{E684424F-6F63-E342-B13E-3C9E1278DA52}" srcOrd="0" destOrd="0" presId="urn:microsoft.com/office/officeart/2005/8/layout/vList5"/>
    <dgm:cxn modelId="{A3C0E5FD-8E6F-46B8-B134-AA2079ED1D30}" srcId="{5AA67C8D-9236-40DE-810F-F72DDE80091F}" destId="{1D69E184-3B60-48AD-B25C-D7EF2C24AECF}" srcOrd="0" destOrd="0" parTransId="{4124CA7D-1810-40FF-A509-D10A14592D06}" sibTransId="{8B11E4C6-023F-47A9-8C14-B9A7114B49FC}"/>
    <dgm:cxn modelId="{4F5684F0-926D-D442-BB7E-93E69DF066B4}" type="presParOf" srcId="{CD1FC9B2-2558-0145-8D9D-EC4AAC3A60B3}" destId="{223D51F3-77A2-DB47-ABFD-294A0EB7D826}" srcOrd="0" destOrd="0" presId="urn:microsoft.com/office/officeart/2005/8/layout/vList5"/>
    <dgm:cxn modelId="{F1A320E5-C0E0-EC41-A81E-D3EB80E8385A}" type="presParOf" srcId="{223D51F3-77A2-DB47-ABFD-294A0EB7D826}" destId="{E684424F-6F63-E342-B13E-3C9E1278DA52}" srcOrd="0" destOrd="0" presId="urn:microsoft.com/office/officeart/2005/8/layout/vList5"/>
    <dgm:cxn modelId="{EEB15D75-5A3C-E542-BAE5-3D5B9264E725}" type="presParOf" srcId="{223D51F3-77A2-DB47-ABFD-294A0EB7D826}" destId="{2BC8858A-A960-814C-B28A-B6C664798A12}" srcOrd="1" destOrd="0" presId="urn:microsoft.com/office/officeart/2005/8/layout/vList5"/>
    <dgm:cxn modelId="{8EAB76BF-9181-4E44-B2CF-50CAF2DEAF00}" type="presParOf" srcId="{CD1FC9B2-2558-0145-8D9D-EC4AAC3A60B3}" destId="{A71DC030-30E3-444A-A7D1-78965284F0E0}" srcOrd="1" destOrd="0" presId="urn:microsoft.com/office/officeart/2005/8/layout/vList5"/>
    <dgm:cxn modelId="{BE3A01AA-F729-FF4B-841B-D2DE1AED6CE1}" type="presParOf" srcId="{CD1FC9B2-2558-0145-8D9D-EC4AAC3A60B3}" destId="{438FD5D6-6503-4B4D-AE4B-68ED053576CF}" srcOrd="2" destOrd="0" presId="urn:microsoft.com/office/officeart/2005/8/layout/vList5"/>
    <dgm:cxn modelId="{4B9AC446-2018-2C4C-B7BD-0C6E2BF56ABF}" type="presParOf" srcId="{438FD5D6-6503-4B4D-AE4B-68ED053576CF}" destId="{2F16E492-B192-4043-A789-F40D24111D4D}" srcOrd="0" destOrd="0" presId="urn:microsoft.com/office/officeart/2005/8/layout/vList5"/>
    <dgm:cxn modelId="{E97B933B-73B2-F34A-988E-FF9ABC09F312}" type="presParOf" srcId="{438FD5D6-6503-4B4D-AE4B-68ED053576CF}" destId="{EE164DC8-E4CE-4D49-9C3D-FF49AD4E838A}" srcOrd="1" destOrd="0" presId="urn:microsoft.com/office/officeart/2005/8/layout/vList5"/>
    <dgm:cxn modelId="{F38D0C30-AEEC-7645-A526-152DBE6C0124}" type="presParOf" srcId="{CD1FC9B2-2558-0145-8D9D-EC4AAC3A60B3}" destId="{ED6A0B2F-064B-6942-BCA7-B39D1F73E018}" srcOrd="3" destOrd="0" presId="urn:microsoft.com/office/officeart/2005/8/layout/vList5"/>
    <dgm:cxn modelId="{8CB799BF-DBE2-4949-9BD3-057B722B78E4}" type="presParOf" srcId="{CD1FC9B2-2558-0145-8D9D-EC4AAC3A60B3}" destId="{9190358B-B7B0-144C-823B-E757B27BA555}" srcOrd="4" destOrd="0" presId="urn:microsoft.com/office/officeart/2005/8/layout/vList5"/>
    <dgm:cxn modelId="{9DAA173B-6E62-8F4F-AE82-444FCABADC7C}" type="presParOf" srcId="{9190358B-B7B0-144C-823B-E757B27BA555}" destId="{CBD38066-E899-F641-8ADA-1CCC82932C97}" srcOrd="0" destOrd="0" presId="urn:microsoft.com/office/officeart/2005/8/layout/vList5"/>
    <dgm:cxn modelId="{9C3703C2-C3C9-A247-A8A9-EAFD2040AB3A}" type="presParOf" srcId="{9190358B-B7B0-144C-823B-E757B27BA555}" destId="{9748E661-2856-6548-B4E0-FD99A650F61C}" srcOrd="1" destOrd="0" presId="urn:microsoft.com/office/officeart/2005/8/layout/vList5"/>
    <dgm:cxn modelId="{C2052672-FDB4-5C44-BBA1-18C03C42FAD6}" type="presParOf" srcId="{CD1FC9B2-2558-0145-8D9D-EC4AAC3A60B3}" destId="{0C050A13-9F0D-E34B-8E45-3F1E76631A42}" srcOrd="5" destOrd="0" presId="urn:microsoft.com/office/officeart/2005/8/layout/vList5"/>
    <dgm:cxn modelId="{87095704-C33B-2442-88C4-C902577E838F}" type="presParOf" srcId="{CD1FC9B2-2558-0145-8D9D-EC4AAC3A60B3}" destId="{3118A479-BA00-B041-AFAA-DA45B9AA90BA}" srcOrd="6" destOrd="0" presId="urn:microsoft.com/office/officeart/2005/8/layout/vList5"/>
    <dgm:cxn modelId="{F7A8A175-A29F-A843-9115-EDC080EE0FC2}" type="presParOf" srcId="{3118A479-BA00-B041-AFAA-DA45B9AA90BA}" destId="{D58381F3-BC4F-A942-AE41-7DC5B81C8279}" srcOrd="0" destOrd="0" presId="urn:microsoft.com/office/officeart/2005/8/layout/vList5"/>
    <dgm:cxn modelId="{A373F47D-4923-1344-A7BE-E3486EE20FBD}" type="presParOf" srcId="{3118A479-BA00-B041-AFAA-DA45B9AA90BA}" destId="{B86FEE03-8F98-444E-AECB-D4B75E1D3C4F}" srcOrd="1" destOrd="0" presId="urn:microsoft.com/office/officeart/2005/8/layout/vList5"/>
    <dgm:cxn modelId="{E4B2BA32-C84C-984B-96DC-3CA1E379C596}" type="presParOf" srcId="{CD1FC9B2-2558-0145-8D9D-EC4AAC3A60B3}" destId="{7884CC4E-8CA8-3D4D-8242-C0F3A624FD12}" srcOrd="7" destOrd="0" presId="urn:microsoft.com/office/officeart/2005/8/layout/vList5"/>
    <dgm:cxn modelId="{0CAB918C-E15D-4D49-8169-A603F1AE6376}" type="presParOf" srcId="{CD1FC9B2-2558-0145-8D9D-EC4AAC3A60B3}" destId="{2E6735B7-3123-BD4E-8D96-7BB03AF5D1D5}" srcOrd="8" destOrd="0" presId="urn:microsoft.com/office/officeart/2005/8/layout/vList5"/>
    <dgm:cxn modelId="{42C1953A-62D8-C449-B237-9553AA492F10}" type="presParOf" srcId="{2E6735B7-3123-BD4E-8D96-7BB03AF5D1D5}" destId="{24E747AB-96BA-FC4D-92E8-6885CC634F79}" srcOrd="0" destOrd="0" presId="urn:microsoft.com/office/officeart/2005/8/layout/vList5"/>
    <dgm:cxn modelId="{BD2F786C-765A-5448-9748-077629672CF7}" type="presParOf" srcId="{2E6735B7-3123-BD4E-8D96-7BB03AF5D1D5}" destId="{461FB9AE-8929-BF47-A629-3AF656045903}"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EA667F-C475-4013-A465-C070922B59F2}">
      <dsp:nvSpPr>
        <dsp:cNvPr id="0" name=""/>
        <dsp:cNvSpPr/>
      </dsp:nvSpPr>
      <dsp:spPr>
        <a:xfrm>
          <a:off x="0" y="735468"/>
          <a:ext cx="82296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7D5D15-6515-4B39-B711-3A00BBE40EC0}">
      <dsp:nvSpPr>
        <dsp:cNvPr id="0" name=""/>
        <dsp:cNvSpPr/>
      </dsp:nvSpPr>
      <dsp:spPr>
        <a:xfrm>
          <a:off x="410731" y="1040971"/>
          <a:ext cx="746783" cy="7467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8134E17-9226-414D-A0B9-A17B027DEE46}">
      <dsp:nvSpPr>
        <dsp:cNvPr id="0" name=""/>
        <dsp:cNvSpPr/>
      </dsp:nvSpPr>
      <dsp:spPr>
        <a:xfrm>
          <a:off x="1568246" y="735468"/>
          <a:ext cx="3703320"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800100">
            <a:lnSpc>
              <a:spcPct val="90000"/>
            </a:lnSpc>
            <a:spcBef>
              <a:spcPct val="0"/>
            </a:spcBef>
            <a:spcAft>
              <a:spcPct val="35000"/>
            </a:spcAft>
            <a:buNone/>
          </a:pPr>
          <a:r>
            <a:rPr lang="en-US" sz="1800" kern="1200"/>
            <a:t>It</a:t>
          </a:r>
          <a:r>
            <a:rPr lang="ja-JP" sz="1800" kern="1200"/>
            <a:t>’</a:t>
          </a:r>
          <a:r>
            <a:rPr lang="en-US" sz="1800" kern="1200"/>
            <a:t>s about software design</a:t>
          </a:r>
        </a:p>
      </dsp:txBody>
      <dsp:txXfrm>
        <a:off x="1568246" y="735468"/>
        <a:ext cx="3703320" cy="1357788"/>
      </dsp:txXfrm>
    </dsp:sp>
    <dsp:sp modelId="{1CBDD604-E207-4737-911B-C29C8B569983}">
      <dsp:nvSpPr>
        <dsp:cNvPr id="0" name=""/>
        <dsp:cNvSpPr/>
      </dsp:nvSpPr>
      <dsp:spPr>
        <a:xfrm>
          <a:off x="5271566" y="735468"/>
          <a:ext cx="295803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577850">
            <a:lnSpc>
              <a:spcPct val="90000"/>
            </a:lnSpc>
            <a:spcBef>
              <a:spcPct val="0"/>
            </a:spcBef>
            <a:spcAft>
              <a:spcPct val="35000"/>
            </a:spcAft>
            <a:buNone/>
          </a:pPr>
          <a:r>
            <a:rPr lang="en-US" sz="1300" kern="1200"/>
            <a:t>All architecture is software design, but not all design is software architecture</a:t>
          </a:r>
        </a:p>
        <a:p>
          <a:pPr marL="0" lvl="0" indent="0" algn="l" defTabSz="577850">
            <a:lnSpc>
              <a:spcPct val="90000"/>
            </a:lnSpc>
            <a:spcBef>
              <a:spcPct val="0"/>
            </a:spcBef>
            <a:spcAft>
              <a:spcPct val="35000"/>
            </a:spcAft>
            <a:buNone/>
          </a:pPr>
          <a:r>
            <a:rPr lang="en-US" sz="1300" kern="1200"/>
            <a:t>Part of the design process</a:t>
          </a:r>
        </a:p>
      </dsp:txBody>
      <dsp:txXfrm>
        <a:off x="5271566" y="735468"/>
        <a:ext cx="2958033" cy="1357788"/>
      </dsp:txXfrm>
    </dsp:sp>
    <dsp:sp modelId="{E92B41A6-D62B-41DE-ACBD-4557663401DA}">
      <dsp:nvSpPr>
        <dsp:cNvPr id="0" name=""/>
        <dsp:cNvSpPr/>
      </dsp:nvSpPr>
      <dsp:spPr>
        <a:xfrm>
          <a:off x="0" y="2432705"/>
          <a:ext cx="82296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1D20CF-4678-485F-A649-E954E856D1B6}">
      <dsp:nvSpPr>
        <dsp:cNvPr id="0" name=""/>
        <dsp:cNvSpPr/>
      </dsp:nvSpPr>
      <dsp:spPr>
        <a:xfrm>
          <a:off x="410731" y="2738207"/>
          <a:ext cx="746783" cy="7467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C643C4A-C3AA-4AB4-84E5-CD24EDC33D5B}">
      <dsp:nvSpPr>
        <dsp:cNvPr id="0" name=""/>
        <dsp:cNvSpPr/>
      </dsp:nvSpPr>
      <dsp:spPr>
        <a:xfrm>
          <a:off x="1568246" y="2432705"/>
          <a:ext cx="3703320"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800100">
            <a:lnSpc>
              <a:spcPct val="90000"/>
            </a:lnSpc>
            <a:spcBef>
              <a:spcPct val="0"/>
            </a:spcBef>
            <a:spcAft>
              <a:spcPct val="35000"/>
            </a:spcAft>
            <a:buNone/>
          </a:pPr>
          <a:r>
            <a:rPr lang="en-US" sz="1800" kern="1200"/>
            <a:t>Simply, architecture focuses on </a:t>
          </a:r>
          <a:r>
            <a:rPr lang="ja-JP" sz="1800" kern="1200"/>
            <a:t>‘</a:t>
          </a:r>
          <a:r>
            <a:rPr lang="en-US" sz="1800" kern="1200"/>
            <a:t>issues that will be difficult/impossible to change once the system is built</a:t>
          </a:r>
          <a:r>
            <a:rPr lang="ja-JP" sz="1800" kern="1200"/>
            <a:t>’</a:t>
          </a:r>
          <a:endParaRPr lang="en-US" sz="1800" kern="1200"/>
        </a:p>
      </dsp:txBody>
      <dsp:txXfrm>
        <a:off x="1568246" y="2432705"/>
        <a:ext cx="3703320" cy="1357788"/>
      </dsp:txXfrm>
    </dsp:sp>
    <dsp:sp modelId="{9959F321-AEC8-459C-BFB4-44BF6983D084}">
      <dsp:nvSpPr>
        <dsp:cNvPr id="0" name=""/>
        <dsp:cNvSpPr/>
      </dsp:nvSpPr>
      <dsp:spPr>
        <a:xfrm>
          <a:off x="5271566" y="2432705"/>
          <a:ext cx="295803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577850">
            <a:lnSpc>
              <a:spcPct val="90000"/>
            </a:lnSpc>
            <a:spcBef>
              <a:spcPct val="0"/>
            </a:spcBef>
            <a:spcAft>
              <a:spcPct val="35000"/>
            </a:spcAft>
            <a:buNone/>
          </a:pPr>
          <a:r>
            <a:rPr lang="en-US" sz="1300" kern="1200"/>
            <a:t>Quality attributes like security, performance</a:t>
          </a:r>
        </a:p>
        <a:p>
          <a:pPr marL="0" lvl="0" indent="0" algn="l" defTabSz="577850">
            <a:lnSpc>
              <a:spcPct val="90000"/>
            </a:lnSpc>
            <a:spcBef>
              <a:spcPct val="0"/>
            </a:spcBef>
            <a:spcAft>
              <a:spcPct val="35000"/>
            </a:spcAft>
            <a:buNone/>
          </a:pPr>
          <a:r>
            <a:rPr lang="en-US" sz="1300" kern="1200"/>
            <a:t>Non-functional requirements like cost, deployment hardware</a:t>
          </a:r>
        </a:p>
        <a:p>
          <a:pPr marL="0" lvl="0" indent="0" algn="l" defTabSz="577850">
            <a:lnSpc>
              <a:spcPct val="90000"/>
            </a:lnSpc>
            <a:spcBef>
              <a:spcPct val="0"/>
            </a:spcBef>
            <a:spcAft>
              <a:spcPct val="35000"/>
            </a:spcAft>
            <a:buNone/>
          </a:pPr>
          <a:r>
            <a:rPr lang="en-US" sz="1300" kern="1200"/>
            <a:t>More on these later in this session</a:t>
          </a:r>
        </a:p>
      </dsp:txBody>
      <dsp:txXfrm>
        <a:off x="5271566" y="2432705"/>
        <a:ext cx="2958033" cy="13577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CB5984-ECE8-48E2-A92C-05E6148FE162}">
      <dsp:nvSpPr>
        <dsp:cNvPr id="0" name=""/>
        <dsp:cNvSpPr/>
      </dsp:nvSpPr>
      <dsp:spPr>
        <a:xfrm>
          <a:off x="0" y="552"/>
          <a:ext cx="82296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30C757-5D1E-40FB-89CF-C5CB604F4FB3}">
      <dsp:nvSpPr>
        <dsp:cNvPr id="0" name=""/>
        <dsp:cNvSpPr/>
      </dsp:nvSpPr>
      <dsp:spPr>
        <a:xfrm>
          <a:off x="391077" y="291436"/>
          <a:ext cx="711049" cy="7110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94422B1-7A58-465F-8C76-499C763AAD9E}">
      <dsp:nvSpPr>
        <dsp:cNvPr id="0" name=""/>
        <dsp:cNvSpPr/>
      </dsp:nvSpPr>
      <dsp:spPr>
        <a:xfrm>
          <a:off x="1493203" y="552"/>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889000">
            <a:lnSpc>
              <a:spcPct val="90000"/>
            </a:lnSpc>
            <a:spcBef>
              <a:spcPct val="0"/>
            </a:spcBef>
            <a:spcAft>
              <a:spcPct val="35000"/>
            </a:spcAft>
            <a:buNone/>
          </a:pPr>
          <a:r>
            <a:rPr lang="en-US" sz="2000" kern="1200"/>
            <a:t>Simple, informal block diagrams showing entities and relationships are the most frequently used method for documenting software architectures.</a:t>
          </a:r>
        </a:p>
      </dsp:txBody>
      <dsp:txXfrm>
        <a:off x="1493203" y="552"/>
        <a:ext cx="6736396" cy="1292816"/>
      </dsp:txXfrm>
    </dsp:sp>
    <dsp:sp modelId="{DF474153-EC39-45BF-B3C5-8430CEE26998}">
      <dsp:nvSpPr>
        <dsp:cNvPr id="0" name=""/>
        <dsp:cNvSpPr/>
      </dsp:nvSpPr>
      <dsp:spPr>
        <a:xfrm>
          <a:off x="0" y="1616573"/>
          <a:ext cx="82296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EB8D98-D15C-4DBA-8873-9BD4B0EC74BB}">
      <dsp:nvSpPr>
        <dsp:cNvPr id="0" name=""/>
        <dsp:cNvSpPr/>
      </dsp:nvSpPr>
      <dsp:spPr>
        <a:xfrm>
          <a:off x="391077" y="1907456"/>
          <a:ext cx="711049" cy="7110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407C2D4-EC3C-456E-80C4-A81F87842A95}">
      <dsp:nvSpPr>
        <dsp:cNvPr id="0" name=""/>
        <dsp:cNvSpPr/>
      </dsp:nvSpPr>
      <dsp:spPr>
        <a:xfrm>
          <a:off x="1493203" y="1616573"/>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889000">
            <a:lnSpc>
              <a:spcPct val="90000"/>
            </a:lnSpc>
            <a:spcBef>
              <a:spcPct val="0"/>
            </a:spcBef>
            <a:spcAft>
              <a:spcPct val="35000"/>
            </a:spcAft>
            <a:buNone/>
          </a:pPr>
          <a:r>
            <a:rPr lang="en-US" sz="2000" kern="1200"/>
            <a:t>But these have been criticised because they lack semantics, do not show the types of relationships between entities nor the visible properties of entities in the architecture.</a:t>
          </a:r>
        </a:p>
      </dsp:txBody>
      <dsp:txXfrm>
        <a:off x="1493203" y="1616573"/>
        <a:ext cx="6736396" cy="1292816"/>
      </dsp:txXfrm>
    </dsp:sp>
    <dsp:sp modelId="{C51FA76B-55BD-4FA9-94D7-38D92C8B30F7}">
      <dsp:nvSpPr>
        <dsp:cNvPr id="0" name=""/>
        <dsp:cNvSpPr/>
      </dsp:nvSpPr>
      <dsp:spPr>
        <a:xfrm>
          <a:off x="0" y="3232593"/>
          <a:ext cx="82296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080250-5A8B-4D82-838C-214C65F9B19E}">
      <dsp:nvSpPr>
        <dsp:cNvPr id="0" name=""/>
        <dsp:cNvSpPr/>
      </dsp:nvSpPr>
      <dsp:spPr>
        <a:xfrm>
          <a:off x="391077" y="3523477"/>
          <a:ext cx="711049" cy="7110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1D63CE9-BC4D-48C6-9158-040789E652D5}">
      <dsp:nvSpPr>
        <dsp:cNvPr id="0" name=""/>
        <dsp:cNvSpPr/>
      </dsp:nvSpPr>
      <dsp:spPr>
        <a:xfrm>
          <a:off x="1493203" y="3232593"/>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889000">
            <a:lnSpc>
              <a:spcPct val="90000"/>
            </a:lnSpc>
            <a:spcBef>
              <a:spcPct val="0"/>
            </a:spcBef>
            <a:spcAft>
              <a:spcPct val="35000"/>
            </a:spcAft>
            <a:buNone/>
          </a:pPr>
          <a:r>
            <a:rPr lang="en-US" sz="2000" kern="1200"/>
            <a:t>Depends on the use of architectural models.The  requirements for model semantics depends on how the models are used.</a:t>
          </a:r>
        </a:p>
      </dsp:txBody>
      <dsp:txXfrm>
        <a:off x="1493203" y="3232593"/>
        <a:ext cx="6736396" cy="12928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EFD8EA-9828-4589-A0D7-63DD2536D0DA}">
      <dsp:nvSpPr>
        <dsp:cNvPr id="0" name=""/>
        <dsp:cNvSpPr/>
      </dsp:nvSpPr>
      <dsp:spPr>
        <a:xfrm>
          <a:off x="0" y="552"/>
          <a:ext cx="82296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7B6AB7-8D26-4324-878E-6C1E92E9A416}">
      <dsp:nvSpPr>
        <dsp:cNvPr id="0" name=""/>
        <dsp:cNvSpPr/>
      </dsp:nvSpPr>
      <dsp:spPr>
        <a:xfrm>
          <a:off x="391077" y="291436"/>
          <a:ext cx="711049" cy="7110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3D1D281-1362-43D2-87CA-AEDD7EC18B32}">
      <dsp:nvSpPr>
        <dsp:cNvPr id="0" name=""/>
        <dsp:cNvSpPr/>
      </dsp:nvSpPr>
      <dsp:spPr>
        <a:xfrm>
          <a:off x="1493203" y="552"/>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022350">
            <a:lnSpc>
              <a:spcPct val="90000"/>
            </a:lnSpc>
            <a:spcBef>
              <a:spcPct val="0"/>
            </a:spcBef>
            <a:spcAft>
              <a:spcPct val="35000"/>
            </a:spcAft>
            <a:buNone/>
          </a:pPr>
          <a:r>
            <a:rPr lang="en-US" sz="2300" kern="1200"/>
            <a:t>Many examples of poor performance in enterprise applications</a:t>
          </a:r>
        </a:p>
      </dsp:txBody>
      <dsp:txXfrm>
        <a:off x="1493203" y="552"/>
        <a:ext cx="6736396" cy="1292816"/>
      </dsp:txXfrm>
    </dsp:sp>
    <dsp:sp modelId="{AF6C96D5-5EF2-4486-BE90-E394725DDAAB}">
      <dsp:nvSpPr>
        <dsp:cNvPr id="0" name=""/>
        <dsp:cNvSpPr/>
      </dsp:nvSpPr>
      <dsp:spPr>
        <a:xfrm>
          <a:off x="0" y="1616573"/>
          <a:ext cx="82296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55F583-2A9B-4BD9-9D34-96A1B60D8111}">
      <dsp:nvSpPr>
        <dsp:cNvPr id="0" name=""/>
        <dsp:cNvSpPr/>
      </dsp:nvSpPr>
      <dsp:spPr>
        <a:xfrm>
          <a:off x="391077" y="1907456"/>
          <a:ext cx="711049" cy="7110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333D0B4-0913-4A5E-9D42-9D6A106F14B2}">
      <dsp:nvSpPr>
        <dsp:cNvPr id="0" name=""/>
        <dsp:cNvSpPr/>
      </dsp:nvSpPr>
      <dsp:spPr>
        <a:xfrm>
          <a:off x="1493203" y="1616573"/>
          <a:ext cx="3703320"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022350">
            <a:lnSpc>
              <a:spcPct val="90000"/>
            </a:lnSpc>
            <a:spcBef>
              <a:spcPct val="0"/>
            </a:spcBef>
            <a:spcAft>
              <a:spcPct val="35000"/>
            </a:spcAft>
            <a:buNone/>
          </a:pPr>
          <a:r>
            <a:rPr lang="en-US" sz="2300" kern="1200"/>
            <a:t>Performance requires a:</a:t>
          </a:r>
        </a:p>
      </dsp:txBody>
      <dsp:txXfrm>
        <a:off x="1493203" y="1616573"/>
        <a:ext cx="3703320" cy="1292816"/>
      </dsp:txXfrm>
    </dsp:sp>
    <dsp:sp modelId="{6F34E117-70DD-47FB-ADAB-6809FBBEFB44}">
      <dsp:nvSpPr>
        <dsp:cNvPr id="0" name=""/>
        <dsp:cNvSpPr/>
      </dsp:nvSpPr>
      <dsp:spPr>
        <a:xfrm>
          <a:off x="5196523" y="1616573"/>
          <a:ext cx="303307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755650">
            <a:lnSpc>
              <a:spcPct val="90000"/>
            </a:lnSpc>
            <a:spcBef>
              <a:spcPct val="0"/>
            </a:spcBef>
            <a:spcAft>
              <a:spcPct val="35000"/>
            </a:spcAft>
            <a:buNone/>
          </a:pPr>
          <a:r>
            <a:rPr lang="en-US" sz="1700" kern="1200"/>
            <a:t>Metric of amount of work performed in unit time</a:t>
          </a:r>
        </a:p>
        <a:p>
          <a:pPr marL="0" lvl="0" indent="0" algn="l" defTabSz="755650">
            <a:lnSpc>
              <a:spcPct val="90000"/>
            </a:lnSpc>
            <a:spcBef>
              <a:spcPct val="0"/>
            </a:spcBef>
            <a:spcAft>
              <a:spcPct val="35000"/>
            </a:spcAft>
            <a:buNone/>
          </a:pPr>
          <a:r>
            <a:rPr lang="en-US" sz="1700" kern="1200"/>
            <a:t>Deadline that must be met</a:t>
          </a:r>
        </a:p>
      </dsp:txBody>
      <dsp:txXfrm>
        <a:off x="5196523" y="1616573"/>
        <a:ext cx="3033076" cy="1292816"/>
      </dsp:txXfrm>
    </dsp:sp>
    <dsp:sp modelId="{AC50CD13-935E-42C5-869B-E620B8E4968B}">
      <dsp:nvSpPr>
        <dsp:cNvPr id="0" name=""/>
        <dsp:cNvSpPr/>
      </dsp:nvSpPr>
      <dsp:spPr>
        <a:xfrm>
          <a:off x="0" y="3232593"/>
          <a:ext cx="82296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82AFC2-A551-4CE5-AC45-091111E19EBE}">
      <dsp:nvSpPr>
        <dsp:cNvPr id="0" name=""/>
        <dsp:cNvSpPr/>
      </dsp:nvSpPr>
      <dsp:spPr>
        <a:xfrm>
          <a:off x="391077" y="3523477"/>
          <a:ext cx="711049" cy="7110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78576A8-B4C3-457F-883F-8A9408C8C786}">
      <dsp:nvSpPr>
        <dsp:cNvPr id="0" name=""/>
        <dsp:cNvSpPr/>
      </dsp:nvSpPr>
      <dsp:spPr>
        <a:xfrm>
          <a:off x="1493203" y="3232593"/>
          <a:ext cx="3703320"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022350">
            <a:lnSpc>
              <a:spcPct val="90000"/>
            </a:lnSpc>
            <a:spcBef>
              <a:spcPct val="0"/>
            </a:spcBef>
            <a:spcAft>
              <a:spcPct val="35000"/>
            </a:spcAft>
            <a:buNone/>
          </a:pPr>
          <a:r>
            <a:rPr lang="en-US" sz="2300" kern="1200"/>
            <a:t>Enterprise applications often have strict performance requirements, e.g.</a:t>
          </a:r>
        </a:p>
      </dsp:txBody>
      <dsp:txXfrm>
        <a:off x="1493203" y="3232593"/>
        <a:ext cx="3703320" cy="1292816"/>
      </dsp:txXfrm>
    </dsp:sp>
    <dsp:sp modelId="{7FE30C30-065E-4A36-9C8F-EB71C8F73E7F}">
      <dsp:nvSpPr>
        <dsp:cNvPr id="0" name=""/>
        <dsp:cNvSpPr/>
      </dsp:nvSpPr>
      <dsp:spPr>
        <a:xfrm>
          <a:off x="5196523" y="3232593"/>
          <a:ext cx="303307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755650">
            <a:lnSpc>
              <a:spcPct val="90000"/>
            </a:lnSpc>
            <a:spcBef>
              <a:spcPct val="0"/>
            </a:spcBef>
            <a:spcAft>
              <a:spcPct val="35000"/>
            </a:spcAft>
            <a:buNone/>
          </a:pPr>
          <a:r>
            <a:rPr lang="en-US" sz="1700" kern="1200"/>
            <a:t>1000 transactions per second</a:t>
          </a:r>
        </a:p>
        <a:p>
          <a:pPr marL="0" lvl="0" indent="0" algn="l" defTabSz="755650">
            <a:lnSpc>
              <a:spcPct val="90000"/>
            </a:lnSpc>
            <a:spcBef>
              <a:spcPct val="0"/>
            </a:spcBef>
            <a:spcAft>
              <a:spcPct val="35000"/>
            </a:spcAft>
            <a:buNone/>
          </a:pPr>
          <a:r>
            <a:rPr lang="en-US" sz="1700" kern="1200"/>
            <a:t>3 second average latency for a request</a:t>
          </a:r>
        </a:p>
      </dsp:txBody>
      <dsp:txXfrm>
        <a:off x="5196523" y="3232593"/>
        <a:ext cx="3033076" cy="129281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3265D0-54D9-4805-9DE7-01FC6F0D69DF}">
      <dsp:nvSpPr>
        <dsp:cNvPr id="0" name=""/>
        <dsp:cNvSpPr/>
      </dsp:nvSpPr>
      <dsp:spPr>
        <a:xfrm>
          <a:off x="0" y="735468"/>
          <a:ext cx="82296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09AB9C-1081-4D59-98F3-62D0EDF0EFF8}">
      <dsp:nvSpPr>
        <dsp:cNvPr id="0" name=""/>
        <dsp:cNvSpPr/>
      </dsp:nvSpPr>
      <dsp:spPr>
        <a:xfrm>
          <a:off x="410731" y="1040971"/>
          <a:ext cx="746783" cy="7467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8E4A7B0-436F-40E9-97D9-6184880161D9}">
      <dsp:nvSpPr>
        <dsp:cNvPr id="0" name=""/>
        <dsp:cNvSpPr/>
      </dsp:nvSpPr>
      <dsp:spPr>
        <a:xfrm>
          <a:off x="1568246" y="735468"/>
          <a:ext cx="666135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844550">
            <a:lnSpc>
              <a:spcPct val="90000"/>
            </a:lnSpc>
            <a:spcBef>
              <a:spcPct val="0"/>
            </a:spcBef>
            <a:spcAft>
              <a:spcPct val="35000"/>
            </a:spcAft>
            <a:buNone/>
          </a:pPr>
          <a:r>
            <a:rPr lang="ja-JP" sz="1900" i="1" kern="1200"/>
            <a:t>“</a:t>
          </a:r>
          <a:r>
            <a:rPr lang="en-US" sz="1900" i="1" kern="1200"/>
            <a:t>How well a solution to some problem will work when the size of the problem increases.</a:t>
          </a:r>
          <a:r>
            <a:rPr lang="ja-JP" sz="1900" i="1" kern="1200"/>
            <a:t>”</a:t>
          </a:r>
          <a:r>
            <a:rPr lang="en-US" sz="1900" i="1" kern="1200"/>
            <a:t> - How a design can cope with  some aspect of the application’s requirements increasing in size </a:t>
          </a:r>
          <a:endParaRPr lang="en-US" sz="1900" kern="1200"/>
        </a:p>
      </dsp:txBody>
      <dsp:txXfrm>
        <a:off x="1568246" y="735468"/>
        <a:ext cx="6661353" cy="1357788"/>
      </dsp:txXfrm>
    </dsp:sp>
    <dsp:sp modelId="{93FD1493-1BB2-4176-A844-468F5A0E1384}">
      <dsp:nvSpPr>
        <dsp:cNvPr id="0" name=""/>
        <dsp:cNvSpPr/>
      </dsp:nvSpPr>
      <dsp:spPr>
        <a:xfrm>
          <a:off x="0" y="2432705"/>
          <a:ext cx="82296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3AE8F9-97B3-43F7-8FEA-9E984B1CFFD4}">
      <dsp:nvSpPr>
        <dsp:cNvPr id="0" name=""/>
        <dsp:cNvSpPr/>
      </dsp:nvSpPr>
      <dsp:spPr>
        <a:xfrm>
          <a:off x="410731" y="2738207"/>
          <a:ext cx="746783" cy="7467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6AC329C-DBE6-40B4-8828-6440456200D7}">
      <dsp:nvSpPr>
        <dsp:cNvPr id="0" name=""/>
        <dsp:cNvSpPr/>
      </dsp:nvSpPr>
      <dsp:spPr>
        <a:xfrm>
          <a:off x="1568246" y="2432705"/>
          <a:ext cx="3703320"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844550">
            <a:lnSpc>
              <a:spcPct val="90000"/>
            </a:lnSpc>
            <a:spcBef>
              <a:spcPct val="0"/>
            </a:spcBef>
            <a:spcAft>
              <a:spcPct val="35000"/>
            </a:spcAft>
            <a:buNone/>
          </a:pPr>
          <a:r>
            <a:rPr lang="en-US" sz="1900" kern="1200"/>
            <a:t>4 common scalability issues in IT systems:</a:t>
          </a:r>
        </a:p>
      </dsp:txBody>
      <dsp:txXfrm>
        <a:off x="1568246" y="2432705"/>
        <a:ext cx="3703320" cy="1357788"/>
      </dsp:txXfrm>
    </dsp:sp>
    <dsp:sp modelId="{9792FB90-BA7F-4C15-A9BE-99A2401CF687}">
      <dsp:nvSpPr>
        <dsp:cNvPr id="0" name=""/>
        <dsp:cNvSpPr/>
      </dsp:nvSpPr>
      <dsp:spPr>
        <a:xfrm>
          <a:off x="5271566" y="2432705"/>
          <a:ext cx="295803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622300">
            <a:lnSpc>
              <a:spcPct val="90000"/>
            </a:lnSpc>
            <a:spcBef>
              <a:spcPct val="0"/>
            </a:spcBef>
            <a:spcAft>
              <a:spcPct val="35000"/>
            </a:spcAft>
            <a:buNone/>
          </a:pPr>
          <a:r>
            <a:rPr lang="en-US" sz="1400" kern="1200"/>
            <a:t>Request load</a:t>
          </a:r>
        </a:p>
        <a:p>
          <a:pPr marL="0" lvl="0" indent="0" algn="l" defTabSz="622300">
            <a:lnSpc>
              <a:spcPct val="90000"/>
            </a:lnSpc>
            <a:spcBef>
              <a:spcPct val="0"/>
            </a:spcBef>
            <a:spcAft>
              <a:spcPct val="35000"/>
            </a:spcAft>
            <a:buNone/>
          </a:pPr>
          <a:r>
            <a:rPr lang="en-US" sz="1400" kern="1200"/>
            <a:t>Connections</a:t>
          </a:r>
        </a:p>
        <a:p>
          <a:pPr marL="0" lvl="0" indent="0" algn="l" defTabSz="622300">
            <a:lnSpc>
              <a:spcPct val="90000"/>
            </a:lnSpc>
            <a:spcBef>
              <a:spcPct val="0"/>
            </a:spcBef>
            <a:spcAft>
              <a:spcPct val="35000"/>
            </a:spcAft>
            <a:buNone/>
          </a:pPr>
          <a:r>
            <a:rPr lang="en-US" sz="1400" kern="1200"/>
            <a:t>Data size</a:t>
          </a:r>
        </a:p>
        <a:p>
          <a:pPr marL="0" lvl="0" indent="0" algn="l" defTabSz="622300">
            <a:lnSpc>
              <a:spcPct val="90000"/>
            </a:lnSpc>
            <a:spcBef>
              <a:spcPct val="0"/>
            </a:spcBef>
            <a:spcAft>
              <a:spcPct val="35000"/>
            </a:spcAft>
            <a:buNone/>
          </a:pPr>
          <a:r>
            <a:rPr lang="en-US" sz="1400" kern="1200"/>
            <a:t>Deployments</a:t>
          </a:r>
        </a:p>
      </dsp:txBody>
      <dsp:txXfrm>
        <a:off x="5271566" y="2432705"/>
        <a:ext cx="2958033" cy="135778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11D260-24FB-4557-ABC8-057FD99F7C6C}">
      <dsp:nvSpPr>
        <dsp:cNvPr id="0" name=""/>
        <dsp:cNvSpPr/>
      </dsp:nvSpPr>
      <dsp:spPr>
        <a:xfrm>
          <a:off x="0" y="735468"/>
          <a:ext cx="82296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FF3B3C-1564-468F-8010-65C7C49B623F}">
      <dsp:nvSpPr>
        <dsp:cNvPr id="0" name=""/>
        <dsp:cNvSpPr/>
      </dsp:nvSpPr>
      <dsp:spPr>
        <a:xfrm>
          <a:off x="410731" y="1040971"/>
          <a:ext cx="746783" cy="7467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BAC54EA-F126-4B19-8EBF-C060208B1A1F}">
      <dsp:nvSpPr>
        <dsp:cNvPr id="0" name=""/>
        <dsp:cNvSpPr/>
      </dsp:nvSpPr>
      <dsp:spPr>
        <a:xfrm>
          <a:off x="1568246" y="735468"/>
          <a:ext cx="3703320"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111250">
            <a:lnSpc>
              <a:spcPct val="90000"/>
            </a:lnSpc>
            <a:spcBef>
              <a:spcPct val="0"/>
            </a:spcBef>
            <a:spcAft>
              <a:spcPct val="35000"/>
            </a:spcAft>
            <a:buNone/>
          </a:pPr>
          <a:r>
            <a:rPr lang="en-US" sz="2500" kern="1200"/>
            <a:t>Difficult, specialized quality attribute:</a:t>
          </a:r>
        </a:p>
      </dsp:txBody>
      <dsp:txXfrm>
        <a:off x="1568246" y="735468"/>
        <a:ext cx="3703320" cy="1357788"/>
      </dsp:txXfrm>
    </dsp:sp>
    <dsp:sp modelId="{4B0CCA2C-9862-4304-A748-11E7499335DA}">
      <dsp:nvSpPr>
        <dsp:cNvPr id="0" name=""/>
        <dsp:cNvSpPr/>
      </dsp:nvSpPr>
      <dsp:spPr>
        <a:xfrm>
          <a:off x="5271566" y="735468"/>
          <a:ext cx="295803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800100">
            <a:lnSpc>
              <a:spcPct val="90000"/>
            </a:lnSpc>
            <a:spcBef>
              <a:spcPct val="0"/>
            </a:spcBef>
            <a:spcAft>
              <a:spcPct val="35000"/>
            </a:spcAft>
            <a:buNone/>
          </a:pPr>
          <a:r>
            <a:rPr lang="en-US" sz="1800" kern="1200"/>
            <a:t>Lots of technology available</a:t>
          </a:r>
        </a:p>
        <a:p>
          <a:pPr marL="0" lvl="0" indent="0" algn="l" defTabSz="800100">
            <a:lnSpc>
              <a:spcPct val="90000"/>
            </a:lnSpc>
            <a:spcBef>
              <a:spcPct val="0"/>
            </a:spcBef>
            <a:spcAft>
              <a:spcPct val="35000"/>
            </a:spcAft>
            <a:buNone/>
          </a:pPr>
          <a:r>
            <a:rPr lang="en-US" sz="1800" kern="1200"/>
            <a:t>Requires deep knowledge of approaches and solutions</a:t>
          </a:r>
        </a:p>
      </dsp:txBody>
      <dsp:txXfrm>
        <a:off x="5271566" y="735468"/>
        <a:ext cx="2958033" cy="1357788"/>
      </dsp:txXfrm>
    </dsp:sp>
    <dsp:sp modelId="{C6918EC6-9F8F-4294-8E57-631023382B81}">
      <dsp:nvSpPr>
        <dsp:cNvPr id="0" name=""/>
        <dsp:cNvSpPr/>
      </dsp:nvSpPr>
      <dsp:spPr>
        <a:xfrm>
          <a:off x="0" y="2432705"/>
          <a:ext cx="82296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D3036A-BEF2-4179-9AEA-28EF3B5D69B7}">
      <dsp:nvSpPr>
        <dsp:cNvPr id="0" name=""/>
        <dsp:cNvSpPr/>
      </dsp:nvSpPr>
      <dsp:spPr>
        <a:xfrm>
          <a:off x="410731" y="2738207"/>
          <a:ext cx="746783" cy="7467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DE0EC9E-9C6B-44CC-BD88-D6A20F868466}">
      <dsp:nvSpPr>
        <dsp:cNvPr id="0" name=""/>
        <dsp:cNvSpPr/>
      </dsp:nvSpPr>
      <dsp:spPr>
        <a:xfrm>
          <a:off x="1568246" y="2432705"/>
          <a:ext cx="666135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111250">
            <a:lnSpc>
              <a:spcPct val="90000"/>
            </a:lnSpc>
            <a:spcBef>
              <a:spcPct val="0"/>
            </a:spcBef>
            <a:spcAft>
              <a:spcPct val="35000"/>
            </a:spcAft>
            <a:buNone/>
          </a:pPr>
          <a:r>
            <a:rPr lang="en-US" sz="2500" kern="1200"/>
            <a:t>Security is a multi-faceted quality …</a:t>
          </a:r>
        </a:p>
      </dsp:txBody>
      <dsp:txXfrm>
        <a:off x="1568246" y="2432705"/>
        <a:ext cx="6661353" cy="135778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F0F8D9-CC6D-48D1-B6FF-E839EC25FC3E}">
      <dsp:nvSpPr>
        <dsp:cNvPr id="0" name=""/>
        <dsp:cNvSpPr/>
      </dsp:nvSpPr>
      <dsp:spPr>
        <a:xfrm>
          <a:off x="0" y="5742"/>
          <a:ext cx="8229600" cy="72961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84AE6E-272F-4A89-A7EB-CC25C6E3B063}">
      <dsp:nvSpPr>
        <dsp:cNvPr id="0" name=""/>
        <dsp:cNvSpPr/>
      </dsp:nvSpPr>
      <dsp:spPr>
        <a:xfrm>
          <a:off x="220707" y="169905"/>
          <a:ext cx="401679" cy="4012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4BD0572-C94E-4F1F-BC67-A0FBD4EFE5FE}">
      <dsp:nvSpPr>
        <dsp:cNvPr id="0" name=""/>
        <dsp:cNvSpPr/>
      </dsp:nvSpPr>
      <dsp:spPr>
        <a:xfrm>
          <a:off x="843094" y="5742"/>
          <a:ext cx="7373521" cy="752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630" tIns="79630" rIns="79630" bIns="79630" numCol="1" spcCol="1270" anchor="ctr" anchorCtr="0">
          <a:noAutofit/>
        </a:bodyPr>
        <a:lstStyle/>
        <a:p>
          <a:pPr marL="0" lvl="0" indent="0" algn="l" defTabSz="622300">
            <a:lnSpc>
              <a:spcPct val="90000"/>
            </a:lnSpc>
            <a:spcBef>
              <a:spcPct val="0"/>
            </a:spcBef>
            <a:spcAft>
              <a:spcPct val="35000"/>
            </a:spcAft>
            <a:buNone/>
          </a:pPr>
          <a:r>
            <a:rPr lang="en-US" sz="1400" b="1" kern="1200"/>
            <a:t>Authentication: </a:t>
          </a:r>
          <a:r>
            <a:rPr lang="en-US" sz="1400" kern="1200"/>
            <a:t>Applications can verify the identity of their users and other applications with which they communicate.</a:t>
          </a:r>
        </a:p>
      </dsp:txBody>
      <dsp:txXfrm>
        <a:off x="843094" y="5742"/>
        <a:ext cx="7373521" cy="752413"/>
      </dsp:txXfrm>
    </dsp:sp>
    <dsp:sp modelId="{7896D84F-FF3F-434A-975F-363EEE5FCB0A}">
      <dsp:nvSpPr>
        <dsp:cNvPr id="0" name=""/>
        <dsp:cNvSpPr/>
      </dsp:nvSpPr>
      <dsp:spPr>
        <a:xfrm>
          <a:off x="0" y="946258"/>
          <a:ext cx="8229600" cy="72961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E3B3F7-6BF6-4C2F-8335-E80808B51D57}">
      <dsp:nvSpPr>
        <dsp:cNvPr id="0" name=""/>
        <dsp:cNvSpPr/>
      </dsp:nvSpPr>
      <dsp:spPr>
        <a:xfrm>
          <a:off x="220707" y="1110421"/>
          <a:ext cx="401679" cy="4012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00930AE-1FC7-4311-9DA4-0DAD64421987}">
      <dsp:nvSpPr>
        <dsp:cNvPr id="0" name=""/>
        <dsp:cNvSpPr/>
      </dsp:nvSpPr>
      <dsp:spPr>
        <a:xfrm>
          <a:off x="843094" y="946258"/>
          <a:ext cx="7373521" cy="752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630" tIns="79630" rIns="79630" bIns="79630" numCol="1" spcCol="1270" anchor="ctr" anchorCtr="0">
          <a:noAutofit/>
        </a:bodyPr>
        <a:lstStyle/>
        <a:p>
          <a:pPr marL="0" lvl="0" indent="0" algn="l" defTabSz="622300">
            <a:lnSpc>
              <a:spcPct val="90000"/>
            </a:lnSpc>
            <a:spcBef>
              <a:spcPct val="0"/>
            </a:spcBef>
            <a:spcAft>
              <a:spcPct val="35000"/>
            </a:spcAft>
            <a:buNone/>
          </a:pPr>
          <a:r>
            <a:rPr lang="en-US" sz="1400" b="1" kern="1200"/>
            <a:t>Authorization:</a:t>
          </a:r>
          <a:r>
            <a:rPr lang="en-US" sz="1400" kern="1200"/>
            <a:t> Authenticated users and applications have defined access rights to the resources of the system. </a:t>
          </a:r>
        </a:p>
      </dsp:txBody>
      <dsp:txXfrm>
        <a:off x="843094" y="946258"/>
        <a:ext cx="7373521" cy="752413"/>
      </dsp:txXfrm>
    </dsp:sp>
    <dsp:sp modelId="{DF233A0C-691D-410E-8064-5030E9BFBFC0}">
      <dsp:nvSpPr>
        <dsp:cNvPr id="0" name=""/>
        <dsp:cNvSpPr/>
      </dsp:nvSpPr>
      <dsp:spPr>
        <a:xfrm>
          <a:off x="0" y="1886774"/>
          <a:ext cx="8229600" cy="72961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46E2F0-EDB4-43A6-9033-14519C8940E2}">
      <dsp:nvSpPr>
        <dsp:cNvPr id="0" name=""/>
        <dsp:cNvSpPr/>
      </dsp:nvSpPr>
      <dsp:spPr>
        <a:xfrm>
          <a:off x="220707" y="2050937"/>
          <a:ext cx="401679" cy="4012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5401D7F-6D34-4358-901D-C7532FF4B8B6}">
      <dsp:nvSpPr>
        <dsp:cNvPr id="0" name=""/>
        <dsp:cNvSpPr/>
      </dsp:nvSpPr>
      <dsp:spPr>
        <a:xfrm>
          <a:off x="843094" y="1886774"/>
          <a:ext cx="7373521" cy="752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630" tIns="79630" rIns="79630" bIns="79630" numCol="1" spcCol="1270" anchor="ctr" anchorCtr="0">
          <a:noAutofit/>
        </a:bodyPr>
        <a:lstStyle/>
        <a:p>
          <a:pPr marL="0" lvl="0" indent="0" algn="l" defTabSz="622300">
            <a:lnSpc>
              <a:spcPct val="90000"/>
            </a:lnSpc>
            <a:spcBef>
              <a:spcPct val="0"/>
            </a:spcBef>
            <a:spcAft>
              <a:spcPct val="35000"/>
            </a:spcAft>
            <a:buNone/>
          </a:pPr>
          <a:r>
            <a:rPr lang="en-US" sz="1400" b="1" kern="1200"/>
            <a:t>Encryption:</a:t>
          </a:r>
          <a:r>
            <a:rPr lang="en-US" sz="1400" kern="1200"/>
            <a:t> The messages sent to/from the application are encrypted. </a:t>
          </a:r>
        </a:p>
      </dsp:txBody>
      <dsp:txXfrm>
        <a:off x="843094" y="1886774"/>
        <a:ext cx="7373521" cy="752413"/>
      </dsp:txXfrm>
    </dsp:sp>
    <dsp:sp modelId="{B80981BF-B771-48BB-919A-622D4F93D5A6}">
      <dsp:nvSpPr>
        <dsp:cNvPr id="0" name=""/>
        <dsp:cNvSpPr/>
      </dsp:nvSpPr>
      <dsp:spPr>
        <a:xfrm>
          <a:off x="0" y="2827291"/>
          <a:ext cx="8229600" cy="72961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5DB335-8501-4E74-B306-C248A6D94CED}">
      <dsp:nvSpPr>
        <dsp:cNvPr id="0" name=""/>
        <dsp:cNvSpPr/>
      </dsp:nvSpPr>
      <dsp:spPr>
        <a:xfrm>
          <a:off x="220707" y="2991454"/>
          <a:ext cx="401679" cy="40128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777425A-E35D-4E17-9C03-401B76A1E002}">
      <dsp:nvSpPr>
        <dsp:cNvPr id="0" name=""/>
        <dsp:cNvSpPr/>
      </dsp:nvSpPr>
      <dsp:spPr>
        <a:xfrm>
          <a:off x="843094" y="2827291"/>
          <a:ext cx="7373521" cy="752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630" tIns="79630" rIns="79630" bIns="79630" numCol="1" spcCol="1270" anchor="ctr" anchorCtr="0">
          <a:noAutofit/>
        </a:bodyPr>
        <a:lstStyle/>
        <a:p>
          <a:pPr marL="0" lvl="0" indent="0" algn="l" defTabSz="622300">
            <a:lnSpc>
              <a:spcPct val="90000"/>
            </a:lnSpc>
            <a:spcBef>
              <a:spcPct val="0"/>
            </a:spcBef>
            <a:spcAft>
              <a:spcPct val="35000"/>
            </a:spcAft>
            <a:buNone/>
          </a:pPr>
          <a:r>
            <a:rPr lang="en-US" sz="1400" b="1" kern="1200"/>
            <a:t>Integrity:</a:t>
          </a:r>
          <a:r>
            <a:rPr lang="en-US" sz="1400" kern="1200"/>
            <a:t> This ensures the contents of a message are not altered in transit.</a:t>
          </a:r>
        </a:p>
      </dsp:txBody>
      <dsp:txXfrm>
        <a:off x="843094" y="2827291"/>
        <a:ext cx="7373521" cy="752413"/>
      </dsp:txXfrm>
    </dsp:sp>
    <dsp:sp modelId="{922429EA-7EC5-40C5-90C1-247A59A69A39}">
      <dsp:nvSpPr>
        <dsp:cNvPr id="0" name=""/>
        <dsp:cNvSpPr/>
      </dsp:nvSpPr>
      <dsp:spPr>
        <a:xfrm>
          <a:off x="0" y="3767807"/>
          <a:ext cx="8229600" cy="72961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FAFC45-8BF2-467C-8287-08400416D18B}">
      <dsp:nvSpPr>
        <dsp:cNvPr id="0" name=""/>
        <dsp:cNvSpPr/>
      </dsp:nvSpPr>
      <dsp:spPr>
        <a:xfrm>
          <a:off x="220923" y="3931970"/>
          <a:ext cx="401679" cy="40128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B313247-C970-4F68-92FB-01BEDFE889D6}">
      <dsp:nvSpPr>
        <dsp:cNvPr id="0" name=""/>
        <dsp:cNvSpPr/>
      </dsp:nvSpPr>
      <dsp:spPr>
        <a:xfrm>
          <a:off x="843526" y="3767807"/>
          <a:ext cx="7359713" cy="752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630" tIns="79630" rIns="79630" bIns="79630" numCol="1" spcCol="1270" anchor="ctr" anchorCtr="0">
          <a:noAutofit/>
        </a:bodyPr>
        <a:lstStyle/>
        <a:p>
          <a:pPr marL="0" lvl="0" indent="0" algn="l" defTabSz="622300">
            <a:lnSpc>
              <a:spcPct val="90000"/>
            </a:lnSpc>
            <a:spcBef>
              <a:spcPct val="0"/>
            </a:spcBef>
            <a:spcAft>
              <a:spcPct val="35000"/>
            </a:spcAft>
            <a:buNone/>
          </a:pPr>
          <a:r>
            <a:rPr lang="en-US" sz="1400" b="1" kern="1200"/>
            <a:t>Non-repudiation:</a:t>
          </a:r>
          <a:r>
            <a:rPr lang="en-US" sz="1400" kern="1200"/>
            <a:t> The sender of a message has proof of delivery and the receiver is assured of the sender</a:t>
          </a:r>
          <a:r>
            <a:rPr lang="ja-JP" sz="1400" kern="1200"/>
            <a:t>’</a:t>
          </a:r>
          <a:r>
            <a:rPr lang="en-US" sz="1400" kern="1200"/>
            <a:t>s identity. This means neither can subsequently refute their participation in the message exchange.</a:t>
          </a:r>
        </a:p>
      </dsp:txBody>
      <dsp:txXfrm>
        <a:off x="843526" y="3767807"/>
        <a:ext cx="7359713" cy="75241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EC06CC-06D1-4EF8-9A87-6074D1D086AF}">
      <dsp:nvSpPr>
        <dsp:cNvPr id="0" name=""/>
        <dsp:cNvSpPr/>
      </dsp:nvSpPr>
      <dsp:spPr>
        <a:xfrm>
          <a:off x="0" y="552"/>
          <a:ext cx="82296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4C49C7-6C73-453F-8F2C-99FF159B5248}">
      <dsp:nvSpPr>
        <dsp:cNvPr id="0" name=""/>
        <dsp:cNvSpPr/>
      </dsp:nvSpPr>
      <dsp:spPr>
        <a:xfrm>
          <a:off x="391077" y="291436"/>
          <a:ext cx="711049" cy="7110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080984-E8E4-4098-A708-3A71F8E5377B}">
      <dsp:nvSpPr>
        <dsp:cNvPr id="0" name=""/>
        <dsp:cNvSpPr/>
      </dsp:nvSpPr>
      <dsp:spPr>
        <a:xfrm>
          <a:off x="1493203" y="552"/>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066800">
            <a:lnSpc>
              <a:spcPct val="90000"/>
            </a:lnSpc>
            <a:spcBef>
              <a:spcPct val="0"/>
            </a:spcBef>
            <a:spcAft>
              <a:spcPct val="35000"/>
            </a:spcAft>
            <a:buNone/>
          </a:pPr>
          <a:r>
            <a:rPr lang="en-US" sz="2400" kern="1200"/>
            <a:t>Key requirement for most IT applications</a:t>
          </a:r>
        </a:p>
      </dsp:txBody>
      <dsp:txXfrm>
        <a:off x="1493203" y="552"/>
        <a:ext cx="6736396" cy="1292816"/>
      </dsp:txXfrm>
    </dsp:sp>
    <dsp:sp modelId="{030AE39F-BCFC-4403-AECD-962844CAB98C}">
      <dsp:nvSpPr>
        <dsp:cNvPr id="0" name=""/>
        <dsp:cNvSpPr/>
      </dsp:nvSpPr>
      <dsp:spPr>
        <a:xfrm>
          <a:off x="0" y="1616573"/>
          <a:ext cx="82296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69A70F-4793-438F-ABBE-1CFC988AF42A}">
      <dsp:nvSpPr>
        <dsp:cNvPr id="0" name=""/>
        <dsp:cNvSpPr/>
      </dsp:nvSpPr>
      <dsp:spPr>
        <a:xfrm>
          <a:off x="391077" y="1907456"/>
          <a:ext cx="711049" cy="7110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53DED9C-3986-4A4E-9963-43856200DFE1}">
      <dsp:nvSpPr>
        <dsp:cNvPr id="0" name=""/>
        <dsp:cNvSpPr/>
      </dsp:nvSpPr>
      <dsp:spPr>
        <a:xfrm>
          <a:off x="1493203" y="1616573"/>
          <a:ext cx="3703320"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066800">
            <a:lnSpc>
              <a:spcPct val="90000"/>
            </a:lnSpc>
            <a:spcBef>
              <a:spcPct val="0"/>
            </a:spcBef>
            <a:spcAft>
              <a:spcPct val="35000"/>
            </a:spcAft>
            <a:buNone/>
          </a:pPr>
          <a:r>
            <a:rPr lang="en-US" sz="2400" kern="1200"/>
            <a:t>Measured by the proportion of the required time it is useable. E.g.</a:t>
          </a:r>
        </a:p>
      </dsp:txBody>
      <dsp:txXfrm>
        <a:off x="1493203" y="1616573"/>
        <a:ext cx="3703320" cy="1292816"/>
      </dsp:txXfrm>
    </dsp:sp>
    <dsp:sp modelId="{B3368B02-88F7-4391-ABC5-0C0FD6A4E1DA}">
      <dsp:nvSpPr>
        <dsp:cNvPr id="0" name=""/>
        <dsp:cNvSpPr/>
      </dsp:nvSpPr>
      <dsp:spPr>
        <a:xfrm>
          <a:off x="5196523" y="1616573"/>
          <a:ext cx="303307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577850">
            <a:lnSpc>
              <a:spcPct val="90000"/>
            </a:lnSpc>
            <a:spcBef>
              <a:spcPct val="0"/>
            </a:spcBef>
            <a:spcAft>
              <a:spcPct val="35000"/>
            </a:spcAft>
            <a:buNone/>
          </a:pPr>
          <a:r>
            <a:rPr lang="en-US" sz="1300" kern="1200"/>
            <a:t>100% available during business hours</a:t>
          </a:r>
        </a:p>
        <a:p>
          <a:pPr marL="0" lvl="0" indent="0" algn="l" defTabSz="577850">
            <a:lnSpc>
              <a:spcPct val="90000"/>
            </a:lnSpc>
            <a:spcBef>
              <a:spcPct val="0"/>
            </a:spcBef>
            <a:spcAft>
              <a:spcPct val="35000"/>
            </a:spcAft>
            <a:buNone/>
          </a:pPr>
          <a:r>
            <a:rPr lang="en-US" sz="1300" kern="1200"/>
            <a:t>No more than 2 hours scheduled downtime per week</a:t>
          </a:r>
        </a:p>
        <a:p>
          <a:pPr marL="0" lvl="0" indent="0" algn="l" defTabSz="577850">
            <a:lnSpc>
              <a:spcPct val="90000"/>
            </a:lnSpc>
            <a:spcBef>
              <a:spcPct val="0"/>
            </a:spcBef>
            <a:spcAft>
              <a:spcPct val="35000"/>
            </a:spcAft>
            <a:buNone/>
          </a:pPr>
          <a:r>
            <a:rPr lang="en-US" sz="1300" kern="1200"/>
            <a:t>24x7x52 (100% availability)</a:t>
          </a:r>
        </a:p>
      </dsp:txBody>
      <dsp:txXfrm>
        <a:off x="5196523" y="1616573"/>
        <a:ext cx="3033076" cy="1292816"/>
      </dsp:txXfrm>
    </dsp:sp>
    <dsp:sp modelId="{2F536FFA-6496-4077-8CED-AB3B5154D30D}">
      <dsp:nvSpPr>
        <dsp:cNvPr id="0" name=""/>
        <dsp:cNvSpPr/>
      </dsp:nvSpPr>
      <dsp:spPr>
        <a:xfrm>
          <a:off x="0" y="3232593"/>
          <a:ext cx="82296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156B97-8682-4422-A085-553A851D3DA9}">
      <dsp:nvSpPr>
        <dsp:cNvPr id="0" name=""/>
        <dsp:cNvSpPr/>
      </dsp:nvSpPr>
      <dsp:spPr>
        <a:xfrm>
          <a:off x="391077" y="3523477"/>
          <a:ext cx="711049" cy="7110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DFF8BE2-BB10-4FAC-8154-9E884BF92A03}">
      <dsp:nvSpPr>
        <dsp:cNvPr id="0" name=""/>
        <dsp:cNvSpPr/>
      </dsp:nvSpPr>
      <dsp:spPr>
        <a:xfrm>
          <a:off x="1493203" y="3232593"/>
          <a:ext cx="3703320"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066800">
            <a:lnSpc>
              <a:spcPct val="90000"/>
            </a:lnSpc>
            <a:spcBef>
              <a:spcPct val="0"/>
            </a:spcBef>
            <a:spcAft>
              <a:spcPct val="35000"/>
            </a:spcAft>
            <a:buNone/>
          </a:pPr>
          <a:r>
            <a:rPr lang="en-US" sz="2400" kern="1200"/>
            <a:t>Related to an application</a:t>
          </a:r>
          <a:r>
            <a:rPr lang="ja-JP" sz="2400" kern="1200"/>
            <a:t>’</a:t>
          </a:r>
          <a:r>
            <a:rPr lang="en-US" sz="2400" kern="1200"/>
            <a:t>s reliability </a:t>
          </a:r>
        </a:p>
      </dsp:txBody>
      <dsp:txXfrm>
        <a:off x="1493203" y="3232593"/>
        <a:ext cx="3703320" cy="1292816"/>
      </dsp:txXfrm>
    </dsp:sp>
    <dsp:sp modelId="{18F79F68-E646-4E69-906E-61513B45E871}">
      <dsp:nvSpPr>
        <dsp:cNvPr id="0" name=""/>
        <dsp:cNvSpPr/>
      </dsp:nvSpPr>
      <dsp:spPr>
        <a:xfrm>
          <a:off x="5196523" y="3232593"/>
          <a:ext cx="303307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577850">
            <a:lnSpc>
              <a:spcPct val="90000"/>
            </a:lnSpc>
            <a:spcBef>
              <a:spcPct val="0"/>
            </a:spcBef>
            <a:spcAft>
              <a:spcPct val="35000"/>
            </a:spcAft>
            <a:buNone/>
          </a:pPr>
          <a:r>
            <a:rPr lang="en-US" sz="1300" kern="1200"/>
            <a:t>Unreliable applications suffer poor availability</a:t>
          </a:r>
        </a:p>
      </dsp:txBody>
      <dsp:txXfrm>
        <a:off x="5196523" y="3232593"/>
        <a:ext cx="3033076" cy="129281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F5C857-AB76-4FEE-A100-8B18FF5928EC}">
      <dsp:nvSpPr>
        <dsp:cNvPr id="0" name=""/>
        <dsp:cNvSpPr/>
      </dsp:nvSpPr>
      <dsp:spPr>
        <a:xfrm>
          <a:off x="0" y="735468"/>
          <a:ext cx="82296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652D16-72C0-42CD-83CF-A490B552B655}">
      <dsp:nvSpPr>
        <dsp:cNvPr id="0" name=""/>
        <dsp:cNvSpPr/>
      </dsp:nvSpPr>
      <dsp:spPr>
        <a:xfrm>
          <a:off x="410731" y="1040971"/>
          <a:ext cx="746783" cy="7467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A2AFC8-DA94-449C-A460-22F9996181A0}">
      <dsp:nvSpPr>
        <dsp:cNvPr id="0" name=""/>
        <dsp:cNvSpPr/>
      </dsp:nvSpPr>
      <dsp:spPr>
        <a:xfrm>
          <a:off x="1568246" y="735468"/>
          <a:ext cx="3703320"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933450">
            <a:lnSpc>
              <a:spcPct val="90000"/>
            </a:lnSpc>
            <a:spcBef>
              <a:spcPct val="0"/>
            </a:spcBef>
            <a:spcAft>
              <a:spcPct val="35000"/>
            </a:spcAft>
            <a:buNone/>
          </a:pPr>
          <a:r>
            <a:rPr lang="en-US" sz="2100" kern="1200"/>
            <a:t>ease with which an application can be incorporated into a broader application context </a:t>
          </a:r>
        </a:p>
      </dsp:txBody>
      <dsp:txXfrm>
        <a:off x="1568246" y="735468"/>
        <a:ext cx="3703320" cy="1357788"/>
      </dsp:txXfrm>
    </dsp:sp>
    <dsp:sp modelId="{28BAC7A7-51A5-439D-8475-F79BEA97D2D3}">
      <dsp:nvSpPr>
        <dsp:cNvPr id="0" name=""/>
        <dsp:cNvSpPr/>
      </dsp:nvSpPr>
      <dsp:spPr>
        <a:xfrm>
          <a:off x="5271566" y="735468"/>
          <a:ext cx="295803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711200">
            <a:lnSpc>
              <a:spcPct val="90000"/>
            </a:lnSpc>
            <a:spcBef>
              <a:spcPct val="0"/>
            </a:spcBef>
            <a:spcAft>
              <a:spcPct val="35000"/>
            </a:spcAft>
            <a:buNone/>
          </a:pPr>
          <a:r>
            <a:rPr lang="en-US" sz="1600" kern="1200"/>
            <a:t>Use component in ways that the designer did not originally anticipate </a:t>
          </a:r>
        </a:p>
      </dsp:txBody>
      <dsp:txXfrm>
        <a:off x="5271566" y="735468"/>
        <a:ext cx="2958033" cy="1357788"/>
      </dsp:txXfrm>
    </dsp:sp>
    <dsp:sp modelId="{289D0438-01BA-4B72-9B25-2D6D39FA784D}">
      <dsp:nvSpPr>
        <dsp:cNvPr id="0" name=""/>
        <dsp:cNvSpPr/>
      </dsp:nvSpPr>
      <dsp:spPr>
        <a:xfrm>
          <a:off x="0" y="2432705"/>
          <a:ext cx="82296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59650C-CAB2-4D86-ABE4-E371DCE84510}">
      <dsp:nvSpPr>
        <dsp:cNvPr id="0" name=""/>
        <dsp:cNvSpPr/>
      </dsp:nvSpPr>
      <dsp:spPr>
        <a:xfrm>
          <a:off x="410731" y="2738207"/>
          <a:ext cx="746783" cy="7467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8124CDA-983A-4F3D-A036-E73F04D335C9}">
      <dsp:nvSpPr>
        <dsp:cNvPr id="0" name=""/>
        <dsp:cNvSpPr/>
      </dsp:nvSpPr>
      <dsp:spPr>
        <a:xfrm>
          <a:off x="1568246" y="2432705"/>
          <a:ext cx="3703320"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933450">
            <a:lnSpc>
              <a:spcPct val="90000"/>
            </a:lnSpc>
            <a:spcBef>
              <a:spcPct val="0"/>
            </a:spcBef>
            <a:spcAft>
              <a:spcPct val="35000"/>
            </a:spcAft>
            <a:buNone/>
          </a:pPr>
          <a:r>
            <a:rPr lang="en-US" sz="2100" kern="1200"/>
            <a:t>Typically achieved by:</a:t>
          </a:r>
        </a:p>
      </dsp:txBody>
      <dsp:txXfrm>
        <a:off x="1568246" y="2432705"/>
        <a:ext cx="3703320" cy="1357788"/>
      </dsp:txXfrm>
    </dsp:sp>
    <dsp:sp modelId="{360850AF-73CA-409F-B8D5-F607183723A8}">
      <dsp:nvSpPr>
        <dsp:cNvPr id="0" name=""/>
        <dsp:cNvSpPr/>
      </dsp:nvSpPr>
      <dsp:spPr>
        <a:xfrm>
          <a:off x="5271566" y="2432705"/>
          <a:ext cx="295803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711200">
            <a:lnSpc>
              <a:spcPct val="90000"/>
            </a:lnSpc>
            <a:spcBef>
              <a:spcPct val="0"/>
            </a:spcBef>
            <a:spcAft>
              <a:spcPct val="35000"/>
            </a:spcAft>
            <a:buNone/>
          </a:pPr>
          <a:r>
            <a:rPr lang="en-US" sz="1600" kern="1200"/>
            <a:t>Programmatic APIs</a:t>
          </a:r>
        </a:p>
        <a:p>
          <a:pPr marL="0" lvl="0" indent="0" algn="l" defTabSz="711200">
            <a:lnSpc>
              <a:spcPct val="90000"/>
            </a:lnSpc>
            <a:spcBef>
              <a:spcPct val="0"/>
            </a:spcBef>
            <a:spcAft>
              <a:spcPct val="35000"/>
            </a:spcAft>
            <a:buNone/>
          </a:pPr>
          <a:r>
            <a:rPr lang="en-US" sz="1600" kern="1200"/>
            <a:t>Data integration</a:t>
          </a:r>
        </a:p>
      </dsp:txBody>
      <dsp:txXfrm>
        <a:off x="5271566" y="2432705"/>
        <a:ext cx="2958033" cy="135778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C8858A-A960-814C-B28A-B6C664798A12}">
      <dsp:nvSpPr>
        <dsp:cNvPr id="0" name=""/>
        <dsp:cNvSpPr/>
      </dsp:nvSpPr>
      <dsp:spPr>
        <a:xfrm rot="5400000">
          <a:off x="5247917" y="-2196217"/>
          <a:ext cx="696421" cy="5266944"/>
        </a:xfrm>
        <a:prstGeom prst="round2SameRect">
          <a:avLst/>
        </a:prstGeom>
        <a:solidFill>
          <a:schemeClr val="accent3">
            <a:alpha val="90000"/>
            <a:tint val="40000"/>
            <a:hueOff val="0"/>
            <a:satOff val="0"/>
            <a:lumOff val="0"/>
            <a:alphaOff val="0"/>
          </a:schemeClr>
        </a:solidFill>
        <a:ln w="9525" cap="flat" cmpd="sng" algn="ctr">
          <a:solidFill>
            <a:schemeClr val="accent3">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US" sz="1900" kern="1200"/>
            <a:t>ASP.NET MVC, MonoRail</a:t>
          </a:r>
        </a:p>
      </dsp:txBody>
      <dsp:txXfrm rot="-5400000">
        <a:off x="2962656" y="123040"/>
        <a:ext cx="5232948" cy="628429"/>
      </dsp:txXfrm>
    </dsp:sp>
    <dsp:sp modelId="{E684424F-6F63-E342-B13E-3C9E1278DA52}">
      <dsp:nvSpPr>
        <dsp:cNvPr id="0" name=""/>
        <dsp:cNvSpPr/>
      </dsp:nvSpPr>
      <dsp:spPr>
        <a:xfrm>
          <a:off x="0" y="1991"/>
          <a:ext cx="2962656" cy="870527"/>
        </a:xfrm>
        <a:prstGeom prst="roundRect">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US" sz="3700" kern="1200"/>
            <a:t>.NET</a:t>
          </a:r>
        </a:p>
      </dsp:txBody>
      <dsp:txXfrm>
        <a:off x="42496" y="44487"/>
        <a:ext cx="2877664" cy="785535"/>
      </dsp:txXfrm>
    </dsp:sp>
    <dsp:sp modelId="{EE164DC8-E4CE-4D49-9C3D-FF49AD4E838A}">
      <dsp:nvSpPr>
        <dsp:cNvPr id="0" name=""/>
        <dsp:cNvSpPr/>
      </dsp:nvSpPr>
      <dsp:spPr>
        <a:xfrm rot="5400000">
          <a:off x="5247917" y="-1282163"/>
          <a:ext cx="696421" cy="5266944"/>
        </a:xfrm>
        <a:prstGeom prst="round2SameRect">
          <a:avLst/>
        </a:prstGeom>
        <a:solidFill>
          <a:schemeClr val="accent3">
            <a:alpha val="90000"/>
            <a:tint val="40000"/>
            <a:hueOff val="0"/>
            <a:satOff val="0"/>
            <a:lumOff val="0"/>
            <a:alphaOff val="0"/>
          </a:schemeClr>
        </a:solidFill>
        <a:ln w="9525" cap="flat" cmpd="sng" algn="ctr">
          <a:solidFill>
            <a:schemeClr val="accent3">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US" sz="1900" kern="1200"/>
            <a:t>JavaServer Faces (JSF), Struts, Spring Web MVC, Tapestry, JBoss Seam, Swing</a:t>
          </a:r>
        </a:p>
      </dsp:txBody>
      <dsp:txXfrm rot="-5400000">
        <a:off x="2962656" y="1037094"/>
        <a:ext cx="5232948" cy="628429"/>
      </dsp:txXfrm>
    </dsp:sp>
    <dsp:sp modelId="{2F16E492-B192-4043-A789-F40D24111D4D}">
      <dsp:nvSpPr>
        <dsp:cNvPr id="0" name=""/>
        <dsp:cNvSpPr/>
      </dsp:nvSpPr>
      <dsp:spPr>
        <a:xfrm>
          <a:off x="0" y="916044"/>
          <a:ext cx="2962656" cy="870527"/>
        </a:xfrm>
        <a:prstGeom prst="roundRect">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US" sz="3700" kern="1200"/>
            <a:t>Java</a:t>
          </a:r>
        </a:p>
      </dsp:txBody>
      <dsp:txXfrm>
        <a:off x="42496" y="958540"/>
        <a:ext cx="2877664" cy="785535"/>
      </dsp:txXfrm>
    </dsp:sp>
    <dsp:sp modelId="{9748E661-2856-6548-B4E0-FD99A650F61C}">
      <dsp:nvSpPr>
        <dsp:cNvPr id="0" name=""/>
        <dsp:cNvSpPr/>
      </dsp:nvSpPr>
      <dsp:spPr>
        <a:xfrm rot="5400000">
          <a:off x="5247917" y="-368109"/>
          <a:ext cx="696421" cy="5266944"/>
        </a:xfrm>
        <a:prstGeom prst="round2SameRect">
          <a:avLst/>
        </a:prstGeom>
        <a:solidFill>
          <a:schemeClr val="accent3">
            <a:alpha val="90000"/>
            <a:tint val="40000"/>
            <a:hueOff val="0"/>
            <a:satOff val="0"/>
            <a:lumOff val="0"/>
            <a:alphaOff val="0"/>
          </a:schemeClr>
        </a:solidFill>
        <a:ln w="9525" cap="flat" cmpd="sng" algn="ctr">
          <a:solidFill>
            <a:schemeClr val="accent3">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US" sz="1900" kern="1200"/>
            <a:t>CakePHP, Symfony, Zend</a:t>
          </a:r>
          <a:r>
            <a:rPr lang="bg-BG" sz="1900" kern="1200"/>
            <a:t>, </a:t>
          </a:r>
          <a:r>
            <a:rPr lang="en-US" sz="1900" kern="1200"/>
            <a:t>Joomla</a:t>
          </a:r>
          <a:r>
            <a:rPr lang="bg-BG" sz="1900" kern="1200"/>
            <a:t>, </a:t>
          </a:r>
          <a:r>
            <a:rPr lang="en-US" sz="1900" kern="1200"/>
            <a:t>Yii, Mojavi</a:t>
          </a:r>
        </a:p>
      </dsp:txBody>
      <dsp:txXfrm rot="-5400000">
        <a:off x="2962656" y="1951148"/>
        <a:ext cx="5232948" cy="628429"/>
      </dsp:txXfrm>
    </dsp:sp>
    <dsp:sp modelId="{CBD38066-E899-F641-8ADA-1CCC82932C97}">
      <dsp:nvSpPr>
        <dsp:cNvPr id="0" name=""/>
        <dsp:cNvSpPr/>
      </dsp:nvSpPr>
      <dsp:spPr>
        <a:xfrm>
          <a:off x="0" y="1830098"/>
          <a:ext cx="2962656" cy="870527"/>
        </a:xfrm>
        <a:prstGeom prst="roundRect">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US" sz="3700" kern="1200"/>
            <a:t>PHP</a:t>
          </a:r>
        </a:p>
      </dsp:txBody>
      <dsp:txXfrm>
        <a:off x="42496" y="1872594"/>
        <a:ext cx="2877664" cy="785535"/>
      </dsp:txXfrm>
    </dsp:sp>
    <dsp:sp modelId="{B86FEE03-8F98-444E-AECB-D4B75E1D3C4F}">
      <dsp:nvSpPr>
        <dsp:cNvPr id="0" name=""/>
        <dsp:cNvSpPr/>
      </dsp:nvSpPr>
      <dsp:spPr>
        <a:xfrm rot="5400000">
          <a:off x="5247917" y="545944"/>
          <a:ext cx="696421" cy="5266944"/>
        </a:xfrm>
        <a:prstGeom prst="round2SameRect">
          <a:avLst/>
        </a:prstGeom>
        <a:solidFill>
          <a:schemeClr val="accent3">
            <a:alpha val="90000"/>
            <a:tint val="40000"/>
            <a:hueOff val="0"/>
            <a:satOff val="0"/>
            <a:lumOff val="0"/>
            <a:alphaOff val="0"/>
          </a:schemeClr>
        </a:solidFill>
        <a:ln w="9525" cap="flat" cmpd="sng" algn="ctr">
          <a:solidFill>
            <a:schemeClr val="accent3">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US" sz="1900" kern="1200"/>
            <a:t>Django, Zope Application Server, TurboGears</a:t>
          </a:r>
        </a:p>
      </dsp:txBody>
      <dsp:txXfrm rot="-5400000">
        <a:off x="2962656" y="2865201"/>
        <a:ext cx="5232948" cy="628429"/>
      </dsp:txXfrm>
    </dsp:sp>
    <dsp:sp modelId="{D58381F3-BC4F-A942-AE41-7DC5B81C8279}">
      <dsp:nvSpPr>
        <dsp:cNvPr id="0" name=""/>
        <dsp:cNvSpPr/>
      </dsp:nvSpPr>
      <dsp:spPr>
        <a:xfrm>
          <a:off x="0" y="2744152"/>
          <a:ext cx="2962656" cy="870527"/>
        </a:xfrm>
        <a:prstGeom prst="roundRect">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US" sz="3700" kern="1200"/>
            <a:t>Python</a:t>
          </a:r>
        </a:p>
      </dsp:txBody>
      <dsp:txXfrm>
        <a:off x="42496" y="2786648"/>
        <a:ext cx="2877664" cy="785535"/>
      </dsp:txXfrm>
    </dsp:sp>
    <dsp:sp modelId="{461FB9AE-8929-BF47-A629-3AF656045903}">
      <dsp:nvSpPr>
        <dsp:cNvPr id="0" name=""/>
        <dsp:cNvSpPr/>
      </dsp:nvSpPr>
      <dsp:spPr>
        <a:xfrm rot="5400000">
          <a:off x="5247917" y="1459998"/>
          <a:ext cx="696421" cy="5266944"/>
        </a:xfrm>
        <a:prstGeom prst="round2SameRect">
          <a:avLst/>
        </a:prstGeom>
        <a:solidFill>
          <a:schemeClr val="accent3">
            <a:alpha val="90000"/>
            <a:tint val="40000"/>
            <a:hueOff val="0"/>
            <a:satOff val="0"/>
            <a:lumOff val="0"/>
            <a:alphaOff val="0"/>
          </a:schemeClr>
        </a:solidFill>
        <a:ln w="9525" cap="flat" cmpd="sng" algn="ctr">
          <a:solidFill>
            <a:schemeClr val="accent3">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US" sz="1900" kern="1200"/>
            <a:t>Ruby on Rails</a:t>
          </a:r>
          <a:endParaRPr lang="en-US" sz="1900" kern="1200" dirty="0"/>
        </a:p>
      </dsp:txBody>
      <dsp:txXfrm rot="-5400000">
        <a:off x="2962656" y="3779255"/>
        <a:ext cx="5232948" cy="628429"/>
      </dsp:txXfrm>
    </dsp:sp>
    <dsp:sp modelId="{24E747AB-96BA-FC4D-92E8-6885CC634F79}">
      <dsp:nvSpPr>
        <dsp:cNvPr id="0" name=""/>
        <dsp:cNvSpPr/>
      </dsp:nvSpPr>
      <dsp:spPr>
        <a:xfrm>
          <a:off x="0" y="3658206"/>
          <a:ext cx="2962656" cy="870527"/>
        </a:xfrm>
        <a:prstGeom prst="roundRect">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US" sz="3700" kern="1200"/>
            <a:t>Ruby on Rails</a:t>
          </a:r>
          <a:endParaRPr lang="en-US" sz="3700" kern="1200" dirty="0"/>
        </a:p>
      </dsp:txBody>
      <dsp:txXfrm>
        <a:off x="42496" y="3700702"/>
        <a:ext cx="2877664" cy="78553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461AE22-D430-DF41-AE07-97EBDE150D96}" type="datetimeFigureOut">
              <a:rPr lang="en-US" smtClean="0"/>
              <a:pPr/>
              <a:t>12/20/21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35C6E44-75D0-C24F-A2A6-8C06F77DC669}" type="slidenum">
              <a:rPr lang="en-US" smtClean="0"/>
              <a:pPr/>
              <a:t>‹#›</a:t>
            </a:fld>
            <a:endParaRPr lang="en-US"/>
          </a:p>
        </p:txBody>
      </p:sp>
    </p:spTree>
    <p:extLst>
      <p:ext uri="{BB962C8B-B14F-4D97-AF65-F5344CB8AC3E}">
        <p14:creationId xmlns:p14="http://schemas.microsoft.com/office/powerpoint/2010/main" val="299377026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161D37-7FE1-344E-983F-A3588F4C587F}" type="datetimeFigureOut">
              <a:rPr lang="en-US" smtClean="0"/>
              <a:pPr/>
              <a:t>12/20/21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158DA69-A571-1F49-91C0-61EBFAAB21F4}" type="slidenum">
              <a:rPr lang="en-US" smtClean="0"/>
              <a:pPr/>
              <a:t>‹#›</a:t>
            </a:fld>
            <a:endParaRPr lang="en-US"/>
          </a:p>
        </p:txBody>
      </p:sp>
    </p:spTree>
    <p:extLst>
      <p:ext uri="{BB962C8B-B14F-4D97-AF65-F5344CB8AC3E}">
        <p14:creationId xmlns:p14="http://schemas.microsoft.com/office/powerpoint/2010/main" val="3116176734"/>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CD284B77-61DC-0945-86B9-4040DD57A60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F0524CC7-902F-6C42-BEFF-6B5575F99713}" type="slidenum">
              <a:rPr lang="en-US" altLang="en-US" sz="1200"/>
              <a:pPr/>
              <a:t>61</a:t>
            </a:fld>
            <a:endParaRPr lang="en-US" altLang="en-US" sz="1200"/>
          </a:p>
        </p:txBody>
      </p:sp>
      <p:sp>
        <p:nvSpPr>
          <p:cNvPr id="38914" name="Rectangle 2">
            <a:extLst>
              <a:ext uri="{FF2B5EF4-FFF2-40B4-BE49-F238E27FC236}">
                <a16:creationId xmlns:a16="http://schemas.microsoft.com/office/drawing/2014/main" id="{753C4385-EDCB-B342-8ECE-2A5CA1EBC31A}"/>
              </a:ext>
            </a:extLst>
          </p:cNvPr>
          <p:cNvSpPr>
            <a:spLocks noGrp="1" noRot="1" noChangeAspect="1" noChangeArrowheads="1" noTextEdit="1"/>
          </p:cNvSpPr>
          <p:nvPr>
            <p:ph type="sldImg"/>
          </p:nvPr>
        </p:nvSpPr>
        <p:spPr>
          <a:xfrm>
            <a:off x="1146175" y="687388"/>
            <a:ext cx="4567238" cy="3425825"/>
          </a:xfrm>
          <a:solidFill>
            <a:srgbClr val="FFFFFF"/>
          </a:solidFill>
          <a:ln/>
        </p:spPr>
      </p:sp>
      <p:sp>
        <p:nvSpPr>
          <p:cNvPr id="38915" name="Rectangle 3">
            <a:extLst>
              <a:ext uri="{FF2B5EF4-FFF2-40B4-BE49-F238E27FC236}">
                <a16:creationId xmlns:a16="http://schemas.microsoft.com/office/drawing/2014/main" id="{1FA50324-E62F-5442-9CC4-521A377C6FC3}"/>
              </a:ext>
            </a:extLst>
          </p:cNvPr>
          <p:cNvSpPr>
            <a:spLocks noGrp="1" noChangeArrowheads="1"/>
          </p:cNvSpPr>
          <p:nvPr>
            <p:ph type="body" idx="1"/>
          </p:nvPr>
        </p:nvSpPr>
        <p:spPr>
          <a:xfrm>
            <a:off x="914400" y="4341813"/>
            <a:ext cx="5029200" cy="4116387"/>
          </a:xfrm>
          <a:solidFill>
            <a:srgbClr val="FFFFFF"/>
          </a:solidFill>
          <a:ln>
            <a:solidFill>
              <a:srgbClr val="000000"/>
            </a:solidFill>
            <a:miter lim="800000"/>
            <a:headEnd/>
            <a:tailEnd/>
          </a:ln>
        </p:spPr>
        <p:txBody>
          <a:bodyPr/>
          <a:lstStyle/>
          <a:p>
            <a:pPr eaLnBrk="1" hangingPunct="1"/>
            <a:endParaRPr lang="en-GB"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4067005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A78AA7F0-C6CB-E54E-A098-DBD9AF68316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E7566823-EE93-514B-B8A7-2B2E8E9DB937}" type="slidenum">
              <a:rPr lang="en-US" altLang="en-US" sz="1200"/>
              <a:pPr/>
              <a:t>64</a:t>
            </a:fld>
            <a:endParaRPr lang="en-US" altLang="en-US" sz="1200"/>
          </a:p>
        </p:txBody>
      </p:sp>
      <p:sp>
        <p:nvSpPr>
          <p:cNvPr id="47106" name="Rectangle 2">
            <a:extLst>
              <a:ext uri="{FF2B5EF4-FFF2-40B4-BE49-F238E27FC236}">
                <a16:creationId xmlns:a16="http://schemas.microsoft.com/office/drawing/2014/main" id="{088EC7A2-2FDA-E840-830D-1F939CDF4D88}"/>
              </a:ext>
            </a:extLst>
          </p:cNvPr>
          <p:cNvSpPr>
            <a:spLocks noGrp="1" noRot="1" noChangeAspect="1" noChangeArrowheads="1" noTextEdit="1"/>
          </p:cNvSpPr>
          <p:nvPr>
            <p:ph type="sldImg"/>
          </p:nvPr>
        </p:nvSpPr>
        <p:spPr>
          <a:xfrm>
            <a:off x="1146175" y="687388"/>
            <a:ext cx="4567238" cy="3425825"/>
          </a:xfrm>
          <a:solidFill>
            <a:srgbClr val="FFFFFF"/>
          </a:solidFill>
          <a:ln/>
        </p:spPr>
      </p:sp>
      <p:sp>
        <p:nvSpPr>
          <p:cNvPr id="47107" name="Rectangle 3">
            <a:extLst>
              <a:ext uri="{FF2B5EF4-FFF2-40B4-BE49-F238E27FC236}">
                <a16:creationId xmlns:a16="http://schemas.microsoft.com/office/drawing/2014/main" id="{4CD20EE1-273D-864B-82A0-7E1DF4103A83}"/>
              </a:ext>
            </a:extLst>
          </p:cNvPr>
          <p:cNvSpPr>
            <a:spLocks noGrp="1" noChangeArrowheads="1"/>
          </p:cNvSpPr>
          <p:nvPr>
            <p:ph type="body" idx="1"/>
          </p:nvPr>
        </p:nvSpPr>
        <p:spPr>
          <a:xfrm>
            <a:off x="914400" y="4341813"/>
            <a:ext cx="5029200" cy="4114800"/>
          </a:xfrm>
          <a:solidFill>
            <a:srgbClr val="FFFFFF"/>
          </a:solidFill>
          <a:ln>
            <a:solidFill>
              <a:srgbClr val="000000"/>
            </a:solidFill>
            <a:miter lim="800000"/>
            <a:headEnd/>
            <a:tailEnd/>
          </a:ln>
        </p:spPr>
        <p:txBody>
          <a:bodyPr/>
          <a:lstStyle/>
          <a:p>
            <a:pPr eaLnBrk="1" hangingPunct="1"/>
            <a:endParaRPr lang="en-GB"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0439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F7E1EE5E-756B-5B4E-9DA3-9412852F383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12C687E1-0B79-5A4F-88C8-0E86651B7BD3}" type="slidenum">
              <a:rPr lang="en-US" altLang="en-US" sz="1200"/>
              <a:pPr/>
              <a:t>65</a:t>
            </a:fld>
            <a:endParaRPr lang="en-US" altLang="en-US" sz="1200"/>
          </a:p>
        </p:txBody>
      </p:sp>
      <p:sp>
        <p:nvSpPr>
          <p:cNvPr id="40962" name="Rectangle 2">
            <a:extLst>
              <a:ext uri="{FF2B5EF4-FFF2-40B4-BE49-F238E27FC236}">
                <a16:creationId xmlns:a16="http://schemas.microsoft.com/office/drawing/2014/main" id="{0BB02A8E-482E-EA41-B4F6-2D39AB82B305}"/>
              </a:ext>
            </a:extLst>
          </p:cNvPr>
          <p:cNvSpPr>
            <a:spLocks noGrp="1" noRot="1" noChangeAspect="1" noChangeArrowheads="1" noTextEdit="1"/>
          </p:cNvSpPr>
          <p:nvPr>
            <p:ph type="sldImg"/>
          </p:nvPr>
        </p:nvSpPr>
        <p:spPr>
          <a:xfrm>
            <a:off x="1146175" y="687388"/>
            <a:ext cx="4567238" cy="3425825"/>
          </a:xfrm>
          <a:solidFill>
            <a:srgbClr val="FFFFFF"/>
          </a:solidFill>
          <a:ln/>
        </p:spPr>
      </p:sp>
      <p:sp>
        <p:nvSpPr>
          <p:cNvPr id="40963" name="Rectangle 3">
            <a:extLst>
              <a:ext uri="{FF2B5EF4-FFF2-40B4-BE49-F238E27FC236}">
                <a16:creationId xmlns:a16="http://schemas.microsoft.com/office/drawing/2014/main" id="{20DD7C25-2E89-044B-852F-3CE36C422473}"/>
              </a:ext>
            </a:extLst>
          </p:cNvPr>
          <p:cNvSpPr>
            <a:spLocks noGrp="1" noChangeArrowheads="1"/>
          </p:cNvSpPr>
          <p:nvPr>
            <p:ph type="body" idx="1"/>
          </p:nvPr>
        </p:nvSpPr>
        <p:spPr>
          <a:xfrm>
            <a:off x="914400" y="4341813"/>
            <a:ext cx="5029200" cy="4114800"/>
          </a:xfrm>
          <a:solidFill>
            <a:srgbClr val="FFFFFF"/>
          </a:solidFill>
          <a:ln>
            <a:solidFill>
              <a:srgbClr val="000000"/>
            </a:solidFill>
            <a:miter lim="800000"/>
            <a:headEnd/>
            <a:tailEnd/>
          </a:ln>
        </p:spPr>
        <p:txBody>
          <a:bodyPr/>
          <a:lstStyle/>
          <a:p>
            <a:pPr eaLnBrk="1" hangingPunct="1"/>
            <a:endParaRPr lang="en-GB"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387144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EC34EA2A-1A60-4D61-8EFA-3431F40DAB6C}" type="slidenum">
              <a:rPr lang="en-MY" smtClean="0"/>
              <a:t>83</a:t>
            </a:fld>
            <a:endParaRPr lang="en-MY"/>
          </a:p>
        </p:txBody>
      </p:sp>
    </p:spTree>
    <p:extLst>
      <p:ext uri="{BB962C8B-B14F-4D97-AF65-F5344CB8AC3E}">
        <p14:creationId xmlns:p14="http://schemas.microsoft.com/office/powerpoint/2010/main" val="33328280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a:extLst>
              <a:ext uri="{FF2B5EF4-FFF2-40B4-BE49-F238E27FC236}">
                <a16:creationId xmlns:a16="http://schemas.microsoft.com/office/drawing/2014/main" id="{B3D19CC8-F9B7-FB49-9193-EA2D1768BE0C}"/>
              </a:ext>
            </a:extLst>
          </p:cNvPr>
          <p:cNvSpPr>
            <a:spLocks noGrp="1" noRot="1" noChangeAspect="1" noChangeArrowheads="1" noTextEdit="1"/>
          </p:cNvSpPr>
          <p:nvPr>
            <p:ph type="sldImg"/>
          </p:nvPr>
        </p:nvSpPr>
        <p:spPr>
          <a:ln/>
        </p:spPr>
      </p:sp>
      <p:sp>
        <p:nvSpPr>
          <p:cNvPr id="22530" name="Notes Placeholder 2">
            <a:extLst>
              <a:ext uri="{FF2B5EF4-FFF2-40B4-BE49-F238E27FC236}">
                <a16:creationId xmlns:a16="http://schemas.microsoft.com/office/drawing/2014/main" id="{87FFE63A-C68E-B24B-A752-E9E9D5AC4C1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latin typeface="Arial" panose="020B0604020202020204" pitchFamily="34" charset="0"/>
              <a:ea typeface="ＭＳ Ｐゴシック" panose="020B0600070205080204" pitchFamily="34" charset="-128"/>
            </a:endParaRPr>
          </a:p>
        </p:txBody>
      </p:sp>
      <p:sp>
        <p:nvSpPr>
          <p:cNvPr id="22531" name="Slide Number Placeholder 3">
            <a:extLst>
              <a:ext uri="{FF2B5EF4-FFF2-40B4-BE49-F238E27FC236}">
                <a16:creationId xmlns:a16="http://schemas.microsoft.com/office/drawing/2014/main" id="{3BFD66FE-9B47-FA40-880D-C65F9DD4AAE5}"/>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101A77AD-1BB0-9546-929D-7DBCB68F56EF}" type="slidenum">
              <a:rPr lang="en-US" altLang="en-US"/>
              <a:pPr/>
              <a:t>92</a:t>
            </a:fld>
            <a:endParaRPr lang="en-US" altLang="en-US"/>
          </a:p>
        </p:txBody>
      </p:sp>
    </p:spTree>
    <p:extLst>
      <p:ext uri="{BB962C8B-B14F-4D97-AF65-F5344CB8AC3E}">
        <p14:creationId xmlns:p14="http://schemas.microsoft.com/office/powerpoint/2010/main" val="2123124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a:extLst>
              <a:ext uri="{FF2B5EF4-FFF2-40B4-BE49-F238E27FC236}">
                <a16:creationId xmlns:a16="http://schemas.microsoft.com/office/drawing/2014/main" id="{A364AF7D-F7E6-6D44-B9E3-E213BD4DF857}"/>
              </a:ext>
            </a:extLst>
          </p:cNvPr>
          <p:cNvSpPr>
            <a:spLocks noGrp="1" noRot="1" noChangeAspect="1" noChangeArrowheads="1" noTextEdit="1"/>
          </p:cNvSpPr>
          <p:nvPr>
            <p:ph type="sldImg"/>
          </p:nvPr>
        </p:nvSpPr>
        <p:spPr>
          <a:ln/>
        </p:spPr>
      </p:sp>
      <p:sp>
        <p:nvSpPr>
          <p:cNvPr id="24578" name="Notes Placeholder 2">
            <a:extLst>
              <a:ext uri="{FF2B5EF4-FFF2-40B4-BE49-F238E27FC236}">
                <a16:creationId xmlns:a16="http://schemas.microsoft.com/office/drawing/2014/main" id="{1F676EDD-6E94-4B4C-BECC-E3DB67A34231}"/>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latin typeface="Arial" panose="020B0604020202020204" pitchFamily="34" charset="0"/>
              <a:ea typeface="ＭＳ Ｐゴシック" panose="020B0600070205080204" pitchFamily="34" charset="-128"/>
            </a:endParaRPr>
          </a:p>
        </p:txBody>
      </p:sp>
      <p:sp>
        <p:nvSpPr>
          <p:cNvPr id="24579" name="Slide Number Placeholder 3">
            <a:extLst>
              <a:ext uri="{FF2B5EF4-FFF2-40B4-BE49-F238E27FC236}">
                <a16:creationId xmlns:a16="http://schemas.microsoft.com/office/drawing/2014/main" id="{2E2C7DB6-AE34-424C-BC4E-BDE236E1DAC1}"/>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A4D8D605-5294-5640-96FF-A945C4534088}" type="slidenum">
              <a:rPr lang="en-US" altLang="en-US"/>
              <a:pPr/>
              <a:t>93</a:t>
            </a:fld>
            <a:endParaRPr lang="en-US" altLang="en-US"/>
          </a:p>
        </p:txBody>
      </p:sp>
    </p:spTree>
    <p:extLst>
      <p:ext uri="{BB962C8B-B14F-4D97-AF65-F5344CB8AC3E}">
        <p14:creationId xmlns:p14="http://schemas.microsoft.com/office/powerpoint/2010/main" val="15919434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a:extLst>
              <a:ext uri="{FF2B5EF4-FFF2-40B4-BE49-F238E27FC236}">
                <a16:creationId xmlns:a16="http://schemas.microsoft.com/office/drawing/2014/main" id="{6B361FD7-5898-6749-8C26-75C61E086552}"/>
              </a:ext>
            </a:extLst>
          </p:cNvPr>
          <p:cNvSpPr>
            <a:spLocks noGrp="1" noRot="1" noChangeAspect="1" noChangeArrowheads="1" noTextEdit="1"/>
          </p:cNvSpPr>
          <p:nvPr>
            <p:ph type="sldImg"/>
          </p:nvPr>
        </p:nvSpPr>
        <p:spPr>
          <a:ln/>
        </p:spPr>
      </p:sp>
      <p:sp>
        <p:nvSpPr>
          <p:cNvPr id="26626" name="Notes Placeholder 2">
            <a:extLst>
              <a:ext uri="{FF2B5EF4-FFF2-40B4-BE49-F238E27FC236}">
                <a16:creationId xmlns:a16="http://schemas.microsoft.com/office/drawing/2014/main" id="{0D9D0495-6E50-7A43-9A51-D6978410750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latin typeface="Arial" panose="020B0604020202020204" pitchFamily="34" charset="0"/>
              <a:ea typeface="ＭＳ Ｐゴシック" panose="020B0600070205080204" pitchFamily="34" charset="-128"/>
            </a:endParaRPr>
          </a:p>
        </p:txBody>
      </p:sp>
      <p:sp>
        <p:nvSpPr>
          <p:cNvPr id="26627" name="Slide Number Placeholder 3">
            <a:extLst>
              <a:ext uri="{FF2B5EF4-FFF2-40B4-BE49-F238E27FC236}">
                <a16:creationId xmlns:a16="http://schemas.microsoft.com/office/drawing/2014/main" id="{617C2FFF-685B-C741-8704-9DB9F2CFB915}"/>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45926ADD-93B1-5841-8CDC-102954D23443}" type="slidenum">
              <a:rPr lang="en-US" altLang="en-US"/>
              <a:pPr/>
              <a:t>94</a:t>
            </a:fld>
            <a:endParaRPr lang="en-US" altLang="en-US"/>
          </a:p>
        </p:txBody>
      </p:sp>
    </p:spTree>
    <p:extLst>
      <p:ext uri="{BB962C8B-B14F-4D97-AF65-F5344CB8AC3E}">
        <p14:creationId xmlns:p14="http://schemas.microsoft.com/office/powerpoint/2010/main" val="24491054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a:extLst>
              <a:ext uri="{FF2B5EF4-FFF2-40B4-BE49-F238E27FC236}">
                <a16:creationId xmlns:a16="http://schemas.microsoft.com/office/drawing/2014/main" id="{013DD408-AFCB-8447-BD57-C196DA05028C}"/>
              </a:ext>
            </a:extLst>
          </p:cNvPr>
          <p:cNvSpPr>
            <a:spLocks noGrp="1" noRot="1" noChangeAspect="1" noChangeArrowheads="1" noTextEdit="1"/>
          </p:cNvSpPr>
          <p:nvPr>
            <p:ph type="sldImg"/>
          </p:nvPr>
        </p:nvSpPr>
        <p:spPr>
          <a:ln/>
        </p:spPr>
      </p:sp>
      <p:sp>
        <p:nvSpPr>
          <p:cNvPr id="28674" name="Notes Placeholder 2">
            <a:extLst>
              <a:ext uri="{FF2B5EF4-FFF2-40B4-BE49-F238E27FC236}">
                <a16:creationId xmlns:a16="http://schemas.microsoft.com/office/drawing/2014/main" id="{FEDCC78D-5144-8A47-A0D5-ABC59286807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latin typeface="Arial" panose="020B0604020202020204" pitchFamily="34" charset="0"/>
              <a:ea typeface="ＭＳ Ｐゴシック" panose="020B0600070205080204" pitchFamily="34" charset="-128"/>
            </a:endParaRPr>
          </a:p>
        </p:txBody>
      </p:sp>
      <p:sp>
        <p:nvSpPr>
          <p:cNvPr id="28675" name="Slide Number Placeholder 3">
            <a:extLst>
              <a:ext uri="{FF2B5EF4-FFF2-40B4-BE49-F238E27FC236}">
                <a16:creationId xmlns:a16="http://schemas.microsoft.com/office/drawing/2014/main" id="{3218FEAF-5467-8942-95FA-9609794693A9}"/>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A152D275-4EE4-9641-A4B5-C5FAF7070346}" type="slidenum">
              <a:rPr lang="en-US" altLang="en-US"/>
              <a:pPr/>
              <a:t>95</a:t>
            </a:fld>
            <a:endParaRPr lang="en-US" altLang="en-US"/>
          </a:p>
        </p:txBody>
      </p:sp>
    </p:spTree>
    <p:extLst>
      <p:ext uri="{BB962C8B-B14F-4D97-AF65-F5344CB8AC3E}">
        <p14:creationId xmlns:p14="http://schemas.microsoft.com/office/powerpoint/2010/main" val="36064702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a:extLst>
              <a:ext uri="{FF2B5EF4-FFF2-40B4-BE49-F238E27FC236}">
                <a16:creationId xmlns:a16="http://schemas.microsoft.com/office/drawing/2014/main" id="{0564DB4B-0233-3847-8D6C-E862B414B8C9}"/>
              </a:ext>
            </a:extLst>
          </p:cNvPr>
          <p:cNvSpPr>
            <a:spLocks noGrp="1" noRot="1" noChangeAspect="1" noChangeArrowheads="1" noTextEdit="1"/>
          </p:cNvSpPr>
          <p:nvPr>
            <p:ph type="sldImg"/>
          </p:nvPr>
        </p:nvSpPr>
        <p:spPr>
          <a:ln/>
        </p:spPr>
      </p:sp>
      <p:sp>
        <p:nvSpPr>
          <p:cNvPr id="30722" name="Notes Placeholder 2">
            <a:extLst>
              <a:ext uri="{FF2B5EF4-FFF2-40B4-BE49-F238E27FC236}">
                <a16:creationId xmlns:a16="http://schemas.microsoft.com/office/drawing/2014/main" id="{996CF3B0-9D0A-3746-85BA-8C4E37DC435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latin typeface="Arial" panose="020B0604020202020204" pitchFamily="34" charset="0"/>
              <a:ea typeface="ＭＳ Ｐゴシック" panose="020B0600070205080204" pitchFamily="34" charset="-128"/>
            </a:endParaRPr>
          </a:p>
        </p:txBody>
      </p:sp>
      <p:sp>
        <p:nvSpPr>
          <p:cNvPr id="30723" name="Slide Number Placeholder 3">
            <a:extLst>
              <a:ext uri="{FF2B5EF4-FFF2-40B4-BE49-F238E27FC236}">
                <a16:creationId xmlns:a16="http://schemas.microsoft.com/office/drawing/2014/main" id="{AA12E719-E46C-934A-ABEE-ACAA97D46CF3}"/>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2B56096A-723C-7944-8B78-0273FC27986E}" type="slidenum">
              <a:rPr lang="en-US" altLang="en-US"/>
              <a:pPr/>
              <a:t>96</a:t>
            </a:fld>
            <a:endParaRPr lang="en-US" altLang="en-US"/>
          </a:p>
        </p:txBody>
      </p:sp>
    </p:spTree>
    <p:extLst>
      <p:ext uri="{BB962C8B-B14F-4D97-AF65-F5344CB8AC3E}">
        <p14:creationId xmlns:p14="http://schemas.microsoft.com/office/powerpoint/2010/main" val="15072772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a:extLst>
              <a:ext uri="{FF2B5EF4-FFF2-40B4-BE49-F238E27FC236}">
                <a16:creationId xmlns:a16="http://schemas.microsoft.com/office/drawing/2014/main" id="{5C8285F3-098D-114F-B685-BD128B21A1E6}"/>
              </a:ext>
            </a:extLst>
          </p:cNvPr>
          <p:cNvSpPr>
            <a:spLocks noGrp="1" noRot="1" noChangeAspect="1" noChangeArrowheads="1" noTextEdit="1"/>
          </p:cNvSpPr>
          <p:nvPr>
            <p:ph type="sldImg"/>
          </p:nvPr>
        </p:nvSpPr>
        <p:spPr>
          <a:ln/>
        </p:spPr>
      </p:sp>
      <p:sp>
        <p:nvSpPr>
          <p:cNvPr id="32770" name="Notes Placeholder 2">
            <a:extLst>
              <a:ext uri="{FF2B5EF4-FFF2-40B4-BE49-F238E27FC236}">
                <a16:creationId xmlns:a16="http://schemas.microsoft.com/office/drawing/2014/main" id="{CB133713-2F16-284F-AD05-732B1CCA9585}"/>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latin typeface="Arial" panose="020B0604020202020204" pitchFamily="34" charset="0"/>
              <a:ea typeface="ＭＳ Ｐゴシック" panose="020B0600070205080204" pitchFamily="34" charset="-128"/>
            </a:endParaRPr>
          </a:p>
        </p:txBody>
      </p:sp>
      <p:sp>
        <p:nvSpPr>
          <p:cNvPr id="32771" name="Slide Number Placeholder 3">
            <a:extLst>
              <a:ext uri="{FF2B5EF4-FFF2-40B4-BE49-F238E27FC236}">
                <a16:creationId xmlns:a16="http://schemas.microsoft.com/office/drawing/2014/main" id="{B444DDB6-DD27-9B40-AE34-275DA7FCC5B1}"/>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3C9855AF-75E6-8D47-BE46-AE18CCE71947}" type="slidenum">
              <a:rPr lang="en-US" altLang="en-US"/>
              <a:pPr/>
              <a:t>97</a:t>
            </a:fld>
            <a:endParaRPr lang="en-US" altLang="en-US"/>
          </a:p>
        </p:txBody>
      </p:sp>
    </p:spTree>
    <p:extLst>
      <p:ext uri="{BB962C8B-B14F-4D97-AF65-F5344CB8AC3E}">
        <p14:creationId xmlns:p14="http://schemas.microsoft.com/office/powerpoint/2010/main" val="13928788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a:extLst>
              <a:ext uri="{FF2B5EF4-FFF2-40B4-BE49-F238E27FC236}">
                <a16:creationId xmlns:a16="http://schemas.microsoft.com/office/drawing/2014/main" id="{32F61814-41BE-BC45-AFCC-886B5A7518CC}"/>
              </a:ext>
            </a:extLst>
          </p:cNvPr>
          <p:cNvSpPr>
            <a:spLocks noGrp="1" noRot="1" noChangeAspect="1" noChangeArrowheads="1" noTextEdit="1"/>
          </p:cNvSpPr>
          <p:nvPr>
            <p:ph type="sldImg"/>
          </p:nvPr>
        </p:nvSpPr>
        <p:spPr>
          <a:ln/>
        </p:spPr>
      </p:sp>
      <p:sp>
        <p:nvSpPr>
          <p:cNvPr id="34818" name="Notes Placeholder 2">
            <a:extLst>
              <a:ext uri="{FF2B5EF4-FFF2-40B4-BE49-F238E27FC236}">
                <a16:creationId xmlns:a16="http://schemas.microsoft.com/office/drawing/2014/main" id="{4B79C3B0-FF72-114D-A4D2-F4E8B38EA81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latin typeface="Arial" panose="020B0604020202020204" pitchFamily="34" charset="0"/>
              <a:ea typeface="ＭＳ Ｐゴシック" panose="020B0600070205080204" pitchFamily="34" charset="-128"/>
            </a:endParaRPr>
          </a:p>
        </p:txBody>
      </p:sp>
      <p:sp>
        <p:nvSpPr>
          <p:cNvPr id="34819" name="Slide Number Placeholder 3">
            <a:extLst>
              <a:ext uri="{FF2B5EF4-FFF2-40B4-BE49-F238E27FC236}">
                <a16:creationId xmlns:a16="http://schemas.microsoft.com/office/drawing/2014/main" id="{9ABEB46B-A760-D84D-91A0-BE7E08B9D1C0}"/>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209DF61C-AFFE-B442-B40B-A15B0E6D4A73}" type="slidenum">
              <a:rPr lang="en-US" altLang="en-US"/>
              <a:pPr/>
              <a:t>98</a:t>
            </a:fld>
            <a:endParaRPr lang="en-US" altLang="en-US"/>
          </a:p>
        </p:txBody>
      </p:sp>
    </p:spTree>
    <p:extLst>
      <p:ext uri="{BB962C8B-B14F-4D97-AF65-F5344CB8AC3E}">
        <p14:creationId xmlns:p14="http://schemas.microsoft.com/office/powerpoint/2010/main" val="2210214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a:extLst>
              <a:ext uri="{FF2B5EF4-FFF2-40B4-BE49-F238E27FC236}">
                <a16:creationId xmlns:a16="http://schemas.microsoft.com/office/drawing/2014/main" id="{2116A010-F107-EB4B-85BB-4D616054ED28}"/>
              </a:ext>
            </a:extLst>
          </p:cNvPr>
          <p:cNvSpPr>
            <a:spLocks noGrp="1" noRot="1" noChangeAspect="1" noChangeArrowheads="1" noTextEdit="1"/>
          </p:cNvSpPr>
          <p:nvPr>
            <p:ph type="sldImg"/>
          </p:nvPr>
        </p:nvSpPr>
        <p:spPr>
          <a:ln/>
        </p:spPr>
      </p:sp>
      <p:sp>
        <p:nvSpPr>
          <p:cNvPr id="36866" name="Notes Placeholder 2">
            <a:extLst>
              <a:ext uri="{FF2B5EF4-FFF2-40B4-BE49-F238E27FC236}">
                <a16:creationId xmlns:a16="http://schemas.microsoft.com/office/drawing/2014/main" id="{04B72DB0-F25D-4B4D-B131-587164EB34AD}"/>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latin typeface="Arial" panose="020B0604020202020204" pitchFamily="34" charset="0"/>
              <a:ea typeface="ＭＳ Ｐゴシック" panose="020B0600070205080204" pitchFamily="34" charset="-128"/>
            </a:endParaRPr>
          </a:p>
        </p:txBody>
      </p:sp>
      <p:sp>
        <p:nvSpPr>
          <p:cNvPr id="36867" name="Slide Number Placeholder 3">
            <a:extLst>
              <a:ext uri="{FF2B5EF4-FFF2-40B4-BE49-F238E27FC236}">
                <a16:creationId xmlns:a16="http://schemas.microsoft.com/office/drawing/2014/main" id="{8930FFF5-85DB-B64B-BA4D-AEF86C76DD74}"/>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F4B8352A-EA23-D149-B4BE-168F0DEA8263}" type="slidenum">
              <a:rPr lang="en-US" altLang="en-US"/>
              <a:pPr/>
              <a:t>99</a:t>
            </a:fld>
            <a:endParaRPr lang="en-US" altLang="en-US"/>
          </a:p>
        </p:txBody>
      </p:sp>
    </p:spTree>
    <p:extLst>
      <p:ext uri="{BB962C8B-B14F-4D97-AF65-F5344CB8AC3E}">
        <p14:creationId xmlns:p14="http://schemas.microsoft.com/office/powerpoint/2010/main" val="2107557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fld id="{D2ABA5E8-7032-4C4C-BD13-C061119FBAD6}" type="datetime1">
              <a:rPr lang="en-GB" smtClean="0"/>
              <a:t>20/12/2021</a:t>
            </a:fld>
            <a:endParaRPr lang="en-US"/>
          </a:p>
        </p:txBody>
      </p:sp>
      <p:sp>
        <p:nvSpPr>
          <p:cNvPr id="5" name="Footer Placeholder 4"/>
          <p:cNvSpPr>
            <a:spLocks noGrp="1"/>
          </p:cNvSpPr>
          <p:nvPr>
            <p:ph type="ftr" sz="quarter" idx="11"/>
          </p:nvPr>
        </p:nvSpPr>
        <p:spPr/>
        <p:txBody>
          <a:bodyPr/>
          <a:lstStyle>
            <a:lvl1pPr>
              <a:defRPr/>
            </a:lvl1pPr>
          </a:lstStyle>
          <a:p>
            <a:r>
              <a:rPr lang="en-US"/>
              <a:t>Chapter 6 Architectural Design</a:t>
            </a:r>
          </a:p>
        </p:txBody>
      </p:sp>
      <p:sp>
        <p:nvSpPr>
          <p:cNvPr id="6"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fld id="{1EC4D177-3FD8-1541-B11E-1C53E75416D7}" type="datetime1">
              <a:rPr lang="en-GB" smtClean="0"/>
              <a:t>20/12/2021</a:t>
            </a:fld>
            <a:endParaRPr lang="en-US"/>
          </a:p>
        </p:txBody>
      </p:sp>
      <p:sp>
        <p:nvSpPr>
          <p:cNvPr id="5" name="Footer Placeholder 4"/>
          <p:cNvSpPr>
            <a:spLocks noGrp="1"/>
          </p:cNvSpPr>
          <p:nvPr>
            <p:ph type="ftr" sz="quarter" idx="11"/>
          </p:nvPr>
        </p:nvSpPr>
        <p:spPr/>
        <p:txBody>
          <a:bodyPr/>
          <a:lstStyle>
            <a:lvl1pPr>
              <a:defRPr/>
            </a:lvl1pPr>
          </a:lstStyle>
          <a:p>
            <a:r>
              <a:rPr lang="en-US"/>
              <a:t>Chapter 6 Architectural Design</a:t>
            </a:r>
          </a:p>
        </p:txBody>
      </p:sp>
      <p:sp>
        <p:nvSpPr>
          <p:cNvPr id="6"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fld id="{F65752AC-8988-5D49-BA13-2655F7EFA58A}" type="datetime1">
              <a:rPr lang="en-GB" smtClean="0"/>
              <a:t>20/12/2021</a:t>
            </a:fld>
            <a:endParaRPr lang="en-US"/>
          </a:p>
        </p:txBody>
      </p:sp>
      <p:sp>
        <p:nvSpPr>
          <p:cNvPr id="5" name="Footer Placeholder 4"/>
          <p:cNvSpPr>
            <a:spLocks noGrp="1"/>
          </p:cNvSpPr>
          <p:nvPr>
            <p:ph type="ftr" sz="quarter" idx="11"/>
          </p:nvPr>
        </p:nvSpPr>
        <p:spPr/>
        <p:txBody>
          <a:bodyPr/>
          <a:lstStyle>
            <a:lvl1pPr>
              <a:defRPr/>
            </a:lvl1pPr>
          </a:lstStyle>
          <a:p>
            <a:r>
              <a:rPr lang="en-US"/>
              <a:t>Chapter 6 Architectural Design</a:t>
            </a:r>
          </a:p>
        </p:txBody>
      </p:sp>
      <p:sp>
        <p:nvSpPr>
          <p:cNvPr id="6"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fld id="{C5D1CCAB-69C6-0143-A029-A2CB647FDE54}" type="datetime1">
              <a:rPr lang="en-GB" smtClean="0"/>
              <a:t>20/12/2021</a:t>
            </a:fld>
            <a:endParaRPr lang="en-US"/>
          </a:p>
        </p:txBody>
      </p:sp>
      <p:sp>
        <p:nvSpPr>
          <p:cNvPr id="6" name="Footer Placeholder 4"/>
          <p:cNvSpPr>
            <a:spLocks noGrp="1"/>
          </p:cNvSpPr>
          <p:nvPr>
            <p:ph type="ftr" sz="quarter" idx="11"/>
          </p:nvPr>
        </p:nvSpPr>
        <p:spPr/>
        <p:txBody>
          <a:bodyPr/>
          <a:lstStyle>
            <a:lvl1pPr>
              <a:defRPr/>
            </a:lvl1pPr>
          </a:lstStyle>
          <a:p>
            <a:r>
              <a:rPr lang="en-US"/>
              <a:t>Chapter 6 Architectural Design</a:t>
            </a:r>
          </a:p>
        </p:txBody>
      </p:sp>
      <p:sp>
        <p:nvSpPr>
          <p:cNvPr id="7"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fld id="{F56D5F3E-3AC9-8840-9259-96E2BB9925B9}" type="datetime1">
              <a:rPr lang="en-GB" smtClean="0"/>
              <a:t>20/12/2021</a:t>
            </a:fld>
            <a:endParaRPr lang="en-US"/>
          </a:p>
        </p:txBody>
      </p:sp>
      <p:sp>
        <p:nvSpPr>
          <p:cNvPr id="8" name="Footer Placeholder 4"/>
          <p:cNvSpPr>
            <a:spLocks noGrp="1"/>
          </p:cNvSpPr>
          <p:nvPr>
            <p:ph type="ftr" sz="quarter" idx="11"/>
          </p:nvPr>
        </p:nvSpPr>
        <p:spPr/>
        <p:txBody>
          <a:bodyPr/>
          <a:lstStyle>
            <a:lvl1pPr>
              <a:defRPr/>
            </a:lvl1pPr>
          </a:lstStyle>
          <a:p>
            <a:r>
              <a:rPr lang="en-US"/>
              <a:t>Chapter 6 Architectural Design</a:t>
            </a:r>
          </a:p>
        </p:txBody>
      </p:sp>
      <p:sp>
        <p:nvSpPr>
          <p:cNvPr id="9"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fld id="{DEAC09D2-2289-654C-867B-0F64265113A4}" type="datetime1">
              <a:rPr lang="en-GB" smtClean="0"/>
              <a:t>20/12/2021</a:t>
            </a:fld>
            <a:endParaRPr lang="en-US"/>
          </a:p>
        </p:txBody>
      </p:sp>
      <p:sp>
        <p:nvSpPr>
          <p:cNvPr id="4" name="Footer Placeholder 4"/>
          <p:cNvSpPr>
            <a:spLocks noGrp="1"/>
          </p:cNvSpPr>
          <p:nvPr>
            <p:ph type="ftr" sz="quarter" idx="11"/>
          </p:nvPr>
        </p:nvSpPr>
        <p:spPr/>
        <p:txBody>
          <a:bodyPr/>
          <a:lstStyle>
            <a:lvl1pPr>
              <a:defRPr/>
            </a:lvl1pPr>
          </a:lstStyle>
          <a:p>
            <a:r>
              <a:rPr lang="en-US"/>
              <a:t>Chapter 6 Architectural Design</a:t>
            </a:r>
          </a:p>
        </p:txBody>
      </p:sp>
      <p:sp>
        <p:nvSpPr>
          <p:cNvPr id="5"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3A58948-1FA8-8D45-94BB-181B90A29353}" type="datetime1">
              <a:rPr lang="en-GB" smtClean="0"/>
              <a:t>20/12/2021</a:t>
            </a:fld>
            <a:endParaRPr lang="en-US"/>
          </a:p>
        </p:txBody>
      </p:sp>
      <p:sp>
        <p:nvSpPr>
          <p:cNvPr id="3" name="Footer Placeholder 4"/>
          <p:cNvSpPr>
            <a:spLocks noGrp="1"/>
          </p:cNvSpPr>
          <p:nvPr>
            <p:ph type="ftr" sz="quarter" idx="11"/>
          </p:nvPr>
        </p:nvSpPr>
        <p:spPr/>
        <p:txBody>
          <a:bodyPr/>
          <a:lstStyle>
            <a:lvl1pPr>
              <a:defRPr/>
            </a:lvl1pPr>
          </a:lstStyle>
          <a:p>
            <a:r>
              <a:rPr lang="en-US"/>
              <a:t>Chapter 6 Architectural Design</a:t>
            </a:r>
          </a:p>
        </p:txBody>
      </p:sp>
      <p:sp>
        <p:nvSpPr>
          <p:cNvPr id="4"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fld id="{1DB7AC79-C540-0C4D-BCB6-9ED127487D92}" type="datetime1">
              <a:rPr lang="en-GB" smtClean="0"/>
              <a:t>20/12/2021</a:t>
            </a:fld>
            <a:endParaRPr lang="en-US"/>
          </a:p>
        </p:txBody>
      </p:sp>
      <p:sp>
        <p:nvSpPr>
          <p:cNvPr id="6" name="Footer Placeholder 4"/>
          <p:cNvSpPr>
            <a:spLocks noGrp="1"/>
          </p:cNvSpPr>
          <p:nvPr>
            <p:ph type="ftr" sz="quarter" idx="11"/>
          </p:nvPr>
        </p:nvSpPr>
        <p:spPr/>
        <p:txBody>
          <a:bodyPr/>
          <a:lstStyle>
            <a:lvl1pPr>
              <a:defRPr/>
            </a:lvl1pPr>
          </a:lstStyle>
          <a:p>
            <a:r>
              <a:rPr lang="en-US"/>
              <a:t>Chapter 6 Architectural Design</a:t>
            </a:r>
          </a:p>
        </p:txBody>
      </p:sp>
      <p:sp>
        <p:nvSpPr>
          <p:cNvPr id="7"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fld id="{0881AF8B-42B8-F645-B2DB-B2A80189257D}" type="datetime1">
              <a:rPr lang="en-GB" smtClean="0"/>
              <a:t>20/12/2021</a:t>
            </a:fld>
            <a:endParaRPr lang="en-US"/>
          </a:p>
        </p:txBody>
      </p:sp>
      <p:sp>
        <p:nvSpPr>
          <p:cNvPr id="6" name="Footer Placeholder 4"/>
          <p:cNvSpPr>
            <a:spLocks noGrp="1"/>
          </p:cNvSpPr>
          <p:nvPr>
            <p:ph type="ftr" sz="quarter" idx="11"/>
          </p:nvPr>
        </p:nvSpPr>
        <p:spPr/>
        <p:txBody>
          <a:bodyPr/>
          <a:lstStyle>
            <a:lvl1pPr>
              <a:defRPr/>
            </a:lvl1pPr>
          </a:lstStyle>
          <a:p>
            <a:r>
              <a:rPr lang="en-US"/>
              <a:t>Chapter 6 Architectural Design</a:t>
            </a:r>
          </a:p>
        </p:txBody>
      </p:sp>
      <p:sp>
        <p:nvSpPr>
          <p:cNvPr id="7"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fld id="{8CC8691E-7EFE-4148-870D-0B8BE9F956BB}" type="datetime1">
              <a:rPr lang="en-GB" smtClean="0"/>
              <a:t>20/12/2021</a:t>
            </a:fld>
            <a:endParaRPr lang="en-US"/>
          </a:p>
        </p:txBody>
      </p:sp>
      <p:sp>
        <p:nvSpPr>
          <p:cNvPr id="5" name="Footer Placeholder 4"/>
          <p:cNvSpPr>
            <a:spLocks noGrp="1"/>
          </p:cNvSpPr>
          <p:nvPr>
            <p:ph type="ftr" sz="quarter" idx="11"/>
          </p:nvPr>
        </p:nvSpPr>
        <p:spPr/>
        <p:txBody>
          <a:bodyPr/>
          <a:lstStyle>
            <a:lvl1pPr>
              <a:defRPr/>
            </a:lvl1pPr>
          </a:lstStyle>
          <a:p>
            <a:r>
              <a:rPr lang="en-US"/>
              <a:t>Chapter 6 Architectural Design</a:t>
            </a:r>
          </a:p>
        </p:txBody>
      </p:sp>
      <p:sp>
        <p:nvSpPr>
          <p:cNvPr id="6"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fld id="{51E7A262-4F3C-B64A-B35F-47CFE930BB05}" type="datetime1">
              <a:rPr lang="en-GB" smtClean="0"/>
              <a:t>20/12/2021</a:t>
            </a:fld>
            <a:endParaRPr lang="en-US"/>
          </a:p>
        </p:txBody>
      </p:sp>
      <p:sp>
        <p:nvSpPr>
          <p:cNvPr id="5" name="Footer Placeholder 4"/>
          <p:cNvSpPr>
            <a:spLocks noGrp="1"/>
          </p:cNvSpPr>
          <p:nvPr>
            <p:ph type="ftr" sz="quarter" idx="11"/>
          </p:nvPr>
        </p:nvSpPr>
        <p:spPr/>
        <p:txBody>
          <a:bodyPr/>
          <a:lstStyle>
            <a:lvl1pPr>
              <a:defRPr/>
            </a:lvl1pPr>
          </a:lstStyle>
          <a:p>
            <a:r>
              <a:rPr lang="en-US"/>
              <a:t>Chapter 6 Architectural Design</a:t>
            </a:r>
          </a:p>
        </p:txBody>
      </p:sp>
      <p:sp>
        <p:nvSpPr>
          <p:cNvPr id="6"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Content Placeholder 2"/>
          <p:cNvSpPr>
            <a:spLocks noGrp="1"/>
          </p:cNvSpPr>
          <p:nvPr>
            <p:ph sz="half" idx="1"/>
          </p:nvPr>
        </p:nvSpPr>
        <p:spPr>
          <a:xfrm>
            <a:off x="457200" y="1600200"/>
            <a:ext cx="8229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3941763"/>
            <a:ext cx="8229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6B5D8311-5780-0542-B2C1-636BDEC9862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9F808C8B-94B9-F84B-A955-9DB7C6167EB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2B74886D-8C1B-1F47-8A69-9AE32B98C5A3}"/>
              </a:ext>
            </a:extLst>
          </p:cNvPr>
          <p:cNvSpPr>
            <a:spLocks noGrp="1" noChangeArrowheads="1"/>
          </p:cNvSpPr>
          <p:nvPr>
            <p:ph type="sldNum" sz="quarter" idx="12"/>
          </p:nvPr>
        </p:nvSpPr>
        <p:spPr>
          <a:ln/>
        </p:spPr>
        <p:txBody>
          <a:bodyPr/>
          <a:lstStyle>
            <a:lvl1pPr>
              <a:defRPr/>
            </a:lvl1pPr>
          </a:lstStyle>
          <a:p>
            <a:fld id="{8988096C-4611-BB4F-8B2D-575B8C630B61}" type="slidenum">
              <a:rPr lang="en-US" altLang="en-US"/>
              <a:pPr/>
              <a:t>‹#›</a:t>
            </a:fld>
            <a:endParaRPr lang="en-US" altLang="en-US"/>
          </a:p>
        </p:txBody>
      </p:sp>
    </p:spTree>
    <p:extLst>
      <p:ext uri="{BB962C8B-B14F-4D97-AF65-F5344CB8AC3E}">
        <p14:creationId xmlns:p14="http://schemas.microsoft.com/office/powerpoint/2010/main" val="34554419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30725"/>
          </a:xfrm>
        </p:spPr>
        <p:txBody>
          <a:bodyPr/>
          <a:lstStyle/>
          <a:p>
            <a:pPr lvl="0"/>
            <a:endParaRPr lang="en-US" noProof="0"/>
          </a:p>
        </p:txBody>
      </p:sp>
      <p:sp>
        <p:nvSpPr>
          <p:cNvPr id="4" name="Rectangle 4">
            <a:extLst>
              <a:ext uri="{FF2B5EF4-FFF2-40B4-BE49-F238E27FC236}">
                <a16:creationId xmlns:a16="http://schemas.microsoft.com/office/drawing/2014/main" id="{E3EC0374-BFAB-A041-927A-64A6232B86A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589DCF0-723A-8F46-86E8-04FAD720484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82D5BB7-1E62-C843-BFBB-C1CF769876CF}"/>
              </a:ext>
            </a:extLst>
          </p:cNvPr>
          <p:cNvSpPr>
            <a:spLocks noGrp="1" noChangeArrowheads="1"/>
          </p:cNvSpPr>
          <p:nvPr>
            <p:ph type="sldNum" sz="quarter" idx="12"/>
          </p:nvPr>
        </p:nvSpPr>
        <p:spPr>
          <a:ln/>
        </p:spPr>
        <p:txBody>
          <a:bodyPr/>
          <a:lstStyle>
            <a:lvl1pPr>
              <a:defRPr/>
            </a:lvl1pPr>
          </a:lstStyle>
          <a:p>
            <a:fld id="{316C44CE-D00A-1945-8225-B930554AA4FE}" type="slidenum">
              <a:rPr lang="en-US" altLang="en-US"/>
              <a:pPr/>
              <a:t>‹#›</a:t>
            </a:fld>
            <a:endParaRPr lang="en-US" altLang="en-US"/>
          </a:p>
        </p:txBody>
      </p:sp>
    </p:spTree>
    <p:extLst>
      <p:ext uri="{BB962C8B-B14F-4D97-AF65-F5344CB8AC3E}">
        <p14:creationId xmlns:p14="http://schemas.microsoft.com/office/powerpoint/2010/main" val="3732810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fld id="{A9272679-3BA1-B047-8536-308C6E7E7BEE}" type="datetime1">
              <a:rPr lang="en-GB" smtClean="0"/>
              <a:t>20/12/2021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r>
              <a:rPr lang="en-US"/>
              <a:t>Chapter 6 Architectural Design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fld id="{EC33B370-F672-B743-B3AF-248A63C17270}" type="slidenum">
              <a:rPr lang="en-US" smtClean="0"/>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5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13.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6.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1.gi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hyperlink" Target="https://en.wikipedia.org/wiki/Message_passing" TargetMode="External"/><Relationship Id="rId2" Type="http://schemas.openxmlformats.org/officeDocument/2006/relationships/hyperlink" Target="https://en.wikipedia.org/wiki/Messaging_pattern" TargetMode="External"/><Relationship Id="rId1" Type="http://schemas.openxmlformats.org/officeDocument/2006/relationships/slideLayout" Target="../slideLayouts/slideLayout4.xml"/><Relationship Id="rId4" Type="http://schemas.openxmlformats.org/officeDocument/2006/relationships/image" Target="../media/image6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4.emf"/><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hyperlink" Target="https://en.wikipedia.org/wiki/Scalability" TargetMode="Externa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9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3" Type="http://schemas.openxmlformats.org/officeDocument/2006/relationships/hyperlink" Target="http://example.com/"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hyperlink" Target="https://www.eventhelix.com/RealtimeMantra/FaultHandling/reliability_availability_basics.htm#.WMugv7W2zBL" TargetMode="External"/><Relationship Id="rId7" Type="http://schemas.openxmlformats.org/officeDocument/2006/relationships/hyperlink" Target="https://www.ibm.com/developerworks/rational/library/2774.html" TargetMode="External"/><Relationship Id="rId2" Type="http://schemas.openxmlformats.org/officeDocument/2006/relationships/hyperlink" Target="https://www.digitalocean.com/community/tutorials/5-common-server-setups-for-your-web-application" TargetMode="External"/><Relationship Id="rId1" Type="http://schemas.openxmlformats.org/officeDocument/2006/relationships/slideLayout" Target="../slideLayouts/slideLayout2.xml"/><Relationship Id="rId6" Type="http://schemas.openxmlformats.org/officeDocument/2006/relationships/hyperlink" Target="https://reqexperts.com/2012/10/09/using-the-correct-terms-shall-will-should/" TargetMode="External"/><Relationship Id="rId5" Type="http://schemas.openxmlformats.org/officeDocument/2006/relationships/hyperlink" Target="https://www.processimpact.com/articles/qualreqs.pdf" TargetMode="External"/><Relationship Id="rId4" Type="http://schemas.openxmlformats.org/officeDocument/2006/relationships/hyperlink" Target="https://docs.microsoft.com/en-us/previous-versions/msp-n-p/ee658117(v=pandp.10)?redirectedfrom=MSDN#ServiceOrientedStyl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Chapter 4 &amp; 5 – Architectural Design &amp; Application Architecture</a:t>
            </a:r>
          </a:p>
        </p:txBody>
      </p:sp>
      <p:sp>
        <p:nvSpPr>
          <p:cNvPr id="3" name="Subtitle 2"/>
          <p:cNvSpPr>
            <a:spLocks noGrp="1"/>
          </p:cNvSpPr>
          <p:nvPr>
            <p:ph type="subTitle"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1</a:t>
            </a:fld>
            <a:endParaRPr lang="en-US"/>
          </a:p>
        </p:txBody>
      </p:sp>
      <p:sp>
        <p:nvSpPr>
          <p:cNvPr id="6" name="Date Placeholder 5"/>
          <p:cNvSpPr>
            <a:spLocks noGrp="1"/>
          </p:cNvSpPr>
          <p:nvPr>
            <p:ph type="dt" sz="half" idx="10"/>
          </p:nvPr>
        </p:nvSpPr>
        <p:spPr/>
        <p:txBody>
          <a:bodyPr/>
          <a:lstStyle/>
          <a:p>
            <a:fld id="{CAF6504B-3581-E041-9FA4-34A2DB63B5D7}" type="datetime1">
              <a:rPr lang="en-GB" smtClean="0"/>
              <a:t>20/12/2021</a:t>
            </a:fld>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Architectural design decisions</a:t>
            </a:r>
            <a:endParaRPr lang="en-GB" dirty="0"/>
          </a:p>
          <a:p>
            <a:r>
              <a:rPr lang="en-US" dirty="0"/>
              <a:t>Architectural views</a:t>
            </a:r>
            <a:endParaRPr lang="en-GB" dirty="0"/>
          </a:p>
          <a:p>
            <a:r>
              <a:rPr lang="en-US" dirty="0"/>
              <a:t>Architectural patterns</a:t>
            </a:r>
            <a:endParaRPr lang="en-GB" dirty="0"/>
          </a:p>
          <a:p>
            <a:r>
              <a:rPr lang="en-US" dirty="0"/>
              <a:t>Application architectures</a:t>
            </a:r>
            <a:endParaRPr lang="en-GB" dirty="0"/>
          </a:p>
          <a:p>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2</a:t>
            </a:fld>
            <a:endParaRPr lang="en-US"/>
          </a:p>
        </p:txBody>
      </p:sp>
      <p:sp>
        <p:nvSpPr>
          <p:cNvPr id="6" name="Date Placeholder 5"/>
          <p:cNvSpPr>
            <a:spLocks noGrp="1"/>
          </p:cNvSpPr>
          <p:nvPr>
            <p:ph type="dt" sz="half" idx="10"/>
          </p:nvPr>
        </p:nvSpPr>
        <p:spPr/>
        <p:txBody>
          <a:bodyPr/>
          <a:lstStyle/>
          <a:p>
            <a:fld id="{10DA222A-6274-584F-843B-597E4D81CC7C}" type="datetime1">
              <a:rPr lang="en-GB" smtClean="0"/>
              <a:t>20/12/2021</a:t>
            </a:fld>
            <a:endParaRPr lang="en-US"/>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Number Placeholder 3">
            <a:extLst>
              <a:ext uri="{FF2B5EF4-FFF2-40B4-BE49-F238E27FC236}">
                <a16:creationId xmlns:a16="http://schemas.microsoft.com/office/drawing/2014/main" id="{82935506-BE68-7A48-8E31-5ADECEF4677F}"/>
              </a:ext>
            </a:extLst>
          </p:cNvPr>
          <p:cNvSpPr>
            <a:spLocks noGrp="1"/>
          </p:cNvSpPr>
          <p:nvPr>
            <p:ph type="sldNum" sz="quarter" idx="12"/>
          </p:nvPr>
        </p:nvSpPr>
        <p:spPr>
          <a:xfrm>
            <a:off x="3124200" y="6248400"/>
            <a:ext cx="2895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fld id="{AF8269D2-A4AA-1B4B-AC07-5B2935B18D50}" type="slidenum">
              <a:rPr lang="en-US" altLang="en-US">
                <a:latin typeface="Arial Black" panose="020B0604020202020204" pitchFamily="34" charset="0"/>
              </a:rPr>
              <a:pPr algn="ctr"/>
              <a:t>3</a:t>
            </a:fld>
            <a:endParaRPr lang="en-US" altLang="en-US">
              <a:latin typeface="Arial Black" panose="020B0604020202020204" pitchFamily="34" charset="0"/>
            </a:endParaRPr>
          </a:p>
        </p:txBody>
      </p:sp>
      <p:pic>
        <p:nvPicPr>
          <p:cNvPr id="22530" name="Picture 4">
            <a:extLst>
              <a:ext uri="{FF2B5EF4-FFF2-40B4-BE49-F238E27FC236}">
                <a16:creationId xmlns:a16="http://schemas.microsoft.com/office/drawing/2014/main" id="{307257D4-76D5-7B4E-A028-C2F64EE9256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3923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1155481"/>
      </p:ext>
    </p:extLst>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Number Placeholder 1">
            <a:extLst>
              <a:ext uri="{FF2B5EF4-FFF2-40B4-BE49-F238E27FC236}">
                <a16:creationId xmlns:a16="http://schemas.microsoft.com/office/drawing/2014/main" id="{02765B41-64D1-674F-AC07-FED60028B528}"/>
              </a:ext>
            </a:extLst>
          </p:cNvPr>
          <p:cNvSpPr>
            <a:spLocks noGrp="1"/>
          </p:cNvSpPr>
          <p:nvPr>
            <p:ph type="sldNum" sz="quarter" idx="12"/>
          </p:nvPr>
        </p:nvSpPr>
        <p:spPr>
          <a:xfrm>
            <a:off x="3124200" y="6248400"/>
            <a:ext cx="2895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fld id="{D6962F9C-5C96-C94E-8603-8981BADCAAED}" type="slidenum">
              <a:rPr lang="en-US" altLang="en-US">
                <a:latin typeface="Arial Black" panose="020B0604020202020204" pitchFamily="34" charset="0"/>
              </a:rPr>
              <a:pPr algn="ctr"/>
              <a:t>4</a:t>
            </a:fld>
            <a:endParaRPr lang="en-US" altLang="en-US">
              <a:latin typeface="Arial Black" panose="020B0604020202020204" pitchFamily="34" charset="0"/>
            </a:endParaRPr>
          </a:p>
        </p:txBody>
      </p:sp>
      <p:pic>
        <p:nvPicPr>
          <p:cNvPr id="23554" name="Picture 2">
            <a:extLst>
              <a:ext uri="{FF2B5EF4-FFF2-40B4-BE49-F238E27FC236}">
                <a16:creationId xmlns:a16="http://schemas.microsoft.com/office/drawing/2014/main" id="{9204D56D-1592-E449-988C-540E963412B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6050" y="82550"/>
            <a:ext cx="8851900" cy="669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9765801"/>
      </p:ext>
    </p:extLst>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Number Placeholder 1">
            <a:extLst>
              <a:ext uri="{FF2B5EF4-FFF2-40B4-BE49-F238E27FC236}">
                <a16:creationId xmlns:a16="http://schemas.microsoft.com/office/drawing/2014/main" id="{72F3E0FF-CC83-9447-AACE-984024073486}"/>
              </a:ext>
            </a:extLst>
          </p:cNvPr>
          <p:cNvSpPr>
            <a:spLocks noGrp="1"/>
          </p:cNvSpPr>
          <p:nvPr>
            <p:ph type="sldNum" sz="quarter" idx="12"/>
          </p:nvPr>
        </p:nvSpPr>
        <p:spPr>
          <a:xfrm>
            <a:off x="3124200" y="6248400"/>
            <a:ext cx="2895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fld id="{151AE3E2-156D-9D42-89F5-6C39FB78B8DD}" type="slidenum">
              <a:rPr lang="en-US" altLang="en-US">
                <a:latin typeface="Arial Black" panose="020B0604020202020204" pitchFamily="34" charset="0"/>
              </a:rPr>
              <a:pPr algn="ctr"/>
              <a:t>5</a:t>
            </a:fld>
            <a:endParaRPr lang="en-US" altLang="en-US">
              <a:latin typeface="Arial Black" panose="020B0604020202020204" pitchFamily="34" charset="0"/>
            </a:endParaRPr>
          </a:p>
        </p:txBody>
      </p:sp>
      <p:pic>
        <p:nvPicPr>
          <p:cNvPr id="24578" name="Picture 2">
            <a:extLst>
              <a:ext uri="{FF2B5EF4-FFF2-40B4-BE49-F238E27FC236}">
                <a16:creationId xmlns:a16="http://schemas.microsoft.com/office/drawing/2014/main" id="{601736A5-3254-AF4C-B147-95ED1221C39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90500"/>
            <a:ext cx="8978900" cy="64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0712218"/>
      </p:ext>
    </p:extLst>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Number Placeholder 1">
            <a:extLst>
              <a:ext uri="{FF2B5EF4-FFF2-40B4-BE49-F238E27FC236}">
                <a16:creationId xmlns:a16="http://schemas.microsoft.com/office/drawing/2014/main" id="{3AF81408-D5D4-0347-8F38-1AE1E88ADF4C}"/>
              </a:ext>
            </a:extLst>
          </p:cNvPr>
          <p:cNvSpPr>
            <a:spLocks noGrp="1"/>
          </p:cNvSpPr>
          <p:nvPr>
            <p:ph type="sldNum" sz="quarter" idx="12"/>
          </p:nvPr>
        </p:nvSpPr>
        <p:spPr>
          <a:xfrm>
            <a:off x="3124200" y="6248400"/>
            <a:ext cx="2895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fld id="{588B6859-227C-4F4C-95EE-57E8A04F6EE9}" type="slidenum">
              <a:rPr lang="en-US" altLang="en-US">
                <a:latin typeface="Arial Black" panose="020B0604020202020204" pitchFamily="34" charset="0"/>
              </a:rPr>
              <a:pPr algn="ctr"/>
              <a:t>6</a:t>
            </a:fld>
            <a:endParaRPr lang="en-US" altLang="en-US">
              <a:latin typeface="Arial Black" panose="020B0604020202020204" pitchFamily="34" charset="0"/>
            </a:endParaRPr>
          </a:p>
        </p:txBody>
      </p:sp>
      <p:pic>
        <p:nvPicPr>
          <p:cNvPr id="25602" name="Picture 2">
            <a:extLst>
              <a:ext uri="{FF2B5EF4-FFF2-40B4-BE49-F238E27FC236}">
                <a16:creationId xmlns:a16="http://schemas.microsoft.com/office/drawing/2014/main" id="{05348F94-92D5-F24F-8FC9-575BB84B518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77800"/>
            <a:ext cx="9144000" cy="607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3007934"/>
      </p:ext>
    </p:extLst>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Number Placeholder 1">
            <a:extLst>
              <a:ext uri="{FF2B5EF4-FFF2-40B4-BE49-F238E27FC236}">
                <a16:creationId xmlns:a16="http://schemas.microsoft.com/office/drawing/2014/main" id="{B5D51F58-4FB7-C846-AFA0-A1041374A97B}"/>
              </a:ext>
            </a:extLst>
          </p:cNvPr>
          <p:cNvSpPr>
            <a:spLocks noGrp="1"/>
          </p:cNvSpPr>
          <p:nvPr>
            <p:ph type="sldNum" sz="quarter" idx="12"/>
          </p:nvPr>
        </p:nvSpPr>
        <p:spPr>
          <a:xfrm>
            <a:off x="3124200" y="6248400"/>
            <a:ext cx="2895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fld id="{7072FA2E-662A-5348-B92E-0937FEE6E3B1}" type="slidenum">
              <a:rPr lang="en-US" altLang="en-US">
                <a:latin typeface="Arial Black" panose="020B0604020202020204" pitchFamily="34" charset="0"/>
              </a:rPr>
              <a:pPr algn="ctr"/>
              <a:t>7</a:t>
            </a:fld>
            <a:endParaRPr lang="en-US" altLang="en-US">
              <a:latin typeface="Arial Black" panose="020B0604020202020204" pitchFamily="34" charset="0"/>
            </a:endParaRPr>
          </a:p>
        </p:txBody>
      </p:sp>
      <p:pic>
        <p:nvPicPr>
          <p:cNvPr id="26626" name="Picture 2">
            <a:extLst>
              <a:ext uri="{FF2B5EF4-FFF2-40B4-BE49-F238E27FC236}">
                <a16:creationId xmlns:a16="http://schemas.microsoft.com/office/drawing/2014/main" id="{8ED3D1A9-C85C-FF47-BA67-8CD4CAD4F49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044113" cy="716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13535380"/>
      </p:ext>
    </p:extLst>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Number Placeholder 1">
            <a:extLst>
              <a:ext uri="{FF2B5EF4-FFF2-40B4-BE49-F238E27FC236}">
                <a16:creationId xmlns:a16="http://schemas.microsoft.com/office/drawing/2014/main" id="{CD7FFEF8-C415-AC44-BBDC-870EA5FA8D24}"/>
              </a:ext>
            </a:extLst>
          </p:cNvPr>
          <p:cNvSpPr>
            <a:spLocks noGrp="1"/>
          </p:cNvSpPr>
          <p:nvPr>
            <p:ph type="sldNum" sz="quarter" idx="12"/>
          </p:nvPr>
        </p:nvSpPr>
        <p:spPr>
          <a:xfrm>
            <a:off x="3124200" y="6248400"/>
            <a:ext cx="2895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fld id="{08F81D97-EDC0-9E47-82D3-EA8B65A0E5C2}" type="slidenum">
              <a:rPr lang="en-US" altLang="en-US">
                <a:latin typeface="Arial Black" panose="020B0604020202020204" pitchFamily="34" charset="0"/>
              </a:rPr>
              <a:pPr algn="ctr"/>
              <a:t>8</a:t>
            </a:fld>
            <a:endParaRPr lang="en-US" altLang="en-US">
              <a:latin typeface="Arial Black" panose="020B0604020202020204" pitchFamily="34" charset="0"/>
            </a:endParaRPr>
          </a:p>
        </p:txBody>
      </p:sp>
      <p:pic>
        <p:nvPicPr>
          <p:cNvPr id="27650" name="Picture 3">
            <a:extLst>
              <a:ext uri="{FF2B5EF4-FFF2-40B4-BE49-F238E27FC236}">
                <a16:creationId xmlns:a16="http://schemas.microsoft.com/office/drawing/2014/main" id="{C903972D-A4B9-D146-8FF2-32E80B305AA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4027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19923323"/>
      </p:ext>
    </p:extLst>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Number Placeholder 1">
            <a:extLst>
              <a:ext uri="{FF2B5EF4-FFF2-40B4-BE49-F238E27FC236}">
                <a16:creationId xmlns:a16="http://schemas.microsoft.com/office/drawing/2014/main" id="{B6C0C2C2-7DF7-DA49-B821-6D5DD32E0243}"/>
              </a:ext>
            </a:extLst>
          </p:cNvPr>
          <p:cNvSpPr>
            <a:spLocks noGrp="1"/>
          </p:cNvSpPr>
          <p:nvPr>
            <p:ph type="sldNum" sz="quarter" idx="12"/>
          </p:nvPr>
        </p:nvSpPr>
        <p:spPr>
          <a:xfrm>
            <a:off x="3124200" y="6248400"/>
            <a:ext cx="2895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fld id="{6EBAFF60-81A8-914F-A4D8-7E669D44E304}" type="slidenum">
              <a:rPr lang="en-US" altLang="en-US">
                <a:latin typeface="Arial Black" panose="020B0604020202020204" pitchFamily="34" charset="0"/>
              </a:rPr>
              <a:pPr algn="ctr"/>
              <a:t>9</a:t>
            </a:fld>
            <a:endParaRPr lang="en-US" altLang="en-US">
              <a:latin typeface="Arial Black" panose="020B0604020202020204" pitchFamily="34" charset="0"/>
            </a:endParaRPr>
          </a:p>
        </p:txBody>
      </p:sp>
      <p:pic>
        <p:nvPicPr>
          <p:cNvPr id="28674" name="Picture 2">
            <a:extLst>
              <a:ext uri="{FF2B5EF4-FFF2-40B4-BE49-F238E27FC236}">
                <a16:creationId xmlns:a16="http://schemas.microsoft.com/office/drawing/2014/main" id="{03394082-128E-5143-A88B-2421729E51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580"/>
          <a:stretch>
            <a:fillRect/>
          </a:stretch>
        </p:blipFill>
        <p:spPr bwMode="auto">
          <a:xfrm>
            <a:off x="152400" y="204788"/>
            <a:ext cx="8839200" cy="604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01089295"/>
      </p:ext>
    </p:extLst>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dirty="0"/>
              <a:t>Architectural design</a:t>
            </a:r>
          </a:p>
        </p:txBody>
      </p:sp>
      <p:sp>
        <p:nvSpPr>
          <p:cNvPr id="44035" name="Rectangle 3"/>
          <p:cNvSpPr>
            <a:spLocks noGrp="1" noChangeArrowheads="1"/>
          </p:cNvSpPr>
          <p:nvPr>
            <p:ph idx="1"/>
          </p:nvPr>
        </p:nvSpPr>
        <p:spPr/>
        <p:txBody>
          <a:bodyPr/>
          <a:lstStyle/>
          <a:p>
            <a:r>
              <a:rPr lang="en-US" dirty="0"/>
              <a:t>Architectural design is concerned with understanding how a software system should be organized and designing the overall structure of that system.</a:t>
            </a:r>
          </a:p>
          <a:p>
            <a:r>
              <a:rPr lang="en-US" dirty="0"/>
              <a:t>Architectural design is the critical link between design and requirements engineering, as it identifies the main structural components in a system and the relationships between them. </a:t>
            </a:r>
          </a:p>
          <a:p>
            <a:r>
              <a:rPr lang="en-US" dirty="0"/>
              <a:t>The output of the architectural design process is an architectural model that describes how the system is organized as a set of communicating components. </a:t>
            </a:r>
            <a:endParaRPr lang="en-GB" dirty="0"/>
          </a:p>
          <a:p>
            <a:endParaRPr lang="en-GB"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10</a:t>
            </a:fld>
            <a:endParaRPr lang="en-US"/>
          </a:p>
        </p:txBody>
      </p:sp>
      <p:sp>
        <p:nvSpPr>
          <p:cNvPr id="2" name="Date Placeholder 1"/>
          <p:cNvSpPr>
            <a:spLocks noGrp="1"/>
          </p:cNvSpPr>
          <p:nvPr>
            <p:ph type="dt" sz="half" idx="10"/>
          </p:nvPr>
        </p:nvSpPr>
        <p:spPr/>
        <p:txBody>
          <a:bodyPr/>
          <a:lstStyle/>
          <a:p>
            <a:fld id="{A4B9C21B-EA13-2E45-9ABB-0DAEA836331C}" type="datetime1">
              <a:rPr lang="en-GB" smtClean="0"/>
              <a:t>20/12/2021</a:t>
            </a:fld>
            <a:endParaRPr lang="en-US"/>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a:extLst>
              <a:ext uri="{FF2B5EF4-FFF2-40B4-BE49-F238E27FC236}">
                <a16:creationId xmlns:a16="http://schemas.microsoft.com/office/drawing/2014/main" id="{DD4EF76C-9936-124D-A3B7-270344B2E2E1}"/>
              </a:ext>
            </a:extLst>
          </p:cNvPr>
          <p:cNvSpPr>
            <a:spLocks noGrp="1" noChangeArrowheads="1"/>
          </p:cNvSpPr>
          <p:nvPr>
            <p:ph type="title"/>
          </p:nvPr>
        </p:nvSpPr>
        <p:spPr>
          <a:xfrm>
            <a:off x="457200" y="274638"/>
            <a:ext cx="7293232" cy="1143000"/>
          </a:xfrm>
        </p:spPr>
        <p:txBody>
          <a:bodyPr wrap="square" anchor="ctr">
            <a:normAutofit/>
          </a:bodyPr>
          <a:lstStyle/>
          <a:p>
            <a:pPr eaLnBrk="1" hangingPunct="1">
              <a:defRPr/>
            </a:pPr>
            <a:r>
              <a:rPr lang="en-US"/>
              <a:t>What is Software Architecture?</a:t>
            </a:r>
          </a:p>
        </p:txBody>
      </p:sp>
      <p:sp>
        <p:nvSpPr>
          <p:cNvPr id="74" name="Date Placeholder 3">
            <a:extLst>
              <a:ext uri="{FF2B5EF4-FFF2-40B4-BE49-F238E27FC236}">
                <a16:creationId xmlns:a16="http://schemas.microsoft.com/office/drawing/2014/main" id="{A1747DE4-D640-4E6B-809B-34F72EDA12DB}"/>
              </a:ext>
            </a:extLst>
          </p:cNvPr>
          <p:cNvSpPr>
            <a:spLocks noGrp="1"/>
          </p:cNvSpPr>
          <p:nvPr>
            <p:ph type="dt" sz="half" idx="10"/>
          </p:nvPr>
        </p:nvSpPr>
        <p:spPr>
          <a:xfrm>
            <a:off x="457200" y="6356350"/>
            <a:ext cx="2133600" cy="365125"/>
          </a:xfrm>
        </p:spPr>
        <p:txBody>
          <a:bodyPr/>
          <a:lstStyle/>
          <a:p>
            <a:pPr>
              <a:spcAft>
                <a:spcPts val="600"/>
              </a:spcAft>
            </a:pPr>
            <a:fld id="{1EC4D177-3FD8-1541-B11E-1C53E75416D7}" type="datetime1">
              <a:rPr lang="en-GB" smtClean="0"/>
              <a:pPr>
                <a:spcAft>
                  <a:spcPts val="600"/>
                </a:spcAft>
              </a:pPr>
              <a:t>20/12/2021</a:t>
            </a:fld>
            <a:endParaRPr lang="en-US"/>
          </a:p>
        </p:txBody>
      </p:sp>
      <p:sp>
        <p:nvSpPr>
          <p:cNvPr id="76" name="Footer Placeholder 4">
            <a:extLst>
              <a:ext uri="{FF2B5EF4-FFF2-40B4-BE49-F238E27FC236}">
                <a16:creationId xmlns:a16="http://schemas.microsoft.com/office/drawing/2014/main" id="{1A452456-7948-4313-AC37-49AB5D3D25D4}"/>
              </a:ext>
            </a:extLst>
          </p:cNvPr>
          <p:cNvSpPr>
            <a:spLocks noGrp="1"/>
          </p:cNvSpPr>
          <p:nvPr>
            <p:ph type="ftr" sz="quarter" idx="11"/>
          </p:nvPr>
        </p:nvSpPr>
        <p:spPr>
          <a:xfrm>
            <a:off x="3124200" y="6356350"/>
            <a:ext cx="2895600" cy="365125"/>
          </a:xfrm>
        </p:spPr>
        <p:txBody>
          <a:bodyPr/>
          <a:lstStyle/>
          <a:p>
            <a:pPr>
              <a:spcAft>
                <a:spcPts val="600"/>
              </a:spcAft>
            </a:pPr>
            <a:r>
              <a:rPr lang="en-US"/>
              <a:t>Chapter 6 Architectural Design</a:t>
            </a:r>
          </a:p>
        </p:txBody>
      </p:sp>
      <p:sp>
        <p:nvSpPr>
          <p:cNvPr id="36865" name="Slide Number Placeholder 5">
            <a:extLst>
              <a:ext uri="{FF2B5EF4-FFF2-40B4-BE49-F238E27FC236}">
                <a16:creationId xmlns:a16="http://schemas.microsoft.com/office/drawing/2014/main" id="{9FB93968-6DB7-C645-AF81-337EE9048C49}"/>
              </a:ext>
            </a:extLst>
          </p:cNvPr>
          <p:cNvSpPr>
            <a:spLocks noGrp="1"/>
          </p:cNvSpPr>
          <p:nvPr>
            <p:ph type="sldNum" sz="quarter" idx="12"/>
          </p:nvPr>
        </p:nvSpPr>
        <p:spPr>
          <a:xfrm>
            <a:off x="6553200" y="6356350"/>
            <a:ext cx="21336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spcAft>
                <a:spcPts val="600"/>
              </a:spcAft>
              <a:buClrTx/>
              <a:buSzTx/>
              <a:buFontTx/>
              <a:buNone/>
            </a:pPr>
            <a:fld id="{12CF3FFB-E9A7-D34F-B0AA-40B64048E4D5}" type="slidenum">
              <a:rPr lang="en-US" altLang="en-US" sz="1200">
                <a:solidFill>
                  <a:schemeClr val="tx1">
                    <a:tint val="75000"/>
                  </a:schemeClr>
                </a:solidFill>
              </a:rPr>
              <a:pPr>
                <a:spcBef>
                  <a:spcPct val="0"/>
                </a:spcBef>
                <a:spcAft>
                  <a:spcPts val="600"/>
                </a:spcAft>
                <a:buClrTx/>
                <a:buSzTx/>
                <a:buFontTx/>
                <a:buNone/>
              </a:pPr>
              <a:t>11</a:t>
            </a:fld>
            <a:endParaRPr lang="en-US" altLang="en-US" sz="1200">
              <a:solidFill>
                <a:schemeClr val="tx1">
                  <a:tint val="75000"/>
                </a:schemeClr>
              </a:solidFill>
            </a:endParaRPr>
          </a:p>
        </p:txBody>
      </p:sp>
      <p:graphicFrame>
        <p:nvGraphicFramePr>
          <p:cNvPr id="250885" name="Rectangle 3">
            <a:extLst>
              <a:ext uri="{FF2B5EF4-FFF2-40B4-BE49-F238E27FC236}">
                <a16:creationId xmlns:a16="http://schemas.microsoft.com/office/drawing/2014/main" id="{D974CD1D-0555-4778-8ED4-47E6CBBC983D}"/>
              </a:ext>
            </a:extLst>
          </p:cNvPr>
          <p:cNvGraphicFramePr>
            <a:graphicFrameLocks noGrp="1"/>
          </p:cNvGraphicFramePr>
          <p:nvPr>
            <p:ph idx="1"/>
            <p:extLst>
              <p:ext uri="{D42A27DB-BD31-4B8C-83A1-F6EECF244321}">
                <p14:modId xmlns:p14="http://schemas.microsoft.com/office/powerpoint/2010/main" val="3468568078"/>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74053711"/>
      </p:ext>
    </p:extLst>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a:extLst>
              <a:ext uri="{FF2B5EF4-FFF2-40B4-BE49-F238E27FC236}">
                <a16:creationId xmlns:a16="http://schemas.microsoft.com/office/drawing/2014/main" id="{187B53FB-3BE0-CF47-B514-DF3FE0DE910F}"/>
              </a:ext>
            </a:extLst>
          </p:cNvPr>
          <p:cNvSpPr>
            <a:spLocks noGrp="1" noChangeArrowheads="1"/>
          </p:cNvSpPr>
          <p:nvPr>
            <p:ph type="ctrTitle"/>
          </p:nvPr>
        </p:nvSpPr>
        <p:spPr>
          <a:xfrm>
            <a:off x="685800" y="1763504"/>
            <a:ext cx="7772400" cy="1470025"/>
          </a:xfrm>
        </p:spPr>
        <p:txBody>
          <a:bodyPr wrap="square" anchor="ctr">
            <a:normAutofit/>
          </a:bodyPr>
          <a:lstStyle/>
          <a:p>
            <a:pPr eaLnBrk="1" hangingPunct="1">
              <a:defRPr/>
            </a:pPr>
            <a:r>
              <a:rPr lang="en-US" dirty="0"/>
              <a:t>Definitions 1 - ANSI/IEEE Std 1471-2000 </a:t>
            </a:r>
          </a:p>
        </p:txBody>
      </p:sp>
      <p:sp>
        <p:nvSpPr>
          <p:cNvPr id="37891" name="Rectangle 3">
            <a:extLst>
              <a:ext uri="{FF2B5EF4-FFF2-40B4-BE49-F238E27FC236}">
                <a16:creationId xmlns:a16="http://schemas.microsoft.com/office/drawing/2014/main" id="{E6F0B43B-67AB-474D-ADC3-839F8D801766}"/>
              </a:ext>
            </a:extLst>
          </p:cNvPr>
          <p:cNvSpPr>
            <a:spLocks noGrp="1" noChangeArrowheads="1"/>
          </p:cNvSpPr>
          <p:nvPr>
            <p:ph type="subTitle" idx="1"/>
          </p:nvPr>
        </p:nvSpPr>
        <p:spPr>
          <a:xfrm>
            <a:off x="993913" y="3233529"/>
            <a:ext cx="7328452" cy="2637183"/>
          </a:xfrm>
        </p:spPr>
        <p:txBody>
          <a:bodyPr>
            <a:normAutofit lnSpcReduction="10000"/>
          </a:bodyPr>
          <a:lstStyle/>
          <a:p>
            <a:pPr eaLnBrk="1" hangingPunct="1">
              <a:lnSpc>
                <a:spcPct val="90000"/>
              </a:lnSpc>
            </a:pPr>
            <a:r>
              <a:rPr lang="ja-JP" altLang="en-US" i="1"/>
              <a:t>“</a:t>
            </a:r>
            <a:r>
              <a:rPr lang="en-US" altLang="ja-JP" i="1" dirty="0"/>
              <a:t>Architecture is the </a:t>
            </a:r>
            <a:r>
              <a:rPr lang="en-US" altLang="ja-JP" b="1" i="1" dirty="0"/>
              <a:t>fundamental organization</a:t>
            </a:r>
            <a:r>
              <a:rPr lang="en-US" altLang="ja-JP" i="1" dirty="0"/>
              <a:t> of a system, embodied in its </a:t>
            </a:r>
            <a:r>
              <a:rPr lang="en-US" altLang="ja-JP" b="1" i="1" dirty="0"/>
              <a:t>components</a:t>
            </a:r>
            <a:r>
              <a:rPr lang="en-US" altLang="ja-JP" i="1" dirty="0"/>
              <a:t>, their </a:t>
            </a:r>
            <a:r>
              <a:rPr lang="en-US" altLang="ja-JP" b="1" i="1" dirty="0"/>
              <a:t>relationships</a:t>
            </a:r>
            <a:r>
              <a:rPr lang="en-US" altLang="ja-JP" i="1" dirty="0"/>
              <a:t> to </a:t>
            </a:r>
            <a:r>
              <a:rPr lang="en-US" altLang="ja-JP" b="1" i="1" dirty="0"/>
              <a:t>each other</a:t>
            </a:r>
            <a:r>
              <a:rPr lang="en-US" altLang="ja-JP" i="1" dirty="0"/>
              <a:t> and the </a:t>
            </a:r>
            <a:r>
              <a:rPr lang="en-US" altLang="ja-JP" b="1" i="1" dirty="0"/>
              <a:t>environment</a:t>
            </a:r>
            <a:r>
              <a:rPr lang="en-US" altLang="ja-JP" i="1" dirty="0"/>
              <a:t>, and the principles governing its </a:t>
            </a:r>
            <a:r>
              <a:rPr lang="en-US" altLang="ja-JP" b="1" i="1" dirty="0"/>
              <a:t>design and evolution</a:t>
            </a:r>
            <a:r>
              <a:rPr lang="en-US" altLang="ja-JP" i="1" dirty="0"/>
              <a:t>.</a:t>
            </a:r>
            <a:r>
              <a:rPr lang="ja-JP" altLang="en-US" i="1"/>
              <a:t>”</a:t>
            </a:r>
            <a:endParaRPr lang="en-US" altLang="en-US" i="1" dirty="0"/>
          </a:p>
        </p:txBody>
      </p:sp>
      <p:sp>
        <p:nvSpPr>
          <p:cNvPr id="73" name="Date Placeholder 3">
            <a:extLst>
              <a:ext uri="{FF2B5EF4-FFF2-40B4-BE49-F238E27FC236}">
                <a16:creationId xmlns:a16="http://schemas.microsoft.com/office/drawing/2014/main" id="{6FEA59FB-D1E0-4F85-8C57-D227B0FF1091}"/>
              </a:ext>
            </a:extLst>
          </p:cNvPr>
          <p:cNvSpPr>
            <a:spLocks noGrp="1"/>
          </p:cNvSpPr>
          <p:nvPr>
            <p:ph type="dt" sz="half" idx="10"/>
          </p:nvPr>
        </p:nvSpPr>
        <p:spPr>
          <a:xfrm>
            <a:off x="457200" y="6356350"/>
            <a:ext cx="2133600" cy="365125"/>
          </a:xfrm>
        </p:spPr>
        <p:txBody>
          <a:bodyPr/>
          <a:lstStyle/>
          <a:p>
            <a:pPr>
              <a:spcAft>
                <a:spcPts val="600"/>
              </a:spcAft>
            </a:pPr>
            <a:fld id="{D2ABA5E8-7032-4C4C-BD13-C061119FBAD6}" type="datetime1">
              <a:rPr lang="en-GB" smtClean="0"/>
              <a:pPr>
                <a:spcAft>
                  <a:spcPts val="600"/>
                </a:spcAft>
              </a:pPr>
              <a:t>20/12/2021</a:t>
            </a:fld>
            <a:endParaRPr lang="en-US" dirty="0"/>
          </a:p>
        </p:txBody>
      </p:sp>
      <p:sp>
        <p:nvSpPr>
          <p:cNvPr id="75" name="Footer Placeholder 4">
            <a:extLst>
              <a:ext uri="{FF2B5EF4-FFF2-40B4-BE49-F238E27FC236}">
                <a16:creationId xmlns:a16="http://schemas.microsoft.com/office/drawing/2014/main" id="{9DD0B298-A548-442C-925E-4917D81A00A7}"/>
              </a:ext>
            </a:extLst>
          </p:cNvPr>
          <p:cNvSpPr>
            <a:spLocks noGrp="1"/>
          </p:cNvSpPr>
          <p:nvPr>
            <p:ph type="ftr" sz="quarter" idx="11"/>
          </p:nvPr>
        </p:nvSpPr>
        <p:spPr>
          <a:xfrm>
            <a:off x="3124200" y="6356350"/>
            <a:ext cx="2895600" cy="365125"/>
          </a:xfrm>
        </p:spPr>
        <p:txBody>
          <a:bodyPr/>
          <a:lstStyle/>
          <a:p>
            <a:pPr>
              <a:spcAft>
                <a:spcPts val="600"/>
              </a:spcAft>
            </a:pPr>
            <a:r>
              <a:rPr lang="en-US"/>
              <a:t>Chapter 6 Architectural Design</a:t>
            </a:r>
          </a:p>
        </p:txBody>
      </p:sp>
      <p:sp>
        <p:nvSpPr>
          <p:cNvPr id="37889" name="Slide Number Placeholder 5">
            <a:extLst>
              <a:ext uri="{FF2B5EF4-FFF2-40B4-BE49-F238E27FC236}">
                <a16:creationId xmlns:a16="http://schemas.microsoft.com/office/drawing/2014/main" id="{29D78126-572C-8E4E-A127-4CDF4386834C}"/>
              </a:ext>
            </a:extLst>
          </p:cNvPr>
          <p:cNvSpPr>
            <a:spLocks noGrp="1"/>
          </p:cNvSpPr>
          <p:nvPr>
            <p:ph type="sldNum" sz="quarter" idx="12"/>
          </p:nvPr>
        </p:nvSpPr>
        <p:spPr>
          <a:xfrm>
            <a:off x="6553200" y="6356350"/>
            <a:ext cx="21336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spcAft>
                <a:spcPts val="600"/>
              </a:spcAft>
              <a:buClrTx/>
              <a:buSzTx/>
              <a:buFontTx/>
              <a:buNone/>
            </a:pPr>
            <a:fld id="{364E114C-C592-EC40-88C7-E24C3A2637E1}" type="slidenum">
              <a:rPr lang="en-US" altLang="en-US" sz="1200">
                <a:solidFill>
                  <a:schemeClr val="tx1">
                    <a:tint val="75000"/>
                  </a:schemeClr>
                </a:solidFill>
              </a:rPr>
              <a:pPr>
                <a:spcBef>
                  <a:spcPct val="0"/>
                </a:spcBef>
                <a:spcAft>
                  <a:spcPts val="600"/>
                </a:spcAft>
                <a:buClrTx/>
                <a:buSzTx/>
                <a:buFontTx/>
                <a:buNone/>
              </a:pPr>
              <a:t>12</a:t>
            </a:fld>
            <a:endParaRPr lang="en-US" altLang="en-US" sz="1200">
              <a:solidFill>
                <a:schemeClr val="tx1">
                  <a:tint val="75000"/>
                </a:schemeClr>
              </a:solidFill>
            </a:endParaRPr>
          </a:p>
        </p:txBody>
      </p:sp>
    </p:spTree>
    <p:extLst>
      <p:ext uri="{BB962C8B-B14F-4D97-AF65-F5344CB8AC3E}">
        <p14:creationId xmlns:p14="http://schemas.microsoft.com/office/powerpoint/2010/main" val="3003705083"/>
      </p:ext>
    </p:extLst>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380B212C-7E20-1B41-AEF2-070C80EDBB06}"/>
              </a:ext>
            </a:extLst>
          </p:cNvPr>
          <p:cNvSpPr>
            <a:spLocks noGrp="1" noChangeArrowheads="1"/>
          </p:cNvSpPr>
          <p:nvPr>
            <p:ph type="ctrTitle"/>
          </p:nvPr>
        </p:nvSpPr>
        <p:spPr>
          <a:xfrm>
            <a:off x="685800" y="1763505"/>
            <a:ext cx="7772400" cy="1470025"/>
          </a:xfrm>
        </p:spPr>
        <p:txBody>
          <a:bodyPr wrap="square" anchor="ctr">
            <a:normAutofit/>
          </a:bodyPr>
          <a:lstStyle/>
          <a:p>
            <a:pPr eaLnBrk="1" hangingPunct="1"/>
            <a:r>
              <a:rPr lang="en-US" altLang="en-US" dirty="0"/>
              <a:t>Definitions 2 – SEI (Len Bass, Paul Clements, Rick </a:t>
            </a:r>
            <a:r>
              <a:rPr lang="en-US" altLang="en-US" dirty="0" err="1"/>
              <a:t>Kazman</a:t>
            </a:r>
            <a:r>
              <a:rPr lang="en-US" altLang="en-US" dirty="0"/>
              <a:t>) </a:t>
            </a:r>
          </a:p>
        </p:txBody>
      </p:sp>
      <p:sp>
        <p:nvSpPr>
          <p:cNvPr id="38915" name="Rectangle 3">
            <a:extLst>
              <a:ext uri="{FF2B5EF4-FFF2-40B4-BE49-F238E27FC236}">
                <a16:creationId xmlns:a16="http://schemas.microsoft.com/office/drawing/2014/main" id="{C5AD545D-35DF-9F44-9DC9-1E9CEFC78119}"/>
              </a:ext>
            </a:extLst>
          </p:cNvPr>
          <p:cNvSpPr>
            <a:spLocks noGrp="1" noChangeArrowheads="1"/>
          </p:cNvSpPr>
          <p:nvPr>
            <p:ph type="subTitle" idx="1"/>
          </p:nvPr>
        </p:nvSpPr>
        <p:spPr>
          <a:xfrm>
            <a:off x="901148" y="3233530"/>
            <a:ext cx="7460974" cy="3122820"/>
          </a:xfrm>
        </p:spPr>
        <p:txBody>
          <a:bodyPr>
            <a:normAutofit/>
          </a:bodyPr>
          <a:lstStyle/>
          <a:p>
            <a:pPr eaLnBrk="1" hangingPunct="1">
              <a:lnSpc>
                <a:spcPct val="90000"/>
              </a:lnSpc>
            </a:pPr>
            <a:r>
              <a:rPr lang="ja-JP" altLang="en-US" i="1"/>
              <a:t>“</a:t>
            </a:r>
            <a:r>
              <a:rPr lang="en-US" altLang="ja-JP" i="1" dirty="0"/>
              <a:t>The software architecture of a program or computing system is the </a:t>
            </a:r>
            <a:r>
              <a:rPr lang="en-US" altLang="ja-JP" b="1" i="1" dirty="0"/>
              <a:t>structure or structures</a:t>
            </a:r>
            <a:r>
              <a:rPr lang="en-US" altLang="ja-JP" i="1" dirty="0"/>
              <a:t> of the system, which comprise </a:t>
            </a:r>
            <a:r>
              <a:rPr lang="en-US" altLang="ja-JP" b="1" i="1" dirty="0"/>
              <a:t>software elements</a:t>
            </a:r>
            <a:r>
              <a:rPr lang="en-US" altLang="ja-JP" i="1" dirty="0"/>
              <a:t>, the </a:t>
            </a:r>
            <a:r>
              <a:rPr lang="en-US" altLang="ja-JP" b="1" i="1" dirty="0"/>
              <a:t>externally visible properties</a:t>
            </a:r>
            <a:r>
              <a:rPr lang="en-US" altLang="ja-JP" i="1" dirty="0"/>
              <a:t> of those elements, and the </a:t>
            </a:r>
            <a:r>
              <a:rPr lang="en-US" altLang="ja-JP" b="1" i="1" dirty="0"/>
              <a:t>relationships</a:t>
            </a:r>
            <a:r>
              <a:rPr lang="en-US" altLang="ja-JP" i="1" dirty="0"/>
              <a:t> among them.</a:t>
            </a:r>
            <a:r>
              <a:rPr lang="ja-JP" altLang="en-US"/>
              <a:t>”</a:t>
            </a:r>
            <a:endParaRPr lang="en-US" altLang="en-US" dirty="0"/>
          </a:p>
        </p:txBody>
      </p:sp>
      <p:sp>
        <p:nvSpPr>
          <p:cNvPr id="72" name="Date Placeholder 3">
            <a:extLst>
              <a:ext uri="{FF2B5EF4-FFF2-40B4-BE49-F238E27FC236}">
                <a16:creationId xmlns:a16="http://schemas.microsoft.com/office/drawing/2014/main" id="{3CC21FAA-B139-42A4-BE87-11DA12393BB2}"/>
              </a:ext>
            </a:extLst>
          </p:cNvPr>
          <p:cNvSpPr>
            <a:spLocks noGrp="1"/>
          </p:cNvSpPr>
          <p:nvPr>
            <p:ph type="dt" sz="half" idx="10"/>
          </p:nvPr>
        </p:nvSpPr>
        <p:spPr>
          <a:xfrm>
            <a:off x="457200" y="6356350"/>
            <a:ext cx="2133600" cy="365125"/>
          </a:xfrm>
        </p:spPr>
        <p:txBody>
          <a:bodyPr/>
          <a:lstStyle/>
          <a:p>
            <a:pPr>
              <a:spcAft>
                <a:spcPts val="600"/>
              </a:spcAft>
            </a:pPr>
            <a:fld id="{D2ABA5E8-7032-4C4C-BD13-C061119FBAD6}" type="datetime1">
              <a:rPr lang="en-GB" smtClean="0"/>
              <a:pPr>
                <a:spcAft>
                  <a:spcPts val="600"/>
                </a:spcAft>
              </a:pPr>
              <a:t>20/12/2021</a:t>
            </a:fld>
            <a:endParaRPr lang="en-US"/>
          </a:p>
        </p:txBody>
      </p:sp>
      <p:sp>
        <p:nvSpPr>
          <p:cNvPr id="74" name="Footer Placeholder 4">
            <a:extLst>
              <a:ext uri="{FF2B5EF4-FFF2-40B4-BE49-F238E27FC236}">
                <a16:creationId xmlns:a16="http://schemas.microsoft.com/office/drawing/2014/main" id="{FCE01F46-F26F-4DF4-ABED-9B355E39B015}"/>
              </a:ext>
            </a:extLst>
          </p:cNvPr>
          <p:cNvSpPr>
            <a:spLocks noGrp="1"/>
          </p:cNvSpPr>
          <p:nvPr>
            <p:ph type="ftr" sz="quarter" idx="11"/>
          </p:nvPr>
        </p:nvSpPr>
        <p:spPr>
          <a:xfrm>
            <a:off x="3124200" y="6356350"/>
            <a:ext cx="2895600" cy="365125"/>
          </a:xfrm>
        </p:spPr>
        <p:txBody>
          <a:bodyPr/>
          <a:lstStyle/>
          <a:p>
            <a:pPr>
              <a:spcAft>
                <a:spcPts val="600"/>
              </a:spcAft>
            </a:pPr>
            <a:r>
              <a:rPr lang="en-US"/>
              <a:t>Chapter 6 Architectural Design</a:t>
            </a:r>
          </a:p>
        </p:txBody>
      </p:sp>
      <p:sp>
        <p:nvSpPr>
          <p:cNvPr id="38913" name="Slide Number Placeholder 5">
            <a:extLst>
              <a:ext uri="{FF2B5EF4-FFF2-40B4-BE49-F238E27FC236}">
                <a16:creationId xmlns:a16="http://schemas.microsoft.com/office/drawing/2014/main" id="{99EC8EE3-E379-D146-BDEA-E6A735F17A5B}"/>
              </a:ext>
            </a:extLst>
          </p:cNvPr>
          <p:cNvSpPr>
            <a:spLocks noGrp="1"/>
          </p:cNvSpPr>
          <p:nvPr>
            <p:ph type="sldNum" sz="quarter" idx="12"/>
          </p:nvPr>
        </p:nvSpPr>
        <p:spPr>
          <a:xfrm>
            <a:off x="6553200" y="6356350"/>
            <a:ext cx="21336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spcAft>
                <a:spcPts val="600"/>
              </a:spcAft>
              <a:buClrTx/>
              <a:buSzTx/>
              <a:buFontTx/>
              <a:buNone/>
            </a:pPr>
            <a:fld id="{507AED29-9433-7649-9C01-76F5D5FBF349}" type="slidenum">
              <a:rPr lang="en-US" altLang="en-US" sz="1200">
                <a:solidFill>
                  <a:schemeClr val="tx1">
                    <a:tint val="75000"/>
                  </a:schemeClr>
                </a:solidFill>
              </a:rPr>
              <a:pPr>
                <a:spcBef>
                  <a:spcPct val="0"/>
                </a:spcBef>
                <a:spcAft>
                  <a:spcPts val="600"/>
                </a:spcAft>
                <a:buClrTx/>
                <a:buSzTx/>
                <a:buFontTx/>
                <a:buNone/>
              </a:pPr>
              <a:t>13</a:t>
            </a:fld>
            <a:endParaRPr lang="en-US" altLang="en-US" sz="1200">
              <a:solidFill>
                <a:schemeClr val="tx1">
                  <a:tint val="75000"/>
                </a:schemeClr>
              </a:solidFill>
            </a:endParaRPr>
          </a:p>
        </p:txBody>
      </p:sp>
    </p:spTree>
    <p:extLst>
      <p:ext uri="{BB962C8B-B14F-4D97-AF65-F5344CB8AC3E}">
        <p14:creationId xmlns:p14="http://schemas.microsoft.com/office/powerpoint/2010/main" val="1698780252"/>
      </p:ext>
    </p:extLst>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Agility and architecture</a:t>
            </a:r>
          </a:p>
        </p:txBody>
      </p:sp>
      <p:sp>
        <p:nvSpPr>
          <p:cNvPr id="3" name="Content Placeholder 2"/>
          <p:cNvSpPr>
            <a:spLocks noGrp="1"/>
          </p:cNvSpPr>
          <p:nvPr>
            <p:ph idx="1"/>
          </p:nvPr>
        </p:nvSpPr>
        <p:spPr/>
        <p:txBody>
          <a:bodyPr/>
          <a:lstStyle/>
          <a:p>
            <a:r>
              <a:rPr lang="en-US" dirty="0"/>
              <a:t>It is generally accepted that an early stage of agile processes is to design an overall systems architecture.</a:t>
            </a:r>
          </a:p>
          <a:p>
            <a:r>
              <a:rPr lang="en-US" dirty="0"/>
              <a:t>Refactoring the system architecture is usually expensive because it affects so many components in the system</a:t>
            </a:r>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14</a:t>
            </a:fld>
            <a:endParaRPr lang="en-US"/>
          </a:p>
        </p:txBody>
      </p:sp>
      <p:sp>
        <p:nvSpPr>
          <p:cNvPr id="6" name="Date Placeholder 5"/>
          <p:cNvSpPr>
            <a:spLocks noGrp="1"/>
          </p:cNvSpPr>
          <p:nvPr>
            <p:ph type="dt" sz="half" idx="10"/>
          </p:nvPr>
        </p:nvSpPr>
        <p:spPr/>
        <p:txBody>
          <a:bodyPr/>
          <a:lstStyle/>
          <a:p>
            <a:fld id="{88230E10-E64F-014A-B38E-659FFF22374A}" type="datetime1">
              <a:rPr lang="en-GB" smtClean="0"/>
              <a:t>20/12/2021</a:t>
            </a:fld>
            <a:endParaRPr lang="en-US"/>
          </a:p>
        </p:txBody>
      </p:sp>
    </p:spTree>
    <p:extLst>
      <p:ext uri="{BB962C8B-B14F-4D97-AF65-F5344CB8AC3E}">
        <p14:creationId xmlns:p14="http://schemas.microsoft.com/office/powerpoint/2010/main" val="2417976477"/>
      </p:ext>
    </p:extLst>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abstraction</a:t>
            </a:r>
          </a:p>
        </p:txBody>
      </p:sp>
      <p:sp>
        <p:nvSpPr>
          <p:cNvPr id="3" name="Content Placeholder 2"/>
          <p:cNvSpPr>
            <a:spLocks noGrp="1"/>
          </p:cNvSpPr>
          <p:nvPr>
            <p:ph idx="1"/>
          </p:nvPr>
        </p:nvSpPr>
        <p:spPr/>
        <p:txBody>
          <a:bodyPr/>
          <a:lstStyle/>
          <a:p>
            <a:r>
              <a:rPr lang="en-US" dirty="0">
                <a:solidFill>
                  <a:srgbClr val="000000"/>
                </a:solidFill>
              </a:rPr>
              <a:t>Architecture in the small is concerned with the architecture of individual programs. At this level, we are concerned with the way that an individual program is decomposed into components.  </a:t>
            </a:r>
            <a:endParaRPr lang="en-GB" dirty="0">
              <a:solidFill>
                <a:srgbClr val="000000"/>
              </a:solidFill>
            </a:endParaRPr>
          </a:p>
          <a:p>
            <a:r>
              <a:rPr lang="en-US" dirty="0">
                <a:solidFill>
                  <a:srgbClr val="000000"/>
                </a:solidFill>
              </a:rPr>
              <a:t>Architecture in the large is concerned with the architecture of complex enterprise systems that include other systems, programs, and program components. These enterprise systems are distributed over different computers, which may be owned and managed by different companies.  </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15</a:t>
            </a:fld>
            <a:endParaRPr lang="en-US"/>
          </a:p>
        </p:txBody>
      </p:sp>
      <p:sp>
        <p:nvSpPr>
          <p:cNvPr id="6" name="Date Placeholder 5"/>
          <p:cNvSpPr>
            <a:spLocks noGrp="1"/>
          </p:cNvSpPr>
          <p:nvPr>
            <p:ph type="dt" sz="half" idx="10"/>
          </p:nvPr>
        </p:nvSpPr>
        <p:spPr/>
        <p:txBody>
          <a:bodyPr/>
          <a:lstStyle/>
          <a:p>
            <a:fld id="{EFB9FC12-CD08-1841-B4E7-6447ABCA8C41}" type="datetime1">
              <a:rPr lang="en-GB" smtClean="0"/>
              <a:t>20/12/2021</a:t>
            </a:fld>
            <a:endParaRPr lang="en-US"/>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Number Placeholder 3">
            <a:extLst>
              <a:ext uri="{FF2B5EF4-FFF2-40B4-BE49-F238E27FC236}">
                <a16:creationId xmlns:a16="http://schemas.microsoft.com/office/drawing/2014/main" id="{896E3122-949B-8F4B-A991-7FE46FF8B933}"/>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F13E02D1-3F2B-EF47-BBD1-C9F2DD727614}" type="slidenum">
              <a:rPr lang="en-US" altLang="en-US" sz="1200">
                <a:latin typeface="Garamond" panose="02020404030301010803" pitchFamily="18" charset="0"/>
              </a:rPr>
              <a:pPr>
                <a:spcBef>
                  <a:spcPct val="0"/>
                </a:spcBef>
                <a:buClrTx/>
                <a:buSzTx/>
                <a:buFontTx/>
                <a:buNone/>
              </a:pPr>
              <a:t>16</a:t>
            </a:fld>
            <a:endParaRPr lang="en-US" altLang="en-US" sz="1200">
              <a:latin typeface="Garamond" panose="02020404030301010803" pitchFamily="18" charset="0"/>
            </a:endParaRPr>
          </a:p>
        </p:txBody>
      </p:sp>
      <p:pic>
        <p:nvPicPr>
          <p:cNvPr id="29698" name="Picture 6" descr="Noname.jpg">
            <a:extLst>
              <a:ext uri="{FF2B5EF4-FFF2-40B4-BE49-F238E27FC236}">
                <a16:creationId xmlns:a16="http://schemas.microsoft.com/office/drawing/2014/main" id="{6E018F6A-797F-BB44-8EA3-72C384CC5F4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3850" y="404813"/>
            <a:ext cx="4906963"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699" name="Picture 7" descr="Noname.jpg">
            <a:extLst>
              <a:ext uri="{FF2B5EF4-FFF2-40B4-BE49-F238E27FC236}">
                <a16:creationId xmlns:a16="http://schemas.microsoft.com/office/drawing/2014/main" id="{68401331-294F-4C4A-A284-E201F95CD5C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40200" y="3592513"/>
            <a:ext cx="4624388"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TextBox 7">
            <a:extLst>
              <a:ext uri="{FF2B5EF4-FFF2-40B4-BE49-F238E27FC236}">
                <a16:creationId xmlns:a16="http://schemas.microsoft.com/office/drawing/2014/main" id="{D6CC87EB-2747-BB42-B772-271C2ED5AC38}"/>
              </a:ext>
            </a:extLst>
          </p:cNvPr>
          <p:cNvSpPr txBox="1">
            <a:spLocks noChangeArrowheads="1"/>
          </p:cNvSpPr>
          <p:nvPr/>
        </p:nvSpPr>
        <p:spPr bwMode="auto">
          <a:xfrm>
            <a:off x="395288" y="188913"/>
            <a:ext cx="34671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marL="0" lvl="1" eaLnBrk="1" hangingPunct="1">
              <a:spcBef>
                <a:spcPct val="0"/>
              </a:spcBef>
              <a:buClrTx/>
              <a:buSzTx/>
              <a:buFontTx/>
              <a:buNone/>
            </a:pPr>
            <a:r>
              <a:rPr lang="en-US" altLang="en-US" sz="1800">
                <a:latin typeface="Gill Sans MT" panose="020B0502020104020203" pitchFamily="34" charset="77"/>
              </a:rPr>
              <a:t>LAN-based file server architecture.</a:t>
            </a:r>
          </a:p>
          <a:p>
            <a:pPr eaLnBrk="1" hangingPunct="1">
              <a:spcBef>
                <a:spcPct val="0"/>
              </a:spcBef>
              <a:buClrTx/>
              <a:buSzTx/>
              <a:buFontTx/>
              <a:buNone/>
            </a:pPr>
            <a:endParaRPr lang="en-GB" altLang="en-US" sz="1800"/>
          </a:p>
        </p:txBody>
      </p:sp>
    </p:spTree>
    <p:extLst>
      <p:ext uri="{BB962C8B-B14F-4D97-AF65-F5344CB8AC3E}">
        <p14:creationId xmlns:p14="http://schemas.microsoft.com/office/powerpoint/2010/main" val="2106633364"/>
      </p:ext>
    </p:extLst>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20BBD823-2FE8-294F-B115-3864C0865707}"/>
              </a:ext>
            </a:extLst>
          </p:cNvPr>
          <p:cNvSpPr>
            <a:spLocks noGrp="1" noChangeArrowheads="1"/>
          </p:cNvSpPr>
          <p:nvPr>
            <p:ph type="title"/>
          </p:nvPr>
        </p:nvSpPr>
        <p:spPr/>
        <p:txBody>
          <a:bodyPr/>
          <a:lstStyle/>
          <a:p>
            <a:pPr eaLnBrk="1" hangingPunct="1"/>
            <a:r>
              <a:rPr lang="en-US" altLang="en-US"/>
              <a:t>Limitations of File Servers</a:t>
            </a:r>
          </a:p>
        </p:txBody>
      </p:sp>
      <p:sp>
        <p:nvSpPr>
          <p:cNvPr id="31747" name="Content Placeholder 2">
            <a:extLst>
              <a:ext uri="{FF2B5EF4-FFF2-40B4-BE49-F238E27FC236}">
                <a16:creationId xmlns:a16="http://schemas.microsoft.com/office/drawing/2014/main" id="{B2D35D82-B506-6044-8F1D-495B764FE10C}"/>
              </a:ext>
            </a:extLst>
          </p:cNvPr>
          <p:cNvSpPr>
            <a:spLocks noGrp="1" noChangeArrowheads="1"/>
          </p:cNvSpPr>
          <p:nvPr>
            <p:ph idx="1"/>
          </p:nvPr>
        </p:nvSpPr>
        <p:spPr/>
        <p:txBody>
          <a:bodyPr/>
          <a:lstStyle/>
          <a:p>
            <a:pPr eaLnBrk="1" hangingPunct="1"/>
            <a:r>
              <a:rPr lang="en-US" altLang="en-US"/>
              <a:t>Excessive data movement</a:t>
            </a:r>
          </a:p>
          <a:p>
            <a:pPr lvl="1" eaLnBrk="1" hangingPunct="1"/>
            <a:r>
              <a:rPr lang="en-US" altLang="en-US"/>
              <a:t>Entire data tables must be transferred instead of individual records.</a:t>
            </a:r>
          </a:p>
          <a:p>
            <a:pPr eaLnBrk="1" hangingPunct="1"/>
            <a:r>
              <a:rPr lang="en-US" altLang="en-US"/>
              <a:t>Need for powerful client workstations</a:t>
            </a:r>
          </a:p>
          <a:p>
            <a:pPr lvl="1" eaLnBrk="1" hangingPunct="1"/>
            <a:r>
              <a:rPr lang="en-US" altLang="en-US"/>
              <a:t>Each client workstation must devote memory to a full DBMS.</a:t>
            </a:r>
          </a:p>
          <a:p>
            <a:pPr eaLnBrk="1" hangingPunct="1"/>
            <a:r>
              <a:rPr lang="en-US" altLang="en-US"/>
              <a:t>Decentralized data control</a:t>
            </a:r>
          </a:p>
          <a:p>
            <a:pPr lvl="1" eaLnBrk="1" hangingPunct="1"/>
            <a:r>
              <a:rPr lang="en-US" altLang="en-US"/>
              <a:t>Complicates record concurrency control, recovery, and security.</a:t>
            </a:r>
          </a:p>
        </p:txBody>
      </p:sp>
      <p:sp>
        <p:nvSpPr>
          <p:cNvPr id="31746" name="Slide Number Placeholder 4">
            <a:extLst>
              <a:ext uri="{FF2B5EF4-FFF2-40B4-BE49-F238E27FC236}">
                <a16:creationId xmlns:a16="http://schemas.microsoft.com/office/drawing/2014/main" id="{AEA15F24-0287-A748-A081-CCB188BBD52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0D71884C-4E1F-7847-9C98-29D64B9CB18E}" type="slidenum">
              <a:rPr lang="en-US" altLang="en-US" sz="1200">
                <a:solidFill>
                  <a:schemeClr val="tx2"/>
                </a:solidFill>
                <a:cs typeface="Arial" panose="020B0604020202020204" pitchFamily="34" charset="0"/>
              </a:rPr>
              <a:pPr>
                <a:spcBef>
                  <a:spcPct val="0"/>
                </a:spcBef>
                <a:buClrTx/>
                <a:buSzTx/>
                <a:buFontTx/>
                <a:buNone/>
              </a:pPr>
              <a:t>17</a:t>
            </a:fld>
            <a:endParaRPr lang="en-US" altLang="en-US" sz="1200">
              <a:solidFill>
                <a:schemeClr val="tx2"/>
              </a:solidFill>
              <a:cs typeface="Arial" panose="020B0604020202020204" pitchFamily="34" charset="0"/>
            </a:endParaRPr>
          </a:p>
        </p:txBody>
      </p:sp>
    </p:spTree>
    <p:extLst>
      <p:ext uri="{BB962C8B-B14F-4D97-AF65-F5344CB8AC3E}">
        <p14:creationId xmlns:p14="http://schemas.microsoft.com/office/powerpoint/2010/main" val="3491338574"/>
      </p:ext>
    </p:extLst>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8BCC22F7-798F-394F-A73A-6E36998C1631}"/>
              </a:ext>
            </a:extLst>
          </p:cNvPr>
          <p:cNvSpPr>
            <a:spLocks noGrp="1" noChangeArrowheads="1"/>
          </p:cNvSpPr>
          <p:nvPr>
            <p:ph type="title"/>
          </p:nvPr>
        </p:nvSpPr>
        <p:spPr/>
        <p:txBody>
          <a:bodyPr/>
          <a:lstStyle/>
          <a:p>
            <a:r>
              <a:rPr lang="en-US" altLang="en-US"/>
              <a:t>Designing Systems for a Client/Server Architecture</a:t>
            </a:r>
          </a:p>
        </p:txBody>
      </p:sp>
      <p:sp>
        <p:nvSpPr>
          <p:cNvPr id="32770" name="Rectangle 3">
            <a:extLst>
              <a:ext uri="{FF2B5EF4-FFF2-40B4-BE49-F238E27FC236}">
                <a16:creationId xmlns:a16="http://schemas.microsoft.com/office/drawing/2014/main" id="{CC4650A7-EE88-6741-8F19-10C26DCBBDB8}"/>
              </a:ext>
            </a:extLst>
          </p:cNvPr>
          <p:cNvSpPr>
            <a:spLocks noGrp="1" noChangeArrowheads="1"/>
          </p:cNvSpPr>
          <p:nvPr>
            <p:ph sz="quarter" idx="1"/>
          </p:nvPr>
        </p:nvSpPr>
        <p:spPr/>
        <p:txBody>
          <a:bodyPr/>
          <a:lstStyle/>
          <a:p>
            <a:r>
              <a:rPr lang="en-US" altLang="en-US" sz="2000"/>
              <a:t>Client/server architecture: a LAN-based computing environment in which central database server or engine performs all database commands sent to it from client workstations, and application programs on each client concentrate on user interface functions</a:t>
            </a:r>
          </a:p>
          <a:p>
            <a:r>
              <a:rPr lang="en-US" altLang="en-US" sz="2000"/>
              <a:t>Application processing is divided between client and server.</a:t>
            </a:r>
          </a:p>
          <a:p>
            <a:pPr lvl="1"/>
            <a:r>
              <a:rPr lang="en-US" altLang="en-US" sz="2000"/>
              <a:t>Client manages the user interface.</a:t>
            </a:r>
          </a:p>
          <a:p>
            <a:pPr lvl="1"/>
            <a:r>
              <a:rPr lang="en-US" altLang="en-US" sz="2000"/>
              <a:t>Database server is responsible for data storage and query processing. </a:t>
            </a:r>
          </a:p>
          <a:p>
            <a:r>
              <a:rPr lang="en-US" altLang="en-US" sz="2000"/>
              <a:t>Client: the (front-end) portion of the client/server database system that provides the user interface and data manipulation functions</a:t>
            </a:r>
          </a:p>
          <a:p>
            <a:r>
              <a:rPr lang="en-US" altLang="en-US" sz="2000"/>
              <a:t>Database engine: the (back-end) portion of the client/server database system running on the server that provides database processing and shared access functions</a:t>
            </a:r>
          </a:p>
          <a:p>
            <a:pPr lvl="1"/>
            <a:endParaRPr lang="en-US" altLang="en-US" sz="2000"/>
          </a:p>
          <a:p>
            <a:endParaRPr lang="en-US" altLang="en-US" sz="2000"/>
          </a:p>
        </p:txBody>
      </p:sp>
      <p:sp>
        <p:nvSpPr>
          <p:cNvPr id="32771" name="Slide Number Placeholder 4">
            <a:extLst>
              <a:ext uri="{FF2B5EF4-FFF2-40B4-BE49-F238E27FC236}">
                <a16:creationId xmlns:a16="http://schemas.microsoft.com/office/drawing/2014/main" id="{BC500708-AF0A-ED41-87AB-FA647B95796A}"/>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0" hangingPunct="0">
              <a:spcBef>
                <a:spcPct val="0"/>
              </a:spcBef>
              <a:buClrTx/>
              <a:buSzTx/>
              <a:buFontTx/>
              <a:buNone/>
            </a:pPr>
            <a:fld id="{7C1DDA19-08FC-CB4B-BBF4-F1471742324D}" type="slidenum">
              <a:rPr lang="en-US" altLang="en-US" sz="1200">
                <a:cs typeface="Arial" panose="020B0604020202020204" pitchFamily="34" charset="0"/>
              </a:rPr>
              <a:pPr eaLnBrk="0" hangingPunct="0">
                <a:spcBef>
                  <a:spcPct val="0"/>
                </a:spcBef>
                <a:buClrTx/>
                <a:buSzTx/>
                <a:buFontTx/>
                <a:buNone/>
              </a:pPr>
              <a:t>18</a:t>
            </a:fld>
            <a:endParaRPr lang="en-US" altLang="en-US" sz="1200">
              <a:cs typeface="Arial" panose="020B0604020202020204" pitchFamily="34" charset="0"/>
            </a:endParaRPr>
          </a:p>
        </p:txBody>
      </p:sp>
    </p:spTree>
    <p:extLst>
      <p:ext uri="{BB962C8B-B14F-4D97-AF65-F5344CB8AC3E}">
        <p14:creationId xmlns:p14="http://schemas.microsoft.com/office/powerpoint/2010/main" val="271625849"/>
      </p:ext>
    </p:extLst>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GB" dirty="0"/>
              <a:t>Advantages of explicit architecture</a:t>
            </a:r>
          </a:p>
        </p:txBody>
      </p:sp>
      <p:sp>
        <p:nvSpPr>
          <p:cNvPr id="45059" name="Rectangle 3"/>
          <p:cNvSpPr>
            <a:spLocks noGrp="1" noChangeArrowheads="1"/>
          </p:cNvSpPr>
          <p:nvPr>
            <p:ph idx="1"/>
          </p:nvPr>
        </p:nvSpPr>
        <p:spPr/>
        <p:txBody>
          <a:bodyPr/>
          <a:lstStyle/>
          <a:p>
            <a:pPr>
              <a:lnSpc>
                <a:spcPct val="90000"/>
              </a:lnSpc>
            </a:pPr>
            <a:r>
              <a:rPr lang="en-GB" dirty="0"/>
              <a:t>Stakeholder communication</a:t>
            </a:r>
          </a:p>
          <a:p>
            <a:pPr lvl="1">
              <a:lnSpc>
                <a:spcPct val="90000"/>
              </a:lnSpc>
            </a:pPr>
            <a:r>
              <a:rPr lang="en-GB" dirty="0"/>
              <a:t>Architecture may be used as a focus of discussion by system stakeholders.</a:t>
            </a:r>
          </a:p>
          <a:p>
            <a:pPr>
              <a:lnSpc>
                <a:spcPct val="90000"/>
              </a:lnSpc>
            </a:pPr>
            <a:r>
              <a:rPr lang="en-GB" dirty="0"/>
              <a:t>System analysis</a:t>
            </a:r>
          </a:p>
          <a:p>
            <a:pPr lvl="1">
              <a:lnSpc>
                <a:spcPct val="90000"/>
              </a:lnSpc>
            </a:pPr>
            <a:r>
              <a:rPr lang="en-GB" dirty="0"/>
              <a:t>Means that analysis of whether the system can meet its non-functional requirements is possible.</a:t>
            </a:r>
          </a:p>
          <a:p>
            <a:pPr>
              <a:lnSpc>
                <a:spcPct val="90000"/>
              </a:lnSpc>
            </a:pPr>
            <a:r>
              <a:rPr lang="en-GB" dirty="0"/>
              <a:t>Large-scale reuse</a:t>
            </a:r>
          </a:p>
          <a:p>
            <a:pPr lvl="1">
              <a:lnSpc>
                <a:spcPct val="90000"/>
              </a:lnSpc>
            </a:pPr>
            <a:r>
              <a:rPr lang="en-GB" dirty="0"/>
              <a:t>The architecture may be reusable across a range of systems</a:t>
            </a:r>
          </a:p>
          <a:p>
            <a:pPr lvl="1">
              <a:lnSpc>
                <a:spcPct val="90000"/>
              </a:lnSpc>
            </a:pPr>
            <a:r>
              <a:rPr lang="en-GB" dirty="0"/>
              <a:t>Product-line architectures may be developed.</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19</a:t>
            </a:fld>
            <a:endParaRPr lang="en-US"/>
          </a:p>
        </p:txBody>
      </p:sp>
      <p:sp>
        <p:nvSpPr>
          <p:cNvPr id="2" name="Date Placeholder 1"/>
          <p:cNvSpPr>
            <a:spLocks noGrp="1"/>
          </p:cNvSpPr>
          <p:nvPr>
            <p:ph type="dt" sz="half" idx="10"/>
          </p:nvPr>
        </p:nvSpPr>
        <p:spPr/>
        <p:txBody>
          <a:bodyPr/>
          <a:lstStyle/>
          <a:p>
            <a:fld id="{12511611-7B60-0443-8254-EB024D6E18F8}" type="datetime1">
              <a:rPr lang="en-GB" smtClean="0"/>
              <a:t>20/12/2021</a:t>
            </a:fld>
            <a:endParaRPr lang="en-US"/>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293232" cy="1143000"/>
          </a:xfrm>
        </p:spPr>
        <p:txBody>
          <a:bodyPr wrap="square" anchor="ctr">
            <a:normAutofit/>
          </a:bodyPr>
          <a:lstStyle/>
          <a:p>
            <a:r>
              <a:rPr lang="en-US" dirty="0"/>
              <a:t>Architectural representations</a:t>
            </a:r>
          </a:p>
        </p:txBody>
      </p:sp>
      <p:sp>
        <p:nvSpPr>
          <p:cNvPr id="6" name="Date Placeholder 5"/>
          <p:cNvSpPr>
            <a:spLocks noGrp="1"/>
          </p:cNvSpPr>
          <p:nvPr>
            <p:ph type="dt" sz="half" idx="10"/>
          </p:nvPr>
        </p:nvSpPr>
        <p:spPr>
          <a:xfrm>
            <a:off x="457200" y="6356350"/>
            <a:ext cx="2133600" cy="365125"/>
          </a:xfrm>
        </p:spPr>
        <p:txBody>
          <a:bodyPr anchor="ctr">
            <a:normAutofit/>
          </a:bodyPr>
          <a:lstStyle/>
          <a:p>
            <a:pPr>
              <a:spcAft>
                <a:spcPts val="600"/>
              </a:spcAft>
            </a:pPr>
            <a:fld id="{6978846F-99CA-574D-810B-74D43F5551EB}" type="datetime1">
              <a:rPr lang="en-GB" smtClean="0"/>
              <a:pPr>
                <a:spcAft>
                  <a:spcPts val="600"/>
                </a:spcAft>
              </a:pPr>
              <a:t>20/12/2021</a:t>
            </a:fld>
            <a:endParaRPr lang="en-US"/>
          </a:p>
        </p:txBody>
      </p:sp>
      <p:sp>
        <p:nvSpPr>
          <p:cNvPr id="5" name="Footer Placeholder 4"/>
          <p:cNvSpPr>
            <a:spLocks noGrp="1"/>
          </p:cNvSpPr>
          <p:nvPr>
            <p:ph type="ftr" sz="quarter" idx="11"/>
          </p:nvPr>
        </p:nvSpPr>
        <p:spPr>
          <a:xfrm>
            <a:off x="3124200" y="6356350"/>
            <a:ext cx="2895600" cy="365125"/>
          </a:xfrm>
        </p:spPr>
        <p:txBody>
          <a:bodyPr anchor="ctr">
            <a:normAutofit/>
          </a:bodyPr>
          <a:lstStyle/>
          <a:p>
            <a:pPr>
              <a:spcAft>
                <a:spcPts val="600"/>
              </a:spcAft>
            </a:pPr>
            <a:r>
              <a:rPr lang="en-US"/>
              <a:t>Chapter 6 Architectural Design</a:t>
            </a:r>
          </a:p>
        </p:txBody>
      </p:sp>
      <p:sp>
        <p:nvSpPr>
          <p:cNvPr id="4" name="Slide Number Placeholder 3"/>
          <p:cNvSpPr>
            <a:spLocks noGrp="1"/>
          </p:cNvSpPr>
          <p:nvPr>
            <p:ph type="sldNum" sz="quarter" idx="12"/>
          </p:nvPr>
        </p:nvSpPr>
        <p:spPr>
          <a:xfrm>
            <a:off x="6553200" y="6356350"/>
            <a:ext cx="2133600" cy="365125"/>
          </a:xfrm>
        </p:spPr>
        <p:txBody>
          <a:bodyPr anchor="ctr">
            <a:normAutofit/>
          </a:bodyPr>
          <a:lstStyle/>
          <a:p>
            <a:pPr>
              <a:spcAft>
                <a:spcPts val="600"/>
              </a:spcAft>
            </a:pPr>
            <a:fld id="{EC33B370-F672-B743-B3AF-248A63C17270}" type="slidenum">
              <a:rPr lang="en-US" smtClean="0"/>
              <a:pPr>
                <a:spcAft>
                  <a:spcPts val="600"/>
                </a:spcAft>
              </a:pPr>
              <a:t>20</a:t>
            </a:fld>
            <a:endParaRPr lang="en-US"/>
          </a:p>
        </p:txBody>
      </p:sp>
      <p:graphicFrame>
        <p:nvGraphicFramePr>
          <p:cNvPr id="8" name="Content Placeholder 2">
            <a:extLst>
              <a:ext uri="{FF2B5EF4-FFF2-40B4-BE49-F238E27FC236}">
                <a16:creationId xmlns:a16="http://schemas.microsoft.com/office/drawing/2014/main" id="{949FD9AA-53FD-4A7D-A92C-7BB38B80D8B5}"/>
              </a:ext>
            </a:extLst>
          </p:cNvPr>
          <p:cNvGraphicFramePr>
            <a:graphicFrameLocks noGrp="1"/>
          </p:cNvGraphicFramePr>
          <p:nvPr>
            <p:ph idx="1"/>
            <p:extLst>
              <p:ext uri="{D42A27DB-BD31-4B8C-83A1-F6EECF244321}">
                <p14:modId xmlns:p14="http://schemas.microsoft.com/office/powerpoint/2010/main" val="209392303"/>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dirty="0"/>
              <a:t>Box and line diagrams</a:t>
            </a:r>
          </a:p>
        </p:txBody>
      </p:sp>
      <p:sp>
        <p:nvSpPr>
          <p:cNvPr id="57347" name="Rectangle 3"/>
          <p:cNvSpPr>
            <a:spLocks noGrp="1" noChangeArrowheads="1"/>
          </p:cNvSpPr>
          <p:nvPr>
            <p:ph idx="1"/>
          </p:nvPr>
        </p:nvSpPr>
        <p:spPr/>
        <p:txBody>
          <a:bodyPr/>
          <a:lstStyle/>
          <a:p>
            <a:r>
              <a:rPr lang="en-US"/>
              <a:t>Very abstract - they do not show the nature of component relationships nor the externally visible properties of the sub-systems.</a:t>
            </a:r>
          </a:p>
          <a:p>
            <a:r>
              <a:rPr lang="en-US"/>
              <a:t>However, useful for communication with stakeholders and for project planning.</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21</a:t>
            </a:fld>
            <a:endParaRPr lang="en-US"/>
          </a:p>
        </p:txBody>
      </p:sp>
      <p:sp>
        <p:nvSpPr>
          <p:cNvPr id="2" name="Date Placeholder 1"/>
          <p:cNvSpPr>
            <a:spLocks noGrp="1"/>
          </p:cNvSpPr>
          <p:nvPr>
            <p:ph type="dt" sz="half" idx="10"/>
          </p:nvPr>
        </p:nvSpPr>
        <p:spPr/>
        <p:txBody>
          <a:bodyPr/>
          <a:lstStyle/>
          <a:p>
            <a:fld id="{C43573DD-1A6A-EA4F-AF8F-1C531133A086}" type="datetime1">
              <a:rPr lang="en-GB" smtClean="0"/>
              <a:t>20/12/2021</a:t>
            </a:fld>
            <a:endParaRPr lang="en-US"/>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Use of architectural models</a:t>
            </a:r>
            <a:endParaRPr lang="en-US" dirty="0"/>
          </a:p>
        </p:txBody>
      </p:sp>
      <p:sp>
        <p:nvSpPr>
          <p:cNvPr id="3" name="Content Placeholder 2"/>
          <p:cNvSpPr>
            <a:spLocks noGrp="1"/>
          </p:cNvSpPr>
          <p:nvPr>
            <p:ph idx="1"/>
          </p:nvPr>
        </p:nvSpPr>
        <p:spPr/>
        <p:txBody>
          <a:bodyPr/>
          <a:lstStyle/>
          <a:p>
            <a:r>
              <a:rPr lang="en-US" dirty="0"/>
              <a:t>As a way of facilitating discussion about the system design </a:t>
            </a:r>
          </a:p>
          <a:p>
            <a:pPr lvl="1"/>
            <a:r>
              <a:rPr lang="en-US" dirty="0"/>
              <a:t>A high-level architectural view of a system is useful for communication with system stakeholders and project planning because it is not cluttered with detail. Stakeholders can relate to it and understand an abstract view of the system. They can then discuss the system as a whole without being confused by detail. </a:t>
            </a:r>
            <a:endParaRPr lang="en-GB" dirty="0"/>
          </a:p>
          <a:p>
            <a:r>
              <a:rPr lang="en-US" dirty="0"/>
              <a:t>As a way of documenting an architecture that has been designed </a:t>
            </a:r>
          </a:p>
          <a:p>
            <a:pPr lvl="1"/>
            <a:r>
              <a:rPr lang="en-US" dirty="0"/>
              <a:t>The aim here is to produce a complete system model that shows the different components in a system, their interfaces and their connections. </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22</a:t>
            </a:fld>
            <a:endParaRPr lang="en-US"/>
          </a:p>
        </p:txBody>
      </p:sp>
      <p:sp>
        <p:nvSpPr>
          <p:cNvPr id="6" name="Date Placeholder 5"/>
          <p:cNvSpPr>
            <a:spLocks noGrp="1"/>
          </p:cNvSpPr>
          <p:nvPr>
            <p:ph type="dt" sz="half" idx="10"/>
          </p:nvPr>
        </p:nvSpPr>
        <p:spPr/>
        <p:txBody>
          <a:bodyPr/>
          <a:lstStyle/>
          <a:p>
            <a:fld id="{0C852F40-6977-7646-99C3-82F9A7E07487}" type="datetime1">
              <a:rPr lang="en-GB" smtClean="0"/>
              <a:t>20/12/2021</a:t>
            </a:fld>
            <a:endParaRPr lang="en-US"/>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3119"/>
            <a:ext cx="9144000" cy="1143000"/>
          </a:xfrm>
        </p:spPr>
        <p:txBody>
          <a:bodyPr/>
          <a:lstStyle/>
          <a:p>
            <a:pPr algn="ctr"/>
            <a:r>
              <a:rPr lang="en-US" dirty="0"/>
              <a:t>Architectural design decisions</a:t>
            </a:r>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23</a:t>
            </a:fld>
            <a:endParaRPr lang="en-US"/>
          </a:p>
        </p:txBody>
      </p:sp>
      <p:sp>
        <p:nvSpPr>
          <p:cNvPr id="3" name="Date Placeholder 2"/>
          <p:cNvSpPr>
            <a:spLocks noGrp="1"/>
          </p:cNvSpPr>
          <p:nvPr>
            <p:ph type="dt" sz="half" idx="10"/>
          </p:nvPr>
        </p:nvSpPr>
        <p:spPr/>
        <p:txBody>
          <a:bodyPr/>
          <a:lstStyle/>
          <a:p>
            <a:fld id="{27A36E96-18A3-F849-B163-F417995BEE9C}" type="datetime1">
              <a:rPr lang="en-GB" smtClean="0"/>
              <a:t>20/12/2021</a:t>
            </a:fld>
            <a:endParaRPr lang="en-US"/>
          </a:p>
        </p:txBody>
      </p:sp>
    </p:spTree>
    <p:extLst>
      <p:ext uri="{BB962C8B-B14F-4D97-AF65-F5344CB8AC3E}">
        <p14:creationId xmlns:p14="http://schemas.microsoft.com/office/powerpoint/2010/main" val="2139175805"/>
      </p:ext>
    </p:extLst>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a:t>Architectural design decisions</a:t>
            </a:r>
          </a:p>
        </p:txBody>
      </p:sp>
      <p:sp>
        <p:nvSpPr>
          <p:cNvPr id="58371" name="Rectangle 3"/>
          <p:cNvSpPr>
            <a:spLocks noGrp="1" noChangeArrowheads="1"/>
          </p:cNvSpPr>
          <p:nvPr>
            <p:ph idx="1"/>
          </p:nvPr>
        </p:nvSpPr>
        <p:spPr/>
        <p:txBody>
          <a:bodyPr/>
          <a:lstStyle/>
          <a:p>
            <a:r>
              <a:rPr lang="en-US" dirty="0"/>
              <a:t>Architectural design is a creative process so the process differs depending on the type of system being developed.</a:t>
            </a:r>
          </a:p>
          <a:p>
            <a:r>
              <a:rPr lang="en-US" dirty="0"/>
              <a:t>However, a number of common decisions span all design processes and these decisions affect the non-functional characteristics of the system.</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24</a:t>
            </a:fld>
            <a:endParaRPr lang="en-US"/>
          </a:p>
        </p:txBody>
      </p:sp>
      <p:sp>
        <p:nvSpPr>
          <p:cNvPr id="2" name="Date Placeholder 1"/>
          <p:cNvSpPr>
            <a:spLocks noGrp="1"/>
          </p:cNvSpPr>
          <p:nvPr>
            <p:ph type="dt" sz="half" idx="10"/>
          </p:nvPr>
        </p:nvSpPr>
        <p:spPr/>
        <p:txBody>
          <a:bodyPr/>
          <a:lstStyle/>
          <a:p>
            <a:fld id="{7C436FAF-8728-3741-BE51-A0D01615043E}" type="datetime1">
              <a:rPr lang="en-GB" smtClean="0"/>
              <a:t>20/12/2021</a:t>
            </a:fld>
            <a:endParaRPr lang="en-US"/>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design decisions</a:t>
            </a:r>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25</a:t>
            </a:fld>
            <a:endParaRPr lang="en-US"/>
          </a:p>
        </p:txBody>
      </p:sp>
      <p:pic>
        <p:nvPicPr>
          <p:cNvPr id="6" name="Picture 5" descr="6.2 Arch design question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839" y="1684421"/>
            <a:ext cx="8705841" cy="4671929"/>
          </a:xfrm>
          <a:prstGeom prst="rect">
            <a:avLst/>
          </a:prstGeom>
        </p:spPr>
      </p:pic>
      <p:sp>
        <p:nvSpPr>
          <p:cNvPr id="3" name="Date Placeholder 2"/>
          <p:cNvSpPr>
            <a:spLocks noGrp="1"/>
          </p:cNvSpPr>
          <p:nvPr>
            <p:ph type="dt" sz="half" idx="10"/>
          </p:nvPr>
        </p:nvSpPr>
        <p:spPr/>
        <p:txBody>
          <a:bodyPr/>
          <a:lstStyle/>
          <a:p>
            <a:fld id="{797EC886-3A82-414C-AE09-89E7C04AB97D}" type="datetime1">
              <a:rPr lang="en-GB" smtClean="0"/>
              <a:t>20/12/2021</a:t>
            </a:fld>
            <a:endParaRPr lang="en-US"/>
          </a:p>
        </p:txBody>
      </p:sp>
    </p:spTree>
    <p:extLst>
      <p:ext uri="{BB962C8B-B14F-4D97-AF65-F5344CB8AC3E}">
        <p14:creationId xmlns:p14="http://schemas.microsoft.com/office/powerpoint/2010/main" val="3267886628"/>
      </p:ext>
    </p:extLst>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t>Architecture reuse</a:t>
            </a:r>
          </a:p>
        </p:txBody>
      </p:sp>
      <p:sp>
        <p:nvSpPr>
          <p:cNvPr id="60419" name="Rectangle 3"/>
          <p:cNvSpPr>
            <a:spLocks noGrp="1" noChangeArrowheads="1"/>
          </p:cNvSpPr>
          <p:nvPr>
            <p:ph idx="1"/>
          </p:nvPr>
        </p:nvSpPr>
        <p:spPr/>
        <p:txBody>
          <a:bodyPr/>
          <a:lstStyle/>
          <a:p>
            <a:r>
              <a:rPr lang="en-US" dirty="0"/>
              <a:t>Systems in the same domain often have similar architectures that reflect domain concepts.</a:t>
            </a:r>
          </a:p>
          <a:p>
            <a:r>
              <a:rPr lang="en-US" dirty="0"/>
              <a:t>Application product lines are built around a core architecture with variants that satisfy particular customer requirements.</a:t>
            </a:r>
          </a:p>
          <a:p>
            <a:r>
              <a:rPr lang="en-US" dirty="0"/>
              <a:t>The architecture of a system may be designed around one of more architectural patterns or ‘styles’. </a:t>
            </a:r>
          </a:p>
          <a:p>
            <a:pPr lvl="1"/>
            <a:r>
              <a:rPr lang="en-US" dirty="0"/>
              <a:t>These capture the essence of an architecture and can be instantiated in different ways.</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26</a:t>
            </a:fld>
            <a:endParaRPr lang="en-US"/>
          </a:p>
        </p:txBody>
      </p:sp>
      <p:sp>
        <p:nvSpPr>
          <p:cNvPr id="2" name="Date Placeholder 1"/>
          <p:cNvSpPr>
            <a:spLocks noGrp="1"/>
          </p:cNvSpPr>
          <p:nvPr>
            <p:ph type="dt" sz="half" idx="10"/>
          </p:nvPr>
        </p:nvSpPr>
        <p:spPr/>
        <p:txBody>
          <a:bodyPr/>
          <a:lstStyle/>
          <a:p>
            <a:fld id="{C74E1B68-3EE1-454F-B982-FE61D1DA8B44}" type="datetime1">
              <a:rPr lang="en-GB" smtClean="0"/>
              <a:t>20/12/2021</a:t>
            </a:fld>
            <a:endParaRPr lang="en-US"/>
          </a:p>
        </p:txBody>
      </p:sp>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381000" y="306388"/>
            <a:ext cx="8305800" cy="917575"/>
          </a:xfrm>
        </p:spPr>
        <p:txBody>
          <a:bodyPr/>
          <a:lstStyle/>
          <a:p>
            <a:r>
              <a:rPr lang="en-US" dirty="0"/>
              <a:t>Architecture and system characteristics</a:t>
            </a:r>
          </a:p>
        </p:txBody>
      </p:sp>
      <p:sp>
        <p:nvSpPr>
          <p:cNvPr id="50179" name="Rectangle 3"/>
          <p:cNvSpPr>
            <a:spLocks noGrp="1" noChangeArrowheads="1"/>
          </p:cNvSpPr>
          <p:nvPr>
            <p:ph idx="1"/>
          </p:nvPr>
        </p:nvSpPr>
        <p:spPr>
          <a:xfrm>
            <a:off x="533400" y="1600200"/>
            <a:ext cx="8229600" cy="4130675"/>
          </a:xfrm>
        </p:spPr>
        <p:txBody>
          <a:bodyPr/>
          <a:lstStyle/>
          <a:p>
            <a:pPr>
              <a:lnSpc>
                <a:spcPct val="90000"/>
              </a:lnSpc>
            </a:pPr>
            <a:r>
              <a:rPr lang="en-US" sz="2400" dirty="0"/>
              <a:t>Performance</a:t>
            </a:r>
          </a:p>
          <a:p>
            <a:pPr lvl="1">
              <a:lnSpc>
                <a:spcPct val="90000"/>
              </a:lnSpc>
            </a:pPr>
            <a:r>
              <a:rPr lang="en-US" sz="2000" dirty="0" err="1"/>
              <a:t>Localise</a:t>
            </a:r>
            <a:r>
              <a:rPr lang="en-US" sz="2000" dirty="0"/>
              <a:t> critical operations and </a:t>
            </a:r>
            <a:r>
              <a:rPr lang="en-US" sz="2000" dirty="0" err="1"/>
              <a:t>minimise</a:t>
            </a:r>
            <a:r>
              <a:rPr lang="en-US" sz="2000" dirty="0"/>
              <a:t> communications. Use large rather than fine-grain components.</a:t>
            </a:r>
          </a:p>
          <a:p>
            <a:pPr>
              <a:lnSpc>
                <a:spcPct val="90000"/>
              </a:lnSpc>
            </a:pPr>
            <a:r>
              <a:rPr lang="en-US" sz="2400" dirty="0"/>
              <a:t>Security</a:t>
            </a:r>
          </a:p>
          <a:p>
            <a:pPr lvl="1">
              <a:lnSpc>
                <a:spcPct val="90000"/>
              </a:lnSpc>
            </a:pPr>
            <a:r>
              <a:rPr lang="en-US" sz="2000" dirty="0"/>
              <a:t>Use a layered architecture with critical assets in the inner layers.</a:t>
            </a:r>
          </a:p>
          <a:p>
            <a:pPr>
              <a:lnSpc>
                <a:spcPct val="90000"/>
              </a:lnSpc>
            </a:pPr>
            <a:r>
              <a:rPr lang="en-US" sz="2400" dirty="0"/>
              <a:t>Safety</a:t>
            </a:r>
          </a:p>
          <a:p>
            <a:pPr lvl="1">
              <a:lnSpc>
                <a:spcPct val="90000"/>
              </a:lnSpc>
            </a:pPr>
            <a:r>
              <a:rPr lang="en-US" sz="2000" dirty="0" err="1"/>
              <a:t>Localise</a:t>
            </a:r>
            <a:r>
              <a:rPr lang="en-US" sz="2000" dirty="0"/>
              <a:t> safety-critical features in a small number of sub-systems.</a:t>
            </a:r>
          </a:p>
          <a:p>
            <a:pPr>
              <a:lnSpc>
                <a:spcPct val="90000"/>
              </a:lnSpc>
            </a:pPr>
            <a:r>
              <a:rPr lang="en-US" sz="2400" dirty="0"/>
              <a:t>Availability</a:t>
            </a:r>
          </a:p>
          <a:p>
            <a:pPr lvl="1">
              <a:lnSpc>
                <a:spcPct val="90000"/>
              </a:lnSpc>
            </a:pPr>
            <a:r>
              <a:rPr lang="en-US" sz="2000" dirty="0"/>
              <a:t>Include redundant components and mechanisms for fault tolerance.</a:t>
            </a:r>
          </a:p>
          <a:p>
            <a:pPr>
              <a:lnSpc>
                <a:spcPct val="90000"/>
              </a:lnSpc>
            </a:pPr>
            <a:r>
              <a:rPr lang="en-US" sz="2400" dirty="0"/>
              <a:t>Maintainability</a:t>
            </a:r>
          </a:p>
          <a:p>
            <a:pPr lvl="1">
              <a:lnSpc>
                <a:spcPct val="90000"/>
              </a:lnSpc>
            </a:pPr>
            <a:r>
              <a:rPr lang="en-US" sz="2000" dirty="0"/>
              <a:t>Use fine-grain, replaceable components.</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27</a:t>
            </a:fld>
            <a:endParaRPr lang="en-US"/>
          </a:p>
        </p:txBody>
      </p:sp>
      <p:sp>
        <p:nvSpPr>
          <p:cNvPr id="2" name="Date Placeholder 1"/>
          <p:cNvSpPr>
            <a:spLocks noGrp="1"/>
          </p:cNvSpPr>
          <p:nvPr>
            <p:ph type="dt" sz="half" idx="10"/>
          </p:nvPr>
        </p:nvSpPr>
        <p:spPr/>
        <p:txBody>
          <a:bodyPr/>
          <a:lstStyle/>
          <a:p>
            <a:fld id="{1A4CB21B-1C8B-0448-9B24-F464B321697B}" type="datetime1">
              <a:rPr lang="en-GB" smtClean="0"/>
              <a:t>20/12/2021</a:t>
            </a:fld>
            <a:endParaRPr lang="en-US"/>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26954"/>
            <a:ext cx="8229600" cy="1143000"/>
          </a:xfrm>
        </p:spPr>
        <p:txBody>
          <a:bodyPr/>
          <a:lstStyle/>
          <a:p>
            <a:pPr algn="ctr"/>
            <a:r>
              <a:rPr lang="en-US" dirty="0"/>
              <a:t>Architectural views</a:t>
            </a:r>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28</a:t>
            </a:fld>
            <a:endParaRPr lang="en-US"/>
          </a:p>
        </p:txBody>
      </p:sp>
      <p:sp>
        <p:nvSpPr>
          <p:cNvPr id="3" name="Date Placeholder 2"/>
          <p:cNvSpPr>
            <a:spLocks noGrp="1"/>
          </p:cNvSpPr>
          <p:nvPr>
            <p:ph type="dt" sz="half" idx="10"/>
          </p:nvPr>
        </p:nvSpPr>
        <p:spPr/>
        <p:txBody>
          <a:bodyPr/>
          <a:lstStyle/>
          <a:p>
            <a:fld id="{AF3A79A5-34C8-A24C-B96B-DD17163DEB3B}" type="datetime1">
              <a:rPr lang="en-GB" smtClean="0"/>
              <a:t>20/12/2021</a:t>
            </a:fld>
            <a:endParaRPr lang="en-US"/>
          </a:p>
        </p:txBody>
      </p:sp>
    </p:spTree>
    <p:extLst>
      <p:ext uri="{BB962C8B-B14F-4D97-AF65-F5344CB8AC3E}">
        <p14:creationId xmlns:p14="http://schemas.microsoft.com/office/powerpoint/2010/main" val="4050912685"/>
      </p:ext>
    </p:extLst>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views</a:t>
            </a:r>
          </a:p>
        </p:txBody>
      </p:sp>
      <p:sp>
        <p:nvSpPr>
          <p:cNvPr id="3" name="Content Placeholder 2"/>
          <p:cNvSpPr>
            <a:spLocks noGrp="1"/>
          </p:cNvSpPr>
          <p:nvPr>
            <p:ph idx="1"/>
          </p:nvPr>
        </p:nvSpPr>
        <p:spPr/>
        <p:txBody>
          <a:bodyPr/>
          <a:lstStyle/>
          <a:p>
            <a:r>
              <a:rPr lang="en-US" dirty="0"/>
              <a:t>What views or perspectives are useful when designing and documenting a system’s architecture?</a:t>
            </a:r>
            <a:endParaRPr lang="en-GB" dirty="0"/>
          </a:p>
          <a:p>
            <a:r>
              <a:rPr lang="en-US" dirty="0"/>
              <a:t>What notations should be used for describing architectural models?</a:t>
            </a:r>
          </a:p>
          <a:p>
            <a:r>
              <a:rPr lang="en-US" dirty="0"/>
              <a:t>Each architectural model only shows one view or perspective of the system. </a:t>
            </a:r>
          </a:p>
          <a:p>
            <a:pPr lvl="1"/>
            <a:r>
              <a:rPr lang="en-US" dirty="0"/>
              <a:t>It might show how a system is decomposed into modules, how the run-time processes interact or the different ways in which system components are distributed across a network. For both design and documentation, you usually need to present multiple views of the software architecture.</a:t>
            </a:r>
            <a:r>
              <a:rPr lang="en-GB" dirty="0"/>
              <a:t> </a:t>
            </a:r>
          </a:p>
          <a:p>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29</a:t>
            </a:fld>
            <a:endParaRPr lang="en-US"/>
          </a:p>
        </p:txBody>
      </p:sp>
      <p:sp>
        <p:nvSpPr>
          <p:cNvPr id="6" name="Date Placeholder 5"/>
          <p:cNvSpPr>
            <a:spLocks noGrp="1"/>
          </p:cNvSpPr>
          <p:nvPr>
            <p:ph type="dt" sz="half" idx="10"/>
          </p:nvPr>
        </p:nvSpPr>
        <p:spPr/>
        <p:txBody>
          <a:bodyPr/>
          <a:lstStyle/>
          <a:p>
            <a:fld id="{62201369-D6C0-374C-A163-C22226977C99}" type="datetime1">
              <a:rPr lang="en-GB" smtClean="0"/>
              <a:t>20/12/2021</a:t>
            </a:fld>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a:extLst>
              <a:ext uri="{FF2B5EF4-FFF2-40B4-BE49-F238E27FC236}">
                <a16:creationId xmlns:a16="http://schemas.microsoft.com/office/drawing/2014/main" id="{884AFB19-43F5-9D45-8CBA-87192DD8F4B6}"/>
              </a:ext>
            </a:extLst>
          </p:cNvPr>
          <p:cNvSpPr>
            <a:spLocks noGrp="1" noChangeArrowheads="1"/>
          </p:cNvSpPr>
          <p:nvPr>
            <p:ph type="title"/>
          </p:nvPr>
        </p:nvSpPr>
        <p:spPr/>
        <p:txBody>
          <a:bodyPr/>
          <a:lstStyle/>
          <a:p>
            <a:r>
              <a:rPr lang="en-US" altLang="en-US"/>
              <a:t>Physiological Structures</a:t>
            </a:r>
          </a:p>
        </p:txBody>
      </p:sp>
      <p:sp>
        <p:nvSpPr>
          <p:cNvPr id="50178" name="Footer Placeholder 3">
            <a:extLst>
              <a:ext uri="{FF2B5EF4-FFF2-40B4-BE49-F238E27FC236}">
                <a16:creationId xmlns:a16="http://schemas.microsoft.com/office/drawing/2014/main" id="{450F5151-0C25-A54E-9A5F-B55C93E3098A}"/>
              </a:ext>
            </a:extLst>
          </p:cNvPr>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AU" altLang="en-US" sz="1200">
                <a:latin typeface="Garamond" panose="02020404030301010803" pitchFamily="18" charset="0"/>
              </a:rPr>
              <a:t>© Len Bass, Paul Clements, Rick Kazman, distributed under Creative Commons Attribution License</a:t>
            </a:r>
          </a:p>
        </p:txBody>
      </p:sp>
      <p:sp>
        <p:nvSpPr>
          <p:cNvPr id="50179" name="Content Placeholder 5">
            <a:extLst>
              <a:ext uri="{FF2B5EF4-FFF2-40B4-BE49-F238E27FC236}">
                <a16:creationId xmlns:a16="http://schemas.microsoft.com/office/drawing/2014/main" id="{0B579952-07C7-0B45-9E05-04A15760C44F}"/>
              </a:ext>
            </a:extLst>
          </p:cNvPr>
          <p:cNvSpPr>
            <a:spLocks noGrp="1" noChangeArrowheads="1"/>
          </p:cNvSpPr>
          <p:nvPr>
            <p:ph idx="1"/>
          </p:nvPr>
        </p:nvSpPr>
        <p:spPr/>
        <p:txBody>
          <a:bodyPr/>
          <a:lstStyle/>
          <a:p>
            <a:pPr>
              <a:lnSpc>
                <a:spcPct val="80000"/>
              </a:lnSpc>
            </a:pPr>
            <a:r>
              <a:rPr lang="en-US" altLang="en-US" sz="2300"/>
              <a:t>The neurologist, the orthopedist, the hematologist, and the dermatologist all have different views of the structure of a human body. </a:t>
            </a:r>
          </a:p>
          <a:p>
            <a:pPr>
              <a:lnSpc>
                <a:spcPct val="80000"/>
              </a:lnSpc>
            </a:pPr>
            <a:r>
              <a:rPr lang="en-US" altLang="en-US" sz="2300"/>
              <a:t>Ophthalmologists, cardiologists, and podiatrists concentrate on specific subsystems. </a:t>
            </a:r>
          </a:p>
          <a:p>
            <a:pPr>
              <a:lnSpc>
                <a:spcPct val="80000"/>
              </a:lnSpc>
            </a:pPr>
            <a:r>
              <a:rPr lang="en-US" altLang="en-US" sz="2300"/>
              <a:t>The kinesiologist and psychiatrist are concerned with different aspects of the entire arrangement</a:t>
            </a:r>
            <a:r>
              <a:rPr lang="en-US" altLang="en-GB" sz="2300"/>
              <a:t>’</a:t>
            </a:r>
            <a:r>
              <a:rPr lang="en-US" altLang="en-US" sz="2300"/>
              <a:t>s behavior. </a:t>
            </a:r>
          </a:p>
          <a:p>
            <a:pPr>
              <a:lnSpc>
                <a:spcPct val="80000"/>
              </a:lnSpc>
            </a:pPr>
            <a:r>
              <a:rPr lang="en-US" altLang="en-US" sz="2300"/>
              <a:t>Although these views are pictured differently and have different properties, all are inherently related, interconnected.</a:t>
            </a:r>
          </a:p>
          <a:p>
            <a:pPr>
              <a:lnSpc>
                <a:spcPct val="80000"/>
              </a:lnSpc>
            </a:pPr>
            <a:r>
              <a:rPr lang="en-US" altLang="en-US" sz="2300"/>
              <a:t>Together they describe the architecture of the human body.</a:t>
            </a:r>
          </a:p>
          <a:p>
            <a:pPr>
              <a:lnSpc>
                <a:spcPct val="80000"/>
              </a:lnSpc>
            </a:pPr>
            <a:r>
              <a:rPr lang="en-US" altLang="en-US" sz="2300"/>
              <a:t>So it is with software! </a:t>
            </a:r>
          </a:p>
        </p:txBody>
      </p:sp>
    </p:spTree>
    <p:extLst>
      <p:ext uri="{BB962C8B-B14F-4D97-AF65-F5344CB8AC3E}">
        <p14:creationId xmlns:p14="http://schemas.microsoft.com/office/powerpoint/2010/main" val="3883129230"/>
      </p:ext>
    </p:extLst>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Footer Placeholder 3">
            <a:extLst>
              <a:ext uri="{FF2B5EF4-FFF2-40B4-BE49-F238E27FC236}">
                <a16:creationId xmlns:a16="http://schemas.microsoft.com/office/drawing/2014/main" id="{B5BCA7BE-0EB3-0D40-8236-915238906DEB}"/>
              </a:ext>
            </a:extLst>
          </p:cNvPr>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AU" altLang="en-US" sz="1200">
                <a:latin typeface="Garamond" panose="02020404030301010803" pitchFamily="18" charset="0"/>
              </a:rPr>
              <a:t>© Len Bass, Paul Clements, Rick Kazman, distributed under Creative Commons Attribution License</a:t>
            </a:r>
          </a:p>
        </p:txBody>
      </p:sp>
      <p:pic>
        <p:nvPicPr>
          <p:cNvPr id="51202" name="Picture 4" descr="phys.tiff">
            <a:extLst>
              <a:ext uri="{FF2B5EF4-FFF2-40B4-BE49-F238E27FC236}">
                <a16:creationId xmlns:a16="http://schemas.microsoft.com/office/drawing/2014/main" id="{CA7549AA-A667-8444-B80B-78C99BDF61E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60438" y="908050"/>
            <a:ext cx="7572375" cy="557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3" name="Title 1">
            <a:extLst>
              <a:ext uri="{FF2B5EF4-FFF2-40B4-BE49-F238E27FC236}">
                <a16:creationId xmlns:a16="http://schemas.microsoft.com/office/drawing/2014/main" id="{650DD189-FD60-564E-8483-EB69CF3A3315}"/>
              </a:ext>
            </a:extLst>
          </p:cNvPr>
          <p:cNvSpPr>
            <a:spLocks noGrp="1" noChangeArrowheads="1"/>
          </p:cNvSpPr>
          <p:nvPr>
            <p:ph type="title"/>
          </p:nvPr>
        </p:nvSpPr>
        <p:spPr/>
        <p:txBody>
          <a:bodyPr/>
          <a:lstStyle/>
          <a:p>
            <a:r>
              <a:rPr lang="en-US" altLang="en-US"/>
              <a:t>Physiological Structures</a:t>
            </a:r>
          </a:p>
        </p:txBody>
      </p:sp>
    </p:spTree>
    <p:extLst>
      <p:ext uri="{BB962C8B-B14F-4D97-AF65-F5344CB8AC3E}">
        <p14:creationId xmlns:p14="http://schemas.microsoft.com/office/powerpoint/2010/main" val="2128116147"/>
      </p:ext>
    </p:extLst>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views</a:t>
            </a:r>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32</a:t>
            </a:fld>
            <a:endParaRPr lang="en-US"/>
          </a:p>
        </p:txBody>
      </p:sp>
      <p:pic>
        <p:nvPicPr>
          <p:cNvPr id="6" name="Picture 5" descr="6.3 Architectural view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4383" y="1877595"/>
            <a:ext cx="5375755" cy="4044616"/>
          </a:xfrm>
          <a:prstGeom prst="rect">
            <a:avLst/>
          </a:prstGeom>
        </p:spPr>
      </p:pic>
      <p:sp>
        <p:nvSpPr>
          <p:cNvPr id="3" name="Date Placeholder 2"/>
          <p:cNvSpPr>
            <a:spLocks noGrp="1"/>
          </p:cNvSpPr>
          <p:nvPr>
            <p:ph type="dt" sz="half" idx="10"/>
          </p:nvPr>
        </p:nvSpPr>
        <p:spPr/>
        <p:txBody>
          <a:bodyPr/>
          <a:lstStyle/>
          <a:p>
            <a:fld id="{11B519F4-9FE5-8D45-82F3-E4A6557F0386}" type="datetime1">
              <a:rPr lang="en-GB" smtClean="0"/>
              <a:t>20/12/2021</a:t>
            </a:fld>
            <a:endParaRPr lang="en-US"/>
          </a:p>
        </p:txBody>
      </p:sp>
    </p:spTree>
    <p:extLst>
      <p:ext uri="{BB962C8B-B14F-4D97-AF65-F5344CB8AC3E}">
        <p14:creationId xmlns:p14="http://schemas.microsoft.com/office/powerpoint/2010/main" val="3448338256"/>
      </p:ext>
    </p:extLst>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Philippe </a:t>
            </a:r>
            <a:r>
              <a:rPr lang="en-US" i="1" dirty="0" err="1"/>
              <a:t>Krutchen</a:t>
            </a:r>
            <a:r>
              <a:rPr lang="en-US" i="1" dirty="0"/>
              <a:t> </a:t>
            </a:r>
            <a:r>
              <a:rPr lang="en-US" dirty="0"/>
              <a:t>– 4 + 1 view model of software architecture</a:t>
            </a:r>
          </a:p>
        </p:txBody>
      </p:sp>
      <p:sp>
        <p:nvSpPr>
          <p:cNvPr id="3" name="Content Placeholder 2"/>
          <p:cNvSpPr>
            <a:spLocks noGrp="1"/>
          </p:cNvSpPr>
          <p:nvPr>
            <p:ph idx="1"/>
          </p:nvPr>
        </p:nvSpPr>
        <p:spPr/>
        <p:txBody>
          <a:bodyPr/>
          <a:lstStyle/>
          <a:p>
            <a:r>
              <a:rPr lang="en-US" dirty="0"/>
              <a:t>A logical view, which shows the key abstractions in the system as objects or object classes. </a:t>
            </a:r>
            <a:endParaRPr lang="en-GB" dirty="0"/>
          </a:p>
          <a:p>
            <a:r>
              <a:rPr lang="en-US" dirty="0"/>
              <a:t>A process view, which shows how, at run-time, the system is composed of interacting processes. </a:t>
            </a:r>
            <a:endParaRPr lang="en-GB" dirty="0"/>
          </a:p>
          <a:p>
            <a:r>
              <a:rPr lang="en-US" dirty="0"/>
              <a:t>A development view, which shows how the software is decomposed for development.</a:t>
            </a:r>
            <a:endParaRPr lang="en-GB" dirty="0"/>
          </a:p>
          <a:p>
            <a:r>
              <a:rPr lang="en-US" dirty="0"/>
              <a:t>A physical view, which shows the system hardware and how software components are distributed across the processors in the system.</a:t>
            </a:r>
          </a:p>
          <a:p>
            <a:r>
              <a:rPr lang="en-US" dirty="0"/>
              <a:t>Related using use cases or scenarios (+1) </a:t>
            </a:r>
            <a:endParaRPr lang="en-GB" dirty="0"/>
          </a:p>
          <a:p>
            <a:endParaRPr lang="en-US" dirty="0"/>
          </a:p>
        </p:txBody>
      </p:sp>
      <p:sp>
        <p:nvSpPr>
          <p:cNvPr id="6" name="Date Placeholder 5"/>
          <p:cNvSpPr>
            <a:spLocks noGrp="1"/>
          </p:cNvSpPr>
          <p:nvPr>
            <p:ph type="dt" sz="half" idx="10"/>
          </p:nvPr>
        </p:nvSpPr>
        <p:spPr/>
        <p:txBody>
          <a:bodyPr/>
          <a:lstStyle/>
          <a:p>
            <a:fld id="{4CFD6B35-256A-2A40-9472-A482CF8F5D90}" type="datetime1">
              <a:rPr lang="en-GB" smtClean="0"/>
              <a:t>20/12/2021</a:t>
            </a:fld>
            <a:endParaRPr lang="en-US"/>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33</a:t>
            </a:fld>
            <a:endParaRPr lang="en-US"/>
          </a:p>
        </p:txBody>
      </p:sp>
      <p:sp>
        <p:nvSpPr>
          <p:cNvPr id="7" name="Rectangle 6">
            <a:extLst>
              <a:ext uri="{FF2B5EF4-FFF2-40B4-BE49-F238E27FC236}">
                <a16:creationId xmlns:a16="http://schemas.microsoft.com/office/drawing/2014/main" id="{13F4160C-CD18-C841-86F1-EB40C7AC3F2E}"/>
              </a:ext>
            </a:extLst>
          </p:cNvPr>
          <p:cNvSpPr>
            <a:spLocks noChangeArrowheads="1"/>
          </p:cNvSpPr>
          <p:nvPr/>
        </p:nvSpPr>
        <p:spPr bwMode="auto">
          <a:xfrm>
            <a:off x="6227763" y="2133600"/>
            <a:ext cx="2889250" cy="574675"/>
          </a:xfrm>
          <a:prstGeom prst="rect">
            <a:avLst/>
          </a:prstGeom>
          <a:solidFill>
            <a:srgbClr val="FFFFFF"/>
          </a:solidFill>
          <a:ln>
            <a:noFill/>
          </a:ln>
          <a:effectLst>
            <a:outerShdw blurRad="40000" dist="23000" dir="5400000" rotWithShape="0">
              <a:srgbClr val="808080">
                <a:alpha val="34998"/>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r>
              <a:rPr lang="en-US" altLang="en-US" sz="1400" dirty="0">
                <a:solidFill>
                  <a:srgbClr val="FF0000"/>
                </a:solidFill>
              </a:rPr>
              <a:t>(e.g. class diagrams, object diagrams, state charts, and composite structures)</a:t>
            </a:r>
            <a:endParaRPr lang="en-US" altLang="en-US" sz="1400" b="1" dirty="0">
              <a:solidFill>
                <a:srgbClr val="FF0000"/>
              </a:solidFill>
            </a:endParaRPr>
          </a:p>
          <a:p>
            <a:pPr algn="ctr" eaLnBrk="1" hangingPunct="1">
              <a:spcBef>
                <a:spcPct val="0"/>
              </a:spcBef>
              <a:buClrTx/>
              <a:buSzTx/>
              <a:buFontTx/>
              <a:buNone/>
              <a:defRPr/>
            </a:pPr>
            <a:endParaRPr lang="en-GB" altLang="en-US" sz="1400" dirty="0">
              <a:solidFill>
                <a:srgbClr val="FF0000"/>
              </a:solidFill>
            </a:endParaRPr>
          </a:p>
        </p:txBody>
      </p:sp>
      <p:sp>
        <p:nvSpPr>
          <p:cNvPr id="8" name="Rectangle 7">
            <a:extLst>
              <a:ext uri="{FF2B5EF4-FFF2-40B4-BE49-F238E27FC236}">
                <a16:creationId xmlns:a16="http://schemas.microsoft.com/office/drawing/2014/main" id="{5D2A18AE-0E1B-9C4F-BC84-3D4D9FDE410E}"/>
              </a:ext>
            </a:extLst>
          </p:cNvPr>
          <p:cNvSpPr>
            <a:spLocks noChangeArrowheads="1"/>
          </p:cNvSpPr>
          <p:nvPr/>
        </p:nvSpPr>
        <p:spPr bwMode="auto">
          <a:xfrm>
            <a:off x="5543550" y="2997200"/>
            <a:ext cx="3600450" cy="647700"/>
          </a:xfrm>
          <a:prstGeom prst="rect">
            <a:avLst/>
          </a:prstGeom>
          <a:solidFill>
            <a:schemeClr val="bg1"/>
          </a:solidFill>
          <a:ln>
            <a:noFill/>
          </a:ln>
          <a:effectLst>
            <a:outerShdw blurRad="40000" dist="23000" dir="5400000" rotWithShape="0">
              <a:srgbClr val="808080">
                <a:alpha val="34998"/>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r>
              <a:rPr lang="en-US" altLang="en-US" sz="1400" dirty="0">
                <a:solidFill>
                  <a:srgbClr val="FF0000"/>
                </a:solidFill>
              </a:rPr>
              <a:t>(e.g. sequence diagrams, communication diagrams, activity diagrams, timing diagrams, interaction overview diagrams)</a:t>
            </a:r>
          </a:p>
          <a:p>
            <a:pPr algn="ctr" eaLnBrk="1" hangingPunct="1">
              <a:spcBef>
                <a:spcPct val="0"/>
              </a:spcBef>
              <a:buClrTx/>
              <a:buSzTx/>
              <a:buFontTx/>
              <a:buNone/>
              <a:defRPr/>
            </a:pPr>
            <a:endParaRPr lang="en-GB" altLang="en-US" sz="1800" dirty="0">
              <a:solidFill>
                <a:srgbClr val="FF0000"/>
              </a:solidFill>
            </a:endParaRPr>
          </a:p>
        </p:txBody>
      </p:sp>
      <p:sp>
        <p:nvSpPr>
          <p:cNvPr id="9" name="Rectangle 8">
            <a:extLst>
              <a:ext uri="{FF2B5EF4-FFF2-40B4-BE49-F238E27FC236}">
                <a16:creationId xmlns:a16="http://schemas.microsoft.com/office/drawing/2014/main" id="{79A0A61A-939D-7F47-BF47-FBBF1EBA3A98}"/>
              </a:ext>
            </a:extLst>
          </p:cNvPr>
          <p:cNvSpPr>
            <a:spLocks noChangeArrowheads="1"/>
          </p:cNvSpPr>
          <p:nvPr/>
        </p:nvSpPr>
        <p:spPr bwMode="auto">
          <a:xfrm>
            <a:off x="5328444" y="5064919"/>
            <a:ext cx="3168650" cy="360363"/>
          </a:xfrm>
          <a:prstGeom prst="rect">
            <a:avLst/>
          </a:prstGeom>
          <a:solidFill>
            <a:srgbClr val="FFFFFF"/>
          </a:solidFill>
          <a:ln>
            <a:noFill/>
          </a:ln>
          <a:effectLst>
            <a:outerShdw blurRad="40000" dist="23000" dir="5400000" rotWithShape="0">
              <a:srgbClr val="808080">
                <a:alpha val="34998"/>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eaLnBrk="1" hangingPunct="1">
              <a:lnSpc>
                <a:spcPct val="90000"/>
              </a:lnSpc>
              <a:defRPr/>
            </a:pPr>
            <a:r>
              <a:rPr lang="en-US" dirty="0">
                <a:solidFill>
                  <a:srgbClr val="FF0000"/>
                </a:solidFill>
                <a:latin typeface="+mn-lt"/>
                <a:ea typeface="+mn-ea"/>
              </a:rPr>
              <a:t>(e.g. component diagrams)</a:t>
            </a:r>
          </a:p>
        </p:txBody>
      </p:sp>
      <p:sp>
        <p:nvSpPr>
          <p:cNvPr id="10" name="Rectangle 9">
            <a:extLst>
              <a:ext uri="{FF2B5EF4-FFF2-40B4-BE49-F238E27FC236}">
                <a16:creationId xmlns:a16="http://schemas.microsoft.com/office/drawing/2014/main" id="{DFBB3119-9BD1-0047-8E08-E47915A336F5}"/>
              </a:ext>
            </a:extLst>
          </p:cNvPr>
          <p:cNvSpPr>
            <a:spLocks noChangeArrowheads="1"/>
          </p:cNvSpPr>
          <p:nvPr/>
        </p:nvSpPr>
        <p:spPr bwMode="auto">
          <a:xfrm>
            <a:off x="5014912" y="5924550"/>
            <a:ext cx="3671888" cy="431800"/>
          </a:xfrm>
          <a:prstGeom prst="rect">
            <a:avLst/>
          </a:prstGeom>
          <a:solidFill>
            <a:srgbClr val="FFFFFF"/>
          </a:solidFill>
          <a:ln>
            <a:noFill/>
          </a:ln>
          <a:effectLst>
            <a:outerShdw blurRad="40000" dist="23000" dir="5400000" rotWithShape="0">
              <a:srgbClr val="808080">
                <a:alpha val="34998"/>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eaLnBrk="1" hangingPunct="1">
              <a:lnSpc>
                <a:spcPct val="90000"/>
              </a:lnSpc>
              <a:defRPr/>
            </a:pPr>
            <a:r>
              <a:rPr lang="en-US" sz="1600" dirty="0">
                <a:solidFill>
                  <a:srgbClr val="FF0000"/>
                </a:solidFill>
                <a:latin typeface="+mn-lt"/>
                <a:ea typeface="+mn-ea"/>
              </a:rPr>
              <a:t>(e.g. use case diagram, activity diagrams)</a:t>
            </a:r>
          </a:p>
        </p:txBody>
      </p:sp>
      <p:sp>
        <p:nvSpPr>
          <p:cNvPr id="11" name="Rectangle 10">
            <a:extLst>
              <a:ext uri="{FF2B5EF4-FFF2-40B4-BE49-F238E27FC236}">
                <a16:creationId xmlns:a16="http://schemas.microsoft.com/office/drawing/2014/main" id="{E255C4DE-78E2-594E-B979-C655AD38E265}"/>
              </a:ext>
            </a:extLst>
          </p:cNvPr>
          <p:cNvSpPr>
            <a:spLocks noChangeArrowheads="1"/>
          </p:cNvSpPr>
          <p:nvPr/>
        </p:nvSpPr>
        <p:spPr bwMode="auto">
          <a:xfrm>
            <a:off x="5328444" y="3863181"/>
            <a:ext cx="3455987" cy="187325"/>
          </a:xfrm>
          <a:prstGeom prst="rect">
            <a:avLst/>
          </a:prstGeom>
          <a:solidFill>
            <a:srgbClr val="FFFFFF"/>
          </a:solidFill>
          <a:ln>
            <a:noFill/>
          </a:ln>
          <a:effectLst>
            <a:outerShdw blurRad="40000" dist="23000" dir="5400000" rotWithShape="0">
              <a:srgbClr val="808080">
                <a:alpha val="34998"/>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r>
              <a:rPr lang="en-US" altLang="en-US" sz="1800" dirty="0">
                <a:solidFill>
                  <a:srgbClr val="FF0000"/>
                </a:solidFill>
              </a:rPr>
              <a:t>(e.g. deployment diagram)</a:t>
            </a:r>
            <a:endParaRPr lang="en-GB" altLang="en-US" sz="1800" dirty="0">
              <a:solidFill>
                <a:srgbClr val="FF0000"/>
              </a:solidFill>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Representing architectural views</a:t>
            </a:r>
          </a:p>
        </p:txBody>
      </p:sp>
      <p:sp>
        <p:nvSpPr>
          <p:cNvPr id="3" name="Content Placeholder 2"/>
          <p:cNvSpPr>
            <a:spLocks noGrp="1"/>
          </p:cNvSpPr>
          <p:nvPr>
            <p:ph idx="1"/>
          </p:nvPr>
        </p:nvSpPr>
        <p:spPr/>
        <p:txBody>
          <a:bodyPr/>
          <a:lstStyle/>
          <a:p>
            <a:r>
              <a:rPr lang="en-US" dirty="0"/>
              <a:t>Some people argue that the Unified Modeling Language (UML) is an appropriate notation for describing and documenting system architectures</a:t>
            </a:r>
          </a:p>
          <a:p>
            <a:r>
              <a:rPr lang="en-US" dirty="0"/>
              <a:t>I disagree with this as I do not think that the UML includes abstractions appropriate for high-level system description.</a:t>
            </a:r>
          </a:p>
          <a:p>
            <a:r>
              <a:rPr lang="en-US" dirty="0"/>
              <a:t>Architectural description languages (ADLs) have been developed but are not widely used</a:t>
            </a:r>
          </a:p>
          <a:p>
            <a:endParaRPr lang="en-US" dirty="0"/>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34</a:t>
            </a:fld>
            <a:endParaRPr lang="en-US"/>
          </a:p>
        </p:txBody>
      </p:sp>
      <p:sp>
        <p:nvSpPr>
          <p:cNvPr id="6" name="Date Placeholder 5"/>
          <p:cNvSpPr>
            <a:spLocks noGrp="1"/>
          </p:cNvSpPr>
          <p:nvPr>
            <p:ph type="dt" sz="half" idx="10"/>
          </p:nvPr>
        </p:nvSpPr>
        <p:spPr/>
        <p:txBody>
          <a:bodyPr/>
          <a:lstStyle/>
          <a:p>
            <a:fld id="{C807C2EE-6F5B-394F-836A-596BEC395EFD}" type="datetime1">
              <a:rPr lang="en-GB" smtClean="0"/>
              <a:t>20/12/2021</a:t>
            </a:fld>
            <a:endParaRPr lang="en-US"/>
          </a:p>
        </p:txBody>
      </p:sp>
    </p:spTree>
    <p:extLst>
      <p:ext uri="{BB962C8B-B14F-4D97-AF65-F5344CB8AC3E}">
        <p14:creationId xmlns:p14="http://schemas.microsoft.com/office/powerpoint/2010/main" val="241184704"/>
      </p:ext>
    </p:extLst>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46744"/>
            <a:ext cx="8229600" cy="1143000"/>
          </a:xfrm>
        </p:spPr>
        <p:txBody>
          <a:bodyPr/>
          <a:lstStyle/>
          <a:p>
            <a:pPr algn="ctr"/>
            <a:r>
              <a:rPr lang="en-US" dirty="0"/>
              <a:t>Quality Attributes</a:t>
            </a:r>
          </a:p>
        </p:txBody>
      </p:sp>
      <p:sp>
        <p:nvSpPr>
          <p:cNvPr id="3" name="Content Placeholder 2"/>
          <p:cNvSpPr>
            <a:spLocks noGrp="1"/>
          </p:cNvSpPr>
          <p:nvPr>
            <p:ph idx="1"/>
          </p:nvPr>
        </p:nvSpPr>
        <p:spPr>
          <a:xfrm>
            <a:off x="457200" y="1600200"/>
            <a:ext cx="8229600" cy="4127499"/>
          </a:xfrm>
        </p:spPr>
        <p:txBody>
          <a:bodyPr/>
          <a:lstStyle/>
          <a:p>
            <a:endParaRPr lang="en-US" dirty="0"/>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35</a:t>
            </a:fld>
            <a:endParaRPr lang="en-US"/>
          </a:p>
        </p:txBody>
      </p:sp>
      <p:sp>
        <p:nvSpPr>
          <p:cNvPr id="6" name="Date Placeholder 5"/>
          <p:cNvSpPr>
            <a:spLocks noGrp="1"/>
          </p:cNvSpPr>
          <p:nvPr>
            <p:ph type="dt" sz="half" idx="10"/>
          </p:nvPr>
        </p:nvSpPr>
        <p:spPr/>
        <p:txBody>
          <a:bodyPr/>
          <a:lstStyle/>
          <a:p>
            <a:fld id="{A47BEF99-C949-C342-9C09-4F6A44CADEA5}" type="datetime1">
              <a:rPr lang="en-GB" smtClean="0"/>
              <a:t>20/12/2021</a:t>
            </a:fld>
            <a:endParaRPr lang="en-US"/>
          </a:p>
        </p:txBody>
      </p:sp>
    </p:spTree>
    <p:extLst>
      <p:ext uri="{BB962C8B-B14F-4D97-AF65-F5344CB8AC3E}">
        <p14:creationId xmlns:p14="http://schemas.microsoft.com/office/powerpoint/2010/main" val="647922816"/>
      </p:ext>
    </p:extLst>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Number Placeholder 1">
            <a:extLst>
              <a:ext uri="{FF2B5EF4-FFF2-40B4-BE49-F238E27FC236}">
                <a16:creationId xmlns:a16="http://schemas.microsoft.com/office/drawing/2014/main" id="{C59593BA-9C58-E44B-AAD4-AC9F562AB962}"/>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1AF99FBC-2983-2048-91F5-9BC4BF605DD7}" type="slidenum">
              <a:rPr lang="en-US" altLang="en-US">
                <a:latin typeface="Garamond" panose="02020404030301010803" pitchFamily="18" charset="0"/>
              </a:rPr>
              <a:pPr/>
              <a:t>36</a:t>
            </a:fld>
            <a:endParaRPr lang="en-US" altLang="en-US">
              <a:latin typeface="Garamond" panose="02020404030301010803" pitchFamily="18" charset="0"/>
            </a:endParaRPr>
          </a:p>
        </p:txBody>
      </p:sp>
      <p:pic>
        <p:nvPicPr>
          <p:cNvPr id="27650" name="Picture 2">
            <a:extLst>
              <a:ext uri="{FF2B5EF4-FFF2-40B4-BE49-F238E27FC236}">
                <a16:creationId xmlns:a16="http://schemas.microsoft.com/office/drawing/2014/main" id="{41EA6C76-1E9D-DB41-929F-E3A24C4A335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1642268" y="-540543"/>
            <a:ext cx="5427663" cy="763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4213977"/>
      </p:ext>
    </p:extLst>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EC60394B-641F-D447-AEA3-3DABAFA152FF}"/>
              </a:ext>
            </a:extLst>
          </p:cNvPr>
          <p:cNvSpPr>
            <a:spLocks noGrp="1" noChangeArrowheads="1"/>
          </p:cNvSpPr>
          <p:nvPr>
            <p:ph type="title"/>
          </p:nvPr>
        </p:nvSpPr>
        <p:spPr/>
        <p:txBody>
          <a:bodyPr/>
          <a:lstStyle/>
          <a:p>
            <a:r>
              <a:rPr lang="en-US" altLang="en-US" dirty="0"/>
              <a:t>Architecture, and Quality Attributes</a:t>
            </a:r>
          </a:p>
        </p:txBody>
      </p:sp>
      <p:sp>
        <p:nvSpPr>
          <p:cNvPr id="26627" name="Rectangle 3">
            <a:extLst>
              <a:ext uri="{FF2B5EF4-FFF2-40B4-BE49-F238E27FC236}">
                <a16:creationId xmlns:a16="http://schemas.microsoft.com/office/drawing/2014/main" id="{D55601BD-5221-AA4C-A572-FBA0EC919CF9}"/>
              </a:ext>
            </a:extLst>
          </p:cNvPr>
          <p:cNvSpPr>
            <a:spLocks noGrp="1" noChangeArrowheads="1"/>
          </p:cNvSpPr>
          <p:nvPr>
            <p:ph idx="1"/>
          </p:nvPr>
        </p:nvSpPr>
        <p:spPr/>
        <p:txBody>
          <a:bodyPr/>
          <a:lstStyle/>
          <a:p>
            <a:r>
              <a:rPr lang="en-US" altLang="en-US" sz="2800"/>
              <a:t>Ex: </a:t>
            </a:r>
            <a:r>
              <a:rPr lang="en-US" altLang="en-US" sz="2800">
                <a:solidFill>
                  <a:schemeClr val="accent1"/>
                </a:solidFill>
              </a:rPr>
              <a:t>Performance</a:t>
            </a:r>
            <a:r>
              <a:rPr lang="en-US" altLang="en-US" sz="2800"/>
              <a:t> depends partially on</a:t>
            </a:r>
          </a:p>
          <a:p>
            <a:pPr lvl="1"/>
            <a:r>
              <a:rPr lang="en-US" altLang="en-US" sz="2400"/>
              <a:t>how much communication is necessary among components </a:t>
            </a:r>
            <a:r>
              <a:rPr lang="en-US" altLang="en-US" sz="2400">
                <a:solidFill>
                  <a:schemeClr val="accent1"/>
                </a:solidFill>
              </a:rPr>
              <a:t>(Arch)</a:t>
            </a:r>
          </a:p>
          <a:p>
            <a:pPr lvl="1"/>
            <a:r>
              <a:rPr lang="en-US" altLang="en-US" sz="2400"/>
              <a:t>what functionality has been allocated to each component </a:t>
            </a:r>
            <a:r>
              <a:rPr lang="en-US" altLang="en-US" sz="2400">
                <a:solidFill>
                  <a:schemeClr val="accent1"/>
                </a:solidFill>
              </a:rPr>
              <a:t>(Arch)</a:t>
            </a:r>
            <a:endParaRPr lang="en-US" altLang="en-US" sz="2400"/>
          </a:p>
          <a:p>
            <a:pPr lvl="1"/>
            <a:r>
              <a:rPr lang="en-US" altLang="en-US" sz="2400"/>
              <a:t>how shared resources are allocated </a:t>
            </a:r>
            <a:r>
              <a:rPr lang="en-US" altLang="en-US" sz="2400">
                <a:solidFill>
                  <a:schemeClr val="accent1"/>
                </a:solidFill>
              </a:rPr>
              <a:t>(Arch)</a:t>
            </a:r>
          </a:p>
          <a:p>
            <a:pPr lvl="1"/>
            <a:r>
              <a:rPr lang="en-US" altLang="en-US" sz="2400"/>
              <a:t>the choice of algorithms to implement selected functionality </a:t>
            </a:r>
            <a:r>
              <a:rPr lang="en-US" altLang="en-US" sz="2400">
                <a:solidFill>
                  <a:schemeClr val="accent1"/>
                </a:solidFill>
              </a:rPr>
              <a:t>(Non-arch)</a:t>
            </a:r>
            <a:endParaRPr lang="en-US" altLang="en-US" sz="2400"/>
          </a:p>
          <a:p>
            <a:pPr lvl="1"/>
            <a:r>
              <a:rPr lang="en-US" altLang="en-US" sz="2400"/>
              <a:t>how these algorithms are coded </a:t>
            </a:r>
            <a:r>
              <a:rPr lang="en-US" altLang="en-US" sz="2400">
                <a:solidFill>
                  <a:schemeClr val="accent1"/>
                </a:solidFill>
              </a:rPr>
              <a:t>(Non-arch)</a:t>
            </a:r>
            <a:endParaRPr lang="en-US" altLang="en-US" sz="2400"/>
          </a:p>
        </p:txBody>
      </p:sp>
      <p:sp>
        <p:nvSpPr>
          <p:cNvPr id="26625" name="Slide Number Placeholder 5">
            <a:extLst>
              <a:ext uri="{FF2B5EF4-FFF2-40B4-BE49-F238E27FC236}">
                <a16:creationId xmlns:a16="http://schemas.microsoft.com/office/drawing/2014/main" id="{1D038F71-EBB3-BB48-9E79-03A57B9D79A7}"/>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A4C593D1-8EDD-7B41-AC77-227A6D030977}" type="slidenum">
              <a:rPr lang="en-US" altLang="en-US" sz="1200">
                <a:latin typeface="Garamond" panose="02020404030301010803" pitchFamily="18" charset="0"/>
              </a:rPr>
              <a:pPr>
                <a:spcBef>
                  <a:spcPct val="0"/>
                </a:spcBef>
                <a:buClrTx/>
                <a:buSzTx/>
                <a:buFontTx/>
                <a:buNone/>
              </a:pPr>
              <a:t>37</a:t>
            </a:fld>
            <a:endParaRPr lang="en-US" altLang="en-US" sz="1200">
              <a:latin typeface="Garamond" panose="02020404030301010803" pitchFamily="18" charset="0"/>
            </a:endParaRPr>
          </a:p>
        </p:txBody>
      </p:sp>
    </p:spTree>
    <p:extLst>
      <p:ext uri="{BB962C8B-B14F-4D97-AF65-F5344CB8AC3E}">
        <p14:creationId xmlns:p14="http://schemas.microsoft.com/office/powerpoint/2010/main" val="3424449659"/>
      </p:ext>
    </p:extLst>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a:extLst>
              <a:ext uri="{FF2B5EF4-FFF2-40B4-BE49-F238E27FC236}">
                <a16:creationId xmlns:a16="http://schemas.microsoft.com/office/drawing/2014/main" id="{BF0969BA-8D2B-A344-A747-D0A5F8CC1845}"/>
              </a:ext>
            </a:extLst>
          </p:cNvPr>
          <p:cNvSpPr>
            <a:spLocks noGrp="1" noChangeArrowheads="1"/>
          </p:cNvSpPr>
          <p:nvPr>
            <p:ph type="title"/>
          </p:nvPr>
        </p:nvSpPr>
        <p:spPr/>
        <p:txBody>
          <a:bodyPr/>
          <a:lstStyle/>
          <a:p>
            <a:pPr eaLnBrk="1" hangingPunct="1">
              <a:defRPr/>
            </a:pPr>
            <a:r>
              <a:rPr lang="en-US" dirty="0">
                <a:cs typeface="+mj-cs"/>
              </a:rPr>
              <a:t>What are Quality Attributes</a:t>
            </a:r>
          </a:p>
        </p:txBody>
      </p:sp>
      <p:sp>
        <p:nvSpPr>
          <p:cNvPr id="32771" name="Rectangle 3">
            <a:extLst>
              <a:ext uri="{FF2B5EF4-FFF2-40B4-BE49-F238E27FC236}">
                <a16:creationId xmlns:a16="http://schemas.microsoft.com/office/drawing/2014/main" id="{B43B52B5-34AD-8D46-9DEA-ACB40D5594B6}"/>
              </a:ext>
            </a:extLst>
          </p:cNvPr>
          <p:cNvSpPr>
            <a:spLocks noGrp="1" noChangeArrowheads="1"/>
          </p:cNvSpPr>
          <p:nvPr>
            <p:ph idx="1"/>
          </p:nvPr>
        </p:nvSpPr>
        <p:spPr/>
        <p:txBody>
          <a:bodyPr/>
          <a:lstStyle/>
          <a:p>
            <a:pPr eaLnBrk="1" hangingPunct="1"/>
            <a:r>
              <a:rPr lang="en-US" altLang="en-US" dirty="0"/>
              <a:t>Often know as –</a:t>
            </a:r>
            <a:r>
              <a:rPr lang="en-US" altLang="en-US" dirty="0" err="1"/>
              <a:t>ilities</a:t>
            </a:r>
            <a:endParaRPr lang="en-US" altLang="en-US" dirty="0"/>
          </a:p>
          <a:p>
            <a:pPr lvl="1" eaLnBrk="1" hangingPunct="1"/>
            <a:r>
              <a:rPr lang="en-US" altLang="en-US" dirty="0"/>
              <a:t>Performance (!)</a:t>
            </a:r>
          </a:p>
          <a:p>
            <a:pPr lvl="1" eaLnBrk="1" hangingPunct="1"/>
            <a:r>
              <a:rPr lang="en-US" altLang="en-US" dirty="0"/>
              <a:t>Scalability</a:t>
            </a:r>
          </a:p>
          <a:p>
            <a:pPr lvl="1"/>
            <a:r>
              <a:rPr lang="en-US" altLang="en-US" dirty="0"/>
              <a:t>Availability (related to Reliability)</a:t>
            </a:r>
          </a:p>
          <a:p>
            <a:pPr lvl="1"/>
            <a:r>
              <a:rPr lang="en-US" altLang="en-US" dirty="0"/>
              <a:t>Security (!)</a:t>
            </a:r>
          </a:p>
          <a:p>
            <a:pPr lvl="1" eaLnBrk="1" hangingPunct="1"/>
            <a:r>
              <a:rPr lang="en-US" altLang="en-US" dirty="0"/>
              <a:t>Modifiability (related to Reusability)</a:t>
            </a:r>
          </a:p>
          <a:p>
            <a:pPr lvl="1" eaLnBrk="1" hangingPunct="1"/>
            <a:r>
              <a:rPr lang="en-US" altLang="en-US" dirty="0"/>
              <a:t>Integration (!)</a:t>
            </a:r>
          </a:p>
          <a:p>
            <a:pPr lvl="1" eaLnBrk="1" hangingPunct="1"/>
            <a:r>
              <a:rPr lang="en-US" altLang="en-US" dirty="0"/>
              <a:t>Portability</a:t>
            </a:r>
          </a:p>
          <a:p>
            <a:pPr lvl="1" eaLnBrk="1" hangingPunct="1"/>
            <a:r>
              <a:rPr lang="en-US" altLang="en-US" dirty="0"/>
              <a:t>Etc. </a:t>
            </a:r>
          </a:p>
          <a:p>
            <a:pPr eaLnBrk="1" hangingPunct="1"/>
            <a:endParaRPr lang="en-US" altLang="en-US" dirty="0"/>
          </a:p>
        </p:txBody>
      </p:sp>
      <p:sp>
        <p:nvSpPr>
          <p:cNvPr id="32769" name="Slide Number Placeholder 5">
            <a:extLst>
              <a:ext uri="{FF2B5EF4-FFF2-40B4-BE49-F238E27FC236}">
                <a16:creationId xmlns:a16="http://schemas.microsoft.com/office/drawing/2014/main" id="{9E9E5D86-49E5-074A-9639-3333204EACE9}"/>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3833AB48-6CFF-A946-856D-632EE40A2664}" type="slidenum">
              <a:rPr lang="en-US" altLang="en-US" sz="1200">
                <a:latin typeface="Garamond" panose="02020404030301010803" pitchFamily="18" charset="0"/>
              </a:rPr>
              <a:pPr>
                <a:spcBef>
                  <a:spcPct val="0"/>
                </a:spcBef>
                <a:buClrTx/>
                <a:buSzTx/>
                <a:buFontTx/>
                <a:buNone/>
              </a:pPr>
              <a:t>38</a:t>
            </a:fld>
            <a:endParaRPr lang="en-US" altLang="en-US" sz="1200">
              <a:latin typeface="Garamond" panose="02020404030301010803" pitchFamily="18" charset="0"/>
            </a:endParaRPr>
          </a:p>
        </p:txBody>
      </p:sp>
    </p:spTree>
    <p:extLst>
      <p:ext uri="{BB962C8B-B14F-4D97-AF65-F5344CB8AC3E}">
        <p14:creationId xmlns:p14="http://schemas.microsoft.com/office/powerpoint/2010/main" val="671954478"/>
      </p:ext>
    </p:extLst>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a:extLst>
              <a:ext uri="{FF2B5EF4-FFF2-40B4-BE49-F238E27FC236}">
                <a16:creationId xmlns:a16="http://schemas.microsoft.com/office/drawing/2014/main" id="{7F7C8A27-5C4D-DE4D-9D5C-CF46CA2665DA}"/>
              </a:ext>
            </a:extLst>
          </p:cNvPr>
          <p:cNvSpPr>
            <a:spLocks noGrp="1" noChangeArrowheads="1"/>
          </p:cNvSpPr>
          <p:nvPr>
            <p:ph type="title"/>
          </p:nvPr>
        </p:nvSpPr>
        <p:spPr>
          <a:xfrm>
            <a:off x="457200" y="274638"/>
            <a:ext cx="7293232" cy="1143000"/>
          </a:xfrm>
        </p:spPr>
        <p:txBody>
          <a:bodyPr wrap="square" anchor="ctr">
            <a:normAutofit/>
          </a:bodyPr>
          <a:lstStyle/>
          <a:p>
            <a:pPr eaLnBrk="1" hangingPunct="1">
              <a:defRPr/>
            </a:pPr>
            <a:r>
              <a:rPr lang="en-US" b="1"/>
              <a:t>Performance</a:t>
            </a:r>
          </a:p>
        </p:txBody>
      </p:sp>
      <p:sp>
        <p:nvSpPr>
          <p:cNvPr id="74" name="Date Placeholder 3">
            <a:extLst>
              <a:ext uri="{FF2B5EF4-FFF2-40B4-BE49-F238E27FC236}">
                <a16:creationId xmlns:a16="http://schemas.microsoft.com/office/drawing/2014/main" id="{3FDF7221-FEE5-40C0-A9D6-A51540C75DCA}"/>
              </a:ext>
            </a:extLst>
          </p:cNvPr>
          <p:cNvSpPr>
            <a:spLocks noGrp="1"/>
          </p:cNvSpPr>
          <p:nvPr>
            <p:ph type="dt" sz="half" idx="10"/>
          </p:nvPr>
        </p:nvSpPr>
        <p:spPr>
          <a:xfrm>
            <a:off x="457200" y="6356350"/>
            <a:ext cx="2133600" cy="365125"/>
          </a:xfrm>
        </p:spPr>
        <p:txBody>
          <a:bodyPr/>
          <a:lstStyle/>
          <a:p>
            <a:pPr>
              <a:spcAft>
                <a:spcPts val="600"/>
              </a:spcAft>
            </a:pPr>
            <a:fld id="{1EC4D177-3FD8-1541-B11E-1C53E75416D7}" type="datetime1">
              <a:rPr lang="en-GB" smtClean="0"/>
              <a:pPr>
                <a:spcAft>
                  <a:spcPts val="600"/>
                </a:spcAft>
              </a:pPr>
              <a:t>20/12/2021</a:t>
            </a:fld>
            <a:endParaRPr lang="en-US"/>
          </a:p>
        </p:txBody>
      </p:sp>
      <p:sp>
        <p:nvSpPr>
          <p:cNvPr id="76" name="Footer Placeholder 4">
            <a:extLst>
              <a:ext uri="{FF2B5EF4-FFF2-40B4-BE49-F238E27FC236}">
                <a16:creationId xmlns:a16="http://schemas.microsoft.com/office/drawing/2014/main" id="{843A073D-5260-474C-8872-2CDF67BB8082}"/>
              </a:ext>
            </a:extLst>
          </p:cNvPr>
          <p:cNvSpPr>
            <a:spLocks noGrp="1"/>
          </p:cNvSpPr>
          <p:nvPr>
            <p:ph type="ftr" sz="quarter" idx="11"/>
          </p:nvPr>
        </p:nvSpPr>
        <p:spPr>
          <a:xfrm>
            <a:off x="3124200" y="6356350"/>
            <a:ext cx="2895600" cy="365125"/>
          </a:xfrm>
        </p:spPr>
        <p:txBody>
          <a:bodyPr/>
          <a:lstStyle/>
          <a:p>
            <a:pPr>
              <a:spcAft>
                <a:spcPts val="600"/>
              </a:spcAft>
            </a:pPr>
            <a:r>
              <a:rPr lang="en-US"/>
              <a:t>Chapter 6 Architectural Design</a:t>
            </a:r>
          </a:p>
        </p:txBody>
      </p:sp>
      <p:sp>
        <p:nvSpPr>
          <p:cNvPr id="34817" name="Slide Number Placeholder 5">
            <a:extLst>
              <a:ext uri="{FF2B5EF4-FFF2-40B4-BE49-F238E27FC236}">
                <a16:creationId xmlns:a16="http://schemas.microsoft.com/office/drawing/2014/main" id="{B6BEE64D-5D8E-B74F-B8EC-07CC54D8C778}"/>
              </a:ext>
            </a:extLst>
          </p:cNvPr>
          <p:cNvSpPr>
            <a:spLocks noGrp="1"/>
          </p:cNvSpPr>
          <p:nvPr>
            <p:ph type="sldNum" sz="quarter" idx="12"/>
          </p:nvPr>
        </p:nvSpPr>
        <p:spPr>
          <a:xfrm>
            <a:off x="6553200" y="6356350"/>
            <a:ext cx="21336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spcAft>
                <a:spcPts val="600"/>
              </a:spcAft>
              <a:buClrTx/>
              <a:buSzTx/>
              <a:buFontTx/>
              <a:buNone/>
            </a:pPr>
            <a:fld id="{92F5750B-F821-7949-AE1A-5BA807BE181E}" type="slidenum">
              <a:rPr lang="en-US" altLang="en-US" sz="1200">
                <a:solidFill>
                  <a:schemeClr val="tx1">
                    <a:tint val="75000"/>
                  </a:schemeClr>
                </a:solidFill>
              </a:rPr>
              <a:pPr>
                <a:spcBef>
                  <a:spcPct val="0"/>
                </a:spcBef>
                <a:spcAft>
                  <a:spcPts val="600"/>
                </a:spcAft>
                <a:buClrTx/>
                <a:buSzTx/>
                <a:buFontTx/>
                <a:buNone/>
              </a:pPr>
              <a:t>39</a:t>
            </a:fld>
            <a:endParaRPr lang="en-US" altLang="en-US" sz="1200">
              <a:solidFill>
                <a:schemeClr val="tx1">
                  <a:tint val="75000"/>
                </a:schemeClr>
              </a:solidFill>
            </a:endParaRPr>
          </a:p>
        </p:txBody>
      </p:sp>
      <p:graphicFrame>
        <p:nvGraphicFramePr>
          <p:cNvPr id="291845" name="Rectangle 3">
            <a:extLst>
              <a:ext uri="{FF2B5EF4-FFF2-40B4-BE49-F238E27FC236}">
                <a16:creationId xmlns:a16="http://schemas.microsoft.com/office/drawing/2014/main" id="{B49F325C-5921-4C54-9DB7-8D09B5B2B200}"/>
              </a:ext>
            </a:extLst>
          </p:cNvPr>
          <p:cNvGraphicFramePr>
            <a:graphicFrameLocks noGrp="1"/>
          </p:cNvGraphicFramePr>
          <p:nvPr>
            <p:ph idx="1"/>
            <p:extLst>
              <p:ext uri="{D42A27DB-BD31-4B8C-83A1-F6EECF244321}">
                <p14:modId xmlns:p14="http://schemas.microsoft.com/office/powerpoint/2010/main" val="255275418"/>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68129851"/>
      </p:ext>
    </p:extLst>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a:extLst>
              <a:ext uri="{FF2B5EF4-FFF2-40B4-BE49-F238E27FC236}">
                <a16:creationId xmlns:a16="http://schemas.microsoft.com/office/drawing/2014/main" id="{C7A1B147-8A3F-9647-AA5D-61AD16152D2B}"/>
              </a:ext>
            </a:extLst>
          </p:cNvPr>
          <p:cNvSpPr>
            <a:spLocks noGrp="1" noChangeArrowheads="1"/>
          </p:cNvSpPr>
          <p:nvPr>
            <p:ph type="title"/>
          </p:nvPr>
        </p:nvSpPr>
        <p:spPr/>
        <p:txBody>
          <a:bodyPr/>
          <a:lstStyle/>
          <a:p>
            <a:pPr eaLnBrk="1" hangingPunct="1">
              <a:defRPr/>
            </a:pPr>
            <a:r>
              <a:rPr lang="en-US" dirty="0">
                <a:cs typeface="+mj-cs"/>
              </a:rPr>
              <a:t>1. Performance - Throughput</a:t>
            </a:r>
          </a:p>
        </p:txBody>
      </p:sp>
      <p:sp>
        <p:nvSpPr>
          <p:cNvPr id="292867" name="Rectangle 3">
            <a:extLst>
              <a:ext uri="{FF2B5EF4-FFF2-40B4-BE49-F238E27FC236}">
                <a16:creationId xmlns:a16="http://schemas.microsoft.com/office/drawing/2014/main" id="{91F0A471-5949-7145-9CC6-CF6CED63024F}"/>
              </a:ext>
            </a:extLst>
          </p:cNvPr>
          <p:cNvSpPr>
            <a:spLocks noGrp="1" noChangeArrowheads="1"/>
          </p:cNvSpPr>
          <p:nvPr>
            <p:ph idx="1"/>
          </p:nvPr>
        </p:nvSpPr>
        <p:spPr/>
        <p:txBody>
          <a:bodyPr/>
          <a:lstStyle/>
          <a:p>
            <a:pPr eaLnBrk="1" hangingPunct="1">
              <a:buFont typeface="Wingdings" charset="0"/>
              <a:buChar char="n"/>
              <a:defRPr/>
            </a:pPr>
            <a:r>
              <a:rPr lang="en-US" sz="2000" i="1" dirty="0">
                <a:solidFill>
                  <a:srgbClr val="FF0000"/>
                </a:solidFill>
                <a:cs typeface="+mn-cs"/>
              </a:rPr>
              <a:t>Measure of the amount of work an application must perform in unit time</a:t>
            </a:r>
          </a:p>
          <a:p>
            <a:pPr lvl="1" eaLnBrk="1" hangingPunct="1">
              <a:buFont typeface="Wingdings" charset="0"/>
              <a:buChar char="q"/>
              <a:defRPr/>
            </a:pPr>
            <a:r>
              <a:rPr lang="en-US" sz="1800" dirty="0"/>
              <a:t>Transactions per second (</a:t>
            </a:r>
            <a:r>
              <a:rPr lang="en-US" sz="1800" dirty="0" err="1"/>
              <a:t>tps</a:t>
            </a:r>
            <a:r>
              <a:rPr lang="en-US" sz="1800" dirty="0"/>
              <a:t>)</a:t>
            </a:r>
          </a:p>
          <a:p>
            <a:pPr lvl="1" eaLnBrk="1" hangingPunct="1">
              <a:buFont typeface="Wingdings" charset="0"/>
              <a:buChar char="q"/>
              <a:defRPr/>
            </a:pPr>
            <a:r>
              <a:rPr lang="en-US" sz="1800" dirty="0"/>
              <a:t>Messages per minute (</a:t>
            </a:r>
            <a:r>
              <a:rPr lang="en-US" sz="1800" dirty="0" err="1"/>
              <a:t>mps</a:t>
            </a:r>
            <a:r>
              <a:rPr lang="en-US" sz="1800" dirty="0"/>
              <a:t>)</a:t>
            </a:r>
          </a:p>
          <a:p>
            <a:pPr eaLnBrk="1" hangingPunct="1">
              <a:buFont typeface="Wingdings" charset="0"/>
              <a:buChar char="n"/>
              <a:defRPr/>
            </a:pPr>
            <a:r>
              <a:rPr lang="en-US" sz="2000" dirty="0">
                <a:cs typeface="+mn-cs"/>
              </a:rPr>
              <a:t>Is required throughput:</a:t>
            </a:r>
          </a:p>
          <a:p>
            <a:pPr lvl="1" eaLnBrk="1" hangingPunct="1">
              <a:buFont typeface="Wingdings" charset="0"/>
              <a:buChar char="q"/>
              <a:defRPr/>
            </a:pPr>
            <a:r>
              <a:rPr lang="en-US" sz="1800" dirty="0"/>
              <a:t>Average? (e.g. business day)</a:t>
            </a:r>
          </a:p>
          <a:p>
            <a:pPr lvl="1" eaLnBrk="1" hangingPunct="1">
              <a:buFont typeface="Wingdings" charset="0"/>
              <a:buChar char="q"/>
              <a:defRPr/>
            </a:pPr>
            <a:r>
              <a:rPr lang="en-US" sz="1800" dirty="0"/>
              <a:t>Peak?</a:t>
            </a:r>
          </a:p>
          <a:p>
            <a:pPr eaLnBrk="1" hangingPunct="1">
              <a:buFont typeface="Wingdings" charset="0"/>
              <a:buChar char="n"/>
              <a:defRPr/>
            </a:pPr>
            <a:r>
              <a:rPr lang="en-US" sz="2000" dirty="0">
                <a:cs typeface="+mn-cs"/>
              </a:rPr>
              <a:t>Many system have low average but high peak throughput requirements</a:t>
            </a:r>
          </a:p>
          <a:p>
            <a:pPr eaLnBrk="1" hangingPunct="1">
              <a:buFont typeface="Wingdings" charset="0"/>
              <a:buChar char="n"/>
              <a:defRPr/>
            </a:pPr>
            <a:endParaRPr lang="en-US" sz="2000" dirty="0">
              <a:cs typeface="+mn-cs"/>
            </a:endParaRPr>
          </a:p>
        </p:txBody>
      </p:sp>
      <p:sp>
        <p:nvSpPr>
          <p:cNvPr id="35841" name="Slide Number Placeholder 5">
            <a:extLst>
              <a:ext uri="{FF2B5EF4-FFF2-40B4-BE49-F238E27FC236}">
                <a16:creationId xmlns:a16="http://schemas.microsoft.com/office/drawing/2014/main" id="{F4076454-4BAD-6C41-B948-3A757C381196}"/>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0CC7A44A-ADD9-4248-8C7A-899DD6397196}" type="slidenum">
              <a:rPr lang="en-US" altLang="en-US" sz="1200">
                <a:latin typeface="Garamond" panose="02020404030301010803" pitchFamily="18" charset="0"/>
              </a:rPr>
              <a:pPr>
                <a:spcBef>
                  <a:spcPct val="0"/>
                </a:spcBef>
                <a:buClrTx/>
                <a:buSzTx/>
                <a:buFontTx/>
                <a:buNone/>
              </a:pPr>
              <a:t>40</a:t>
            </a:fld>
            <a:endParaRPr lang="en-US" altLang="en-US" sz="1200">
              <a:latin typeface="Garamond" panose="02020404030301010803" pitchFamily="18" charset="0"/>
            </a:endParaRPr>
          </a:p>
        </p:txBody>
      </p:sp>
    </p:spTree>
    <p:extLst>
      <p:ext uri="{BB962C8B-B14F-4D97-AF65-F5344CB8AC3E}">
        <p14:creationId xmlns:p14="http://schemas.microsoft.com/office/powerpoint/2010/main" val="2455466647"/>
      </p:ext>
    </p:extLst>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3F6D771-1A71-DE42-A39D-A4FE90313B61}"/>
              </a:ext>
            </a:extLst>
          </p:cNvPr>
          <p:cNvSpPr>
            <a:spLocks noGrp="1"/>
          </p:cNvSpPr>
          <p:nvPr>
            <p:ph type="dt" sz="half" idx="10"/>
          </p:nvPr>
        </p:nvSpPr>
        <p:spPr/>
        <p:txBody>
          <a:bodyPr/>
          <a:lstStyle/>
          <a:p>
            <a:fld id="{1EC4D177-3FD8-1541-B11E-1C53E75416D7}" type="datetime1">
              <a:rPr lang="en-GB" smtClean="0"/>
              <a:t>20/12/2021</a:t>
            </a:fld>
            <a:endParaRPr lang="en-US"/>
          </a:p>
        </p:txBody>
      </p:sp>
      <p:sp>
        <p:nvSpPr>
          <p:cNvPr id="5" name="Footer Placeholder 4">
            <a:extLst>
              <a:ext uri="{FF2B5EF4-FFF2-40B4-BE49-F238E27FC236}">
                <a16:creationId xmlns:a16="http://schemas.microsoft.com/office/drawing/2014/main" id="{CF43D7EC-196B-F14B-A2B6-1059775F80F6}"/>
              </a:ext>
            </a:extLst>
          </p:cNvPr>
          <p:cNvSpPr>
            <a:spLocks noGrp="1"/>
          </p:cNvSpPr>
          <p:nvPr>
            <p:ph type="ftr" sz="quarter" idx="11"/>
          </p:nvPr>
        </p:nvSpPr>
        <p:spPr/>
        <p:txBody>
          <a:bodyPr/>
          <a:lstStyle/>
          <a:p>
            <a:r>
              <a:rPr lang="en-US"/>
              <a:t>Chapter 6 Architectural Design</a:t>
            </a:r>
          </a:p>
        </p:txBody>
      </p:sp>
      <p:sp>
        <p:nvSpPr>
          <p:cNvPr id="6" name="Slide Number Placeholder 5">
            <a:extLst>
              <a:ext uri="{FF2B5EF4-FFF2-40B4-BE49-F238E27FC236}">
                <a16:creationId xmlns:a16="http://schemas.microsoft.com/office/drawing/2014/main" id="{90A1FE82-7900-ED42-A5B4-A2BCC1953D4F}"/>
              </a:ext>
            </a:extLst>
          </p:cNvPr>
          <p:cNvSpPr>
            <a:spLocks noGrp="1"/>
          </p:cNvSpPr>
          <p:nvPr>
            <p:ph type="sldNum" sz="quarter" idx="12"/>
          </p:nvPr>
        </p:nvSpPr>
        <p:spPr/>
        <p:txBody>
          <a:bodyPr/>
          <a:lstStyle/>
          <a:p>
            <a:fld id="{EC33B370-F672-B743-B3AF-248A63C17270}" type="slidenum">
              <a:rPr lang="en-US" smtClean="0"/>
              <a:pPr/>
              <a:t>41</a:t>
            </a:fld>
            <a:endParaRPr lang="en-US"/>
          </a:p>
        </p:txBody>
      </p:sp>
      <p:pic>
        <p:nvPicPr>
          <p:cNvPr id="7" name="Picture 6" descr="Graphical user interface, website&#10;&#10;Description automatically generated">
            <a:extLst>
              <a:ext uri="{FF2B5EF4-FFF2-40B4-BE49-F238E27FC236}">
                <a16:creationId xmlns:a16="http://schemas.microsoft.com/office/drawing/2014/main" id="{81191346-496E-D841-9707-9CFB0E864000}"/>
              </a:ext>
            </a:extLst>
          </p:cNvPr>
          <p:cNvPicPr>
            <a:picLocks noChangeAspect="1"/>
          </p:cNvPicPr>
          <p:nvPr/>
        </p:nvPicPr>
        <p:blipFill>
          <a:blip r:embed="rId2"/>
          <a:stretch>
            <a:fillRect/>
          </a:stretch>
        </p:blipFill>
        <p:spPr>
          <a:xfrm>
            <a:off x="0" y="1484011"/>
            <a:ext cx="9144000" cy="3730954"/>
          </a:xfrm>
          <a:prstGeom prst="rect">
            <a:avLst/>
          </a:prstGeom>
        </p:spPr>
      </p:pic>
      <p:sp>
        <p:nvSpPr>
          <p:cNvPr id="8" name="Rectangle 7">
            <a:extLst>
              <a:ext uri="{FF2B5EF4-FFF2-40B4-BE49-F238E27FC236}">
                <a16:creationId xmlns:a16="http://schemas.microsoft.com/office/drawing/2014/main" id="{83F05646-B6F8-BC48-BDA9-D008B3BA2731}"/>
              </a:ext>
            </a:extLst>
          </p:cNvPr>
          <p:cNvSpPr/>
          <p:nvPr/>
        </p:nvSpPr>
        <p:spPr>
          <a:xfrm>
            <a:off x="487016" y="5227664"/>
            <a:ext cx="8514522" cy="1200329"/>
          </a:xfrm>
          <a:prstGeom prst="rect">
            <a:avLst/>
          </a:prstGeom>
        </p:spPr>
        <p:txBody>
          <a:bodyPr wrap="square">
            <a:spAutoFit/>
          </a:bodyPr>
          <a:lstStyle/>
          <a:p>
            <a:r>
              <a:rPr lang="en-MY" b="1" i="1" dirty="0">
                <a:solidFill>
                  <a:srgbClr val="1A73E8"/>
                </a:solidFill>
                <a:latin typeface="Arial" panose="020B0604020202020204" pitchFamily="34" charset="0"/>
              </a:rPr>
              <a:t>Latency</a:t>
            </a:r>
            <a:r>
              <a:rPr lang="en-MY" i="1" dirty="0">
                <a:solidFill>
                  <a:srgbClr val="1A73E8"/>
                </a:solidFill>
                <a:latin typeface="Arial" panose="020B0604020202020204" pitchFamily="34" charset="0"/>
              </a:rPr>
              <a:t> – The time taken for a packet to be transferred across a network. You can measure this as one-way to its destination or as a round trip. </a:t>
            </a:r>
            <a:r>
              <a:rPr lang="en-MY" i="1" dirty="0"/>
              <a:t>latency is a measure of delay</a:t>
            </a:r>
            <a:endParaRPr lang="en-MY" i="1" dirty="0">
              <a:solidFill>
                <a:srgbClr val="1A73E8"/>
              </a:solidFill>
              <a:latin typeface="Arial" panose="020B0604020202020204" pitchFamily="34" charset="0"/>
            </a:endParaRPr>
          </a:p>
          <a:p>
            <a:r>
              <a:rPr lang="en-MY" b="1" i="1" dirty="0">
                <a:solidFill>
                  <a:srgbClr val="1A73E8"/>
                </a:solidFill>
                <a:latin typeface="Arial" panose="020B0604020202020204" pitchFamily="34" charset="0"/>
              </a:rPr>
              <a:t>Throughput</a:t>
            </a:r>
            <a:r>
              <a:rPr lang="en-MY" i="1" dirty="0">
                <a:solidFill>
                  <a:srgbClr val="1A73E8"/>
                </a:solidFill>
                <a:latin typeface="Arial" panose="020B0604020202020204" pitchFamily="34" charset="0"/>
              </a:rPr>
              <a:t> – The quantity of data being sent and received within a unit of time</a:t>
            </a:r>
            <a:endParaRPr lang="en-MY" b="0" i="1" dirty="0">
              <a:solidFill>
                <a:srgbClr val="1A73E8"/>
              </a:solidFill>
              <a:effectLst/>
              <a:latin typeface="Arial" panose="020B0604020202020204" pitchFamily="34" charset="0"/>
            </a:endParaRPr>
          </a:p>
        </p:txBody>
      </p:sp>
    </p:spTree>
    <p:extLst>
      <p:ext uri="{BB962C8B-B14F-4D97-AF65-F5344CB8AC3E}">
        <p14:creationId xmlns:p14="http://schemas.microsoft.com/office/powerpoint/2010/main" val="524527182"/>
      </p:ext>
    </p:extLst>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a:extLst>
              <a:ext uri="{FF2B5EF4-FFF2-40B4-BE49-F238E27FC236}">
                <a16:creationId xmlns:a16="http://schemas.microsoft.com/office/drawing/2014/main" id="{23BA9F43-A8B8-C64F-AA39-AA1F3B36CB38}"/>
              </a:ext>
            </a:extLst>
          </p:cNvPr>
          <p:cNvSpPr>
            <a:spLocks noGrp="1" noChangeArrowheads="1"/>
          </p:cNvSpPr>
          <p:nvPr>
            <p:ph type="title"/>
          </p:nvPr>
        </p:nvSpPr>
        <p:spPr/>
        <p:txBody>
          <a:bodyPr/>
          <a:lstStyle/>
          <a:p>
            <a:pPr eaLnBrk="1" hangingPunct="1">
              <a:defRPr/>
            </a:pPr>
            <a:r>
              <a:rPr lang="en-US">
                <a:cs typeface="+mj-cs"/>
              </a:rPr>
              <a:t>2. Performance - Response Time</a:t>
            </a:r>
            <a:endParaRPr lang="en-US" dirty="0">
              <a:cs typeface="+mj-cs"/>
            </a:endParaRPr>
          </a:p>
        </p:txBody>
      </p:sp>
      <p:sp>
        <p:nvSpPr>
          <p:cNvPr id="293891" name="Rectangle 3">
            <a:extLst>
              <a:ext uri="{FF2B5EF4-FFF2-40B4-BE49-F238E27FC236}">
                <a16:creationId xmlns:a16="http://schemas.microsoft.com/office/drawing/2014/main" id="{E7CED0FC-57E5-2949-B535-28626A048A6A}"/>
              </a:ext>
            </a:extLst>
          </p:cNvPr>
          <p:cNvSpPr>
            <a:spLocks noGrp="1" noChangeArrowheads="1"/>
          </p:cNvSpPr>
          <p:nvPr>
            <p:ph idx="1"/>
          </p:nvPr>
        </p:nvSpPr>
        <p:spPr/>
        <p:txBody>
          <a:bodyPr/>
          <a:lstStyle/>
          <a:p>
            <a:pPr>
              <a:lnSpc>
                <a:spcPct val="90000"/>
              </a:lnSpc>
              <a:defRPr/>
            </a:pPr>
            <a:r>
              <a:rPr lang="en-US" sz="2400" i="1" dirty="0">
                <a:solidFill>
                  <a:srgbClr val="FF0000"/>
                </a:solidFill>
                <a:cs typeface="+mn-cs"/>
              </a:rPr>
              <a:t>Measure of the latency an application exhibits in processing a request</a:t>
            </a:r>
          </a:p>
          <a:p>
            <a:pPr>
              <a:lnSpc>
                <a:spcPct val="90000"/>
              </a:lnSpc>
              <a:defRPr/>
            </a:pPr>
            <a:r>
              <a:rPr lang="en-US" sz="2400" dirty="0">
                <a:cs typeface="+mn-cs"/>
              </a:rPr>
              <a:t>Usually measured in (</a:t>
            </a:r>
            <a:r>
              <a:rPr lang="en-US" sz="2400" dirty="0" err="1">
                <a:cs typeface="+mn-cs"/>
              </a:rPr>
              <a:t>milli</a:t>
            </a:r>
            <a:r>
              <a:rPr lang="en-US" sz="2400" dirty="0">
                <a:cs typeface="+mn-cs"/>
              </a:rPr>
              <a:t>)seconds </a:t>
            </a:r>
          </a:p>
          <a:p>
            <a:pPr>
              <a:lnSpc>
                <a:spcPct val="90000"/>
              </a:lnSpc>
              <a:defRPr/>
            </a:pPr>
            <a:r>
              <a:rPr lang="en-US" sz="2400" dirty="0">
                <a:cs typeface="+mn-cs"/>
              </a:rPr>
              <a:t>Often an important metric for users</a:t>
            </a:r>
          </a:p>
          <a:p>
            <a:pPr>
              <a:lnSpc>
                <a:spcPct val="90000"/>
              </a:lnSpc>
              <a:defRPr/>
            </a:pPr>
            <a:r>
              <a:rPr lang="en-US" sz="2400" dirty="0">
                <a:cs typeface="+mn-cs"/>
              </a:rPr>
              <a:t>Is required response time:</a:t>
            </a:r>
          </a:p>
          <a:p>
            <a:pPr lvl="1">
              <a:lnSpc>
                <a:spcPct val="90000"/>
              </a:lnSpc>
              <a:defRPr/>
            </a:pPr>
            <a:r>
              <a:rPr lang="en-US" sz="2400" dirty="0"/>
              <a:t>Guaranteed? (</a:t>
            </a:r>
            <a:r>
              <a:rPr lang="en-US" sz="2400" i="1" dirty="0"/>
              <a:t>all request </a:t>
            </a:r>
            <a:r>
              <a:rPr lang="en-US" sz="2400" dirty="0"/>
              <a:t>to be served within a specified time limit)</a:t>
            </a:r>
          </a:p>
          <a:p>
            <a:pPr lvl="1">
              <a:lnSpc>
                <a:spcPct val="90000"/>
              </a:lnSpc>
              <a:defRPr/>
            </a:pPr>
            <a:r>
              <a:rPr lang="en-US" sz="2400" dirty="0"/>
              <a:t>Average? (larger latencies)</a:t>
            </a:r>
          </a:p>
          <a:p>
            <a:pPr>
              <a:lnSpc>
                <a:spcPct val="90000"/>
              </a:lnSpc>
              <a:defRPr/>
            </a:pPr>
            <a:r>
              <a:rPr lang="en-US" sz="2400" dirty="0">
                <a:cs typeface="+mn-cs"/>
              </a:rPr>
              <a:t>E.g. 95% of responses in sub-4 seconds, and all within 10 seconds</a:t>
            </a:r>
          </a:p>
          <a:p>
            <a:pPr>
              <a:lnSpc>
                <a:spcPct val="90000"/>
              </a:lnSpc>
              <a:defRPr/>
            </a:pPr>
            <a:r>
              <a:rPr lang="en-US" sz="2400" dirty="0">
                <a:cs typeface="+mn-cs"/>
              </a:rPr>
              <a:t>E.g. 95% of </a:t>
            </a:r>
            <a:r>
              <a:rPr lang="en-US" sz="2400" i="1" dirty="0">
                <a:cs typeface="+mn-cs"/>
              </a:rPr>
              <a:t>all requests </a:t>
            </a:r>
            <a:r>
              <a:rPr lang="en-US" sz="2400" dirty="0">
                <a:cs typeface="+mn-cs"/>
              </a:rPr>
              <a:t>must be processed in less than four seconds and no requests must take more than 15 seconds</a:t>
            </a:r>
          </a:p>
        </p:txBody>
      </p:sp>
      <p:sp>
        <p:nvSpPr>
          <p:cNvPr id="37889" name="Slide Number Placeholder 5">
            <a:extLst>
              <a:ext uri="{FF2B5EF4-FFF2-40B4-BE49-F238E27FC236}">
                <a16:creationId xmlns:a16="http://schemas.microsoft.com/office/drawing/2014/main" id="{75ADF79E-B560-0347-8B39-75585CFED4ED}"/>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2D38FD33-A691-0041-B36A-284966ACF38C}" type="slidenum">
              <a:rPr lang="en-US" altLang="en-US" sz="1200" smtClean="0">
                <a:latin typeface="Garamond" panose="02020404030301010803" pitchFamily="18" charset="0"/>
              </a:rPr>
              <a:pPr>
                <a:spcBef>
                  <a:spcPct val="0"/>
                </a:spcBef>
                <a:buClrTx/>
                <a:buSzTx/>
                <a:buFontTx/>
                <a:buNone/>
              </a:pPr>
              <a:t>42</a:t>
            </a:fld>
            <a:endParaRPr lang="en-US" altLang="en-US" sz="1200">
              <a:latin typeface="Garamond" panose="02020404030301010803" pitchFamily="18" charset="0"/>
            </a:endParaRPr>
          </a:p>
        </p:txBody>
      </p:sp>
    </p:spTree>
    <p:extLst>
      <p:ext uri="{BB962C8B-B14F-4D97-AF65-F5344CB8AC3E}">
        <p14:creationId xmlns:p14="http://schemas.microsoft.com/office/powerpoint/2010/main" val="3437563602"/>
      </p:ext>
    </p:extLst>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Number Placeholder 5">
            <a:extLst>
              <a:ext uri="{FF2B5EF4-FFF2-40B4-BE49-F238E27FC236}">
                <a16:creationId xmlns:a16="http://schemas.microsoft.com/office/drawing/2014/main" id="{61BD8202-FC01-644C-B1FB-1096671BCBEB}"/>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5988C08E-5DA2-5D40-8089-8A011C5396B5}" type="slidenum">
              <a:rPr lang="en-US" altLang="en-US" sz="1200">
                <a:latin typeface="Garamond" panose="02020404030301010803" pitchFamily="18" charset="0"/>
              </a:rPr>
              <a:pPr>
                <a:spcBef>
                  <a:spcPct val="0"/>
                </a:spcBef>
                <a:buClrTx/>
                <a:buSzTx/>
                <a:buFontTx/>
                <a:buNone/>
              </a:pPr>
              <a:t>43</a:t>
            </a:fld>
            <a:endParaRPr lang="en-US" altLang="en-US" sz="1200">
              <a:latin typeface="Garamond" panose="02020404030301010803" pitchFamily="18" charset="0"/>
            </a:endParaRPr>
          </a:p>
        </p:txBody>
      </p:sp>
      <p:sp>
        <p:nvSpPr>
          <p:cNvPr id="300034" name="Rectangle 2">
            <a:extLst>
              <a:ext uri="{FF2B5EF4-FFF2-40B4-BE49-F238E27FC236}">
                <a16:creationId xmlns:a16="http://schemas.microsoft.com/office/drawing/2014/main" id="{49AA25B4-BFDC-2F42-A7E7-B6F6E3D02237}"/>
              </a:ext>
            </a:extLst>
          </p:cNvPr>
          <p:cNvSpPr>
            <a:spLocks noGrp="1" noChangeArrowheads="1"/>
          </p:cNvSpPr>
          <p:nvPr>
            <p:ph type="title"/>
          </p:nvPr>
        </p:nvSpPr>
        <p:spPr/>
        <p:txBody>
          <a:bodyPr/>
          <a:lstStyle/>
          <a:p>
            <a:pPr eaLnBrk="1" hangingPunct="1">
              <a:defRPr/>
            </a:pPr>
            <a:r>
              <a:rPr lang="en-US" dirty="0">
                <a:cs typeface="+mj-cs"/>
              </a:rPr>
              <a:t>3. Performance - Deadlines</a:t>
            </a:r>
          </a:p>
        </p:txBody>
      </p:sp>
      <p:sp>
        <p:nvSpPr>
          <p:cNvPr id="39939" name="Rectangle 3">
            <a:extLst>
              <a:ext uri="{FF2B5EF4-FFF2-40B4-BE49-F238E27FC236}">
                <a16:creationId xmlns:a16="http://schemas.microsoft.com/office/drawing/2014/main" id="{53851E31-1F67-154E-9E7A-EA03C0F943B9}"/>
              </a:ext>
            </a:extLst>
          </p:cNvPr>
          <p:cNvSpPr>
            <a:spLocks noGrp="1" noChangeArrowheads="1"/>
          </p:cNvSpPr>
          <p:nvPr>
            <p:ph type="body" idx="1"/>
          </p:nvPr>
        </p:nvSpPr>
        <p:spPr/>
        <p:txBody>
          <a:bodyPr/>
          <a:lstStyle/>
          <a:p>
            <a:pPr eaLnBrk="1" hangingPunct="1"/>
            <a:r>
              <a:rPr lang="ja-JP" altLang="en-US"/>
              <a:t>‘</a:t>
            </a:r>
            <a:r>
              <a:rPr lang="en-US" altLang="ja-JP" i="1">
                <a:solidFill>
                  <a:srgbClr val="FF0000"/>
                </a:solidFill>
              </a:rPr>
              <a:t>something must be completed before some specified time</a:t>
            </a:r>
            <a:r>
              <a:rPr lang="ja-JP" altLang="en-US"/>
              <a:t>’</a:t>
            </a:r>
            <a:endParaRPr lang="en-US" altLang="ja-JP"/>
          </a:p>
          <a:p>
            <a:pPr lvl="1" eaLnBrk="1" hangingPunct="1"/>
            <a:r>
              <a:rPr lang="en-US" altLang="en-US"/>
              <a:t>Payroll system must complete by 2am so that electronic transfers can be sent to bank</a:t>
            </a:r>
          </a:p>
          <a:p>
            <a:pPr lvl="1" eaLnBrk="1" hangingPunct="1"/>
            <a:r>
              <a:rPr lang="en-US" altLang="en-US"/>
              <a:t>Weekly accounting run must complete by 6am Monday so that figures are available to management</a:t>
            </a:r>
          </a:p>
          <a:p>
            <a:pPr eaLnBrk="1" hangingPunct="1"/>
            <a:r>
              <a:rPr lang="en-US" altLang="en-US"/>
              <a:t>Deadlines often associated with batch jobs in IT systems.</a:t>
            </a:r>
          </a:p>
        </p:txBody>
      </p:sp>
    </p:spTree>
    <p:extLst>
      <p:ext uri="{BB962C8B-B14F-4D97-AF65-F5344CB8AC3E}">
        <p14:creationId xmlns:p14="http://schemas.microsoft.com/office/powerpoint/2010/main" val="336691712"/>
      </p:ext>
    </p:extLst>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Number Placeholder 5">
            <a:extLst>
              <a:ext uri="{FF2B5EF4-FFF2-40B4-BE49-F238E27FC236}">
                <a16:creationId xmlns:a16="http://schemas.microsoft.com/office/drawing/2014/main" id="{CCB6506E-1DD8-FB4E-A63E-5A1FE0C42D20}"/>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95F8EBE4-E21A-C842-B415-D292F7A7DD3F}" type="slidenum">
              <a:rPr lang="en-US" altLang="en-US" sz="1200">
                <a:latin typeface="Garamond" panose="02020404030301010803" pitchFamily="18" charset="0"/>
              </a:rPr>
              <a:pPr>
                <a:spcBef>
                  <a:spcPct val="0"/>
                </a:spcBef>
                <a:buClrTx/>
                <a:buSzTx/>
                <a:buFontTx/>
                <a:buNone/>
              </a:pPr>
              <a:t>44</a:t>
            </a:fld>
            <a:endParaRPr lang="en-US" altLang="en-US" sz="1200">
              <a:latin typeface="Garamond" panose="02020404030301010803" pitchFamily="18" charset="0"/>
            </a:endParaRPr>
          </a:p>
        </p:txBody>
      </p:sp>
      <p:sp>
        <p:nvSpPr>
          <p:cNvPr id="40962" name="Rectangle 2">
            <a:extLst>
              <a:ext uri="{FF2B5EF4-FFF2-40B4-BE49-F238E27FC236}">
                <a16:creationId xmlns:a16="http://schemas.microsoft.com/office/drawing/2014/main" id="{C94B9939-5E6C-4C4B-8F34-8F7ACDC995B7}"/>
              </a:ext>
            </a:extLst>
          </p:cNvPr>
          <p:cNvSpPr>
            <a:spLocks noGrp="1" noChangeArrowheads="1"/>
          </p:cNvSpPr>
          <p:nvPr>
            <p:ph type="title"/>
          </p:nvPr>
        </p:nvSpPr>
        <p:spPr/>
        <p:txBody>
          <a:bodyPr/>
          <a:lstStyle/>
          <a:p>
            <a:pPr eaLnBrk="1" hangingPunct="1"/>
            <a:r>
              <a:rPr lang="en-US" altLang="en-US"/>
              <a:t>Something to watch for …</a:t>
            </a:r>
          </a:p>
        </p:txBody>
      </p:sp>
      <p:sp>
        <p:nvSpPr>
          <p:cNvPr id="301059" name="Rectangle 3">
            <a:extLst>
              <a:ext uri="{FF2B5EF4-FFF2-40B4-BE49-F238E27FC236}">
                <a16:creationId xmlns:a16="http://schemas.microsoft.com/office/drawing/2014/main" id="{5095DB8B-8E95-F246-ADAD-41A21162A11E}"/>
              </a:ext>
            </a:extLst>
          </p:cNvPr>
          <p:cNvSpPr>
            <a:spLocks noGrp="1" noChangeArrowheads="1"/>
          </p:cNvSpPr>
          <p:nvPr>
            <p:ph type="body" idx="1"/>
          </p:nvPr>
        </p:nvSpPr>
        <p:spPr/>
        <p:txBody>
          <a:bodyPr/>
          <a:lstStyle/>
          <a:p>
            <a:pPr>
              <a:defRPr/>
            </a:pPr>
            <a:r>
              <a:rPr lang="en-US" sz="2600" dirty="0">
                <a:cs typeface="+mn-cs"/>
              </a:rPr>
              <a:t>What is a </a:t>
            </a:r>
          </a:p>
          <a:p>
            <a:pPr lvl="1" eaLnBrk="1" hangingPunct="1">
              <a:buFont typeface="Wingdings" charset="0"/>
              <a:buChar char="q"/>
              <a:defRPr/>
            </a:pPr>
            <a:r>
              <a:rPr lang="en-US" sz="2200" dirty="0"/>
              <a:t>Transaction?</a:t>
            </a:r>
          </a:p>
          <a:p>
            <a:pPr lvl="1" eaLnBrk="1" hangingPunct="1">
              <a:buFont typeface="Wingdings" charset="0"/>
              <a:buChar char="q"/>
              <a:defRPr/>
            </a:pPr>
            <a:r>
              <a:rPr lang="en-US" sz="2200" dirty="0"/>
              <a:t>Message?</a:t>
            </a:r>
          </a:p>
          <a:p>
            <a:pPr lvl="1" eaLnBrk="1" hangingPunct="1">
              <a:buFont typeface="Wingdings" charset="0"/>
              <a:buChar char="q"/>
              <a:defRPr/>
            </a:pPr>
            <a:r>
              <a:rPr lang="en-US" sz="2200" dirty="0"/>
              <a:t>Request?</a:t>
            </a:r>
          </a:p>
          <a:p>
            <a:pPr>
              <a:defRPr/>
            </a:pPr>
            <a:r>
              <a:rPr lang="en-US" sz="2600" dirty="0">
                <a:cs typeface="+mn-cs"/>
              </a:rPr>
              <a:t>All are application specific measures.</a:t>
            </a:r>
          </a:p>
          <a:p>
            <a:pPr>
              <a:defRPr/>
            </a:pPr>
            <a:r>
              <a:rPr lang="en-US" sz="2600" dirty="0">
                <a:cs typeface="+mn-cs"/>
              </a:rPr>
              <a:t>System must achieve 100 </a:t>
            </a:r>
            <a:r>
              <a:rPr lang="en-US" sz="2600" dirty="0" err="1">
                <a:cs typeface="+mn-cs"/>
              </a:rPr>
              <a:t>mps</a:t>
            </a:r>
            <a:r>
              <a:rPr lang="en-US" sz="2600" dirty="0">
                <a:cs typeface="+mn-cs"/>
              </a:rPr>
              <a:t> throughput </a:t>
            </a:r>
          </a:p>
          <a:p>
            <a:pPr lvl="1" eaLnBrk="1" hangingPunct="1">
              <a:buFont typeface="Wingdings" charset="0"/>
              <a:buChar char="q"/>
              <a:defRPr/>
            </a:pPr>
            <a:r>
              <a:rPr lang="en-US" sz="2200" dirty="0"/>
              <a:t>BAD!!</a:t>
            </a:r>
          </a:p>
          <a:p>
            <a:pPr>
              <a:defRPr/>
            </a:pPr>
            <a:r>
              <a:rPr lang="en-US" sz="2600" dirty="0">
                <a:cs typeface="+mn-cs"/>
              </a:rPr>
              <a:t>System must achieve 100 </a:t>
            </a:r>
            <a:r>
              <a:rPr lang="en-US" sz="2600" dirty="0" err="1">
                <a:cs typeface="+mn-cs"/>
              </a:rPr>
              <a:t>mps</a:t>
            </a:r>
            <a:r>
              <a:rPr lang="en-US" sz="2600" dirty="0">
                <a:cs typeface="+mn-cs"/>
              </a:rPr>
              <a:t> peak throughput for </a:t>
            </a:r>
            <a:r>
              <a:rPr lang="en-US" sz="2600" i="1" dirty="0" err="1">
                <a:cs typeface="+mn-cs"/>
              </a:rPr>
              <a:t>PaymentReceived</a:t>
            </a:r>
            <a:r>
              <a:rPr lang="en-US" sz="2600" dirty="0">
                <a:cs typeface="+mn-cs"/>
              </a:rPr>
              <a:t> messages</a:t>
            </a:r>
          </a:p>
          <a:p>
            <a:pPr lvl="1" eaLnBrk="1" hangingPunct="1">
              <a:buFont typeface="Wingdings" charset="0"/>
              <a:buChar char="q"/>
              <a:defRPr/>
            </a:pPr>
            <a:r>
              <a:rPr lang="en-US" sz="2200" dirty="0"/>
              <a:t>GOOD!!!</a:t>
            </a:r>
          </a:p>
        </p:txBody>
      </p:sp>
    </p:spTree>
    <p:extLst>
      <p:ext uri="{BB962C8B-B14F-4D97-AF65-F5344CB8AC3E}">
        <p14:creationId xmlns:p14="http://schemas.microsoft.com/office/powerpoint/2010/main" val="4242101511"/>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105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105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105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1059">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01059">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01059">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1059">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1059">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105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59"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a:extLst>
              <a:ext uri="{FF2B5EF4-FFF2-40B4-BE49-F238E27FC236}">
                <a16:creationId xmlns:a16="http://schemas.microsoft.com/office/drawing/2014/main" id="{4F153EA9-3DA0-AD4E-8F60-2220D4B08101}"/>
              </a:ext>
            </a:extLst>
          </p:cNvPr>
          <p:cNvSpPr>
            <a:spLocks noGrp="1" noChangeArrowheads="1"/>
          </p:cNvSpPr>
          <p:nvPr>
            <p:ph type="title"/>
          </p:nvPr>
        </p:nvSpPr>
        <p:spPr>
          <a:xfrm>
            <a:off x="457200" y="274638"/>
            <a:ext cx="7293232" cy="1143000"/>
          </a:xfrm>
        </p:spPr>
        <p:txBody>
          <a:bodyPr wrap="square" anchor="ctr">
            <a:normAutofit/>
          </a:bodyPr>
          <a:lstStyle/>
          <a:p>
            <a:pPr eaLnBrk="1" hangingPunct="1">
              <a:defRPr/>
            </a:pPr>
            <a:r>
              <a:rPr lang="en-US" b="1"/>
              <a:t>Scalability</a:t>
            </a:r>
          </a:p>
        </p:txBody>
      </p:sp>
      <p:sp>
        <p:nvSpPr>
          <p:cNvPr id="136" name="Date Placeholder 3">
            <a:extLst>
              <a:ext uri="{FF2B5EF4-FFF2-40B4-BE49-F238E27FC236}">
                <a16:creationId xmlns:a16="http://schemas.microsoft.com/office/drawing/2014/main" id="{E1FF3800-8F68-456A-9056-69EA6FFB4D65}"/>
              </a:ext>
            </a:extLst>
          </p:cNvPr>
          <p:cNvSpPr>
            <a:spLocks noGrp="1"/>
          </p:cNvSpPr>
          <p:nvPr>
            <p:ph type="dt" sz="half" idx="10"/>
          </p:nvPr>
        </p:nvSpPr>
        <p:spPr>
          <a:xfrm>
            <a:off x="457200" y="6356350"/>
            <a:ext cx="2133600" cy="365125"/>
          </a:xfrm>
        </p:spPr>
        <p:txBody>
          <a:bodyPr/>
          <a:lstStyle/>
          <a:p>
            <a:pPr>
              <a:spcAft>
                <a:spcPts val="600"/>
              </a:spcAft>
            </a:pPr>
            <a:fld id="{1EC4D177-3FD8-1541-B11E-1C53E75416D7}" type="datetime1">
              <a:rPr lang="en-GB" smtClean="0"/>
              <a:pPr>
                <a:spcAft>
                  <a:spcPts val="600"/>
                </a:spcAft>
              </a:pPr>
              <a:t>20/12/2021</a:t>
            </a:fld>
            <a:endParaRPr lang="en-US"/>
          </a:p>
        </p:txBody>
      </p:sp>
      <p:sp>
        <p:nvSpPr>
          <p:cNvPr id="138" name="Footer Placeholder 4">
            <a:extLst>
              <a:ext uri="{FF2B5EF4-FFF2-40B4-BE49-F238E27FC236}">
                <a16:creationId xmlns:a16="http://schemas.microsoft.com/office/drawing/2014/main" id="{CF56DFB8-CD30-45C6-BA67-56CB7D5A59FD}"/>
              </a:ext>
            </a:extLst>
          </p:cNvPr>
          <p:cNvSpPr>
            <a:spLocks noGrp="1"/>
          </p:cNvSpPr>
          <p:nvPr>
            <p:ph type="ftr" sz="quarter" idx="11"/>
          </p:nvPr>
        </p:nvSpPr>
        <p:spPr>
          <a:xfrm>
            <a:off x="3124200" y="6356350"/>
            <a:ext cx="2895600" cy="365125"/>
          </a:xfrm>
        </p:spPr>
        <p:txBody>
          <a:bodyPr/>
          <a:lstStyle/>
          <a:p>
            <a:pPr>
              <a:spcAft>
                <a:spcPts val="600"/>
              </a:spcAft>
            </a:pPr>
            <a:r>
              <a:rPr lang="en-US"/>
              <a:t>Chapter 6 Architectural Design</a:t>
            </a:r>
          </a:p>
        </p:txBody>
      </p:sp>
      <p:sp>
        <p:nvSpPr>
          <p:cNvPr id="43009" name="Slide Number Placeholder 5">
            <a:extLst>
              <a:ext uri="{FF2B5EF4-FFF2-40B4-BE49-F238E27FC236}">
                <a16:creationId xmlns:a16="http://schemas.microsoft.com/office/drawing/2014/main" id="{AE448FFC-A1BD-4441-B77E-77865B9E585E}"/>
              </a:ext>
            </a:extLst>
          </p:cNvPr>
          <p:cNvSpPr>
            <a:spLocks noGrp="1"/>
          </p:cNvSpPr>
          <p:nvPr>
            <p:ph type="sldNum" sz="quarter" idx="12"/>
          </p:nvPr>
        </p:nvSpPr>
        <p:spPr>
          <a:xfrm>
            <a:off x="6553200" y="6356350"/>
            <a:ext cx="21336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spcAft>
                <a:spcPts val="600"/>
              </a:spcAft>
              <a:buClrTx/>
              <a:buSzTx/>
              <a:buFontTx/>
              <a:buNone/>
            </a:pPr>
            <a:fld id="{53BFEF79-4EA4-3D47-ACB6-4D911D8278B4}" type="slidenum">
              <a:rPr lang="en-US" altLang="en-US" sz="1200">
                <a:solidFill>
                  <a:schemeClr val="tx1">
                    <a:tint val="75000"/>
                  </a:schemeClr>
                </a:solidFill>
              </a:rPr>
              <a:pPr>
                <a:spcBef>
                  <a:spcPct val="0"/>
                </a:spcBef>
                <a:spcAft>
                  <a:spcPts val="600"/>
                </a:spcAft>
                <a:buClrTx/>
                <a:buSzTx/>
                <a:buFontTx/>
                <a:buNone/>
              </a:pPr>
              <a:t>45</a:t>
            </a:fld>
            <a:endParaRPr lang="en-US" altLang="en-US" sz="1200">
              <a:solidFill>
                <a:schemeClr val="tx1">
                  <a:tint val="75000"/>
                </a:schemeClr>
              </a:solidFill>
            </a:endParaRPr>
          </a:p>
        </p:txBody>
      </p:sp>
      <p:graphicFrame>
        <p:nvGraphicFramePr>
          <p:cNvPr id="303108" name="Rectangle 3">
            <a:extLst>
              <a:ext uri="{FF2B5EF4-FFF2-40B4-BE49-F238E27FC236}">
                <a16:creationId xmlns:a16="http://schemas.microsoft.com/office/drawing/2014/main" id="{CA011F69-6229-4E6F-8BEE-40C0C67FAB3E}"/>
              </a:ext>
            </a:extLst>
          </p:cNvPr>
          <p:cNvGraphicFramePr>
            <a:graphicFrameLocks noGrp="1"/>
          </p:cNvGraphicFramePr>
          <p:nvPr>
            <p:ph idx="1"/>
            <p:extLst>
              <p:ext uri="{D42A27DB-BD31-4B8C-83A1-F6EECF244321}">
                <p14:modId xmlns:p14="http://schemas.microsoft.com/office/powerpoint/2010/main" val="4039464254"/>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65150293"/>
      </p:ext>
    </p:extLst>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Number Placeholder 5">
            <a:extLst>
              <a:ext uri="{FF2B5EF4-FFF2-40B4-BE49-F238E27FC236}">
                <a16:creationId xmlns:a16="http://schemas.microsoft.com/office/drawing/2014/main" id="{75DBE732-9622-E14C-9C86-0FE9C59F0DD9}"/>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B57FE2E9-08BC-0442-9375-A067EF9D7ECF}" type="slidenum">
              <a:rPr lang="en-US" altLang="en-US" sz="1200">
                <a:latin typeface="Garamond" panose="02020404030301010803" pitchFamily="18" charset="0"/>
              </a:rPr>
              <a:pPr>
                <a:spcBef>
                  <a:spcPct val="0"/>
                </a:spcBef>
                <a:buClrTx/>
                <a:buSzTx/>
                <a:buFontTx/>
                <a:buNone/>
              </a:pPr>
              <a:t>46</a:t>
            </a:fld>
            <a:endParaRPr lang="en-US" altLang="en-US" sz="1200">
              <a:latin typeface="Garamond" panose="02020404030301010803" pitchFamily="18" charset="0"/>
            </a:endParaRPr>
          </a:p>
        </p:txBody>
      </p:sp>
      <p:sp>
        <p:nvSpPr>
          <p:cNvPr id="44034" name="Rectangle 2">
            <a:extLst>
              <a:ext uri="{FF2B5EF4-FFF2-40B4-BE49-F238E27FC236}">
                <a16:creationId xmlns:a16="http://schemas.microsoft.com/office/drawing/2014/main" id="{E03C7B13-FD68-1C43-8A09-375694C46E13}"/>
              </a:ext>
            </a:extLst>
          </p:cNvPr>
          <p:cNvSpPr>
            <a:spLocks noGrp="1" noChangeArrowheads="1"/>
          </p:cNvSpPr>
          <p:nvPr>
            <p:ph type="title"/>
          </p:nvPr>
        </p:nvSpPr>
        <p:spPr/>
        <p:txBody>
          <a:bodyPr/>
          <a:lstStyle/>
          <a:p>
            <a:pPr eaLnBrk="1" hangingPunct="1"/>
            <a:r>
              <a:rPr lang="en-US" altLang="en-US"/>
              <a:t>1. Scalability – Request Load</a:t>
            </a:r>
          </a:p>
        </p:txBody>
      </p:sp>
      <p:sp>
        <p:nvSpPr>
          <p:cNvPr id="304131" name="Rectangle 3">
            <a:extLst>
              <a:ext uri="{FF2B5EF4-FFF2-40B4-BE49-F238E27FC236}">
                <a16:creationId xmlns:a16="http://schemas.microsoft.com/office/drawing/2014/main" id="{34E1DEBD-63DA-734D-9C78-E9CC876148C6}"/>
              </a:ext>
            </a:extLst>
          </p:cNvPr>
          <p:cNvSpPr>
            <a:spLocks noGrp="1" noChangeArrowheads="1"/>
          </p:cNvSpPr>
          <p:nvPr>
            <p:ph type="body" idx="1"/>
          </p:nvPr>
        </p:nvSpPr>
        <p:spPr/>
        <p:txBody>
          <a:bodyPr/>
          <a:lstStyle/>
          <a:p>
            <a:pPr>
              <a:defRPr/>
            </a:pPr>
            <a:r>
              <a:rPr lang="en-US" dirty="0">
                <a:cs typeface="+mn-cs"/>
              </a:rPr>
              <a:t>How does an 100 </a:t>
            </a:r>
            <a:r>
              <a:rPr lang="en-US" dirty="0" err="1">
                <a:cs typeface="+mn-cs"/>
              </a:rPr>
              <a:t>tps</a:t>
            </a:r>
            <a:r>
              <a:rPr lang="en-US" dirty="0">
                <a:cs typeface="+mn-cs"/>
              </a:rPr>
              <a:t> application behave when simultaneous request load grows? E.g.</a:t>
            </a:r>
          </a:p>
          <a:p>
            <a:pPr lvl="1" eaLnBrk="1" hangingPunct="1">
              <a:buFont typeface="Wingdings" charset="0"/>
              <a:buChar char="q"/>
              <a:defRPr/>
            </a:pPr>
            <a:r>
              <a:rPr lang="en-US" dirty="0"/>
              <a:t>From 100 to 1000 requests per second?</a:t>
            </a:r>
          </a:p>
          <a:p>
            <a:pPr>
              <a:defRPr/>
            </a:pPr>
            <a:r>
              <a:rPr lang="en-US" dirty="0">
                <a:cs typeface="+mn-cs"/>
              </a:rPr>
              <a:t>Ideal solution, without additional hardware </a:t>
            </a:r>
            <a:r>
              <a:rPr lang="en-US" dirty="0"/>
              <a:t>capacity</a:t>
            </a:r>
            <a:r>
              <a:rPr lang="en-US" dirty="0">
                <a:cs typeface="+mn-cs"/>
              </a:rPr>
              <a:t>:</a:t>
            </a:r>
          </a:p>
          <a:p>
            <a:pPr lvl="1" eaLnBrk="1" hangingPunct="1">
              <a:buFont typeface="Wingdings" charset="0"/>
              <a:buChar char="q"/>
              <a:defRPr/>
            </a:pPr>
            <a:r>
              <a:rPr lang="en-US" dirty="0"/>
              <a:t>as the load increases, throughput remains constant (i.e. 100 </a:t>
            </a:r>
            <a:r>
              <a:rPr lang="en-US" dirty="0" err="1"/>
              <a:t>tps</a:t>
            </a:r>
            <a:r>
              <a:rPr lang="en-US" dirty="0"/>
              <a:t>), and response time per request increases only linearly (i.e. 10 seconds). </a:t>
            </a:r>
          </a:p>
        </p:txBody>
      </p:sp>
    </p:spTree>
    <p:extLst>
      <p:ext uri="{BB962C8B-B14F-4D97-AF65-F5344CB8AC3E}">
        <p14:creationId xmlns:p14="http://schemas.microsoft.com/office/powerpoint/2010/main" val="3609794870"/>
      </p:ext>
    </p:extLst>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Number Placeholder 5">
            <a:extLst>
              <a:ext uri="{FF2B5EF4-FFF2-40B4-BE49-F238E27FC236}">
                <a16:creationId xmlns:a16="http://schemas.microsoft.com/office/drawing/2014/main" id="{420645D8-A3E9-F442-B10B-AF13E80E57A5}"/>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03E12DF2-D1FF-574C-9D55-F4E5B28EECA4}" type="slidenum">
              <a:rPr lang="en-US" altLang="en-US" sz="1200">
                <a:latin typeface="Garamond" panose="02020404030301010803" pitchFamily="18" charset="0"/>
              </a:rPr>
              <a:pPr>
                <a:spcBef>
                  <a:spcPct val="0"/>
                </a:spcBef>
                <a:buClrTx/>
                <a:buSzTx/>
                <a:buFontTx/>
                <a:buNone/>
              </a:pPr>
              <a:t>47</a:t>
            </a:fld>
            <a:endParaRPr lang="en-US" altLang="en-US" sz="1200">
              <a:latin typeface="Garamond" panose="02020404030301010803" pitchFamily="18" charset="0"/>
            </a:endParaRPr>
          </a:p>
        </p:txBody>
      </p:sp>
      <p:sp>
        <p:nvSpPr>
          <p:cNvPr id="45058" name="Rectangle 2">
            <a:extLst>
              <a:ext uri="{FF2B5EF4-FFF2-40B4-BE49-F238E27FC236}">
                <a16:creationId xmlns:a16="http://schemas.microsoft.com/office/drawing/2014/main" id="{DE8B29A6-FC74-3A43-95A7-F1218BB5F7A6}"/>
              </a:ext>
            </a:extLst>
          </p:cNvPr>
          <p:cNvSpPr>
            <a:spLocks noGrp="1" noChangeArrowheads="1"/>
          </p:cNvSpPr>
          <p:nvPr>
            <p:ph type="title"/>
          </p:nvPr>
        </p:nvSpPr>
        <p:spPr/>
        <p:txBody>
          <a:bodyPr/>
          <a:lstStyle/>
          <a:p>
            <a:pPr eaLnBrk="1" hangingPunct="1"/>
            <a:r>
              <a:rPr lang="en-US" altLang="en-US"/>
              <a:t>Scalability – Add more hardware …</a:t>
            </a:r>
          </a:p>
        </p:txBody>
      </p:sp>
      <p:grpSp>
        <p:nvGrpSpPr>
          <p:cNvPr id="45059" name="Group 4">
            <a:extLst>
              <a:ext uri="{FF2B5EF4-FFF2-40B4-BE49-F238E27FC236}">
                <a16:creationId xmlns:a16="http://schemas.microsoft.com/office/drawing/2014/main" id="{C171B51B-380F-E94E-98E7-55D485CDA4C4}"/>
              </a:ext>
            </a:extLst>
          </p:cNvPr>
          <p:cNvGrpSpPr>
            <a:grpSpLocks noChangeAspect="1"/>
          </p:cNvGrpSpPr>
          <p:nvPr/>
        </p:nvGrpSpPr>
        <p:grpSpPr bwMode="auto">
          <a:xfrm>
            <a:off x="755650" y="1731962"/>
            <a:ext cx="7632700" cy="4548188"/>
            <a:chOff x="2614" y="8161"/>
            <a:chExt cx="7067" cy="4267"/>
          </a:xfrm>
        </p:grpSpPr>
        <p:sp>
          <p:nvSpPr>
            <p:cNvPr id="45060" name="AutoShape 5">
              <a:extLst>
                <a:ext uri="{FF2B5EF4-FFF2-40B4-BE49-F238E27FC236}">
                  <a16:creationId xmlns:a16="http://schemas.microsoft.com/office/drawing/2014/main" id="{EC1C3717-36D2-D54F-BC36-D6723600AC46}"/>
                </a:ext>
              </a:extLst>
            </p:cNvPr>
            <p:cNvSpPr>
              <a:spLocks noChangeAspect="1" noChangeArrowheads="1"/>
            </p:cNvSpPr>
            <p:nvPr/>
          </p:nvSpPr>
          <p:spPr bwMode="auto">
            <a:xfrm>
              <a:off x="2614" y="8161"/>
              <a:ext cx="7067" cy="4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endParaRPr lang="en-GB" altLang="en-US" sz="1800"/>
            </a:p>
          </p:txBody>
        </p:sp>
        <p:sp>
          <p:nvSpPr>
            <p:cNvPr id="45061" name="AutoShape 6">
              <a:extLst>
                <a:ext uri="{FF2B5EF4-FFF2-40B4-BE49-F238E27FC236}">
                  <a16:creationId xmlns:a16="http://schemas.microsoft.com/office/drawing/2014/main" id="{22081F33-A3D5-D343-BAFA-207073C0DD3C}"/>
                </a:ext>
              </a:extLst>
            </p:cNvPr>
            <p:cNvSpPr>
              <a:spLocks noChangeArrowheads="1"/>
            </p:cNvSpPr>
            <p:nvPr/>
          </p:nvSpPr>
          <p:spPr bwMode="auto">
            <a:xfrm>
              <a:off x="5595" y="8881"/>
              <a:ext cx="1326" cy="720"/>
            </a:xfrm>
            <a:prstGeom prst="cube">
              <a:avLst>
                <a:gd name="adj" fmla="val 25000"/>
              </a:avLst>
            </a:prstGeom>
            <a:solidFill>
              <a:srgbClr val="FFFFFF"/>
            </a:solidFill>
            <a:ln w="9525">
              <a:solidFill>
                <a:srgbClr val="000000"/>
              </a:solidFill>
              <a:miter lim="800000"/>
              <a:headEnd/>
              <a:tailEnd/>
            </a:ln>
          </p:spPr>
          <p:txBody>
            <a:bodyPr lIns="82296" tIns="41148" rIns="82296" bIns="41148"/>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000"/>
                <a:t>Application</a:t>
              </a:r>
              <a:endParaRPr lang="en-US" altLang="en-US" sz="1800"/>
            </a:p>
          </p:txBody>
        </p:sp>
        <p:sp>
          <p:nvSpPr>
            <p:cNvPr id="45062" name="AutoShape 7">
              <a:extLst>
                <a:ext uri="{FF2B5EF4-FFF2-40B4-BE49-F238E27FC236}">
                  <a16:creationId xmlns:a16="http://schemas.microsoft.com/office/drawing/2014/main" id="{04989728-723E-294E-9324-2DB71C3FB5C6}"/>
                </a:ext>
              </a:extLst>
            </p:cNvPr>
            <p:cNvSpPr>
              <a:spLocks noChangeArrowheads="1"/>
            </p:cNvSpPr>
            <p:nvPr/>
          </p:nvSpPr>
          <p:spPr bwMode="auto">
            <a:xfrm>
              <a:off x="3940" y="11473"/>
              <a:ext cx="1328" cy="720"/>
            </a:xfrm>
            <a:prstGeom prst="cube">
              <a:avLst>
                <a:gd name="adj" fmla="val 25000"/>
              </a:avLst>
            </a:prstGeom>
            <a:solidFill>
              <a:srgbClr val="FFFFFF"/>
            </a:solidFill>
            <a:ln w="9525">
              <a:solidFill>
                <a:srgbClr val="000000"/>
              </a:solidFill>
              <a:miter lim="800000"/>
              <a:headEnd/>
              <a:tailEnd/>
            </a:ln>
          </p:spPr>
          <p:txBody>
            <a:bodyPr lIns="82296" tIns="41148" rIns="82296" bIns="41148"/>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000"/>
                <a:t>Application</a:t>
              </a:r>
              <a:endParaRPr lang="en-US" altLang="en-US" sz="1800"/>
            </a:p>
          </p:txBody>
        </p:sp>
        <p:sp>
          <p:nvSpPr>
            <p:cNvPr id="45063" name="computr3">
              <a:extLst>
                <a:ext uri="{FF2B5EF4-FFF2-40B4-BE49-F238E27FC236}">
                  <a16:creationId xmlns:a16="http://schemas.microsoft.com/office/drawing/2014/main" id="{310EBC92-01D1-C143-9928-752BF2D74FF0}"/>
                </a:ext>
              </a:extLst>
            </p:cNvPr>
            <p:cNvSpPr>
              <a:spLocks noEditPoints="1" noChangeArrowheads="1"/>
            </p:cNvSpPr>
            <p:nvPr/>
          </p:nvSpPr>
          <p:spPr bwMode="auto">
            <a:xfrm>
              <a:off x="4130" y="10753"/>
              <a:ext cx="799" cy="8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7813 w 21600"/>
                <a:gd name="T13" fmla="*/ 2587 h 21600"/>
                <a:gd name="T14" fmla="*/ 16355 w 21600"/>
                <a:gd name="T15" fmla="*/ 11760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endParaRPr lang="en-GB"/>
            </a:p>
          </p:txBody>
        </p:sp>
        <p:sp>
          <p:nvSpPr>
            <p:cNvPr id="45064" name="AutoShape 9">
              <a:extLst>
                <a:ext uri="{FF2B5EF4-FFF2-40B4-BE49-F238E27FC236}">
                  <a16:creationId xmlns:a16="http://schemas.microsoft.com/office/drawing/2014/main" id="{DCB4A720-C5B4-534F-BF7B-BE363C384240}"/>
                </a:ext>
              </a:extLst>
            </p:cNvPr>
            <p:cNvSpPr>
              <a:spLocks noChangeArrowheads="1"/>
            </p:cNvSpPr>
            <p:nvPr/>
          </p:nvSpPr>
          <p:spPr bwMode="auto">
            <a:xfrm>
              <a:off x="2614" y="11473"/>
              <a:ext cx="1328" cy="720"/>
            </a:xfrm>
            <a:prstGeom prst="cube">
              <a:avLst>
                <a:gd name="adj" fmla="val 25000"/>
              </a:avLst>
            </a:prstGeom>
            <a:solidFill>
              <a:srgbClr val="FFFFFF"/>
            </a:solidFill>
            <a:ln w="9525">
              <a:solidFill>
                <a:srgbClr val="000000"/>
              </a:solidFill>
              <a:miter lim="800000"/>
              <a:headEnd/>
              <a:tailEnd/>
            </a:ln>
          </p:spPr>
          <p:txBody>
            <a:bodyPr lIns="82296" tIns="41148" rIns="82296" bIns="41148"/>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000"/>
                <a:t>Application</a:t>
              </a:r>
              <a:endParaRPr lang="en-US" altLang="en-US" sz="1800"/>
            </a:p>
          </p:txBody>
        </p:sp>
        <p:sp>
          <p:nvSpPr>
            <p:cNvPr id="45065" name="computr3">
              <a:extLst>
                <a:ext uri="{FF2B5EF4-FFF2-40B4-BE49-F238E27FC236}">
                  <a16:creationId xmlns:a16="http://schemas.microsoft.com/office/drawing/2014/main" id="{15DD2BF4-A7CD-CE48-ADA2-5622607C7F6D}"/>
                </a:ext>
              </a:extLst>
            </p:cNvPr>
            <p:cNvSpPr>
              <a:spLocks noEditPoints="1" noChangeArrowheads="1"/>
            </p:cNvSpPr>
            <p:nvPr/>
          </p:nvSpPr>
          <p:spPr bwMode="auto">
            <a:xfrm>
              <a:off x="2898" y="10753"/>
              <a:ext cx="799" cy="8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7813 w 21600"/>
                <a:gd name="T13" fmla="*/ 2587 h 21600"/>
                <a:gd name="T14" fmla="*/ 16355 w 21600"/>
                <a:gd name="T15" fmla="*/ 11760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endParaRPr lang="en-GB"/>
            </a:p>
          </p:txBody>
        </p:sp>
        <p:sp>
          <p:nvSpPr>
            <p:cNvPr id="45066" name="computr3">
              <a:extLst>
                <a:ext uri="{FF2B5EF4-FFF2-40B4-BE49-F238E27FC236}">
                  <a16:creationId xmlns:a16="http://schemas.microsoft.com/office/drawing/2014/main" id="{D2582847-CE67-8243-88BB-2729E26A92F8}"/>
                </a:ext>
              </a:extLst>
            </p:cNvPr>
            <p:cNvSpPr>
              <a:spLocks noEditPoints="1" noChangeArrowheads="1"/>
            </p:cNvSpPr>
            <p:nvPr/>
          </p:nvSpPr>
          <p:spPr bwMode="auto">
            <a:xfrm>
              <a:off x="5877" y="8161"/>
              <a:ext cx="800" cy="8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7803 w 21600"/>
                <a:gd name="T13" fmla="*/ 2587 h 21600"/>
                <a:gd name="T14" fmla="*/ 16362 w 21600"/>
                <a:gd name="T15" fmla="*/ 11760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endParaRPr lang="en-GB"/>
            </a:p>
          </p:txBody>
        </p:sp>
        <p:sp>
          <p:nvSpPr>
            <p:cNvPr id="45067" name="AutoShape 12">
              <a:extLst>
                <a:ext uri="{FF2B5EF4-FFF2-40B4-BE49-F238E27FC236}">
                  <a16:creationId xmlns:a16="http://schemas.microsoft.com/office/drawing/2014/main" id="{2C55FAF3-082C-D04A-A541-456102FCBD97}"/>
                </a:ext>
              </a:extLst>
            </p:cNvPr>
            <p:cNvSpPr>
              <a:spLocks noChangeArrowheads="1"/>
            </p:cNvSpPr>
            <p:nvPr/>
          </p:nvSpPr>
          <p:spPr bwMode="auto">
            <a:xfrm>
              <a:off x="6509" y="11575"/>
              <a:ext cx="1328" cy="720"/>
            </a:xfrm>
            <a:prstGeom prst="cube">
              <a:avLst>
                <a:gd name="adj" fmla="val 25000"/>
              </a:avLst>
            </a:prstGeom>
            <a:solidFill>
              <a:srgbClr val="FFFFFF"/>
            </a:solidFill>
            <a:ln w="9525">
              <a:solidFill>
                <a:srgbClr val="000000"/>
              </a:solidFill>
              <a:miter lim="800000"/>
              <a:headEnd/>
              <a:tailEnd/>
            </a:ln>
          </p:spPr>
          <p:txBody>
            <a:bodyPr lIns="82296" tIns="41148" rIns="82296" bIns="41148"/>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000"/>
                <a:t>Application</a:t>
              </a:r>
              <a:endParaRPr lang="en-US" altLang="en-US" sz="1800"/>
            </a:p>
          </p:txBody>
        </p:sp>
        <p:sp>
          <p:nvSpPr>
            <p:cNvPr id="45068" name="computr3">
              <a:extLst>
                <a:ext uri="{FF2B5EF4-FFF2-40B4-BE49-F238E27FC236}">
                  <a16:creationId xmlns:a16="http://schemas.microsoft.com/office/drawing/2014/main" id="{70ADB687-B09D-714E-B089-6FE493889951}"/>
                </a:ext>
              </a:extLst>
            </p:cNvPr>
            <p:cNvSpPr>
              <a:spLocks noEditPoints="1" noChangeArrowheads="1"/>
            </p:cNvSpPr>
            <p:nvPr/>
          </p:nvSpPr>
          <p:spPr bwMode="auto">
            <a:xfrm>
              <a:off x="6755" y="10855"/>
              <a:ext cx="800" cy="809"/>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7803 w 21600"/>
                <a:gd name="T13" fmla="*/ 2590 h 21600"/>
                <a:gd name="T14" fmla="*/ 16362 w 21600"/>
                <a:gd name="T15" fmla="*/ 11775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endParaRPr lang="en-GB"/>
            </a:p>
          </p:txBody>
        </p:sp>
        <p:sp>
          <p:nvSpPr>
            <p:cNvPr id="45069" name="AutoShape 14">
              <a:extLst>
                <a:ext uri="{FF2B5EF4-FFF2-40B4-BE49-F238E27FC236}">
                  <a16:creationId xmlns:a16="http://schemas.microsoft.com/office/drawing/2014/main" id="{F6371C96-C837-9F4C-94EC-C9EC5E9E5BD1}"/>
                </a:ext>
              </a:extLst>
            </p:cNvPr>
            <p:cNvSpPr>
              <a:spLocks noChangeArrowheads="1"/>
            </p:cNvSpPr>
            <p:nvPr/>
          </p:nvSpPr>
          <p:spPr bwMode="auto">
            <a:xfrm>
              <a:off x="2719" y="9868"/>
              <a:ext cx="1328" cy="720"/>
            </a:xfrm>
            <a:prstGeom prst="cube">
              <a:avLst>
                <a:gd name="adj" fmla="val 25000"/>
              </a:avLst>
            </a:prstGeom>
            <a:solidFill>
              <a:srgbClr val="FFFFFF"/>
            </a:solidFill>
            <a:ln w="9525">
              <a:solidFill>
                <a:srgbClr val="000000"/>
              </a:solidFill>
              <a:miter lim="800000"/>
              <a:headEnd/>
              <a:tailEnd/>
            </a:ln>
          </p:spPr>
          <p:txBody>
            <a:bodyPr lIns="82296" tIns="41148" rIns="82296" bIns="41148"/>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000"/>
                <a:t>Application</a:t>
              </a:r>
              <a:endParaRPr lang="en-US" altLang="en-US" sz="1800"/>
            </a:p>
          </p:txBody>
        </p:sp>
        <p:sp>
          <p:nvSpPr>
            <p:cNvPr id="45070" name="computr3">
              <a:extLst>
                <a:ext uri="{FF2B5EF4-FFF2-40B4-BE49-F238E27FC236}">
                  <a16:creationId xmlns:a16="http://schemas.microsoft.com/office/drawing/2014/main" id="{1ED2C8E8-E122-4441-94DF-DBE56D42C2DD}"/>
                </a:ext>
              </a:extLst>
            </p:cNvPr>
            <p:cNvSpPr>
              <a:spLocks noEditPoints="1" noChangeArrowheads="1"/>
            </p:cNvSpPr>
            <p:nvPr/>
          </p:nvSpPr>
          <p:spPr bwMode="auto">
            <a:xfrm>
              <a:off x="3003" y="9148"/>
              <a:ext cx="801" cy="8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7820 w 21600"/>
                <a:gd name="T13" fmla="*/ 2587 h 21600"/>
                <a:gd name="T14" fmla="*/ 16369 w 21600"/>
                <a:gd name="T15" fmla="*/ 11760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endParaRPr lang="en-GB"/>
            </a:p>
          </p:txBody>
        </p:sp>
        <p:sp>
          <p:nvSpPr>
            <p:cNvPr id="45071" name="AutoShape 16">
              <a:extLst>
                <a:ext uri="{FF2B5EF4-FFF2-40B4-BE49-F238E27FC236}">
                  <a16:creationId xmlns:a16="http://schemas.microsoft.com/office/drawing/2014/main" id="{F61E4E03-FF0E-174A-ADF6-3AB19F089D89}"/>
                </a:ext>
              </a:extLst>
            </p:cNvPr>
            <p:cNvSpPr>
              <a:spLocks noChangeArrowheads="1"/>
            </p:cNvSpPr>
            <p:nvPr/>
          </p:nvSpPr>
          <p:spPr bwMode="auto">
            <a:xfrm rot="-1831168">
              <a:off x="4193" y="9868"/>
              <a:ext cx="1377" cy="629"/>
            </a:xfrm>
            <a:prstGeom prst="leftArrow">
              <a:avLst>
                <a:gd name="adj1" fmla="val 50000"/>
                <a:gd name="adj2" fmla="val 54730"/>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endParaRPr lang="en-GB" altLang="en-US" sz="1800"/>
            </a:p>
          </p:txBody>
        </p:sp>
        <p:sp>
          <p:nvSpPr>
            <p:cNvPr id="45072" name="AutoShape 17">
              <a:extLst>
                <a:ext uri="{FF2B5EF4-FFF2-40B4-BE49-F238E27FC236}">
                  <a16:creationId xmlns:a16="http://schemas.microsoft.com/office/drawing/2014/main" id="{9A83215C-A4E5-1C4D-9982-469724F3DBB2}"/>
                </a:ext>
              </a:extLst>
            </p:cNvPr>
            <p:cNvSpPr>
              <a:spLocks noChangeArrowheads="1"/>
            </p:cNvSpPr>
            <p:nvPr/>
          </p:nvSpPr>
          <p:spPr bwMode="auto">
            <a:xfrm rot="-7433464">
              <a:off x="6385" y="9988"/>
              <a:ext cx="1237" cy="569"/>
            </a:xfrm>
            <a:prstGeom prst="leftArrow">
              <a:avLst>
                <a:gd name="adj1" fmla="val 50000"/>
                <a:gd name="adj2" fmla="val 54350"/>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endParaRPr lang="en-GB" altLang="en-US" sz="1800"/>
            </a:p>
          </p:txBody>
        </p:sp>
        <p:sp>
          <p:nvSpPr>
            <p:cNvPr id="45073" name="Text Box 18">
              <a:extLst>
                <a:ext uri="{FF2B5EF4-FFF2-40B4-BE49-F238E27FC236}">
                  <a16:creationId xmlns:a16="http://schemas.microsoft.com/office/drawing/2014/main" id="{A2568E50-E7C7-F147-944C-45E1891FD772}"/>
                </a:ext>
              </a:extLst>
            </p:cNvPr>
            <p:cNvSpPr txBox="1">
              <a:spLocks noChangeArrowheads="1"/>
            </p:cNvSpPr>
            <p:nvPr/>
          </p:nvSpPr>
          <p:spPr bwMode="auto">
            <a:xfrm>
              <a:off x="3751" y="9169"/>
              <a:ext cx="1515"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900" i="1">
                  <a:latin typeface="Arial Narrow" panose="020B0604020202020204" pitchFamily="34" charset="0"/>
                </a:rPr>
                <a:t>Scale-out: Application replicated on different machines</a:t>
              </a:r>
              <a:endParaRPr lang="en-US" altLang="en-US" sz="1800"/>
            </a:p>
          </p:txBody>
        </p:sp>
        <p:sp>
          <p:nvSpPr>
            <p:cNvPr id="45074" name="Text Box 19">
              <a:extLst>
                <a:ext uri="{FF2B5EF4-FFF2-40B4-BE49-F238E27FC236}">
                  <a16:creationId xmlns:a16="http://schemas.microsoft.com/office/drawing/2014/main" id="{F89CEA74-2009-FA42-8726-BB7A1628143E}"/>
                </a:ext>
              </a:extLst>
            </p:cNvPr>
            <p:cNvSpPr txBox="1">
              <a:spLocks noChangeArrowheads="1"/>
            </p:cNvSpPr>
            <p:nvPr/>
          </p:nvSpPr>
          <p:spPr bwMode="auto">
            <a:xfrm>
              <a:off x="6930" y="8374"/>
              <a:ext cx="1473" cy="1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900" i="1">
                  <a:latin typeface="Arial Narrow" panose="020B0604020202020204" pitchFamily="34" charset="0"/>
                </a:rPr>
                <a:t>Scale-up: </a:t>
              </a:r>
            </a:p>
            <a:p>
              <a:pPr eaLnBrk="1" hangingPunct="1">
                <a:spcBef>
                  <a:spcPct val="0"/>
                </a:spcBef>
                <a:buClrTx/>
                <a:buSzTx/>
                <a:buFontTx/>
                <a:buNone/>
              </a:pPr>
              <a:r>
                <a:rPr lang="en-US" altLang="en-US" sz="900" i="1">
                  <a:latin typeface="Arial Narrow" panose="020B0604020202020204" pitchFamily="34" charset="0"/>
                </a:rPr>
                <a:t>Single application instance is executed on a multiprocessor machine</a:t>
              </a:r>
              <a:endParaRPr lang="en-US" altLang="en-US" sz="1800"/>
            </a:p>
          </p:txBody>
        </p:sp>
        <p:sp>
          <p:nvSpPr>
            <p:cNvPr id="45075" name="AutoShape 20">
              <a:extLst>
                <a:ext uri="{FF2B5EF4-FFF2-40B4-BE49-F238E27FC236}">
                  <a16:creationId xmlns:a16="http://schemas.microsoft.com/office/drawing/2014/main" id="{BC5DEF16-27DE-484B-813C-062BAA7D0688}"/>
                </a:ext>
              </a:extLst>
            </p:cNvPr>
            <p:cNvSpPr>
              <a:spLocks noChangeArrowheads="1"/>
            </p:cNvSpPr>
            <p:nvPr/>
          </p:nvSpPr>
          <p:spPr bwMode="auto">
            <a:xfrm>
              <a:off x="9302" y="11482"/>
              <a:ext cx="379" cy="433"/>
            </a:xfrm>
            <a:prstGeom prst="flowChartMultidocumen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45076" name="Rectangle 21">
              <a:extLst>
                <a:ext uri="{FF2B5EF4-FFF2-40B4-BE49-F238E27FC236}">
                  <a16:creationId xmlns:a16="http://schemas.microsoft.com/office/drawing/2014/main" id="{EF114DC1-AB20-674A-A7F6-434E12B4940A}"/>
                </a:ext>
              </a:extLst>
            </p:cNvPr>
            <p:cNvSpPr>
              <a:spLocks noChangeArrowheads="1"/>
            </p:cNvSpPr>
            <p:nvPr/>
          </p:nvSpPr>
          <p:spPr bwMode="auto">
            <a:xfrm>
              <a:off x="7456" y="10723"/>
              <a:ext cx="526" cy="43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82296" tIns="41148" rIns="82296" bIns="41148"/>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CA" altLang="en-US"/>
            </a:p>
          </p:txBody>
        </p:sp>
        <p:sp>
          <p:nvSpPr>
            <p:cNvPr id="45077" name="Rectangle 22">
              <a:extLst>
                <a:ext uri="{FF2B5EF4-FFF2-40B4-BE49-F238E27FC236}">
                  <a16:creationId xmlns:a16="http://schemas.microsoft.com/office/drawing/2014/main" id="{76CEE754-B9A6-C843-9964-1D6323278183}"/>
                </a:ext>
              </a:extLst>
            </p:cNvPr>
            <p:cNvSpPr>
              <a:spLocks noChangeArrowheads="1"/>
            </p:cNvSpPr>
            <p:nvPr/>
          </p:nvSpPr>
          <p:spPr bwMode="auto">
            <a:xfrm>
              <a:off x="7551" y="10866"/>
              <a:ext cx="536" cy="432"/>
            </a:xfrm>
            <a:prstGeom prst="rect">
              <a:avLst/>
            </a:prstGeom>
            <a:solidFill>
              <a:srgbClr val="FFFFFF"/>
            </a:solidFill>
            <a:ln w="9525">
              <a:solidFill>
                <a:srgbClr val="000000"/>
              </a:solidFill>
              <a:miter lim="800000"/>
              <a:headEnd/>
              <a:tailEnd/>
            </a:ln>
          </p:spPr>
          <p:txBody>
            <a:bodyPr lIns="82296" tIns="41148" rIns="82296" bIns="41148"/>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CA" altLang="en-US"/>
            </a:p>
          </p:txBody>
        </p:sp>
        <p:sp>
          <p:nvSpPr>
            <p:cNvPr id="45078" name="Rectangle 23">
              <a:extLst>
                <a:ext uri="{FF2B5EF4-FFF2-40B4-BE49-F238E27FC236}">
                  <a16:creationId xmlns:a16="http://schemas.microsoft.com/office/drawing/2014/main" id="{908F2392-6DAF-F048-8CFA-DB453D39EB8C}"/>
                </a:ext>
              </a:extLst>
            </p:cNvPr>
            <p:cNvSpPr>
              <a:spLocks noChangeArrowheads="1"/>
            </p:cNvSpPr>
            <p:nvPr/>
          </p:nvSpPr>
          <p:spPr bwMode="auto">
            <a:xfrm>
              <a:off x="7644" y="11010"/>
              <a:ext cx="550" cy="430"/>
            </a:xfrm>
            <a:prstGeom prst="rect">
              <a:avLst/>
            </a:prstGeom>
            <a:solidFill>
              <a:srgbClr val="FFFFFF"/>
            </a:solidFill>
            <a:ln w="9525">
              <a:solidFill>
                <a:srgbClr val="000000"/>
              </a:solidFill>
              <a:miter lim="800000"/>
              <a:headEnd/>
              <a:tailEnd/>
            </a:ln>
          </p:spPr>
          <p:txBody>
            <a:bodyPr lIns="82296" tIns="41148" rIns="82296" bIns="41148"/>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900"/>
                <a:t>CPU</a:t>
              </a:r>
              <a:endParaRPr lang="en-US" altLang="en-US"/>
            </a:p>
          </p:txBody>
        </p:sp>
      </p:grpSp>
    </p:spTree>
    <p:extLst>
      <p:ext uri="{BB962C8B-B14F-4D97-AF65-F5344CB8AC3E}">
        <p14:creationId xmlns:p14="http://schemas.microsoft.com/office/powerpoint/2010/main" val="3097192135"/>
      </p:ext>
    </p:extLst>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Slide Number Placeholder 5">
            <a:extLst>
              <a:ext uri="{FF2B5EF4-FFF2-40B4-BE49-F238E27FC236}">
                <a16:creationId xmlns:a16="http://schemas.microsoft.com/office/drawing/2014/main" id="{F21058F9-729D-D34B-9935-5FC83011B044}"/>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EF0133F6-7F42-AA4A-BC66-16BA17132242}" type="slidenum">
              <a:rPr lang="en-US" altLang="en-US" sz="1200">
                <a:latin typeface="Garamond" panose="02020404030301010803" pitchFamily="18" charset="0"/>
              </a:rPr>
              <a:pPr>
                <a:spcBef>
                  <a:spcPct val="0"/>
                </a:spcBef>
                <a:buClrTx/>
                <a:buSzTx/>
                <a:buFontTx/>
                <a:buNone/>
              </a:pPr>
              <a:t>48</a:t>
            </a:fld>
            <a:endParaRPr lang="en-US" altLang="en-US" sz="1200">
              <a:latin typeface="Garamond" panose="02020404030301010803" pitchFamily="18" charset="0"/>
            </a:endParaRPr>
          </a:p>
        </p:txBody>
      </p:sp>
      <p:sp>
        <p:nvSpPr>
          <p:cNvPr id="307202" name="Rectangle 2">
            <a:extLst>
              <a:ext uri="{FF2B5EF4-FFF2-40B4-BE49-F238E27FC236}">
                <a16:creationId xmlns:a16="http://schemas.microsoft.com/office/drawing/2014/main" id="{3A2FC7D0-31DE-0846-9F75-6BB4E55BA2A9}"/>
              </a:ext>
            </a:extLst>
          </p:cNvPr>
          <p:cNvSpPr>
            <a:spLocks noGrp="1" noChangeArrowheads="1"/>
          </p:cNvSpPr>
          <p:nvPr>
            <p:ph type="title"/>
          </p:nvPr>
        </p:nvSpPr>
        <p:spPr/>
        <p:txBody>
          <a:bodyPr/>
          <a:lstStyle/>
          <a:p>
            <a:pPr eaLnBrk="1" hangingPunct="1">
              <a:defRPr/>
            </a:pPr>
            <a:r>
              <a:rPr lang="en-US" dirty="0">
                <a:cs typeface="+mj-cs"/>
              </a:rPr>
              <a:t>2. Scalability - connections</a:t>
            </a:r>
          </a:p>
        </p:txBody>
      </p:sp>
      <p:sp>
        <p:nvSpPr>
          <p:cNvPr id="48131" name="Rectangle 3">
            <a:extLst>
              <a:ext uri="{FF2B5EF4-FFF2-40B4-BE49-F238E27FC236}">
                <a16:creationId xmlns:a16="http://schemas.microsoft.com/office/drawing/2014/main" id="{0C2DD941-59C2-394C-8C3A-1E92E72670E8}"/>
              </a:ext>
            </a:extLst>
          </p:cNvPr>
          <p:cNvSpPr>
            <a:spLocks noGrp="1" noChangeArrowheads="1"/>
          </p:cNvSpPr>
          <p:nvPr>
            <p:ph type="body" idx="1"/>
          </p:nvPr>
        </p:nvSpPr>
        <p:spPr/>
        <p:txBody>
          <a:bodyPr/>
          <a:lstStyle/>
          <a:p>
            <a:pPr eaLnBrk="1" hangingPunct="1">
              <a:lnSpc>
                <a:spcPct val="90000"/>
              </a:lnSpc>
            </a:pPr>
            <a:r>
              <a:rPr lang="en-US" altLang="en-US" dirty="0"/>
              <a:t>What happens if number of simultaneous connections to an application increases</a:t>
            </a:r>
          </a:p>
          <a:p>
            <a:pPr lvl="1" eaLnBrk="1" hangingPunct="1">
              <a:lnSpc>
                <a:spcPct val="90000"/>
              </a:lnSpc>
            </a:pPr>
            <a:r>
              <a:rPr lang="en-US" altLang="en-US" dirty="0"/>
              <a:t>If each connection consumes a resource?</a:t>
            </a:r>
          </a:p>
          <a:p>
            <a:pPr lvl="1" eaLnBrk="1" hangingPunct="1">
              <a:lnSpc>
                <a:spcPct val="90000"/>
              </a:lnSpc>
            </a:pPr>
            <a:r>
              <a:rPr lang="en-US" altLang="en-US" dirty="0"/>
              <a:t>Exceed maximum number of connections?</a:t>
            </a:r>
          </a:p>
          <a:p>
            <a:pPr eaLnBrk="1" hangingPunct="1">
              <a:lnSpc>
                <a:spcPct val="90000"/>
              </a:lnSpc>
            </a:pPr>
            <a:r>
              <a:rPr lang="en-US" altLang="en-US" dirty="0"/>
              <a:t>ISP example:</a:t>
            </a:r>
          </a:p>
          <a:p>
            <a:pPr lvl="1" eaLnBrk="1" hangingPunct="1">
              <a:lnSpc>
                <a:spcPct val="90000"/>
              </a:lnSpc>
            </a:pPr>
            <a:r>
              <a:rPr lang="en-US" altLang="en-US" dirty="0"/>
              <a:t>Each user connection spawned a new process</a:t>
            </a:r>
          </a:p>
          <a:p>
            <a:pPr lvl="1" eaLnBrk="1" hangingPunct="1">
              <a:lnSpc>
                <a:spcPct val="90000"/>
              </a:lnSpc>
            </a:pPr>
            <a:r>
              <a:rPr lang="en-US" altLang="en-US" dirty="0"/>
              <a:t>Virtual memory on each server exceeded at 2000 users </a:t>
            </a:r>
          </a:p>
          <a:p>
            <a:pPr lvl="1" eaLnBrk="1" hangingPunct="1">
              <a:lnSpc>
                <a:spcPct val="90000"/>
              </a:lnSpc>
            </a:pPr>
            <a:r>
              <a:rPr lang="en-US" altLang="en-US" dirty="0"/>
              <a:t>Needed to support 100Ks of users</a:t>
            </a:r>
          </a:p>
          <a:p>
            <a:pPr lvl="1" eaLnBrk="1" hangingPunct="1">
              <a:lnSpc>
                <a:spcPct val="90000"/>
              </a:lnSpc>
            </a:pPr>
            <a:r>
              <a:rPr lang="en-US" altLang="en-US" dirty="0"/>
              <a:t>Tech crash ….</a:t>
            </a:r>
          </a:p>
        </p:txBody>
      </p:sp>
    </p:spTree>
    <p:extLst>
      <p:ext uri="{BB962C8B-B14F-4D97-AF65-F5344CB8AC3E}">
        <p14:creationId xmlns:p14="http://schemas.microsoft.com/office/powerpoint/2010/main" val="3443793472"/>
      </p:ext>
    </p:extLst>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Number Placeholder 5">
            <a:extLst>
              <a:ext uri="{FF2B5EF4-FFF2-40B4-BE49-F238E27FC236}">
                <a16:creationId xmlns:a16="http://schemas.microsoft.com/office/drawing/2014/main" id="{87573573-E4CC-9549-A526-123968022F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53C21384-2608-C845-BFA4-84D5F0D0A7F0}" type="slidenum">
              <a:rPr lang="en-US" altLang="en-US" sz="1200">
                <a:latin typeface="Garamond" panose="02020404030301010803" pitchFamily="18" charset="0"/>
              </a:rPr>
              <a:pPr>
                <a:spcBef>
                  <a:spcPct val="0"/>
                </a:spcBef>
                <a:buClrTx/>
                <a:buSzTx/>
                <a:buFontTx/>
                <a:buNone/>
              </a:pPr>
              <a:t>49</a:t>
            </a:fld>
            <a:endParaRPr lang="en-US" altLang="en-US" sz="1200">
              <a:latin typeface="Garamond" panose="02020404030301010803" pitchFamily="18" charset="0"/>
            </a:endParaRPr>
          </a:p>
        </p:txBody>
      </p:sp>
      <p:sp>
        <p:nvSpPr>
          <p:cNvPr id="49154" name="Rectangle 2">
            <a:extLst>
              <a:ext uri="{FF2B5EF4-FFF2-40B4-BE49-F238E27FC236}">
                <a16:creationId xmlns:a16="http://schemas.microsoft.com/office/drawing/2014/main" id="{9E582628-5EE0-1646-B2E4-D3C72B92C3FB}"/>
              </a:ext>
            </a:extLst>
          </p:cNvPr>
          <p:cNvSpPr>
            <a:spLocks noGrp="1" noChangeArrowheads="1"/>
          </p:cNvSpPr>
          <p:nvPr>
            <p:ph type="title"/>
          </p:nvPr>
        </p:nvSpPr>
        <p:spPr/>
        <p:txBody>
          <a:bodyPr/>
          <a:lstStyle/>
          <a:p>
            <a:pPr eaLnBrk="1" hangingPunct="1"/>
            <a:r>
              <a:rPr lang="en-US" altLang="en-US"/>
              <a:t>3. Scalability – Data Size</a:t>
            </a:r>
          </a:p>
        </p:txBody>
      </p:sp>
      <p:sp>
        <p:nvSpPr>
          <p:cNvPr id="308227" name="Rectangle 3">
            <a:extLst>
              <a:ext uri="{FF2B5EF4-FFF2-40B4-BE49-F238E27FC236}">
                <a16:creationId xmlns:a16="http://schemas.microsoft.com/office/drawing/2014/main" id="{704C2062-754A-8745-8E4D-5BF69B6E995A}"/>
              </a:ext>
            </a:extLst>
          </p:cNvPr>
          <p:cNvSpPr>
            <a:spLocks noGrp="1" noChangeArrowheads="1"/>
          </p:cNvSpPr>
          <p:nvPr>
            <p:ph type="body" idx="1"/>
          </p:nvPr>
        </p:nvSpPr>
        <p:spPr/>
        <p:txBody>
          <a:bodyPr/>
          <a:lstStyle/>
          <a:p>
            <a:pPr eaLnBrk="1" hangingPunct="1">
              <a:lnSpc>
                <a:spcPct val="90000"/>
              </a:lnSpc>
              <a:buFont typeface="Wingdings" charset="0"/>
              <a:buChar char="n"/>
              <a:defRPr/>
            </a:pPr>
            <a:r>
              <a:rPr lang="en-US">
                <a:cs typeface="+mn-cs"/>
              </a:rPr>
              <a:t>How does an application behave as the data it processes increases in size? </a:t>
            </a:r>
          </a:p>
          <a:p>
            <a:pPr lvl="1" eaLnBrk="1" hangingPunct="1">
              <a:lnSpc>
                <a:spcPct val="90000"/>
              </a:lnSpc>
              <a:buFont typeface="Wingdings" charset="0"/>
              <a:buChar char="q"/>
              <a:defRPr/>
            </a:pPr>
            <a:r>
              <a:rPr lang="en-US"/>
              <a:t>Chat application sees average message size double?</a:t>
            </a:r>
          </a:p>
          <a:p>
            <a:pPr lvl="1" eaLnBrk="1" hangingPunct="1">
              <a:lnSpc>
                <a:spcPct val="90000"/>
              </a:lnSpc>
              <a:buFont typeface="Wingdings" charset="0"/>
              <a:buChar char="q"/>
              <a:defRPr/>
            </a:pPr>
            <a:r>
              <a:rPr lang="en-US"/>
              <a:t>Database table size grows from 1 million to 20 million rows?</a:t>
            </a:r>
          </a:p>
          <a:p>
            <a:pPr lvl="1" eaLnBrk="1" hangingPunct="1">
              <a:lnSpc>
                <a:spcPct val="90000"/>
              </a:lnSpc>
              <a:buFont typeface="Wingdings" charset="0"/>
              <a:buChar char="q"/>
              <a:defRPr/>
            </a:pPr>
            <a:r>
              <a:rPr lang="en-US"/>
              <a:t>Image analysis algorithm processes images of 100MB instead of 1MB? </a:t>
            </a:r>
          </a:p>
          <a:p>
            <a:pPr eaLnBrk="1" hangingPunct="1">
              <a:lnSpc>
                <a:spcPct val="90000"/>
              </a:lnSpc>
              <a:buFont typeface="Wingdings" charset="0"/>
              <a:buChar char="n"/>
              <a:defRPr/>
            </a:pPr>
            <a:r>
              <a:rPr lang="en-US">
                <a:cs typeface="+mn-cs"/>
              </a:rPr>
              <a:t>Can application/algorithms scale to handle increased data requirements?</a:t>
            </a:r>
          </a:p>
          <a:p>
            <a:pPr eaLnBrk="1" hangingPunct="1">
              <a:lnSpc>
                <a:spcPct val="90000"/>
              </a:lnSpc>
              <a:buFont typeface="Wingdings" charset="0"/>
              <a:buChar char="n"/>
              <a:defRPr/>
            </a:pPr>
            <a:endParaRPr lang="en-US">
              <a:cs typeface="+mn-cs"/>
            </a:endParaRPr>
          </a:p>
        </p:txBody>
      </p:sp>
    </p:spTree>
    <p:extLst>
      <p:ext uri="{BB962C8B-B14F-4D97-AF65-F5344CB8AC3E}">
        <p14:creationId xmlns:p14="http://schemas.microsoft.com/office/powerpoint/2010/main" val="1539470265"/>
      </p:ext>
    </p:extLst>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Slide Number Placeholder 5">
            <a:extLst>
              <a:ext uri="{FF2B5EF4-FFF2-40B4-BE49-F238E27FC236}">
                <a16:creationId xmlns:a16="http://schemas.microsoft.com/office/drawing/2014/main" id="{5EB436CF-92AF-9D48-95C4-F1BE59002BF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A5E5050D-8C06-8648-84F4-92DD41C707A0}" type="slidenum">
              <a:rPr lang="en-US" altLang="en-US" sz="1200">
                <a:latin typeface="Garamond" panose="02020404030301010803" pitchFamily="18" charset="0"/>
              </a:rPr>
              <a:pPr>
                <a:spcBef>
                  <a:spcPct val="0"/>
                </a:spcBef>
                <a:buClrTx/>
                <a:buSzTx/>
                <a:buFontTx/>
                <a:buNone/>
              </a:pPr>
              <a:t>50</a:t>
            </a:fld>
            <a:endParaRPr lang="en-US" altLang="en-US" sz="1200">
              <a:latin typeface="Garamond" panose="02020404030301010803" pitchFamily="18" charset="0"/>
            </a:endParaRPr>
          </a:p>
        </p:txBody>
      </p:sp>
      <p:sp>
        <p:nvSpPr>
          <p:cNvPr id="309250" name="Rectangle 2">
            <a:extLst>
              <a:ext uri="{FF2B5EF4-FFF2-40B4-BE49-F238E27FC236}">
                <a16:creationId xmlns:a16="http://schemas.microsoft.com/office/drawing/2014/main" id="{D2076BC6-5460-7B4D-96D9-ECA1F152F724}"/>
              </a:ext>
            </a:extLst>
          </p:cNvPr>
          <p:cNvSpPr>
            <a:spLocks noGrp="1" noChangeArrowheads="1"/>
          </p:cNvSpPr>
          <p:nvPr>
            <p:ph type="title"/>
          </p:nvPr>
        </p:nvSpPr>
        <p:spPr/>
        <p:txBody>
          <a:bodyPr/>
          <a:lstStyle/>
          <a:p>
            <a:pPr eaLnBrk="1" hangingPunct="1">
              <a:defRPr/>
            </a:pPr>
            <a:r>
              <a:rPr lang="en-US" dirty="0">
                <a:cs typeface="+mj-cs"/>
              </a:rPr>
              <a:t>4. Scalability - Deployment</a:t>
            </a:r>
          </a:p>
        </p:txBody>
      </p:sp>
      <p:sp>
        <p:nvSpPr>
          <p:cNvPr id="309251" name="Rectangle 3">
            <a:extLst>
              <a:ext uri="{FF2B5EF4-FFF2-40B4-BE49-F238E27FC236}">
                <a16:creationId xmlns:a16="http://schemas.microsoft.com/office/drawing/2014/main" id="{B4611DAD-C9A4-D144-A01C-87F53DBA6854}"/>
              </a:ext>
            </a:extLst>
          </p:cNvPr>
          <p:cNvSpPr>
            <a:spLocks noGrp="1" noChangeArrowheads="1"/>
          </p:cNvSpPr>
          <p:nvPr>
            <p:ph type="body" idx="1"/>
          </p:nvPr>
        </p:nvSpPr>
        <p:spPr/>
        <p:txBody>
          <a:bodyPr/>
          <a:lstStyle/>
          <a:p>
            <a:pPr eaLnBrk="1" hangingPunct="1">
              <a:buFont typeface="Wingdings" charset="0"/>
              <a:buChar char="n"/>
              <a:defRPr/>
            </a:pPr>
            <a:r>
              <a:rPr lang="en-US">
                <a:cs typeface="+mn-cs"/>
              </a:rPr>
              <a:t>How does effort to install/deploy an application increase as installation base grows?</a:t>
            </a:r>
          </a:p>
          <a:p>
            <a:pPr lvl="1" eaLnBrk="1" hangingPunct="1">
              <a:buFont typeface="Wingdings" charset="0"/>
              <a:buChar char="q"/>
              <a:defRPr/>
            </a:pPr>
            <a:r>
              <a:rPr lang="en-US"/>
              <a:t>Install new users?</a:t>
            </a:r>
          </a:p>
          <a:p>
            <a:pPr lvl="1" eaLnBrk="1" hangingPunct="1">
              <a:buFont typeface="Wingdings" charset="0"/>
              <a:buChar char="q"/>
              <a:defRPr/>
            </a:pPr>
            <a:r>
              <a:rPr lang="en-US"/>
              <a:t>Install new servers?</a:t>
            </a:r>
          </a:p>
          <a:p>
            <a:pPr eaLnBrk="1" hangingPunct="1">
              <a:buFont typeface="Wingdings" charset="0"/>
              <a:buChar char="n"/>
              <a:defRPr/>
            </a:pPr>
            <a:r>
              <a:rPr lang="en-US">
                <a:cs typeface="+mn-cs"/>
              </a:rPr>
              <a:t>Solutions typically revolve around automatic download/installation</a:t>
            </a:r>
          </a:p>
          <a:p>
            <a:pPr lvl="1" eaLnBrk="1" hangingPunct="1">
              <a:buFont typeface="Wingdings" charset="0"/>
              <a:buChar char="q"/>
              <a:defRPr/>
            </a:pPr>
            <a:r>
              <a:rPr lang="en-US"/>
              <a:t>E.g. downloading applications from the Internet</a:t>
            </a:r>
          </a:p>
        </p:txBody>
      </p:sp>
    </p:spTree>
    <p:extLst>
      <p:ext uri="{BB962C8B-B14F-4D97-AF65-F5344CB8AC3E}">
        <p14:creationId xmlns:p14="http://schemas.microsoft.com/office/powerpoint/2010/main" val="3412628494"/>
      </p:ext>
    </p:extLst>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a:extLst>
              <a:ext uri="{FF2B5EF4-FFF2-40B4-BE49-F238E27FC236}">
                <a16:creationId xmlns:a16="http://schemas.microsoft.com/office/drawing/2014/main" id="{54F2DAB4-E486-BD4A-A3FA-D6BD2E23AF90}"/>
              </a:ext>
            </a:extLst>
          </p:cNvPr>
          <p:cNvSpPr>
            <a:spLocks noGrp="1" noChangeArrowheads="1"/>
          </p:cNvSpPr>
          <p:nvPr>
            <p:ph type="title"/>
          </p:nvPr>
        </p:nvSpPr>
        <p:spPr>
          <a:xfrm>
            <a:off x="457200" y="274638"/>
            <a:ext cx="7293232" cy="1143000"/>
          </a:xfrm>
        </p:spPr>
        <p:txBody>
          <a:bodyPr wrap="square" anchor="ctr">
            <a:normAutofit/>
          </a:bodyPr>
          <a:lstStyle/>
          <a:p>
            <a:pPr eaLnBrk="1" hangingPunct="1">
              <a:defRPr/>
            </a:pPr>
            <a:r>
              <a:rPr lang="en-US" b="1"/>
              <a:t>Security</a:t>
            </a:r>
          </a:p>
        </p:txBody>
      </p:sp>
      <p:sp>
        <p:nvSpPr>
          <p:cNvPr id="136" name="Date Placeholder 3">
            <a:extLst>
              <a:ext uri="{FF2B5EF4-FFF2-40B4-BE49-F238E27FC236}">
                <a16:creationId xmlns:a16="http://schemas.microsoft.com/office/drawing/2014/main" id="{AD1A8ABE-6127-4E32-9D3A-B6EAC6A2006E}"/>
              </a:ext>
            </a:extLst>
          </p:cNvPr>
          <p:cNvSpPr>
            <a:spLocks noGrp="1"/>
          </p:cNvSpPr>
          <p:nvPr>
            <p:ph type="dt" sz="half" idx="10"/>
          </p:nvPr>
        </p:nvSpPr>
        <p:spPr>
          <a:xfrm>
            <a:off x="457200" y="6356350"/>
            <a:ext cx="2133600" cy="365125"/>
          </a:xfrm>
        </p:spPr>
        <p:txBody>
          <a:bodyPr/>
          <a:lstStyle/>
          <a:p>
            <a:pPr>
              <a:spcAft>
                <a:spcPts val="600"/>
              </a:spcAft>
            </a:pPr>
            <a:fld id="{1EC4D177-3FD8-1541-B11E-1C53E75416D7}" type="datetime1">
              <a:rPr lang="en-GB" smtClean="0"/>
              <a:pPr>
                <a:spcAft>
                  <a:spcPts val="600"/>
                </a:spcAft>
              </a:pPr>
              <a:t>20/12/2021</a:t>
            </a:fld>
            <a:endParaRPr lang="en-US"/>
          </a:p>
        </p:txBody>
      </p:sp>
      <p:sp>
        <p:nvSpPr>
          <p:cNvPr id="138" name="Footer Placeholder 4">
            <a:extLst>
              <a:ext uri="{FF2B5EF4-FFF2-40B4-BE49-F238E27FC236}">
                <a16:creationId xmlns:a16="http://schemas.microsoft.com/office/drawing/2014/main" id="{14D555DA-E8C0-416D-90E2-042DCB522A00}"/>
              </a:ext>
            </a:extLst>
          </p:cNvPr>
          <p:cNvSpPr>
            <a:spLocks noGrp="1"/>
          </p:cNvSpPr>
          <p:nvPr>
            <p:ph type="ftr" sz="quarter" idx="11"/>
          </p:nvPr>
        </p:nvSpPr>
        <p:spPr>
          <a:xfrm>
            <a:off x="3124200" y="6356350"/>
            <a:ext cx="2895600" cy="365125"/>
          </a:xfrm>
        </p:spPr>
        <p:txBody>
          <a:bodyPr/>
          <a:lstStyle/>
          <a:p>
            <a:pPr>
              <a:spcAft>
                <a:spcPts val="600"/>
              </a:spcAft>
            </a:pPr>
            <a:r>
              <a:rPr lang="en-US"/>
              <a:t>Chapter 6 Architectural Design</a:t>
            </a:r>
          </a:p>
        </p:txBody>
      </p:sp>
      <p:sp>
        <p:nvSpPr>
          <p:cNvPr id="56321" name="Slide Number Placeholder 5">
            <a:extLst>
              <a:ext uri="{FF2B5EF4-FFF2-40B4-BE49-F238E27FC236}">
                <a16:creationId xmlns:a16="http://schemas.microsoft.com/office/drawing/2014/main" id="{1452FFCD-3903-0C4E-9408-001D8648A9C7}"/>
              </a:ext>
            </a:extLst>
          </p:cNvPr>
          <p:cNvSpPr>
            <a:spLocks noGrp="1"/>
          </p:cNvSpPr>
          <p:nvPr>
            <p:ph type="sldNum" sz="quarter" idx="12"/>
          </p:nvPr>
        </p:nvSpPr>
        <p:spPr>
          <a:xfrm>
            <a:off x="6553200" y="6356350"/>
            <a:ext cx="21336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spcAft>
                <a:spcPts val="600"/>
              </a:spcAft>
              <a:buClrTx/>
              <a:buSzTx/>
              <a:buFontTx/>
              <a:buNone/>
            </a:pPr>
            <a:fld id="{6BAD4B04-2A83-A246-AEB9-11FC9E13371E}" type="slidenum">
              <a:rPr lang="en-US" altLang="en-US" sz="1200">
                <a:solidFill>
                  <a:schemeClr val="tx1">
                    <a:tint val="75000"/>
                  </a:schemeClr>
                </a:solidFill>
              </a:rPr>
              <a:pPr>
                <a:spcBef>
                  <a:spcPct val="0"/>
                </a:spcBef>
                <a:spcAft>
                  <a:spcPts val="600"/>
                </a:spcAft>
                <a:buClrTx/>
                <a:buSzTx/>
                <a:buFontTx/>
                <a:buNone/>
              </a:pPr>
              <a:t>51</a:t>
            </a:fld>
            <a:endParaRPr lang="en-US" altLang="en-US" sz="1200">
              <a:solidFill>
                <a:schemeClr val="tx1">
                  <a:tint val="75000"/>
                </a:schemeClr>
              </a:solidFill>
            </a:endParaRPr>
          </a:p>
        </p:txBody>
      </p:sp>
      <p:graphicFrame>
        <p:nvGraphicFramePr>
          <p:cNvPr id="318468" name="Rectangle 3">
            <a:extLst>
              <a:ext uri="{FF2B5EF4-FFF2-40B4-BE49-F238E27FC236}">
                <a16:creationId xmlns:a16="http://schemas.microsoft.com/office/drawing/2014/main" id="{97D0D86C-6D27-46FF-85C7-E59368F2F421}"/>
              </a:ext>
            </a:extLst>
          </p:cNvPr>
          <p:cNvGraphicFramePr/>
          <p:nvPr>
            <p:extLst>
              <p:ext uri="{D42A27DB-BD31-4B8C-83A1-F6EECF244321}">
                <p14:modId xmlns:p14="http://schemas.microsoft.com/office/powerpoint/2010/main" val="3384363916"/>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2468917"/>
      </p:ext>
    </p:extLst>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2">
            <a:extLst>
              <a:ext uri="{FF2B5EF4-FFF2-40B4-BE49-F238E27FC236}">
                <a16:creationId xmlns:a16="http://schemas.microsoft.com/office/drawing/2014/main" id="{2C298CB0-BF23-CD49-88E1-A155EE134CA9}"/>
              </a:ext>
            </a:extLst>
          </p:cNvPr>
          <p:cNvSpPr>
            <a:spLocks noGrp="1" noChangeArrowheads="1"/>
          </p:cNvSpPr>
          <p:nvPr>
            <p:ph type="title"/>
          </p:nvPr>
        </p:nvSpPr>
        <p:spPr>
          <a:xfrm>
            <a:off x="457200" y="274638"/>
            <a:ext cx="7293232" cy="1143000"/>
          </a:xfrm>
        </p:spPr>
        <p:txBody>
          <a:bodyPr wrap="square" anchor="ctr">
            <a:normAutofit/>
          </a:bodyPr>
          <a:lstStyle/>
          <a:p>
            <a:pPr eaLnBrk="1" hangingPunct="1">
              <a:defRPr/>
            </a:pPr>
            <a:r>
              <a:rPr lang="en-US" dirty="0"/>
              <a:t>Security (cont.)</a:t>
            </a:r>
          </a:p>
        </p:txBody>
      </p:sp>
      <p:sp>
        <p:nvSpPr>
          <p:cNvPr id="137" name="Date Placeholder 3">
            <a:extLst>
              <a:ext uri="{FF2B5EF4-FFF2-40B4-BE49-F238E27FC236}">
                <a16:creationId xmlns:a16="http://schemas.microsoft.com/office/drawing/2014/main" id="{8011FADA-2B93-44F7-A35B-399B8A827EAF}"/>
              </a:ext>
            </a:extLst>
          </p:cNvPr>
          <p:cNvSpPr>
            <a:spLocks noGrp="1"/>
          </p:cNvSpPr>
          <p:nvPr>
            <p:ph type="dt" sz="half" idx="10"/>
          </p:nvPr>
        </p:nvSpPr>
        <p:spPr>
          <a:xfrm>
            <a:off x="457200" y="6356350"/>
            <a:ext cx="2133600" cy="365125"/>
          </a:xfrm>
        </p:spPr>
        <p:txBody>
          <a:bodyPr/>
          <a:lstStyle/>
          <a:p>
            <a:pPr>
              <a:spcAft>
                <a:spcPts val="600"/>
              </a:spcAft>
            </a:pPr>
            <a:fld id="{1EC4D177-3FD8-1541-B11E-1C53E75416D7}" type="datetime1">
              <a:rPr lang="en-GB" smtClean="0"/>
              <a:pPr>
                <a:spcAft>
                  <a:spcPts val="600"/>
                </a:spcAft>
              </a:pPr>
              <a:t>20/12/2021</a:t>
            </a:fld>
            <a:endParaRPr lang="en-US"/>
          </a:p>
        </p:txBody>
      </p:sp>
      <p:sp>
        <p:nvSpPr>
          <p:cNvPr id="139" name="Footer Placeholder 4">
            <a:extLst>
              <a:ext uri="{FF2B5EF4-FFF2-40B4-BE49-F238E27FC236}">
                <a16:creationId xmlns:a16="http://schemas.microsoft.com/office/drawing/2014/main" id="{D1D7F61E-16DC-4205-B9D7-46AF46E1757D}"/>
              </a:ext>
            </a:extLst>
          </p:cNvPr>
          <p:cNvSpPr>
            <a:spLocks noGrp="1"/>
          </p:cNvSpPr>
          <p:nvPr>
            <p:ph type="ftr" sz="quarter" idx="11"/>
          </p:nvPr>
        </p:nvSpPr>
        <p:spPr>
          <a:xfrm>
            <a:off x="3124200" y="6356350"/>
            <a:ext cx="2895600" cy="365125"/>
          </a:xfrm>
        </p:spPr>
        <p:txBody>
          <a:bodyPr/>
          <a:lstStyle/>
          <a:p>
            <a:pPr>
              <a:spcAft>
                <a:spcPts val="600"/>
              </a:spcAft>
            </a:pPr>
            <a:r>
              <a:rPr lang="en-US"/>
              <a:t>Chapter 6 Architectural Design</a:t>
            </a:r>
          </a:p>
        </p:txBody>
      </p:sp>
      <p:sp>
        <p:nvSpPr>
          <p:cNvPr id="57345" name="Slide Number Placeholder 5">
            <a:extLst>
              <a:ext uri="{FF2B5EF4-FFF2-40B4-BE49-F238E27FC236}">
                <a16:creationId xmlns:a16="http://schemas.microsoft.com/office/drawing/2014/main" id="{DD6FB910-FA57-9E40-AE6B-AB84B6A27D78}"/>
              </a:ext>
            </a:extLst>
          </p:cNvPr>
          <p:cNvSpPr>
            <a:spLocks noGrp="1"/>
          </p:cNvSpPr>
          <p:nvPr>
            <p:ph type="sldNum" sz="quarter" idx="12"/>
          </p:nvPr>
        </p:nvSpPr>
        <p:spPr>
          <a:xfrm>
            <a:off x="6553200" y="6356350"/>
            <a:ext cx="21336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spcAft>
                <a:spcPts val="600"/>
              </a:spcAft>
              <a:buClrTx/>
              <a:buSzTx/>
              <a:buFontTx/>
              <a:buNone/>
            </a:pPr>
            <a:fld id="{F4EF6B26-0E08-9548-B47F-1D77387B9556}" type="slidenum">
              <a:rPr lang="en-US" altLang="en-US" sz="1200">
                <a:solidFill>
                  <a:schemeClr val="tx1">
                    <a:tint val="75000"/>
                  </a:schemeClr>
                </a:solidFill>
              </a:rPr>
              <a:pPr>
                <a:spcBef>
                  <a:spcPct val="0"/>
                </a:spcBef>
                <a:spcAft>
                  <a:spcPts val="600"/>
                </a:spcAft>
                <a:buClrTx/>
                <a:buSzTx/>
                <a:buFontTx/>
                <a:buNone/>
              </a:pPr>
              <a:t>52</a:t>
            </a:fld>
            <a:endParaRPr lang="en-US" altLang="en-US" sz="1200">
              <a:solidFill>
                <a:schemeClr val="tx1">
                  <a:tint val="75000"/>
                </a:schemeClr>
              </a:solidFill>
            </a:endParaRPr>
          </a:p>
        </p:txBody>
      </p:sp>
      <p:graphicFrame>
        <p:nvGraphicFramePr>
          <p:cNvPr id="319492" name="Rectangle 3">
            <a:extLst>
              <a:ext uri="{FF2B5EF4-FFF2-40B4-BE49-F238E27FC236}">
                <a16:creationId xmlns:a16="http://schemas.microsoft.com/office/drawing/2014/main" id="{29D2FAA8-E5A7-42EA-BD13-6704E1E3DF28}"/>
              </a:ext>
            </a:extLst>
          </p:cNvPr>
          <p:cNvGraphicFramePr/>
          <p:nvPr>
            <p:extLst>
              <p:ext uri="{D42A27DB-BD31-4B8C-83A1-F6EECF244321}">
                <p14:modId xmlns:p14="http://schemas.microsoft.com/office/powerpoint/2010/main" val="702882879"/>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70402946"/>
      </p:ext>
    </p:extLst>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Slide Number Placeholder 5">
            <a:extLst>
              <a:ext uri="{FF2B5EF4-FFF2-40B4-BE49-F238E27FC236}">
                <a16:creationId xmlns:a16="http://schemas.microsoft.com/office/drawing/2014/main" id="{A85E8BF1-E10D-1949-A382-805FF64E3485}"/>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EE5C6E41-5296-9943-AA6E-288F1593F094}" type="slidenum">
              <a:rPr lang="en-US" altLang="en-US" sz="1200">
                <a:latin typeface="Garamond" panose="02020404030301010803" pitchFamily="18" charset="0"/>
              </a:rPr>
              <a:pPr>
                <a:spcBef>
                  <a:spcPct val="0"/>
                </a:spcBef>
                <a:buClrTx/>
                <a:buSzTx/>
                <a:buFontTx/>
                <a:buNone/>
              </a:pPr>
              <a:t>53</a:t>
            </a:fld>
            <a:endParaRPr lang="en-US" altLang="en-US" sz="1200">
              <a:latin typeface="Garamond" panose="02020404030301010803" pitchFamily="18" charset="0"/>
            </a:endParaRPr>
          </a:p>
        </p:txBody>
      </p:sp>
      <p:sp>
        <p:nvSpPr>
          <p:cNvPr id="320514" name="Rectangle 2">
            <a:extLst>
              <a:ext uri="{FF2B5EF4-FFF2-40B4-BE49-F238E27FC236}">
                <a16:creationId xmlns:a16="http://schemas.microsoft.com/office/drawing/2014/main" id="{D312F46F-7A1E-B943-A984-409CA64096CF}"/>
              </a:ext>
            </a:extLst>
          </p:cNvPr>
          <p:cNvSpPr>
            <a:spLocks noGrp="1" noChangeArrowheads="1"/>
          </p:cNvSpPr>
          <p:nvPr>
            <p:ph type="title"/>
          </p:nvPr>
        </p:nvSpPr>
        <p:spPr/>
        <p:txBody>
          <a:bodyPr/>
          <a:lstStyle/>
          <a:p>
            <a:pPr eaLnBrk="1" hangingPunct="1">
              <a:defRPr/>
            </a:pPr>
            <a:r>
              <a:rPr lang="en-US">
                <a:cs typeface="+mj-cs"/>
              </a:rPr>
              <a:t>Security Approaches</a:t>
            </a:r>
          </a:p>
        </p:txBody>
      </p:sp>
      <p:sp>
        <p:nvSpPr>
          <p:cNvPr id="58371" name="Rectangle 3">
            <a:extLst>
              <a:ext uri="{FF2B5EF4-FFF2-40B4-BE49-F238E27FC236}">
                <a16:creationId xmlns:a16="http://schemas.microsoft.com/office/drawing/2014/main" id="{1C0F4A2C-8C5F-FF48-B55E-68D82B03A818}"/>
              </a:ext>
            </a:extLst>
          </p:cNvPr>
          <p:cNvSpPr>
            <a:spLocks noGrp="1" noChangeArrowheads="1"/>
          </p:cNvSpPr>
          <p:nvPr>
            <p:ph type="body" idx="1"/>
          </p:nvPr>
        </p:nvSpPr>
        <p:spPr/>
        <p:txBody>
          <a:bodyPr/>
          <a:lstStyle/>
          <a:p>
            <a:pPr eaLnBrk="1" hangingPunct="1"/>
            <a:r>
              <a:rPr lang="en-US" altLang="en-US"/>
              <a:t>SSL – Secure Sockets Layer</a:t>
            </a:r>
          </a:p>
          <a:p>
            <a:pPr eaLnBrk="1" hangingPunct="1"/>
            <a:r>
              <a:rPr lang="en-US" altLang="en-US"/>
              <a:t>PKI – Public Key Infrastructure</a:t>
            </a:r>
          </a:p>
          <a:p>
            <a:pPr eaLnBrk="1" hangingPunct="1"/>
            <a:r>
              <a:rPr lang="en-US" altLang="en-US"/>
              <a:t>Web Services security</a:t>
            </a:r>
          </a:p>
          <a:p>
            <a:pPr eaLnBrk="1" hangingPunct="1"/>
            <a:r>
              <a:rPr lang="en-US" altLang="en-US"/>
              <a:t>JAAS – Java Authentication and Authorization Service</a:t>
            </a:r>
          </a:p>
          <a:p>
            <a:pPr eaLnBrk="1" hangingPunct="1"/>
            <a:r>
              <a:rPr lang="en-US" altLang="en-US"/>
              <a:t>Operating system security</a:t>
            </a:r>
          </a:p>
          <a:p>
            <a:pPr eaLnBrk="1" hangingPunct="1"/>
            <a:r>
              <a:rPr lang="en-US" altLang="en-US"/>
              <a:t>Database security</a:t>
            </a:r>
          </a:p>
          <a:p>
            <a:pPr eaLnBrk="1" hangingPunct="1"/>
            <a:r>
              <a:rPr lang="en-US" altLang="en-US"/>
              <a:t>Etc</a:t>
            </a:r>
          </a:p>
        </p:txBody>
      </p:sp>
      <p:pic>
        <p:nvPicPr>
          <p:cNvPr id="1030" name="Picture 6" descr="Types of Encryption: 5 Encryption Algorithms &amp;amp; How to Choose the Right One  - Hashed Out by The SSL Store™">
            <a:extLst>
              <a:ext uri="{FF2B5EF4-FFF2-40B4-BE49-F238E27FC236}">
                <a16:creationId xmlns:a16="http://schemas.microsoft.com/office/drawing/2014/main" id="{A71B09D6-D883-054E-AD15-802088381D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5178" y="4267200"/>
            <a:ext cx="4564178" cy="2316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0962291"/>
      </p:ext>
    </p:extLst>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2">
            <a:extLst>
              <a:ext uri="{FF2B5EF4-FFF2-40B4-BE49-F238E27FC236}">
                <a16:creationId xmlns:a16="http://schemas.microsoft.com/office/drawing/2014/main" id="{0213868B-5444-A34C-8513-A78118F12065}"/>
              </a:ext>
            </a:extLst>
          </p:cNvPr>
          <p:cNvSpPr>
            <a:spLocks noGrp="1" noChangeArrowheads="1"/>
          </p:cNvSpPr>
          <p:nvPr>
            <p:ph type="title"/>
          </p:nvPr>
        </p:nvSpPr>
        <p:spPr>
          <a:xfrm>
            <a:off x="457200" y="274638"/>
            <a:ext cx="7293232" cy="1143000"/>
          </a:xfrm>
        </p:spPr>
        <p:txBody>
          <a:bodyPr wrap="square" anchor="ctr">
            <a:normAutofit/>
          </a:bodyPr>
          <a:lstStyle/>
          <a:p>
            <a:pPr eaLnBrk="1" hangingPunct="1">
              <a:defRPr/>
            </a:pPr>
            <a:r>
              <a:rPr lang="en-US" b="1"/>
              <a:t>Availability</a:t>
            </a:r>
          </a:p>
        </p:txBody>
      </p:sp>
      <p:sp>
        <p:nvSpPr>
          <p:cNvPr id="76" name="Date Placeholder 3">
            <a:extLst>
              <a:ext uri="{FF2B5EF4-FFF2-40B4-BE49-F238E27FC236}">
                <a16:creationId xmlns:a16="http://schemas.microsoft.com/office/drawing/2014/main" id="{2F0416B5-2323-4F61-91DE-3D8D13F5FCDB}"/>
              </a:ext>
            </a:extLst>
          </p:cNvPr>
          <p:cNvSpPr>
            <a:spLocks noGrp="1"/>
          </p:cNvSpPr>
          <p:nvPr>
            <p:ph type="dt" sz="half" idx="10"/>
          </p:nvPr>
        </p:nvSpPr>
        <p:spPr>
          <a:xfrm>
            <a:off x="457200" y="6356350"/>
            <a:ext cx="2133600" cy="365125"/>
          </a:xfrm>
        </p:spPr>
        <p:txBody>
          <a:bodyPr/>
          <a:lstStyle/>
          <a:p>
            <a:pPr>
              <a:spcAft>
                <a:spcPts val="600"/>
              </a:spcAft>
            </a:pPr>
            <a:fld id="{1EC4D177-3FD8-1541-B11E-1C53E75416D7}" type="datetime1">
              <a:rPr lang="en-GB" smtClean="0"/>
              <a:pPr>
                <a:spcAft>
                  <a:spcPts val="600"/>
                </a:spcAft>
              </a:pPr>
              <a:t>20/12/2021</a:t>
            </a:fld>
            <a:endParaRPr lang="en-US"/>
          </a:p>
        </p:txBody>
      </p:sp>
      <p:sp>
        <p:nvSpPr>
          <p:cNvPr id="78" name="Footer Placeholder 4">
            <a:extLst>
              <a:ext uri="{FF2B5EF4-FFF2-40B4-BE49-F238E27FC236}">
                <a16:creationId xmlns:a16="http://schemas.microsoft.com/office/drawing/2014/main" id="{5EF11F36-0533-4A72-B644-8727CB4110A9}"/>
              </a:ext>
            </a:extLst>
          </p:cNvPr>
          <p:cNvSpPr>
            <a:spLocks noGrp="1"/>
          </p:cNvSpPr>
          <p:nvPr>
            <p:ph type="ftr" sz="quarter" idx="11"/>
          </p:nvPr>
        </p:nvSpPr>
        <p:spPr>
          <a:xfrm>
            <a:off x="3124200" y="6356350"/>
            <a:ext cx="2895600" cy="365125"/>
          </a:xfrm>
        </p:spPr>
        <p:txBody>
          <a:bodyPr/>
          <a:lstStyle/>
          <a:p>
            <a:pPr>
              <a:spcAft>
                <a:spcPts val="600"/>
              </a:spcAft>
            </a:pPr>
            <a:r>
              <a:rPr lang="en-US"/>
              <a:t>Chapter 6 Architectural Design</a:t>
            </a:r>
          </a:p>
        </p:txBody>
      </p:sp>
      <p:sp>
        <p:nvSpPr>
          <p:cNvPr id="60417" name="Slide Number Placeholder 5">
            <a:extLst>
              <a:ext uri="{FF2B5EF4-FFF2-40B4-BE49-F238E27FC236}">
                <a16:creationId xmlns:a16="http://schemas.microsoft.com/office/drawing/2014/main" id="{97E9D74A-5D8C-0849-8592-C5A1AFA12203}"/>
              </a:ext>
            </a:extLst>
          </p:cNvPr>
          <p:cNvSpPr>
            <a:spLocks noGrp="1"/>
          </p:cNvSpPr>
          <p:nvPr>
            <p:ph type="sldNum" sz="quarter" idx="12"/>
          </p:nvPr>
        </p:nvSpPr>
        <p:spPr>
          <a:xfrm>
            <a:off x="6553200" y="6356350"/>
            <a:ext cx="21336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spcAft>
                <a:spcPts val="600"/>
              </a:spcAft>
              <a:buClrTx/>
              <a:buSzTx/>
              <a:buFontTx/>
              <a:buNone/>
            </a:pPr>
            <a:fld id="{9D4B7B9F-A2F3-B54E-9A1E-DB7E3AF7BA0B}" type="slidenum">
              <a:rPr lang="en-US" altLang="en-US" sz="1200">
                <a:solidFill>
                  <a:schemeClr val="tx1">
                    <a:tint val="75000"/>
                  </a:schemeClr>
                </a:solidFill>
              </a:rPr>
              <a:pPr>
                <a:spcBef>
                  <a:spcPct val="0"/>
                </a:spcBef>
                <a:spcAft>
                  <a:spcPts val="600"/>
                </a:spcAft>
                <a:buClrTx/>
                <a:buSzTx/>
                <a:buFontTx/>
                <a:buNone/>
              </a:pPr>
              <a:t>54</a:t>
            </a:fld>
            <a:endParaRPr lang="en-US" altLang="en-US" sz="1200">
              <a:solidFill>
                <a:schemeClr val="tx1">
                  <a:tint val="75000"/>
                </a:schemeClr>
              </a:solidFill>
            </a:endParaRPr>
          </a:p>
        </p:txBody>
      </p:sp>
      <p:graphicFrame>
        <p:nvGraphicFramePr>
          <p:cNvPr id="322564" name="Rectangle 3">
            <a:extLst>
              <a:ext uri="{FF2B5EF4-FFF2-40B4-BE49-F238E27FC236}">
                <a16:creationId xmlns:a16="http://schemas.microsoft.com/office/drawing/2014/main" id="{C0833176-E601-4BDF-8F4C-8EF08629A6AF}"/>
              </a:ext>
            </a:extLst>
          </p:cNvPr>
          <p:cNvGraphicFramePr>
            <a:graphicFrameLocks noGrp="1"/>
          </p:cNvGraphicFramePr>
          <p:nvPr>
            <p:ph idx="1"/>
            <p:extLst>
              <p:ext uri="{D42A27DB-BD31-4B8C-83A1-F6EECF244321}">
                <p14:modId xmlns:p14="http://schemas.microsoft.com/office/powerpoint/2010/main" val="734984126"/>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83956692"/>
      </p:ext>
    </p:extLst>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Number Placeholder 5">
            <a:extLst>
              <a:ext uri="{FF2B5EF4-FFF2-40B4-BE49-F238E27FC236}">
                <a16:creationId xmlns:a16="http://schemas.microsoft.com/office/drawing/2014/main" id="{5DCBFA27-B438-2748-A61A-222ED191AA92}"/>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3BA774B9-62FD-8144-BFFB-A89459AFF5A7}" type="slidenum">
              <a:rPr lang="en-US" altLang="en-US" sz="1200">
                <a:latin typeface="Garamond" panose="02020404030301010803" pitchFamily="18" charset="0"/>
              </a:rPr>
              <a:pPr>
                <a:spcBef>
                  <a:spcPct val="0"/>
                </a:spcBef>
                <a:buClrTx/>
                <a:buSzTx/>
                <a:buFontTx/>
                <a:buNone/>
              </a:pPr>
              <a:t>55</a:t>
            </a:fld>
            <a:endParaRPr lang="en-US" altLang="en-US" sz="1200">
              <a:latin typeface="Garamond" panose="02020404030301010803" pitchFamily="18" charset="0"/>
            </a:endParaRPr>
          </a:p>
        </p:txBody>
      </p:sp>
      <p:sp>
        <p:nvSpPr>
          <p:cNvPr id="323586" name="Rectangle 2">
            <a:extLst>
              <a:ext uri="{FF2B5EF4-FFF2-40B4-BE49-F238E27FC236}">
                <a16:creationId xmlns:a16="http://schemas.microsoft.com/office/drawing/2014/main" id="{BA3FC843-0F7F-A44E-BFB9-688395FEC30D}"/>
              </a:ext>
            </a:extLst>
          </p:cNvPr>
          <p:cNvSpPr>
            <a:spLocks noGrp="1" noChangeArrowheads="1"/>
          </p:cNvSpPr>
          <p:nvPr>
            <p:ph type="title"/>
          </p:nvPr>
        </p:nvSpPr>
        <p:spPr/>
        <p:txBody>
          <a:bodyPr/>
          <a:lstStyle/>
          <a:p>
            <a:pPr eaLnBrk="1" hangingPunct="1">
              <a:defRPr/>
            </a:pPr>
            <a:r>
              <a:rPr lang="en-US">
                <a:cs typeface="+mj-cs"/>
              </a:rPr>
              <a:t>Availability</a:t>
            </a:r>
          </a:p>
        </p:txBody>
      </p:sp>
      <p:sp>
        <p:nvSpPr>
          <p:cNvPr id="323587" name="Rectangle 3">
            <a:extLst>
              <a:ext uri="{FF2B5EF4-FFF2-40B4-BE49-F238E27FC236}">
                <a16:creationId xmlns:a16="http://schemas.microsoft.com/office/drawing/2014/main" id="{1BCD5511-8F11-B34B-84E3-CD1CD6631948}"/>
              </a:ext>
            </a:extLst>
          </p:cNvPr>
          <p:cNvSpPr>
            <a:spLocks noGrp="1" noChangeArrowheads="1"/>
          </p:cNvSpPr>
          <p:nvPr>
            <p:ph type="body" idx="1"/>
          </p:nvPr>
        </p:nvSpPr>
        <p:spPr>
          <a:xfrm>
            <a:off x="457200" y="1600200"/>
            <a:ext cx="8229600" cy="4708525"/>
          </a:xfrm>
        </p:spPr>
        <p:txBody>
          <a:bodyPr/>
          <a:lstStyle/>
          <a:p>
            <a:pPr>
              <a:defRPr/>
            </a:pPr>
            <a:r>
              <a:rPr lang="en-US" sz="2600" dirty="0">
                <a:cs typeface="+mn-cs"/>
              </a:rPr>
              <a:t>Period of loss of availability determined by:</a:t>
            </a:r>
          </a:p>
          <a:p>
            <a:pPr lvl="1">
              <a:defRPr/>
            </a:pPr>
            <a:r>
              <a:rPr lang="en-US" sz="2200" dirty="0"/>
              <a:t>Time to detect failure</a:t>
            </a:r>
          </a:p>
          <a:p>
            <a:pPr lvl="1">
              <a:defRPr/>
            </a:pPr>
            <a:r>
              <a:rPr lang="en-US" sz="2200" dirty="0"/>
              <a:t>Time to correct failure</a:t>
            </a:r>
          </a:p>
          <a:p>
            <a:pPr lvl="1">
              <a:defRPr/>
            </a:pPr>
            <a:r>
              <a:rPr lang="en-US" sz="2200" dirty="0"/>
              <a:t>Time to restart application</a:t>
            </a:r>
          </a:p>
          <a:p>
            <a:pPr>
              <a:defRPr/>
            </a:pPr>
            <a:r>
              <a:rPr lang="en-US" sz="2600" dirty="0">
                <a:cs typeface="+mn-cs"/>
              </a:rPr>
              <a:t>Strategies for high availability:</a:t>
            </a:r>
          </a:p>
          <a:p>
            <a:pPr lvl="1">
              <a:defRPr/>
            </a:pPr>
            <a:r>
              <a:rPr lang="en-US" sz="2200" dirty="0"/>
              <a:t>Eliminate single points of failure</a:t>
            </a:r>
          </a:p>
          <a:p>
            <a:pPr lvl="1">
              <a:defRPr/>
            </a:pPr>
            <a:r>
              <a:rPr lang="en-US" sz="2200" dirty="0"/>
              <a:t>Replication and failover</a:t>
            </a:r>
          </a:p>
          <a:p>
            <a:pPr lvl="1">
              <a:defRPr/>
            </a:pPr>
            <a:r>
              <a:rPr lang="en-US" sz="2200" dirty="0"/>
              <a:t>Automatic detection and restart</a:t>
            </a:r>
          </a:p>
          <a:p>
            <a:pPr>
              <a:defRPr/>
            </a:pPr>
            <a:r>
              <a:rPr lang="en-US" sz="2600" dirty="0">
                <a:cs typeface="+mn-cs"/>
              </a:rPr>
              <a:t>Recoverability (e.g. a database)</a:t>
            </a:r>
          </a:p>
          <a:p>
            <a:pPr lvl="1">
              <a:defRPr/>
            </a:pPr>
            <a:r>
              <a:rPr lang="en-US" sz="2200" dirty="0"/>
              <a:t>the capability to reestablish performance levels and recover affected data after an application or system failure </a:t>
            </a:r>
          </a:p>
          <a:p>
            <a:pPr eaLnBrk="1" hangingPunct="1">
              <a:buFont typeface="Wingdings" charset="0"/>
              <a:buChar char="n"/>
              <a:defRPr/>
            </a:pPr>
            <a:endParaRPr lang="en-US" sz="2600" dirty="0">
              <a:cs typeface="+mn-cs"/>
            </a:endParaRPr>
          </a:p>
        </p:txBody>
      </p:sp>
    </p:spTree>
    <p:extLst>
      <p:ext uri="{BB962C8B-B14F-4D97-AF65-F5344CB8AC3E}">
        <p14:creationId xmlns:p14="http://schemas.microsoft.com/office/powerpoint/2010/main" val="1691830086"/>
      </p:ext>
    </p:extLst>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a:extLst>
              <a:ext uri="{FF2B5EF4-FFF2-40B4-BE49-F238E27FC236}">
                <a16:creationId xmlns:a16="http://schemas.microsoft.com/office/drawing/2014/main" id="{43C12230-7DF4-B649-9122-A7F068F65630}"/>
              </a:ext>
            </a:extLst>
          </p:cNvPr>
          <p:cNvSpPr>
            <a:spLocks noGrp="1" noChangeArrowheads="1"/>
          </p:cNvSpPr>
          <p:nvPr>
            <p:ph type="title"/>
          </p:nvPr>
        </p:nvSpPr>
        <p:spPr>
          <a:xfrm>
            <a:off x="457200" y="274638"/>
            <a:ext cx="7293232" cy="1143000"/>
          </a:xfrm>
        </p:spPr>
        <p:txBody>
          <a:bodyPr wrap="square" anchor="ctr">
            <a:normAutofit/>
          </a:bodyPr>
          <a:lstStyle/>
          <a:p>
            <a:pPr eaLnBrk="1" hangingPunct="1">
              <a:defRPr/>
            </a:pPr>
            <a:r>
              <a:rPr lang="en-US" b="1"/>
              <a:t>Integration</a:t>
            </a:r>
          </a:p>
        </p:txBody>
      </p:sp>
      <p:sp>
        <p:nvSpPr>
          <p:cNvPr id="137" name="Date Placeholder 3">
            <a:extLst>
              <a:ext uri="{FF2B5EF4-FFF2-40B4-BE49-F238E27FC236}">
                <a16:creationId xmlns:a16="http://schemas.microsoft.com/office/drawing/2014/main" id="{7C77CF23-0DB9-40F0-A598-7899DBA7FD29}"/>
              </a:ext>
            </a:extLst>
          </p:cNvPr>
          <p:cNvSpPr>
            <a:spLocks noGrp="1"/>
          </p:cNvSpPr>
          <p:nvPr>
            <p:ph type="dt" sz="half" idx="10"/>
          </p:nvPr>
        </p:nvSpPr>
        <p:spPr>
          <a:xfrm>
            <a:off x="457200" y="6356350"/>
            <a:ext cx="2133600" cy="365125"/>
          </a:xfrm>
        </p:spPr>
        <p:txBody>
          <a:bodyPr/>
          <a:lstStyle/>
          <a:p>
            <a:pPr>
              <a:spcAft>
                <a:spcPts val="600"/>
              </a:spcAft>
            </a:pPr>
            <a:fld id="{1EC4D177-3FD8-1541-B11E-1C53E75416D7}" type="datetime1">
              <a:rPr lang="en-GB" smtClean="0"/>
              <a:pPr>
                <a:spcAft>
                  <a:spcPts val="600"/>
                </a:spcAft>
              </a:pPr>
              <a:t>20/12/2021</a:t>
            </a:fld>
            <a:endParaRPr lang="en-US"/>
          </a:p>
        </p:txBody>
      </p:sp>
      <p:sp>
        <p:nvSpPr>
          <p:cNvPr id="139" name="Footer Placeholder 4">
            <a:extLst>
              <a:ext uri="{FF2B5EF4-FFF2-40B4-BE49-F238E27FC236}">
                <a16:creationId xmlns:a16="http://schemas.microsoft.com/office/drawing/2014/main" id="{273F5B73-1998-44FC-952C-196B50F2AD25}"/>
              </a:ext>
            </a:extLst>
          </p:cNvPr>
          <p:cNvSpPr>
            <a:spLocks noGrp="1"/>
          </p:cNvSpPr>
          <p:nvPr>
            <p:ph type="ftr" sz="quarter" idx="11"/>
          </p:nvPr>
        </p:nvSpPr>
        <p:spPr>
          <a:xfrm>
            <a:off x="3124200" y="6356350"/>
            <a:ext cx="2895600" cy="365125"/>
          </a:xfrm>
        </p:spPr>
        <p:txBody>
          <a:bodyPr/>
          <a:lstStyle/>
          <a:p>
            <a:pPr>
              <a:spcAft>
                <a:spcPts val="600"/>
              </a:spcAft>
            </a:pPr>
            <a:r>
              <a:rPr lang="en-US"/>
              <a:t>Chapter 6 Architectural Design</a:t>
            </a:r>
          </a:p>
        </p:txBody>
      </p:sp>
      <p:sp>
        <p:nvSpPr>
          <p:cNvPr id="63489" name="Slide Number Placeholder 5">
            <a:extLst>
              <a:ext uri="{FF2B5EF4-FFF2-40B4-BE49-F238E27FC236}">
                <a16:creationId xmlns:a16="http://schemas.microsoft.com/office/drawing/2014/main" id="{CA7A6896-20D4-4E4A-9E98-C3E2AB209741}"/>
              </a:ext>
            </a:extLst>
          </p:cNvPr>
          <p:cNvSpPr>
            <a:spLocks noGrp="1"/>
          </p:cNvSpPr>
          <p:nvPr>
            <p:ph type="sldNum" sz="quarter" idx="12"/>
          </p:nvPr>
        </p:nvSpPr>
        <p:spPr>
          <a:xfrm>
            <a:off x="6553200" y="6356350"/>
            <a:ext cx="21336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spcAft>
                <a:spcPts val="600"/>
              </a:spcAft>
              <a:buClrTx/>
              <a:buSzTx/>
              <a:buFontTx/>
              <a:buNone/>
            </a:pPr>
            <a:fld id="{D939F774-D5E4-7542-89EA-36F79122C287}" type="slidenum">
              <a:rPr lang="en-US" altLang="en-US" sz="1200">
                <a:solidFill>
                  <a:schemeClr val="tx1">
                    <a:tint val="75000"/>
                  </a:schemeClr>
                </a:solidFill>
              </a:rPr>
              <a:pPr>
                <a:spcBef>
                  <a:spcPct val="0"/>
                </a:spcBef>
                <a:spcAft>
                  <a:spcPts val="600"/>
                </a:spcAft>
                <a:buClrTx/>
                <a:buSzTx/>
                <a:buFontTx/>
                <a:buNone/>
              </a:pPr>
              <a:t>56</a:t>
            </a:fld>
            <a:endParaRPr lang="en-US" altLang="en-US" sz="1200">
              <a:solidFill>
                <a:schemeClr val="tx1">
                  <a:tint val="75000"/>
                </a:schemeClr>
              </a:solidFill>
            </a:endParaRPr>
          </a:p>
        </p:txBody>
      </p:sp>
      <p:graphicFrame>
        <p:nvGraphicFramePr>
          <p:cNvPr id="325637" name="Rectangle 3">
            <a:extLst>
              <a:ext uri="{FF2B5EF4-FFF2-40B4-BE49-F238E27FC236}">
                <a16:creationId xmlns:a16="http://schemas.microsoft.com/office/drawing/2014/main" id="{A0822C05-AACD-4F64-B5B5-B74939FB473F}"/>
              </a:ext>
            </a:extLst>
          </p:cNvPr>
          <p:cNvGraphicFramePr/>
          <p:nvPr>
            <p:extLst>
              <p:ext uri="{D42A27DB-BD31-4B8C-83A1-F6EECF244321}">
                <p14:modId xmlns:p14="http://schemas.microsoft.com/office/powerpoint/2010/main" val="2256011120"/>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51436924"/>
      </p:ext>
    </p:extLst>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a:extLst>
              <a:ext uri="{FF2B5EF4-FFF2-40B4-BE49-F238E27FC236}">
                <a16:creationId xmlns:a16="http://schemas.microsoft.com/office/drawing/2014/main" id="{F812DACD-4D5F-6748-8C08-1D18E7AB7AA5}"/>
              </a:ext>
            </a:extLst>
          </p:cNvPr>
          <p:cNvSpPr>
            <a:spLocks noGrp="1" noChangeArrowheads="1"/>
          </p:cNvSpPr>
          <p:nvPr>
            <p:ph type="title"/>
          </p:nvPr>
        </p:nvSpPr>
        <p:spPr/>
        <p:txBody>
          <a:bodyPr/>
          <a:lstStyle/>
          <a:p>
            <a:pPr eaLnBrk="1" hangingPunct="1">
              <a:defRPr/>
            </a:pPr>
            <a:r>
              <a:rPr lang="en-US">
                <a:cs typeface="+mj-cs"/>
              </a:rPr>
              <a:t>Integration Strategies</a:t>
            </a:r>
          </a:p>
        </p:txBody>
      </p:sp>
      <p:sp>
        <p:nvSpPr>
          <p:cNvPr id="64515" name="Rectangle 3">
            <a:extLst>
              <a:ext uri="{FF2B5EF4-FFF2-40B4-BE49-F238E27FC236}">
                <a16:creationId xmlns:a16="http://schemas.microsoft.com/office/drawing/2014/main" id="{E420507F-29CA-F24F-BF1F-E0A6E9CF6402}"/>
              </a:ext>
            </a:extLst>
          </p:cNvPr>
          <p:cNvSpPr>
            <a:spLocks noGrp="1" noChangeArrowheads="1"/>
          </p:cNvSpPr>
          <p:nvPr>
            <p:ph idx="1"/>
          </p:nvPr>
        </p:nvSpPr>
        <p:spPr/>
        <p:txBody>
          <a:bodyPr/>
          <a:lstStyle/>
          <a:p>
            <a:pPr eaLnBrk="1" hangingPunct="1">
              <a:lnSpc>
                <a:spcPct val="90000"/>
              </a:lnSpc>
            </a:pPr>
            <a:r>
              <a:rPr lang="en-US" altLang="en-US"/>
              <a:t>Data – expose application data for access by other components</a:t>
            </a:r>
          </a:p>
          <a:p>
            <a:pPr eaLnBrk="1" hangingPunct="1">
              <a:lnSpc>
                <a:spcPct val="90000"/>
              </a:lnSpc>
            </a:pPr>
            <a:r>
              <a:rPr lang="en-US" altLang="en-US"/>
              <a:t>API – offers services to read/write application data through an abstracted interface</a:t>
            </a:r>
          </a:p>
          <a:p>
            <a:pPr eaLnBrk="1" hangingPunct="1">
              <a:lnSpc>
                <a:spcPct val="90000"/>
              </a:lnSpc>
            </a:pPr>
            <a:r>
              <a:rPr lang="en-US" altLang="en-US"/>
              <a:t>Each has strengths and weaknesses …</a:t>
            </a:r>
          </a:p>
        </p:txBody>
      </p:sp>
      <p:sp>
        <p:nvSpPr>
          <p:cNvPr id="64513" name="Slide Number Placeholder 5">
            <a:extLst>
              <a:ext uri="{FF2B5EF4-FFF2-40B4-BE49-F238E27FC236}">
                <a16:creationId xmlns:a16="http://schemas.microsoft.com/office/drawing/2014/main" id="{E42467BF-8AE8-ED4C-97BD-3312A1FBFC2D}"/>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A8CF04FB-4C2B-D842-B7A7-AC8FE06D5EDE}" type="slidenum">
              <a:rPr lang="en-US" altLang="en-US" sz="1200">
                <a:latin typeface="Garamond" panose="02020404030301010803" pitchFamily="18" charset="0"/>
              </a:rPr>
              <a:pPr>
                <a:spcBef>
                  <a:spcPct val="0"/>
                </a:spcBef>
                <a:buClrTx/>
                <a:buSzTx/>
                <a:buFontTx/>
                <a:buNone/>
              </a:pPr>
              <a:t>57</a:t>
            </a:fld>
            <a:endParaRPr lang="en-US" altLang="en-US" sz="1200">
              <a:latin typeface="Garamond" panose="02020404030301010803" pitchFamily="18" charset="0"/>
            </a:endParaRPr>
          </a:p>
        </p:txBody>
      </p:sp>
      <p:grpSp>
        <p:nvGrpSpPr>
          <p:cNvPr id="64516" name="Group 5">
            <a:extLst>
              <a:ext uri="{FF2B5EF4-FFF2-40B4-BE49-F238E27FC236}">
                <a16:creationId xmlns:a16="http://schemas.microsoft.com/office/drawing/2014/main" id="{FCCCD19C-B3CC-174D-8804-EDB40CB01111}"/>
              </a:ext>
            </a:extLst>
          </p:cNvPr>
          <p:cNvGrpSpPr>
            <a:grpSpLocks noChangeAspect="1"/>
          </p:cNvGrpSpPr>
          <p:nvPr/>
        </p:nvGrpSpPr>
        <p:grpSpPr bwMode="auto">
          <a:xfrm>
            <a:off x="1700470" y="3707543"/>
            <a:ext cx="6049962" cy="2465387"/>
            <a:chOff x="3111" y="3870"/>
            <a:chExt cx="5116" cy="2112"/>
          </a:xfrm>
        </p:grpSpPr>
        <p:sp>
          <p:nvSpPr>
            <p:cNvPr id="64517" name="AutoShape 6">
              <a:extLst>
                <a:ext uri="{FF2B5EF4-FFF2-40B4-BE49-F238E27FC236}">
                  <a16:creationId xmlns:a16="http://schemas.microsoft.com/office/drawing/2014/main" id="{48CF494D-577F-F64C-AFB6-ADB1C055B250}"/>
                </a:ext>
              </a:extLst>
            </p:cNvPr>
            <p:cNvSpPr>
              <a:spLocks noChangeAspect="1" noChangeArrowheads="1"/>
            </p:cNvSpPr>
            <p:nvPr/>
          </p:nvSpPr>
          <p:spPr bwMode="auto">
            <a:xfrm>
              <a:off x="3111" y="3870"/>
              <a:ext cx="5116" cy="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endParaRPr lang="en-GB" altLang="en-US" sz="1800"/>
            </a:p>
          </p:txBody>
        </p:sp>
        <p:sp>
          <p:nvSpPr>
            <p:cNvPr id="64518" name="AutoShape 7">
              <a:extLst>
                <a:ext uri="{FF2B5EF4-FFF2-40B4-BE49-F238E27FC236}">
                  <a16:creationId xmlns:a16="http://schemas.microsoft.com/office/drawing/2014/main" id="{17FADD20-A7C4-564D-BEB0-D90600708A0E}"/>
                </a:ext>
              </a:extLst>
            </p:cNvPr>
            <p:cNvSpPr>
              <a:spLocks noChangeArrowheads="1"/>
            </p:cNvSpPr>
            <p:nvPr/>
          </p:nvSpPr>
          <p:spPr bwMode="auto">
            <a:xfrm>
              <a:off x="3263" y="4014"/>
              <a:ext cx="1326" cy="720"/>
            </a:xfrm>
            <a:prstGeom prst="cube">
              <a:avLst>
                <a:gd name="adj" fmla="val 25000"/>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200"/>
                <a:t>Application</a:t>
              </a:r>
              <a:endParaRPr lang="en-US" altLang="en-US" sz="1800"/>
            </a:p>
          </p:txBody>
        </p:sp>
        <p:sp>
          <p:nvSpPr>
            <p:cNvPr id="64519" name="AutoShape 8">
              <a:extLst>
                <a:ext uri="{FF2B5EF4-FFF2-40B4-BE49-F238E27FC236}">
                  <a16:creationId xmlns:a16="http://schemas.microsoft.com/office/drawing/2014/main" id="{D2E2A326-F5F7-9B43-98C9-A4B9570BEE33}"/>
                </a:ext>
              </a:extLst>
            </p:cNvPr>
            <p:cNvSpPr>
              <a:spLocks noChangeArrowheads="1"/>
            </p:cNvSpPr>
            <p:nvPr/>
          </p:nvSpPr>
          <p:spPr bwMode="auto">
            <a:xfrm>
              <a:off x="3490" y="5214"/>
              <a:ext cx="853" cy="720"/>
            </a:xfrm>
            <a:prstGeom prst="flowChartMagneticDisk">
              <a:avLst/>
            </a:prstGeom>
            <a:solidFill>
              <a:srgbClr val="FFFFFF"/>
            </a:solidFill>
            <a:ln w="9525">
              <a:solidFill>
                <a:srgbClr val="000000"/>
              </a:solidFill>
              <a:round/>
              <a:headEnd/>
              <a:tailEnd/>
            </a:ln>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pPr>
              <a:r>
                <a:rPr lang="en-US" altLang="en-US" sz="1200"/>
                <a:t>Data</a:t>
              </a:r>
              <a:endParaRPr lang="en-US" altLang="en-US" sz="1800"/>
            </a:p>
          </p:txBody>
        </p:sp>
        <p:sp>
          <p:nvSpPr>
            <p:cNvPr id="64520" name="AutoShape 9">
              <a:extLst>
                <a:ext uri="{FF2B5EF4-FFF2-40B4-BE49-F238E27FC236}">
                  <a16:creationId xmlns:a16="http://schemas.microsoft.com/office/drawing/2014/main" id="{C8B32EC0-A33C-8541-9D26-25316D367077}"/>
                </a:ext>
              </a:extLst>
            </p:cNvPr>
            <p:cNvSpPr>
              <a:spLocks noChangeArrowheads="1"/>
            </p:cNvSpPr>
            <p:nvPr/>
          </p:nvSpPr>
          <p:spPr bwMode="auto">
            <a:xfrm>
              <a:off x="3737" y="4734"/>
              <a:ext cx="284" cy="480"/>
            </a:xfrm>
            <a:prstGeom prst="upDownArrow">
              <a:avLst>
                <a:gd name="adj1" fmla="val 50000"/>
                <a:gd name="adj2" fmla="val 33803"/>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endParaRPr lang="en-GB" altLang="en-US" sz="1800"/>
            </a:p>
          </p:txBody>
        </p:sp>
        <p:sp>
          <p:nvSpPr>
            <p:cNvPr id="64521" name="AutoShape 10">
              <a:extLst>
                <a:ext uri="{FF2B5EF4-FFF2-40B4-BE49-F238E27FC236}">
                  <a16:creationId xmlns:a16="http://schemas.microsoft.com/office/drawing/2014/main" id="{0B0D5063-AB32-9D44-BD86-7FFB8128B060}"/>
                </a:ext>
              </a:extLst>
            </p:cNvPr>
            <p:cNvSpPr>
              <a:spLocks noChangeArrowheads="1"/>
            </p:cNvSpPr>
            <p:nvPr/>
          </p:nvSpPr>
          <p:spPr bwMode="auto">
            <a:xfrm>
              <a:off x="6768" y="4734"/>
              <a:ext cx="1326" cy="720"/>
            </a:xfrm>
            <a:prstGeom prst="cube">
              <a:avLst>
                <a:gd name="adj" fmla="val 25000"/>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200"/>
                <a:t>Third Party Application</a:t>
              </a:r>
              <a:endParaRPr lang="en-US" altLang="en-US" sz="1800"/>
            </a:p>
          </p:txBody>
        </p:sp>
        <p:sp>
          <p:nvSpPr>
            <p:cNvPr id="64522" name="Rectangle 11">
              <a:extLst>
                <a:ext uri="{FF2B5EF4-FFF2-40B4-BE49-F238E27FC236}">
                  <a16:creationId xmlns:a16="http://schemas.microsoft.com/office/drawing/2014/main" id="{09A23546-6940-454B-AD11-C5940A0F9377}"/>
                </a:ext>
              </a:extLst>
            </p:cNvPr>
            <p:cNvSpPr>
              <a:spLocks noChangeArrowheads="1"/>
            </p:cNvSpPr>
            <p:nvPr/>
          </p:nvSpPr>
          <p:spPr bwMode="auto">
            <a:xfrm>
              <a:off x="5347" y="4014"/>
              <a:ext cx="568" cy="864"/>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endParaRPr lang="en-US" altLang="en-US" sz="1200"/>
            </a:p>
            <a:p>
              <a:pPr eaLnBrk="1" hangingPunct="1">
                <a:spcBef>
                  <a:spcPct val="0"/>
                </a:spcBef>
                <a:buClrTx/>
                <a:buSzTx/>
                <a:buFontTx/>
                <a:buNone/>
              </a:pPr>
              <a:r>
                <a:rPr lang="en-US" altLang="en-US" sz="1200"/>
                <a:t>API</a:t>
              </a:r>
              <a:endParaRPr lang="en-US" altLang="en-US" sz="1800"/>
            </a:p>
          </p:txBody>
        </p:sp>
        <p:sp>
          <p:nvSpPr>
            <p:cNvPr id="64523" name="AutoShape 12">
              <a:extLst>
                <a:ext uri="{FF2B5EF4-FFF2-40B4-BE49-F238E27FC236}">
                  <a16:creationId xmlns:a16="http://schemas.microsoft.com/office/drawing/2014/main" id="{B0826C49-083A-7246-B93D-1B1B4AFFE9FA}"/>
                </a:ext>
              </a:extLst>
            </p:cNvPr>
            <p:cNvSpPr>
              <a:spLocks noChangeArrowheads="1"/>
            </p:cNvSpPr>
            <p:nvPr/>
          </p:nvSpPr>
          <p:spPr bwMode="auto">
            <a:xfrm rot="1311632">
              <a:off x="5915" y="4446"/>
              <a:ext cx="853" cy="288"/>
            </a:xfrm>
            <a:prstGeom prst="leftArrow">
              <a:avLst>
                <a:gd name="adj1" fmla="val 50000"/>
                <a:gd name="adj2" fmla="val 74045"/>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endParaRPr lang="en-GB" altLang="en-US" sz="1800"/>
            </a:p>
          </p:txBody>
        </p:sp>
        <p:sp>
          <p:nvSpPr>
            <p:cNvPr id="64524" name="AutoShape 13">
              <a:extLst>
                <a:ext uri="{FF2B5EF4-FFF2-40B4-BE49-F238E27FC236}">
                  <a16:creationId xmlns:a16="http://schemas.microsoft.com/office/drawing/2014/main" id="{798D47BA-9A9F-A948-BB31-EF37F3E032D4}"/>
                </a:ext>
              </a:extLst>
            </p:cNvPr>
            <p:cNvSpPr>
              <a:spLocks noChangeArrowheads="1"/>
            </p:cNvSpPr>
            <p:nvPr/>
          </p:nvSpPr>
          <p:spPr bwMode="auto">
            <a:xfrm rot="326108">
              <a:off x="4589" y="4158"/>
              <a:ext cx="663" cy="288"/>
            </a:xfrm>
            <a:prstGeom prst="leftArrow">
              <a:avLst>
                <a:gd name="adj1" fmla="val 50000"/>
                <a:gd name="adj2" fmla="val 57552"/>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endParaRPr lang="en-GB" altLang="en-US" sz="1800"/>
            </a:p>
          </p:txBody>
        </p:sp>
        <p:sp>
          <p:nvSpPr>
            <p:cNvPr id="64525" name="AutoShape 14">
              <a:extLst>
                <a:ext uri="{FF2B5EF4-FFF2-40B4-BE49-F238E27FC236}">
                  <a16:creationId xmlns:a16="http://schemas.microsoft.com/office/drawing/2014/main" id="{E41F93A1-4382-F443-B2B9-9C3E98BFB62F}"/>
                </a:ext>
              </a:extLst>
            </p:cNvPr>
            <p:cNvSpPr>
              <a:spLocks noChangeArrowheads="1"/>
            </p:cNvSpPr>
            <p:nvPr/>
          </p:nvSpPr>
          <p:spPr bwMode="auto">
            <a:xfrm rot="-683369">
              <a:off x="4305" y="5310"/>
              <a:ext cx="2367" cy="288"/>
            </a:xfrm>
            <a:prstGeom prst="leftArrow">
              <a:avLst>
                <a:gd name="adj1" fmla="val 50000"/>
                <a:gd name="adj2" fmla="val 205469"/>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endParaRPr lang="en-GB" altLang="en-US" sz="1800"/>
            </a:p>
          </p:txBody>
        </p:sp>
        <p:sp>
          <p:nvSpPr>
            <p:cNvPr id="64526" name="Text Box 15">
              <a:extLst>
                <a:ext uri="{FF2B5EF4-FFF2-40B4-BE49-F238E27FC236}">
                  <a16:creationId xmlns:a16="http://schemas.microsoft.com/office/drawing/2014/main" id="{5BF0EF8A-8BE4-2F4F-A15D-5C60CE49D801}"/>
                </a:ext>
              </a:extLst>
            </p:cNvPr>
            <p:cNvSpPr txBox="1">
              <a:spLocks noChangeArrowheads="1"/>
            </p:cNvSpPr>
            <p:nvPr/>
          </p:nvSpPr>
          <p:spPr bwMode="auto">
            <a:xfrm>
              <a:off x="5953" y="3870"/>
              <a:ext cx="2180"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000" i="1"/>
                <a:t>Interoperability through an API facade</a:t>
              </a:r>
              <a:endParaRPr lang="en-US" altLang="en-US" sz="1800"/>
            </a:p>
          </p:txBody>
        </p:sp>
        <p:sp>
          <p:nvSpPr>
            <p:cNvPr id="64527" name="Text Box 16">
              <a:extLst>
                <a:ext uri="{FF2B5EF4-FFF2-40B4-BE49-F238E27FC236}">
                  <a16:creationId xmlns:a16="http://schemas.microsoft.com/office/drawing/2014/main" id="{5DED4C71-EFC5-7642-B458-35100CBBC744}"/>
                </a:ext>
              </a:extLst>
            </p:cNvPr>
            <p:cNvSpPr txBox="1">
              <a:spLocks noChangeArrowheads="1"/>
            </p:cNvSpPr>
            <p:nvPr/>
          </p:nvSpPr>
          <p:spPr bwMode="auto">
            <a:xfrm>
              <a:off x="5669" y="5502"/>
              <a:ext cx="2179"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000" i="1"/>
                <a:t>Interoperability achieved by direct data access</a:t>
              </a:r>
              <a:endParaRPr lang="en-US" altLang="en-US" sz="1800"/>
            </a:p>
          </p:txBody>
        </p:sp>
      </p:grpSp>
    </p:spTree>
    <p:extLst>
      <p:ext uri="{BB962C8B-B14F-4D97-AF65-F5344CB8AC3E}">
        <p14:creationId xmlns:p14="http://schemas.microsoft.com/office/powerpoint/2010/main" val="4244100906"/>
      </p:ext>
    </p:extLst>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26954"/>
            <a:ext cx="8229600" cy="1143000"/>
          </a:xfrm>
        </p:spPr>
        <p:txBody>
          <a:bodyPr/>
          <a:lstStyle/>
          <a:p>
            <a:pPr algn="ctr"/>
            <a:r>
              <a:rPr lang="en-US" dirty="0"/>
              <a:t>Architectural Patterns &amp; Styles</a:t>
            </a:r>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58</a:t>
            </a:fld>
            <a:endParaRPr lang="en-US"/>
          </a:p>
        </p:txBody>
      </p:sp>
      <p:sp>
        <p:nvSpPr>
          <p:cNvPr id="6" name="Date Placeholder 5"/>
          <p:cNvSpPr>
            <a:spLocks noGrp="1"/>
          </p:cNvSpPr>
          <p:nvPr>
            <p:ph type="dt" sz="half" idx="10"/>
          </p:nvPr>
        </p:nvSpPr>
        <p:spPr/>
        <p:txBody>
          <a:bodyPr/>
          <a:lstStyle/>
          <a:p>
            <a:fld id="{50621CF8-8542-A840-BABB-E0B22B2F0879}" type="datetime1">
              <a:rPr lang="en-GB" smtClean="0"/>
              <a:t>20/12/2021</a:t>
            </a:fld>
            <a:endParaRPr lang="en-US"/>
          </a:p>
        </p:txBody>
      </p:sp>
    </p:spTree>
    <p:extLst>
      <p:ext uri="{BB962C8B-B14F-4D97-AF65-F5344CB8AC3E}">
        <p14:creationId xmlns:p14="http://schemas.microsoft.com/office/powerpoint/2010/main" val="2437121426"/>
      </p:ext>
    </p:extLst>
  </p:cSld>
  <p:clrMapOvr>
    <a:masterClrMapping/>
  </p:clrMapOvr>
  <p:transition spd="med">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Number Placeholder 5">
            <a:extLst>
              <a:ext uri="{FF2B5EF4-FFF2-40B4-BE49-F238E27FC236}">
                <a16:creationId xmlns:a16="http://schemas.microsoft.com/office/drawing/2014/main" id="{17E9948C-58B7-A54F-9EFC-0255128BD74E}"/>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325972F7-328D-5141-AB21-6BE3DCA70BAE}" type="slidenum">
              <a:rPr lang="en-US" altLang="en-US" sz="1200">
                <a:latin typeface="Garamond" panose="02020404030301010803" pitchFamily="18" charset="0"/>
              </a:rPr>
              <a:pPr>
                <a:spcBef>
                  <a:spcPct val="0"/>
                </a:spcBef>
                <a:buClrTx/>
                <a:buSzTx/>
                <a:buFontTx/>
                <a:buNone/>
              </a:pPr>
              <a:t>59</a:t>
            </a:fld>
            <a:endParaRPr lang="en-US" altLang="en-US" sz="1200">
              <a:latin typeface="Garamond" panose="02020404030301010803" pitchFamily="18" charset="0"/>
            </a:endParaRPr>
          </a:p>
        </p:txBody>
      </p:sp>
      <p:sp>
        <p:nvSpPr>
          <p:cNvPr id="395266" name="Rectangle 2">
            <a:extLst>
              <a:ext uri="{FF2B5EF4-FFF2-40B4-BE49-F238E27FC236}">
                <a16:creationId xmlns:a16="http://schemas.microsoft.com/office/drawing/2014/main" id="{D2033261-4B06-9446-ADD0-A17732BC1014}"/>
              </a:ext>
            </a:extLst>
          </p:cNvPr>
          <p:cNvSpPr>
            <a:spLocks noGrp="1" noChangeArrowheads="1"/>
          </p:cNvSpPr>
          <p:nvPr>
            <p:ph type="title"/>
          </p:nvPr>
        </p:nvSpPr>
        <p:spPr/>
        <p:txBody>
          <a:bodyPr/>
          <a:lstStyle/>
          <a:p>
            <a:pPr eaLnBrk="1" hangingPunct="1">
              <a:defRPr/>
            </a:pPr>
            <a:r>
              <a:rPr lang="en-US" dirty="0">
                <a:cs typeface="+mj-cs"/>
              </a:rPr>
              <a:t>Choosing the Architecture</a:t>
            </a:r>
          </a:p>
        </p:txBody>
      </p:sp>
      <p:sp>
        <p:nvSpPr>
          <p:cNvPr id="395267" name="Rectangle 3">
            <a:extLst>
              <a:ext uri="{FF2B5EF4-FFF2-40B4-BE49-F238E27FC236}">
                <a16:creationId xmlns:a16="http://schemas.microsoft.com/office/drawing/2014/main" id="{8742B4B0-FF3B-9241-9F1A-AC2D34A17D93}"/>
              </a:ext>
            </a:extLst>
          </p:cNvPr>
          <p:cNvSpPr>
            <a:spLocks noGrp="1" noChangeArrowheads="1"/>
          </p:cNvSpPr>
          <p:nvPr>
            <p:ph type="body" idx="1"/>
          </p:nvPr>
        </p:nvSpPr>
        <p:spPr/>
        <p:txBody>
          <a:bodyPr/>
          <a:lstStyle/>
          <a:p>
            <a:pPr eaLnBrk="1" hangingPunct="1">
              <a:buFont typeface="Wingdings" charset="0"/>
              <a:buChar char="n"/>
              <a:defRPr/>
            </a:pPr>
            <a:r>
              <a:rPr lang="en-US" dirty="0">
                <a:cs typeface="+mn-cs"/>
              </a:rPr>
              <a:t>Choose an architecture patterns/styles that suit requirements</a:t>
            </a:r>
          </a:p>
          <a:p>
            <a:pPr lvl="1" eaLnBrk="1" hangingPunct="1">
              <a:buFont typeface="Wingdings" charset="0"/>
              <a:buChar char="q"/>
              <a:defRPr/>
            </a:pPr>
            <a:r>
              <a:rPr lang="en-US" dirty="0"/>
              <a:t>No magic formula</a:t>
            </a:r>
          </a:p>
          <a:p>
            <a:pPr lvl="1" eaLnBrk="1" hangingPunct="1">
              <a:buFont typeface="Wingdings" charset="0"/>
              <a:buChar char="q"/>
              <a:defRPr/>
            </a:pPr>
            <a:r>
              <a:rPr lang="en-US" dirty="0"/>
              <a:t>Analyze requirements and quality attributed supported by each pattern</a:t>
            </a:r>
          </a:p>
          <a:p>
            <a:pPr eaLnBrk="1" hangingPunct="1">
              <a:buFont typeface="Wingdings" charset="0"/>
              <a:buChar char="n"/>
              <a:defRPr/>
            </a:pPr>
            <a:r>
              <a:rPr lang="en-US" dirty="0">
                <a:cs typeface="+mn-cs"/>
              </a:rPr>
              <a:t>Complex architectures require creative blending of multiple patterns.</a:t>
            </a:r>
          </a:p>
        </p:txBody>
      </p:sp>
    </p:spTree>
    <p:extLst>
      <p:ext uri="{BB962C8B-B14F-4D97-AF65-F5344CB8AC3E}">
        <p14:creationId xmlns:p14="http://schemas.microsoft.com/office/powerpoint/2010/main" val="1465260043"/>
      </p:ext>
    </p:extLst>
  </p:cSld>
  <p:clrMapOvr>
    <a:masterClrMapping/>
  </p:clrMapOvr>
  <p:transition spd="med">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Patterns</a:t>
            </a:r>
          </a:p>
        </p:txBody>
      </p:sp>
      <p:sp>
        <p:nvSpPr>
          <p:cNvPr id="3" name="Content Placeholder 2"/>
          <p:cNvSpPr>
            <a:spLocks noGrp="1"/>
          </p:cNvSpPr>
          <p:nvPr>
            <p:ph idx="1"/>
          </p:nvPr>
        </p:nvSpPr>
        <p:spPr/>
        <p:txBody>
          <a:bodyPr/>
          <a:lstStyle/>
          <a:p>
            <a:r>
              <a:rPr lang="en-US" dirty="0"/>
              <a:t>Patterns are a means of representing, sharing and reusing knowledge.</a:t>
            </a:r>
          </a:p>
          <a:p>
            <a:r>
              <a:rPr lang="en-US" dirty="0"/>
              <a:t>An architectural pattern is a stylized description of good design practice, which has been tried and tested in different environments.</a:t>
            </a:r>
          </a:p>
          <a:p>
            <a:r>
              <a:rPr lang="en-US" dirty="0"/>
              <a:t>Patterns should include information about when they are and when the are not useful.</a:t>
            </a:r>
          </a:p>
          <a:p>
            <a:r>
              <a:rPr lang="en-US" dirty="0"/>
              <a:t>Patterns may be represented using tabular and graphical descriptions.</a:t>
            </a:r>
          </a:p>
          <a:p>
            <a:pPr>
              <a:buNone/>
            </a:pPr>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60</a:t>
            </a:fld>
            <a:endParaRPr lang="en-US"/>
          </a:p>
        </p:txBody>
      </p:sp>
      <p:sp>
        <p:nvSpPr>
          <p:cNvPr id="6" name="Date Placeholder 5"/>
          <p:cNvSpPr>
            <a:spLocks noGrp="1"/>
          </p:cNvSpPr>
          <p:nvPr>
            <p:ph type="dt" sz="half" idx="10"/>
          </p:nvPr>
        </p:nvSpPr>
        <p:spPr/>
        <p:txBody>
          <a:bodyPr/>
          <a:lstStyle/>
          <a:p>
            <a:fld id="{FEF517C4-8B81-BB44-A73D-FC0C8589C762}" type="datetime1">
              <a:rPr lang="en-GB" smtClean="0"/>
              <a:t>20/12/2021</a:t>
            </a:fld>
            <a:endParaRPr lang="en-US"/>
          </a:p>
        </p:txBody>
      </p:sp>
    </p:spTree>
  </p:cSld>
  <p:clrMapOvr>
    <a:masterClrMapping/>
  </p:clrMapOvr>
  <p:transition spd="med">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4">
            <a:extLst>
              <a:ext uri="{FF2B5EF4-FFF2-40B4-BE49-F238E27FC236}">
                <a16:creationId xmlns:a16="http://schemas.microsoft.com/office/drawing/2014/main" id="{2339D9C1-6F99-D448-8A52-CE3F70215C4E}"/>
              </a:ext>
            </a:extLst>
          </p:cNvPr>
          <p:cNvSpPr>
            <a:spLocks noGrp="1" noChangeArrowheads="1"/>
          </p:cNvSpPr>
          <p:nvPr>
            <p:ph type="title"/>
          </p:nvPr>
        </p:nvSpPr>
        <p:spPr/>
        <p:txBody>
          <a:bodyPr/>
          <a:lstStyle/>
          <a:p>
            <a:r>
              <a:rPr lang="en-US" altLang="en-US" dirty="0"/>
              <a:t>Architectural Styles </a:t>
            </a:r>
          </a:p>
        </p:txBody>
      </p:sp>
      <p:sp>
        <p:nvSpPr>
          <p:cNvPr id="37890" name="Rectangle 5">
            <a:extLst>
              <a:ext uri="{FF2B5EF4-FFF2-40B4-BE49-F238E27FC236}">
                <a16:creationId xmlns:a16="http://schemas.microsoft.com/office/drawing/2014/main" id="{EF403BB9-21A0-4744-8F72-2581D48FDD4F}"/>
              </a:ext>
            </a:extLst>
          </p:cNvPr>
          <p:cNvSpPr>
            <a:spLocks noGrp="1" noChangeArrowheads="1"/>
          </p:cNvSpPr>
          <p:nvPr>
            <p:ph idx="1"/>
          </p:nvPr>
        </p:nvSpPr>
        <p:spPr/>
        <p:txBody>
          <a:bodyPr/>
          <a:lstStyle/>
          <a:p>
            <a:pPr eaLnBrk="1" hangingPunct="1">
              <a:lnSpc>
                <a:spcPct val="90000"/>
              </a:lnSpc>
            </a:pPr>
            <a:r>
              <a:rPr lang="en-US" altLang="en-US" sz="2200"/>
              <a:t>An architectural style is a named collection of architectural design decisions that </a:t>
            </a:r>
          </a:p>
          <a:p>
            <a:pPr marL="1428750" lvl="2" indent="-514350" eaLnBrk="1" hangingPunct="1">
              <a:lnSpc>
                <a:spcPct val="90000"/>
              </a:lnSpc>
              <a:buFont typeface="Verdana" panose="020B0604030504040204" pitchFamily="34" charset="0"/>
              <a:buAutoNum type="romanLcPeriod"/>
            </a:pPr>
            <a:r>
              <a:rPr lang="en-US" altLang="en-US"/>
              <a:t>are applicable in a given development context</a:t>
            </a:r>
          </a:p>
          <a:p>
            <a:pPr marL="1428750" lvl="2" indent="-514350" eaLnBrk="1" hangingPunct="1">
              <a:lnSpc>
                <a:spcPct val="90000"/>
              </a:lnSpc>
              <a:buFont typeface="Verdana" panose="020B0604030504040204" pitchFamily="34" charset="0"/>
              <a:buAutoNum type="romanLcPeriod"/>
            </a:pPr>
            <a:r>
              <a:rPr lang="en-US" altLang="en-US"/>
              <a:t>constrain architectural design decisions that are specific to a particular system within that context</a:t>
            </a:r>
          </a:p>
          <a:p>
            <a:pPr marL="1428750" lvl="2" indent="-514350" eaLnBrk="1" hangingPunct="1">
              <a:lnSpc>
                <a:spcPct val="90000"/>
              </a:lnSpc>
              <a:buFont typeface="Verdana" panose="020B0604030504040204" pitchFamily="34" charset="0"/>
              <a:buAutoNum type="romanLcPeriod"/>
            </a:pPr>
            <a:r>
              <a:rPr lang="en-US" altLang="en-US"/>
              <a:t>elicit beneficial qualities in each resulting system</a:t>
            </a:r>
          </a:p>
          <a:p>
            <a:pPr eaLnBrk="1" hangingPunct="1">
              <a:lnSpc>
                <a:spcPct val="90000"/>
              </a:lnSpc>
            </a:pPr>
            <a:r>
              <a:rPr lang="en-US" altLang="en-US" sz="2200"/>
              <a:t>A primary way of characterizing lessons from experience in software system design</a:t>
            </a:r>
          </a:p>
          <a:p>
            <a:pPr eaLnBrk="1" hangingPunct="1">
              <a:lnSpc>
                <a:spcPct val="90000"/>
              </a:lnSpc>
            </a:pPr>
            <a:r>
              <a:rPr lang="en-US" altLang="en-US" sz="2200"/>
              <a:t>Reflect less domain specificity than architectural patterns</a:t>
            </a:r>
          </a:p>
          <a:p>
            <a:pPr eaLnBrk="1" hangingPunct="1">
              <a:lnSpc>
                <a:spcPct val="90000"/>
              </a:lnSpc>
            </a:pPr>
            <a:r>
              <a:rPr lang="en-US" altLang="en-US" sz="2200"/>
              <a:t>Useful in determining everything from subroutine structure to top-level application structure</a:t>
            </a:r>
          </a:p>
        </p:txBody>
      </p:sp>
      <p:sp>
        <p:nvSpPr>
          <p:cNvPr id="37891" name="Slide Number Placeholder 4">
            <a:extLst>
              <a:ext uri="{FF2B5EF4-FFF2-40B4-BE49-F238E27FC236}">
                <a16:creationId xmlns:a16="http://schemas.microsoft.com/office/drawing/2014/main" id="{701A9AA7-7C90-A845-89C9-11F282639A68}"/>
              </a:ext>
            </a:extLst>
          </p:cNvPr>
          <p:cNvSpPr>
            <a:spLocks noGrp="1"/>
          </p:cNvSpPr>
          <p:nvPr>
            <p:ph type="sldNum" sz="quarter" idx="12"/>
          </p:nvPr>
        </p:nvSpPr>
        <p:spPr>
          <a:xfrm>
            <a:off x="3124200" y="6248400"/>
            <a:ext cx="2895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fld id="{76A60C96-73E5-3C44-B052-261AB5B4D16B}" type="slidenum">
              <a:rPr lang="en-US" altLang="en-US">
                <a:latin typeface="Arial Black" panose="020B0604020202020204" pitchFamily="34" charset="0"/>
              </a:rPr>
              <a:pPr algn="ctr"/>
              <a:t>61</a:t>
            </a:fld>
            <a:endParaRPr lang="en-US" altLang="en-US">
              <a:latin typeface="Arial Black" panose="020B0604020202020204" pitchFamily="34" charset="0"/>
            </a:endParaRPr>
          </a:p>
        </p:txBody>
      </p:sp>
    </p:spTree>
    <p:extLst>
      <p:ext uri="{BB962C8B-B14F-4D97-AF65-F5344CB8AC3E}">
        <p14:creationId xmlns:p14="http://schemas.microsoft.com/office/powerpoint/2010/main" val="882582525"/>
      </p:ext>
    </p:extLst>
  </p:cSld>
  <p:clrMapOvr>
    <a:masterClrMapping/>
  </p:clrMapOvr>
  <p:transition spd="med">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885E162D-2EE5-E645-8DCB-10B8A42D5D7E}"/>
              </a:ext>
            </a:extLst>
          </p:cNvPr>
          <p:cNvSpPr>
            <a:spLocks noGrp="1" noChangeArrowheads="1"/>
          </p:cNvSpPr>
          <p:nvPr>
            <p:ph type="title"/>
          </p:nvPr>
        </p:nvSpPr>
        <p:spPr/>
        <p:txBody>
          <a:bodyPr/>
          <a:lstStyle/>
          <a:p>
            <a:pPr eaLnBrk="1" hangingPunct="1"/>
            <a:r>
              <a:rPr lang="en-US" altLang="en-US"/>
              <a:t>Patterns and Styles</a:t>
            </a:r>
          </a:p>
        </p:txBody>
      </p:sp>
      <p:sp>
        <p:nvSpPr>
          <p:cNvPr id="31746" name="Slide Number Placeholder 3">
            <a:extLst>
              <a:ext uri="{FF2B5EF4-FFF2-40B4-BE49-F238E27FC236}">
                <a16:creationId xmlns:a16="http://schemas.microsoft.com/office/drawing/2014/main" id="{4490E122-ABDF-9B41-B1B4-885E890AC44C}"/>
              </a:ext>
            </a:extLst>
          </p:cNvPr>
          <p:cNvSpPr>
            <a:spLocks noGrp="1"/>
          </p:cNvSpPr>
          <p:nvPr>
            <p:ph type="sldNum" sz="quarter" idx="12"/>
          </p:nvPr>
        </p:nvSpPr>
        <p:spPr>
          <a:xfrm>
            <a:off x="3124200" y="6248400"/>
            <a:ext cx="2895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fld id="{DE8DE479-B134-5E4C-84DB-0C561C77FA15}" type="slidenum">
              <a:rPr lang="en-US" altLang="en-US">
                <a:latin typeface="Arial Black" panose="020B0604020202020204" pitchFamily="34" charset="0"/>
              </a:rPr>
              <a:pPr algn="ctr"/>
              <a:t>62</a:t>
            </a:fld>
            <a:endParaRPr lang="en-US" altLang="en-US">
              <a:latin typeface="Arial Black" panose="020B0604020202020204" pitchFamily="34" charset="0"/>
            </a:endParaRPr>
          </a:p>
        </p:txBody>
      </p:sp>
      <p:pic>
        <p:nvPicPr>
          <p:cNvPr id="31747" name="Picture 3" descr="Fig4-2PatternsAndStyles">
            <a:extLst>
              <a:ext uri="{FF2B5EF4-FFF2-40B4-BE49-F238E27FC236}">
                <a16:creationId xmlns:a16="http://schemas.microsoft.com/office/drawing/2014/main" id="{706D2D5D-E74D-534E-A5DD-A59876EC33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600200"/>
            <a:ext cx="4495800" cy="513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Text Box 4">
            <a:extLst>
              <a:ext uri="{FF2B5EF4-FFF2-40B4-BE49-F238E27FC236}">
                <a16:creationId xmlns:a16="http://schemas.microsoft.com/office/drawing/2014/main" id="{7388E9F5-A5CD-A643-8772-2A3F962C7B47}"/>
              </a:ext>
            </a:extLst>
          </p:cNvPr>
          <p:cNvSpPr txBox="1">
            <a:spLocks noChangeArrowheads="1"/>
          </p:cNvSpPr>
          <p:nvPr/>
        </p:nvSpPr>
        <p:spPr bwMode="auto">
          <a:xfrm>
            <a:off x="228600" y="6629400"/>
            <a:ext cx="82661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800" i="1">
                <a:latin typeface="Helvetica" pitchFamily="2" charset="0"/>
              </a:rPr>
              <a:t>Software Architecture: Foundations, Theory, and Practice</a:t>
            </a:r>
            <a:r>
              <a:rPr lang="en-US" altLang="en-US" sz="800">
                <a:latin typeface="Helvetica" pitchFamily="2" charset="0"/>
              </a:rPr>
              <a:t>; Richard N. Taylor, Nenad Medvidovic, and Eric M. Dashofy; </a:t>
            </a:r>
            <a:r>
              <a:rPr lang="en-US" altLang="en-US" sz="800"/>
              <a:t>© 2008 John Wiley &amp; Sons, Inc. Reprinted with permission.</a:t>
            </a:r>
            <a:r>
              <a:rPr lang="en-US" altLang="en-US" sz="900">
                <a:latin typeface="Helvetica" pitchFamily="2" charset="0"/>
              </a:rPr>
              <a:t> </a:t>
            </a:r>
          </a:p>
        </p:txBody>
      </p:sp>
    </p:spTree>
    <p:extLst>
      <p:ext uri="{BB962C8B-B14F-4D97-AF65-F5344CB8AC3E}">
        <p14:creationId xmlns:p14="http://schemas.microsoft.com/office/powerpoint/2010/main" val="3994137059"/>
      </p:ext>
    </p:extLst>
  </p:cSld>
  <p:clrMapOvr>
    <a:masterClrMapping/>
  </p:clrMapOvr>
  <p:transition spd="med">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FBE3BACE-8E9B-4446-A67E-655FFF93513B}"/>
              </a:ext>
            </a:extLst>
          </p:cNvPr>
          <p:cNvSpPr>
            <a:spLocks noGrp="1" noChangeArrowheads="1"/>
          </p:cNvSpPr>
          <p:nvPr>
            <p:ph type="title"/>
          </p:nvPr>
        </p:nvSpPr>
        <p:spPr/>
        <p:txBody>
          <a:bodyPr/>
          <a:lstStyle/>
          <a:p>
            <a:pPr eaLnBrk="1" hangingPunct="1"/>
            <a:r>
              <a:rPr lang="en-US" altLang="en-US"/>
              <a:t>Some Common Styles</a:t>
            </a:r>
          </a:p>
        </p:txBody>
      </p:sp>
      <p:sp>
        <p:nvSpPr>
          <p:cNvPr id="48130" name="Rectangle 3">
            <a:extLst>
              <a:ext uri="{FF2B5EF4-FFF2-40B4-BE49-F238E27FC236}">
                <a16:creationId xmlns:a16="http://schemas.microsoft.com/office/drawing/2014/main" id="{0F719D81-4EFA-D545-B0C1-B75E589E2DFE}"/>
              </a:ext>
            </a:extLst>
          </p:cNvPr>
          <p:cNvSpPr>
            <a:spLocks noGrp="1" noChangeArrowheads="1"/>
          </p:cNvSpPr>
          <p:nvPr>
            <p:ph type="body" idx="1"/>
          </p:nvPr>
        </p:nvSpPr>
        <p:spPr/>
        <p:txBody>
          <a:bodyPr/>
          <a:lstStyle/>
          <a:p>
            <a:pPr eaLnBrk="1" hangingPunct="1">
              <a:lnSpc>
                <a:spcPct val="80000"/>
              </a:lnSpc>
            </a:pPr>
            <a:r>
              <a:rPr lang="en-US" altLang="en-US" dirty="0"/>
              <a:t>Basic</a:t>
            </a:r>
            <a:r>
              <a:rPr lang="ja-JP" altLang="en-US"/>
              <a:t>”</a:t>
            </a:r>
            <a:r>
              <a:rPr lang="en-US" altLang="ja-JP" dirty="0"/>
              <a:t> styles</a:t>
            </a:r>
          </a:p>
          <a:p>
            <a:pPr lvl="1" eaLnBrk="1" hangingPunct="1">
              <a:lnSpc>
                <a:spcPct val="80000"/>
              </a:lnSpc>
            </a:pPr>
            <a:r>
              <a:rPr lang="en-US" altLang="en-US" sz="2000" dirty="0"/>
              <a:t>Pipe and filter</a:t>
            </a:r>
          </a:p>
          <a:p>
            <a:pPr lvl="1" eaLnBrk="1" hangingPunct="1">
              <a:lnSpc>
                <a:spcPct val="80000"/>
              </a:lnSpc>
            </a:pPr>
            <a:r>
              <a:rPr lang="en-US" altLang="en-US" sz="2000" dirty="0"/>
              <a:t>Object-oriented</a:t>
            </a:r>
          </a:p>
          <a:p>
            <a:pPr lvl="1" eaLnBrk="1" hangingPunct="1">
              <a:lnSpc>
                <a:spcPct val="80000"/>
              </a:lnSpc>
            </a:pPr>
            <a:r>
              <a:rPr lang="en-US" altLang="en-US" sz="2000" b="1" dirty="0"/>
              <a:t>Layered</a:t>
            </a:r>
          </a:p>
          <a:p>
            <a:pPr lvl="1" eaLnBrk="1" hangingPunct="1">
              <a:lnSpc>
                <a:spcPct val="80000"/>
              </a:lnSpc>
            </a:pPr>
            <a:r>
              <a:rPr lang="en-US" altLang="en-US" sz="2000" dirty="0"/>
              <a:t>Blackboard</a:t>
            </a:r>
          </a:p>
          <a:p>
            <a:pPr lvl="1" eaLnBrk="1" hangingPunct="1">
              <a:lnSpc>
                <a:spcPct val="80000"/>
              </a:lnSpc>
            </a:pPr>
            <a:r>
              <a:rPr lang="en-US" altLang="en-US" sz="2000" dirty="0"/>
              <a:t>State transition</a:t>
            </a:r>
          </a:p>
          <a:p>
            <a:pPr lvl="1" eaLnBrk="1" hangingPunct="1">
              <a:lnSpc>
                <a:spcPct val="80000"/>
              </a:lnSpc>
            </a:pPr>
            <a:r>
              <a:rPr lang="en-US" altLang="en-US" sz="2000" b="1" dirty="0"/>
              <a:t>Client-server</a:t>
            </a:r>
          </a:p>
          <a:p>
            <a:pPr lvl="1" eaLnBrk="1" hangingPunct="1">
              <a:lnSpc>
                <a:spcPct val="80000"/>
              </a:lnSpc>
            </a:pPr>
            <a:r>
              <a:rPr lang="en-US" altLang="en-US" sz="2000" b="1" dirty="0"/>
              <a:t>Peer-to-peer</a:t>
            </a:r>
          </a:p>
          <a:p>
            <a:pPr lvl="1" eaLnBrk="1" hangingPunct="1">
              <a:lnSpc>
                <a:spcPct val="80000"/>
              </a:lnSpc>
            </a:pPr>
            <a:r>
              <a:rPr lang="en-US" altLang="en-US" sz="2000" dirty="0"/>
              <a:t>Event-based (a.k.a. Implicit invocation)</a:t>
            </a:r>
          </a:p>
          <a:p>
            <a:pPr lvl="1" eaLnBrk="1" hangingPunct="1">
              <a:lnSpc>
                <a:spcPct val="80000"/>
              </a:lnSpc>
            </a:pPr>
            <a:r>
              <a:rPr lang="en-US" altLang="en-US" sz="2000" b="1" dirty="0"/>
              <a:t>Publish-Subscribe</a:t>
            </a:r>
          </a:p>
          <a:p>
            <a:pPr lvl="1" eaLnBrk="1" hangingPunct="1">
              <a:lnSpc>
                <a:spcPct val="80000"/>
              </a:lnSpc>
            </a:pPr>
            <a:r>
              <a:rPr lang="en-US" altLang="en-US" sz="2000" dirty="0"/>
              <a:t>Mobile-code</a:t>
            </a:r>
          </a:p>
          <a:p>
            <a:pPr eaLnBrk="1" hangingPunct="1">
              <a:lnSpc>
                <a:spcPct val="80000"/>
              </a:lnSpc>
            </a:pPr>
            <a:r>
              <a:rPr lang="ja-JP" altLang="en-US"/>
              <a:t>“</a:t>
            </a:r>
            <a:r>
              <a:rPr lang="en-US" altLang="ja-JP" dirty="0"/>
              <a:t>Derived</a:t>
            </a:r>
            <a:r>
              <a:rPr lang="ja-JP" altLang="en-US"/>
              <a:t>”</a:t>
            </a:r>
            <a:r>
              <a:rPr lang="en-US" altLang="ja-JP" dirty="0"/>
              <a:t> styles</a:t>
            </a:r>
          </a:p>
          <a:p>
            <a:pPr lvl="1" eaLnBrk="1" hangingPunct="1">
              <a:lnSpc>
                <a:spcPct val="80000"/>
              </a:lnSpc>
            </a:pPr>
            <a:r>
              <a:rPr lang="en-US" altLang="en-US" sz="2000" dirty="0"/>
              <a:t>Koala</a:t>
            </a:r>
          </a:p>
          <a:p>
            <a:pPr eaLnBrk="1" hangingPunct="1">
              <a:lnSpc>
                <a:spcPct val="80000"/>
              </a:lnSpc>
              <a:buFont typeface="Wingdings" pitchFamily="2" charset="2"/>
              <a:buNone/>
            </a:pPr>
            <a:endParaRPr lang="en-US" altLang="en-US" sz="2000" dirty="0"/>
          </a:p>
        </p:txBody>
      </p:sp>
      <p:pic>
        <p:nvPicPr>
          <p:cNvPr id="4" name="Picture 3">
            <a:extLst>
              <a:ext uri="{FF2B5EF4-FFF2-40B4-BE49-F238E27FC236}">
                <a16:creationId xmlns:a16="http://schemas.microsoft.com/office/drawing/2014/main" id="{17108921-63A9-684C-AB0C-ABE98E2E1BCF}"/>
              </a:ext>
            </a:extLst>
          </p:cNvPr>
          <p:cNvPicPr>
            <a:picLocks noChangeAspect="1"/>
          </p:cNvPicPr>
          <p:nvPr/>
        </p:nvPicPr>
        <p:blipFill>
          <a:blip r:embed="rId2"/>
          <a:stretch>
            <a:fillRect/>
          </a:stretch>
        </p:blipFill>
        <p:spPr>
          <a:xfrm>
            <a:off x="4863548" y="4511310"/>
            <a:ext cx="3482284" cy="2072052"/>
          </a:xfrm>
          <a:prstGeom prst="rect">
            <a:avLst/>
          </a:prstGeom>
        </p:spPr>
      </p:pic>
    </p:spTree>
    <p:extLst>
      <p:ext uri="{BB962C8B-B14F-4D97-AF65-F5344CB8AC3E}">
        <p14:creationId xmlns:p14="http://schemas.microsoft.com/office/powerpoint/2010/main" val="2081070544"/>
      </p:ext>
    </p:extLst>
  </p:cSld>
  <p:clrMapOvr>
    <a:masterClrMapping/>
  </p:clrMapOvr>
  <p:transition spd="med">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454E993C-09FA-B84C-A30A-EB0EB742ACA5}"/>
              </a:ext>
            </a:extLst>
          </p:cNvPr>
          <p:cNvSpPr>
            <a:spLocks noGrp="1" noChangeArrowheads="1"/>
          </p:cNvSpPr>
          <p:nvPr>
            <p:ph type="title"/>
          </p:nvPr>
        </p:nvSpPr>
        <p:spPr/>
        <p:txBody>
          <a:bodyPr/>
          <a:lstStyle/>
          <a:p>
            <a:pPr eaLnBrk="1" hangingPunct="1"/>
            <a:r>
              <a:rPr lang="en-US" altLang="en-US"/>
              <a:t>Benefits of Using Styles</a:t>
            </a:r>
          </a:p>
        </p:txBody>
      </p:sp>
      <p:sp>
        <p:nvSpPr>
          <p:cNvPr id="46082" name="Rectangle 3">
            <a:extLst>
              <a:ext uri="{FF2B5EF4-FFF2-40B4-BE49-F238E27FC236}">
                <a16:creationId xmlns:a16="http://schemas.microsoft.com/office/drawing/2014/main" id="{BAA3C693-4610-EE45-8CBC-5DC1130F77C2}"/>
              </a:ext>
            </a:extLst>
          </p:cNvPr>
          <p:cNvSpPr>
            <a:spLocks noGrp="1" noChangeArrowheads="1"/>
          </p:cNvSpPr>
          <p:nvPr>
            <p:ph idx="1"/>
          </p:nvPr>
        </p:nvSpPr>
        <p:spPr/>
        <p:txBody>
          <a:bodyPr/>
          <a:lstStyle/>
          <a:p>
            <a:pPr eaLnBrk="1" hangingPunct="1"/>
            <a:r>
              <a:rPr lang="en-US" altLang="en-US" sz="2000"/>
              <a:t>Design reuse </a:t>
            </a:r>
          </a:p>
          <a:p>
            <a:pPr lvl="1" eaLnBrk="1" hangingPunct="1"/>
            <a:r>
              <a:rPr lang="en-US" altLang="en-US" sz="2000"/>
              <a:t>Well-understood solutions applied to new problems</a:t>
            </a:r>
          </a:p>
          <a:p>
            <a:pPr eaLnBrk="1" hangingPunct="1"/>
            <a:r>
              <a:rPr lang="en-US" altLang="en-US" sz="2000"/>
              <a:t>Code reuse</a:t>
            </a:r>
          </a:p>
          <a:p>
            <a:pPr lvl="1" eaLnBrk="1" hangingPunct="1"/>
            <a:r>
              <a:rPr lang="en-US" altLang="en-US" sz="2000"/>
              <a:t>Shared implementations of invariant aspects of a style</a:t>
            </a:r>
          </a:p>
          <a:p>
            <a:pPr eaLnBrk="1" hangingPunct="1"/>
            <a:r>
              <a:rPr lang="en-US" altLang="en-US" sz="2000"/>
              <a:t>Understandability of system organization </a:t>
            </a:r>
          </a:p>
          <a:p>
            <a:pPr lvl="1" eaLnBrk="1" hangingPunct="1"/>
            <a:r>
              <a:rPr lang="en-US" altLang="en-US" sz="2000"/>
              <a:t>A phrase such as </a:t>
            </a:r>
            <a:r>
              <a:rPr lang="ja-JP" altLang="en-US" sz="2000"/>
              <a:t>“</a:t>
            </a:r>
            <a:r>
              <a:rPr lang="en-US" altLang="ja-JP" sz="2000"/>
              <a:t>client-server</a:t>
            </a:r>
            <a:r>
              <a:rPr lang="ja-JP" altLang="en-US" sz="2000"/>
              <a:t>”</a:t>
            </a:r>
            <a:r>
              <a:rPr lang="en-US" altLang="ja-JP" sz="2000"/>
              <a:t> conveys a lot of information</a:t>
            </a:r>
          </a:p>
          <a:p>
            <a:pPr eaLnBrk="1" hangingPunct="1"/>
            <a:r>
              <a:rPr lang="en-US" altLang="en-US" sz="2000"/>
              <a:t>Interoperability</a:t>
            </a:r>
          </a:p>
          <a:p>
            <a:pPr lvl="1" eaLnBrk="1" hangingPunct="1"/>
            <a:r>
              <a:rPr lang="en-US" altLang="en-US" sz="2000"/>
              <a:t>Supported by style standardization</a:t>
            </a:r>
          </a:p>
          <a:p>
            <a:pPr eaLnBrk="1" hangingPunct="1"/>
            <a:r>
              <a:rPr lang="en-US" altLang="en-US" sz="2000"/>
              <a:t>Style-specific analyses</a:t>
            </a:r>
          </a:p>
          <a:p>
            <a:pPr lvl="1" eaLnBrk="1" hangingPunct="1"/>
            <a:r>
              <a:rPr lang="en-US" altLang="en-US" sz="2000"/>
              <a:t>Enabled by the constrained design space</a:t>
            </a:r>
          </a:p>
          <a:p>
            <a:pPr eaLnBrk="1" hangingPunct="1"/>
            <a:r>
              <a:rPr lang="en-US" altLang="en-US" sz="2000"/>
              <a:t>Visualizations</a:t>
            </a:r>
          </a:p>
          <a:p>
            <a:pPr lvl="1" eaLnBrk="1" hangingPunct="1"/>
            <a:r>
              <a:rPr lang="en-US" altLang="en-US" sz="2000"/>
              <a:t>Style-specific depictions matching engineers</a:t>
            </a:r>
            <a:r>
              <a:rPr lang="ja-JP" altLang="en-US" sz="2000"/>
              <a:t>’</a:t>
            </a:r>
            <a:r>
              <a:rPr lang="en-US" altLang="ja-JP" sz="2000"/>
              <a:t> mental models</a:t>
            </a:r>
            <a:endParaRPr lang="en-US" altLang="en-US" sz="2000"/>
          </a:p>
        </p:txBody>
      </p:sp>
      <p:sp>
        <p:nvSpPr>
          <p:cNvPr id="46083" name="Slide Number Placeholder 4">
            <a:extLst>
              <a:ext uri="{FF2B5EF4-FFF2-40B4-BE49-F238E27FC236}">
                <a16:creationId xmlns:a16="http://schemas.microsoft.com/office/drawing/2014/main" id="{96715AF7-9133-B441-A9FD-7C0BB409278D}"/>
              </a:ext>
            </a:extLst>
          </p:cNvPr>
          <p:cNvSpPr>
            <a:spLocks noGrp="1"/>
          </p:cNvSpPr>
          <p:nvPr>
            <p:ph type="sldNum" sz="quarter" idx="12"/>
          </p:nvPr>
        </p:nvSpPr>
        <p:spPr>
          <a:xfrm>
            <a:off x="3124200" y="6248400"/>
            <a:ext cx="2895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fld id="{3C958CCF-D50C-D343-8A9A-0C6EBBA70710}" type="slidenum">
              <a:rPr lang="en-US" altLang="en-US">
                <a:latin typeface="Arial Black" panose="020B0604020202020204" pitchFamily="34" charset="0"/>
              </a:rPr>
              <a:pPr algn="ctr"/>
              <a:t>64</a:t>
            </a:fld>
            <a:endParaRPr lang="en-US" altLang="en-US">
              <a:latin typeface="Arial Black" panose="020B0604020202020204" pitchFamily="34" charset="0"/>
            </a:endParaRPr>
          </a:p>
        </p:txBody>
      </p:sp>
    </p:spTree>
    <p:extLst>
      <p:ext uri="{BB962C8B-B14F-4D97-AF65-F5344CB8AC3E}">
        <p14:creationId xmlns:p14="http://schemas.microsoft.com/office/powerpoint/2010/main" val="3419938820"/>
      </p:ext>
    </p:extLst>
  </p:cSld>
  <p:clrMapOvr>
    <a:masterClrMapping/>
  </p:clrMapOvr>
  <p:transition spd="med">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B1B75CE3-EBEA-C842-B6B6-DBC2673C6B3C}"/>
              </a:ext>
            </a:extLst>
          </p:cNvPr>
          <p:cNvSpPr>
            <a:spLocks noGrp="1" noChangeArrowheads="1"/>
          </p:cNvSpPr>
          <p:nvPr>
            <p:ph type="title"/>
          </p:nvPr>
        </p:nvSpPr>
        <p:spPr/>
        <p:txBody>
          <a:bodyPr/>
          <a:lstStyle/>
          <a:p>
            <a:pPr eaLnBrk="1" hangingPunct="1"/>
            <a:r>
              <a:rPr lang="en-US" altLang="en-US" dirty="0"/>
              <a:t>Basic Properties of Patterns/Styles</a:t>
            </a:r>
          </a:p>
        </p:txBody>
      </p:sp>
      <p:sp>
        <p:nvSpPr>
          <p:cNvPr id="39938" name="Rectangle 3">
            <a:extLst>
              <a:ext uri="{FF2B5EF4-FFF2-40B4-BE49-F238E27FC236}">
                <a16:creationId xmlns:a16="http://schemas.microsoft.com/office/drawing/2014/main" id="{2962B038-2ADC-EF43-A773-184FF306785B}"/>
              </a:ext>
            </a:extLst>
          </p:cNvPr>
          <p:cNvSpPr>
            <a:spLocks noGrp="1" noChangeArrowheads="1"/>
          </p:cNvSpPr>
          <p:nvPr>
            <p:ph idx="1"/>
          </p:nvPr>
        </p:nvSpPr>
        <p:spPr>
          <a:xfrm>
            <a:off x="457200" y="1676400"/>
            <a:ext cx="8153400" cy="3962400"/>
          </a:xfrm>
        </p:spPr>
        <p:txBody>
          <a:bodyPr/>
          <a:lstStyle/>
          <a:p>
            <a:pPr eaLnBrk="1" hangingPunct="1"/>
            <a:r>
              <a:rPr lang="en-US" altLang="en-US" sz="2200"/>
              <a:t>A vocabulary of design elements</a:t>
            </a:r>
          </a:p>
          <a:p>
            <a:pPr lvl="1" eaLnBrk="1" hangingPunct="1"/>
            <a:r>
              <a:rPr lang="en-US" altLang="en-US" sz="2200"/>
              <a:t>Component and connector types; data elements</a:t>
            </a:r>
          </a:p>
          <a:p>
            <a:pPr lvl="1" eaLnBrk="1" hangingPunct="1"/>
            <a:r>
              <a:rPr lang="en-US" altLang="en-US" sz="2200"/>
              <a:t>e.g., pipes, filters, objects, servers</a:t>
            </a:r>
          </a:p>
          <a:p>
            <a:pPr eaLnBrk="1" hangingPunct="1"/>
            <a:r>
              <a:rPr lang="en-US" altLang="en-US" sz="2200"/>
              <a:t>A set of configuration rules</a:t>
            </a:r>
          </a:p>
          <a:p>
            <a:pPr lvl="1" eaLnBrk="1" hangingPunct="1"/>
            <a:r>
              <a:rPr lang="en-US" altLang="en-US" sz="2200"/>
              <a:t>Topological constraints that determine allowed compositions of elements</a:t>
            </a:r>
          </a:p>
          <a:p>
            <a:pPr lvl="1" eaLnBrk="1" hangingPunct="1"/>
            <a:r>
              <a:rPr lang="en-US" altLang="en-US" sz="2200"/>
              <a:t>e.g., a component may be connected to at most two other components</a:t>
            </a:r>
          </a:p>
          <a:p>
            <a:pPr eaLnBrk="1" hangingPunct="1"/>
            <a:r>
              <a:rPr lang="en-US" altLang="en-US" sz="2200"/>
              <a:t>A semantic interpretation</a:t>
            </a:r>
          </a:p>
          <a:p>
            <a:pPr lvl="1" eaLnBrk="1" hangingPunct="1"/>
            <a:r>
              <a:rPr lang="en-US" altLang="en-US" sz="2200"/>
              <a:t>Compositions of design elements have well-defined meanings</a:t>
            </a:r>
          </a:p>
          <a:p>
            <a:pPr eaLnBrk="1" hangingPunct="1"/>
            <a:r>
              <a:rPr lang="en-US" altLang="en-US" sz="2200"/>
              <a:t>Possible analyses of systems built in a style</a:t>
            </a:r>
          </a:p>
        </p:txBody>
      </p:sp>
      <p:sp>
        <p:nvSpPr>
          <p:cNvPr id="39939" name="Slide Number Placeholder 4">
            <a:extLst>
              <a:ext uri="{FF2B5EF4-FFF2-40B4-BE49-F238E27FC236}">
                <a16:creationId xmlns:a16="http://schemas.microsoft.com/office/drawing/2014/main" id="{236477CE-5B67-CE47-93D0-DF9547044A34}"/>
              </a:ext>
            </a:extLst>
          </p:cNvPr>
          <p:cNvSpPr>
            <a:spLocks noGrp="1"/>
          </p:cNvSpPr>
          <p:nvPr>
            <p:ph type="sldNum" sz="quarter" idx="12"/>
          </p:nvPr>
        </p:nvSpPr>
        <p:spPr>
          <a:xfrm>
            <a:off x="3124200" y="6248400"/>
            <a:ext cx="2895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fld id="{948DD452-32D9-574A-AEBD-7C14D0CE375F}" type="slidenum">
              <a:rPr lang="en-US" altLang="en-US">
                <a:latin typeface="Arial Black" panose="020B0604020202020204" pitchFamily="34" charset="0"/>
              </a:rPr>
              <a:pPr algn="ctr"/>
              <a:t>65</a:t>
            </a:fld>
            <a:endParaRPr lang="en-US" altLang="en-US">
              <a:latin typeface="Arial Black" panose="020B0604020202020204" pitchFamily="34" charset="0"/>
            </a:endParaRPr>
          </a:p>
        </p:txBody>
      </p:sp>
    </p:spTree>
    <p:extLst>
      <p:ext uri="{BB962C8B-B14F-4D97-AF65-F5344CB8AC3E}">
        <p14:creationId xmlns:p14="http://schemas.microsoft.com/office/powerpoint/2010/main" val="3700770171"/>
      </p:ext>
    </p:extLst>
  </p:cSld>
  <p:clrMapOvr>
    <a:masterClrMapping/>
  </p:clrMapOvr>
  <p:transition spd="med">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The Model-View-Controller (MVC) pattern</a:t>
            </a:r>
            <a:r>
              <a:rPr lang="en-GB" dirty="0"/>
              <a:t> </a:t>
            </a:r>
            <a:endParaRPr lang="en-US" dirty="0"/>
          </a:p>
        </p:txBody>
      </p:sp>
      <p:graphicFrame>
        <p:nvGraphicFramePr>
          <p:cNvPr id="4" name="Content Placeholder 3"/>
          <p:cNvGraphicFramePr>
            <a:graphicFrameLocks noGrp="1"/>
          </p:cNvGraphicFramePr>
          <p:nvPr>
            <p:ph idx="1"/>
          </p:nvPr>
        </p:nvGraphicFramePr>
        <p:xfrm>
          <a:off x="457200" y="1693404"/>
          <a:ext cx="8229600" cy="4210627"/>
        </p:xfrm>
        <a:graphic>
          <a:graphicData uri="http://schemas.openxmlformats.org/drawingml/2006/table">
            <a:tbl>
              <a:tblPr firstRow="1" bandRow="1">
                <a:tableStyleId>{5C22544A-7EE6-4342-B048-85BDC9FD1C3A}</a:tableStyleId>
              </a:tblPr>
              <a:tblGrid>
                <a:gridCol w="2001917">
                  <a:extLst>
                    <a:ext uri="{9D8B030D-6E8A-4147-A177-3AD203B41FA5}">
                      <a16:colId xmlns:a16="http://schemas.microsoft.com/office/drawing/2014/main" val="20000"/>
                    </a:ext>
                  </a:extLst>
                </a:gridCol>
                <a:gridCol w="6227683">
                  <a:extLst>
                    <a:ext uri="{9D8B030D-6E8A-4147-A177-3AD203B41FA5}">
                      <a16:colId xmlns:a16="http://schemas.microsoft.com/office/drawing/2014/main" val="20001"/>
                    </a:ext>
                  </a:extLst>
                </a:gridCol>
              </a:tblGrid>
              <a:tr h="429115">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MVC (Model-View-Controller)</a:t>
                      </a:r>
                    </a:p>
                  </a:txBody>
                  <a:tcPr marL="68580" marR="68580" marT="0" marB="0"/>
                </a:tc>
                <a:extLst>
                  <a:ext uri="{0D108BD9-81ED-4DB2-BD59-A6C34878D82A}">
                    <a16:rowId xmlns:a16="http://schemas.microsoft.com/office/drawing/2014/main" val="10000"/>
                  </a:ext>
                </a:extLst>
              </a:tr>
              <a:tr h="155202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Separates presentation and interaction from the system data. The system is structured into three logical components that interact with each other. The Model component manages the system data and associated operations on that data. The View component defines and manages how the data is presented to the user. The Controller component manages user interaction (e.g., key presses, mouse clicks, etc.) and passes these interactions to the View and the Model. See Figure 6.3.</a:t>
                      </a:r>
                    </a:p>
                  </a:txBody>
                  <a:tcPr marL="68580" marR="68580" marT="0" marB="0"/>
                </a:tc>
                <a:extLst>
                  <a:ext uri="{0D108BD9-81ED-4DB2-BD59-A6C34878D82A}">
                    <a16:rowId xmlns:a16="http://schemas.microsoft.com/office/drawing/2014/main" val="10001"/>
                  </a:ext>
                </a:extLst>
              </a:tr>
              <a:tr h="449594">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Figure 6.4 shows the architecture of a web-based application system organized using the MVC pattern.</a:t>
                      </a:r>
                    </a:p>
                  </a:txBody>
                  <a:tcPr marL="68580" marR="68580" marT="0" marB="0"/>
                </a:tc>
                <a:extLst>
                  <a:ext uri="{0D108BD9-81ED-4DB2-BD59-A6C34878D82A}">
                    <a16:rowId xmlns:a16="http://schemas.microsoft.com/office/drawing/2014/main" val="10002"/>
                  </a:ext>
                </a:extLst>
              </a:tr>
              <a:tr h="665152">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Used when there are multiple ways to view and interact with data. Also used when the future requirements for interaction and presentation of data are unknown. </a:t>
                      </a:r>
                    </a:p>
                  </a:txBody>
                  <a:tcPr marL="68580" marR="68580" marT="0" marB="0"/>
                </a:tc>
                <a:extLst>
                  <a:ext uri="{0D108BD9-81ED-4DB2-BD59-A6C34878D82A}">
                    <a16:rowId xmlns:a16="http://schemas.microsoft.com/office/drawing/2014/main" val="10003"/>
                  </a:ext>
                </a:extLst>
              </a:tr>
              <a:tr h="665152">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Allows the data to change independently of its representation and vice versa. Supports presentation of the same data in different ways with changes made in one representation shown in all of them. </a:t>
                      </a:r>
                    </a:p>
                  </a:txBody>
                  <a:tcPr marL="68580" marR="68580" marT="0" marB="0"/>
                </a:tc>
                <a:extLst>
                  <a:ext uri="{0D108BD9-81ED-4DB2-BD59-A6C34878D82A}">
                    <a16:rowId xmlns:a16="http://schemas.microsoft.com/office/drawing/2014/main" val="10004"/>
                  </a:ext>
                </a:extLst>
              </a:tr>
              <a:tr h="449594">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Can involve additional code and code complexity when the data model and interactions are simple.</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66</a:t>
            </a:fld>
            <a:endParaRPr lang="en-US"/>
          </a:p>
        </p:txBody>
      </p:sp>
      <p:sp>
        <p:nvSpPr>
          <p:cNvPr id="3" name="Date Placeholder 2"/>
          <p:cNvSpPr>
            <a:spLocks noGrp="1"/>
          </p:cNvSpPr>
          <p:nvPr>
            <p:ph type="dt" sz="half" idx="10"/>
          </p:nvPr>
        </p:nvSpPr>
        <p:spPr/>
        <p:txBody>
          <a:bodyPr/>
          <a:lstStyle/>
          <a:p>
            <a:fld id="{F009EBA2-2987-4348-A2A5-702EBF4B79CF}" type="datetime1">
              <a:rPr lang="en-GB" smtClean="0"/>
              <a:t>20/12/2021</a:t>
            </a:fld>
            <a:endParaRPr lang="en-US"/>
          </a:p>
        </p:txBody>
      </p:sp>
    </p:spTree>
  </p:cSld>
  <p:clrMapOvr>
    <a:masterClrMapping/>
  </p:clrMapOvr>
  <p:transition spd="med">
    <p:wipe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organization of the Model-View-Controller</a:t>
            </a:r>
            <a:r>
              <a:rPr lang="en-GB" dirty="0"/>
              <a:t> </a:t>
            </a:r>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67</a:t>
            </a:fld>
            <a:endParaRPr lang="en-US"/>
          </a:p>
        </p:txBody>
      </p:sp>
      <p:pic>
        <p:nvPicPr>
          <p:cNvPr id="16386" name="Picture 2" descr="6"/>
          <p:cNvPicPr>
            <a:picLocks noChangeAspect="1" noChangeArrowheads="1"/>
          </p:cNvPicPr>
          <p:nvPr/>
        </p:nvPicPr>
        <p:blipFill>
          <a:blip r:embed="rId2"/>
          <a:srcRect t="-10443" b="-8620"/>
          <a:stretch>
            <a:fillRect/>
          </a:stretch>
        </p:blipFill>
        <p:spPr bwMode="auto">
          <a:xfrm>
            <a:off x="2063367" y="1952625"/>
            <a:ext cx="4819650" cy="3759200"/>
          </a:xfrm>
          <a:prstGeom prst="rect">
            <a:avLst/>
          </a:prstGeom>
          <a:noFill/>
          <a:ln w="9525">
            <a:noFill/>
            <a:miter lim="800000"/>
            <a:headEnd/>
            <a:tailEnd/>
          </a:ln>
        </p:spPr>
      </p:pic>
      <p:sp>
        <p:nvSpPr>
          <p:cNvPr id="3" name="Date Placeholder 2"/>
          <p:cNvSpPr>
            <a:spLocks noGrp="1"/>
          </p:cNvSpPr>
          <p:nvPr>
            <p:ph type="dt" sz="half" idx="10"/>
          </p:nvPr>
        </p:nvSpPr>
        <p:spPr/>
        <p:txBody>
          <a:bodyPr/>
          <a:lstStyle/>
          <a:p>
            <a:fld id="{7788558B-A437-FB4B-AFA0-D703D735E63F}" type="datetime1">
              <a:rPr lang="en-GB" smtClean="0"/>
              <a:t>20/12/2021</a:t>
            </a:fld>
            <a:endParaRPr lang="en-US"/>
          </a:p>
        </p:txBody>
      </p:sp>
    </p:spTree>
  </p:cSld>
  <p:clrMapOvr>
    <a:masterClrMapping/>
  </p:clrMapOvr>
  <p:transition spd="med">
    <p:wipe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application architecture using the MVC pattern</a:t>
            </a:r>
            <a:r>
              <a:rPr lang="en-GB" dirty="0"/>
              <a:t> </a:t>
            </a:r>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68</a:t>
            </a:fld>
            <a:endParaRPr lang="en-US"/>
          </a:p>
        </p:txBody>
      </p:sp>
      <p:pic>
        <p:nvPicPr>
          <p:cNvPr id="17410" name="Picture 2" descr="6"/>
          <p:cNvPicPr>
            <a:picLocks noChangeAspect="1" noChangeArrowheads="1"/>
          </p:cNvPicPr>
          <p:nvPr/>
        </p:nvPicPr>
        <p:blipFill>
          <a:blip r:embed="rId2"/>
          <a:srcRect b="-8466"/>
          <a:stretch>
            <a:fillRect/>
          </a:stretch>
        </p:blipFill>
        <p:spPr bwMode="auto">
          <a:xfrm>
            <a:off x="2166591" y="1828800"/>
            <a:ext cx="4565650" cy="4194175"/>
          </a:xfrm>
          <a:prstGeom prst="rect">
            <a:avLst/>
          </a:prstGeom>
          <a:noFill/>
          <a:ln w="9525">
            <a:noFill/>
            <a:miter lim="800000"/>
            <a:headEnd/>
            <a:tailEnd/>
          </a:ln>
        </p:spPr>
      </p:pic>
      <p:sp>
        <p:nvSpPr>
          <p:cNvPr id="3" name="Date Placeholder 2"/>
          <p:cNvSpPr>
            <a:spLocks noGrp="1"/>
          </p:cNvSpPr>
          <p:nvPr>
            <p:ph type="dt" sz="half" idx="10"/>
          </p:nvPr>
        </p:nvSpPr>
        <p:spPr/>
        <p:txBody>
          <a:bodyPr/>
          <a:lstStyle/>
          <a:p>
            <a:fld id="{FD4BEF1A-CCF5-AD44-A0A1-B250465DC830}" type="datetime1">
              <a:rPr lang="en-GB" smtClean="0"/>
              <a:t>20/12/2021</a:t>
            </a:fld>
            <a:endParaRPr lang="en-US"/>
          </a:p>
        </p:txBody>
      </p:sp>
    </p:spTree>
  </p:cSld>
  <p:clrMapOvr>
    <a:masterClrMapping/>
  </p:clrMapOvr>
  <p:transition spd="med">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Title 9">
            <a:extLst>
              <a:ext uri="{FF2B5EF4-FFF2-40B4-BE49-F238E27FC236}">
                <a16:creationId xmlns:a16="http://schemas.microsoft.com/office/drawing/2014/main" id="{314F01CD-5FEE-EC48-B507-0CB30998758F}"/>
              </a:ext>
            </a:extLst>
          </p:cNvPr>
          <p:cNvSpPr>
            <a:spLocks noGrp="1"/>
          </p:cNvSpPr>
          <p:nvPr>
            <p:ph type="title"/>
          </p:nvPr>
        </p:nvSpPr>
        <p:spPr>
          <a:xfrm>
            <a:off x="457200" y="277813"/>
            <a:ext cx="8229600" cy="1139825"/>
          </a:xfrm>
        </p:spPr>
        <p:txBody>
          <a:bodyPr wrap="square" anchor="ctr">
            <a:normAutofit/>
          </a:bodyPr>
          <a:lstStyle/>
          <a:p>
            <a:r>
              <a:rPr lang="en-US" altLang="en-US" dirty="0"/>
              <a:t>MVC-Based Web Application Frameworks</a:t>
            </a:r>
            <a:endParaRPr lang="en-GB" altLang="en-US" dirty="0"/>
          </a:p>
        </p:txBody>
      </p:sp>
      <p:sp>
        <p:nvSpPr>
          <p:cNvPr id="73" name="Date Placeholder 3">
            <a:extLst>
              <a:ext uri="{FF2B5EF4-FFF2-40B4-BE49-F238E27FC236}">
                <a16:creationId xmlns:a16="http://schemas.microsoft.com/office/drawing/2014/main" id="{8C36B449-1080-435F-A907-D7D376D7422C}"/>
              </a:ext>
            </a:extLst>
          </p:cNvPr>
          <p:cNvSpPr>
            <a:spLocks noGrp="1"/>
          </p:cNvSpPr>
          <p:nvPr>
            <p:ph type="dt" sz="half" idx="10"/>
          </p:nvPr>
        </p:nvSpPr>
        <p:spPr>
          <a:xfrm>
            <a:off x="457200" y="6356350"/>
            <a:ext cx="2133600" cy="365125"/>
          </a:xfrm>
        </p:spPr>
        <p:txBody>
          <a:bodyPr/>
          <a:lstStyle/>
          <a:p>
            <a:pPr>
              <a:defRPr/>
            </a:pPr>
            <a:endParaRPr lang="en-US"/>
          </a:p>
        </p:txBody>
      </p:sp>
      <p:sp>
        <p:nvSpPr>
          <p:cNvPr id="75" name="Footer Placeholder 4">
            <a:extLst>
              <a:ext uri="{FF2B5EF4-FFF2-40B4-BE49-F238E27FC236}">
                <a16:creationId xmlns:a16="http://schemas.microsoft.com/office/drawing/2014/main" id="{84782E16-19ED-4773-8C53-55254957C1BE}"/>
              </a:ext>
            </a:extLst>
          </p:cNvPr>
          <p:cNvSpPr>
            <a:spLocks noGrp="1"/>
          </p:cNvSpPr>
          <p:nvPr>
            <p:ph type="ftr" sz="quarter" idx="11"/>
          </p:nvPr>
        </p:nvSpPr>
        <p:spPr>
          <a:xfrm>
            <a:off x="3124200" y="6356350"/>
            <a:ext cx="2895600" cy="365125"/>
          </a:xfrm>
        </p:spPr>
        <p:txBody>
          <a:bodyPr/>
          <a:lstStyle/>
          <a:p>
            <a:pPr>
              <a:defRPr/>
            </a:pPr>
            <a:endParaRPr lang="en-US"/>
          </a:p>
        </p:txBody>
      </p:sp>
      <p:sp>
        <p:nvSpPr>
          <p:cNvPr id="148483" name="Slide Number Placeholder 4">
            <a:extLst>
              <a:ext uri="{FF2B5EF4-FFF2-40B4-BE49-F238E27FC236}">
                <a16:creationId xmlns:a16="http://schemas.microsoft.com/office/drawing/2014/main" id="{F055E1D2-41B1-5044-9D28-C4B02D9AF56E}"/>
              </a:ext>
            </a:extLst>
          </p:cNvPr>
          <p:cNvSpPr>
            <a:spLocks noGrp="1"/>
          </p:cNvSpPr>
          <p:nvPr>
            <p:ph type="sldNum" sz="quarter" idx="12"/>
          </p:nvPr>
        </p:nvSpPr>
        <p:spPr>
          <a:xfrm>
            <a:off x="6553200" y="6356350"/>
            <a:ext cx="21336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a:spcAft>
                <a:spcPts val="600"/>
              </a:spcAft>
            </a:pPr>
            <a:fld id="{F7EAE7DA-8F82-F543-9DB5-55C56F5B6AD8}" type="slidenum">
              <a:rPr lang="en-US" altLang="en-US" sz="1200">
                <a:solidFill>
                  <a:schemeClr val="tx1">
                    <a:tint val="75000"/>
                  </a:schemeClr>
                </a:solidFill>
              </a:rPr>
              <a:pPr>
                <a:spcAft>
                  <a:spcPts val="600"/>
                </a:spcAft>
              </a:pPr>
              <a:t>69</a:t>
            </a:fld>
            <a:endParaRPr lang="en-US" altLang="en-US" sz="1200">
              <a:solidFill>
                <a:schemeClr val="tx1">
                  <a:tint val="75000"/>
                </a:schemeClr>
              </a:solidFill>
            </a:endParaRPr>
          </a:p>
        </p:txBody>
      </p:sp>
      <p:graphicFrame>
        <p:nvGraphicFramePr>
          <p:cNvPr id="148485" name="Content Placeholder 6">
            <a:extLst>
              <a:ext uri="{FF2B5EF4-FFF2-40B4-BE49-F238E27FC236}">
                <a16:creationId xmlns:a16="http://schemas.microsoft.com/office/drawing/2014/main" id="{A1370624-3DD6-4B76-B553-997BF805D2B6}"/>
              </a:ext>
            </a:extLst>
          </p:cNvPr>
          <p:cNvGraphicFramePr>
            <a:graphicFrameLocks noGrp="1"/>
          </p:cNvGraphicFramePr>
          <p:nvPr>
            <p:ph type="tbl" idx="1"/>
            <p:extLst>
              <p:ext uri="{D42A27DB-BD31-4B8C-83A1-F6EECF244321}">
                <p14:modId xmlns:p14="http://schemas.microsoft.com/office/powerpoint/2010/main" val="635756159"/>
              </p:ext>
            </p:extLst>
          </p:nvPr>
        </p:nvGraphicFramePr>
        <p:xfrm>
          <a:off x="457200" y="1600200"/>
          <a:ext cx="8229600" cy="4530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18424034"/>
      </p:ext>
    </p:extLst>
  </p:cSld>
  <p:clrMapOvr>
    <a:masterClrMapping/>
  </p:clrMapOvr>
  <p:transition spd="med">
    <p:wipe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The Client–server</a:t>
            </a:r>
          </a:p>
        </p:txBody>
      </p:sp>
      <p:graphicFrame>
        <p:nvGraphicFramePr>
          <p:cNvPr id="4" name="Content Placeholder 3"/>
          <p:cNvGraphicFramePr>
            <a:graphicFrameLocks noGrp="1"/>
          </p:cNvGraphicFramePr>
          <p:nvPr>
            <p:ph idx="1"/>
          </p:nvPr>
        </p:nvGraphicFramePr>
        <p:xfrm>
          <a:off x="930107" y="1600200"/>
          <a:ext cx="7298479" cy="4211320"/>
        </p:xfrm>
        <a:graphic>
          <a:graphicData uri="http://schemas.openxmlformats.org/drawingml/2006/table">
            <a:tbl>
              <a:tblPr firstRow="1" bandRow="1">
                <a:tableStyleId>{5C22544A-7EE6-4342-B048-85BDC9FD1C3A}</a:tableStyleId>
              </a:tblPr>
              <a:tblGrid>
                <a:gridCol w="1847313">
                  <a:extLst>
                    <a:ext uri="{9D8B030D-6E8A-4147-A177-3AD203B41FA5}">
                      <a16:colId xmlns:a16="http://schemas.microsoft.com/office/drawing/2014/main" val="20000"/>
                    </a:ext>
                  </a:extLst>
                </a:gridCol>
                <a:gridCol w="5451166">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Client-server</a:t>
                      </a:r>
                    </a:p>
                  </a:txBody>
                  <a:tcPr marL="68580" marR="68580" marT="0" marB="0"/>
                </a:tc>
                <a:extLst>
                  <a:ext uri="{0D108BD9-81ED-4DB2-BD59-A6C34878D82A}">
                    <a16:rowId xmlns:a16="http://schemas.microsoft.com/office/drawing/2014/main" val="10000"/>
                  </a:ext>
                </a:extLst>
              </a:tr>
              <a:tr h="339165">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a:solidFill>
                            <a:srgbClr val="000000"/>
                          </a:solidFill>
                          <a:latin typeface="Helvetica"/>
                          <a:ea typeface="Times New Roman"/>
                          <a:cs typeface="Helvetica"/>
                        </a:rPr>
                        <a:t>In a client–server architecture, the functionality of the system is organized into services, with each service delivered from a separate server. Clients are users of these services and access servers to make use of them.</a:t>
                      </a: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Figure 6.11 is an example of a film and video/DVD library organized as a client–server system.</a:t>
                      </a: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Used when data in a shared database has to be accessed from a range of locations. Because servers can be replicated, may also be used when the load on a system is variable.</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The principal advantage of this model is that servers can be distributed across a network. General functionality (e.g., a printing service) can be available to all clients and does not need to be implemented by all services. </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Each service is a single point of failure so susceptible to denial of service attacks or server failure. Performance may be unpredictable because it depends on the network as well as the system. May be management problems if servers are owned by different organizations.</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70</a:t>
            </a:fld>
            <a:endParaRPr lang="en-US"/>
          </a:p>
        </p:txBody>
      </p:sp>
      <p:sp>
        <p:nvSpPr>
          <p:cNvPr id="3" name="Date Placeholder 2"/>
          <p:cNvSpPr>
            <a:spLocks noGrp="1"/>
          </p:cNvSpPr>
          <p:nvPr>
            <p:ph type="dt" sz="half" idx="10"/>
          </p:nvPr>
        </p:nvSpPr>
        <p:spPr/>
        <p:txBody>
          <a:bodyPr/>
          <a:lstStyle/>
          <a:p>
            <a:fld id="{6CEB8A52-A1A0-CD45-9058-76CEABC2AB9A}" type="datetime1">
              <a:rPr lang="en-GB" smtClean="0"/>
              <a:t>20/12/2021</a:t>
            </a:fld>
            <a:endParaRPr lang="en-US"/>
          </a:p>
        </p:txBody>
      </p:sp>
    </p:spTree>
  </p:cSld>
  <p:clrMapOvr>
    <a:masterClrMapping/>
  </p:clrMapOvr>
  <p:transition spd="med">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a:ln/>
        </p:spPr>
        <p:txBody>
          <a:bodyPr lIns="90487" tIns="44450" rIns="90487" bIns="44450"/>
          <a:lstStyle/>
          <a:p>
            <a:r>
              <a:rPr lang="en-GB" dirty="0"/>
              <a:t>Client-server architecture</a:t>
            </a:r>
          </a:p>
        </p:txBody>
      </p:sp>
      <p:sp>
        <p:nvSpPr>
          <p:cNvPr id="16387" name="Rectangle 3"/>
          <p:cNvSpPr>
            <a:spLocks noGrp="1" noChangeArrowheads="1"/>
          </p:cNvSpPr>
          <p:nvPr>
            <p:ph idx="1"/>
          </p:nvPr>
        </p:nvSpPr>
        <p:spPr>
          <a:noFill/>
          <a:ln/>
        </p:spPr>
        <p:txBody>
          <a:bodyPr lIns="90487" tIns="44450" rIns="90487" bIns="44450"/>
          <a:lstStyle/>
          <a:p>
            <a:pPr>
              <a:lnSpc>
                <a:spcPct val="90000"/>
              </a:lnSpc>
            </a:pPr>
            <a:r>
              <a:rPr lang="en-GB" dirty="0"/>
              <a:t>Distributed system model which shows how data and processing is distributed across a range of components.</a:t>
            </a:r>
          </a:p>
          <a:p>
            <a:pPr lvl="1">
              <a:lnSpc>
                <a:spcPct val="90000"/>
              </a:lnSpc>
            </a:pPr>
            <a:r>
              <a:rPr lang="en-GB" dirty="0"/>
              <a:t>Can be implemented on a single computer.</a:t>
            </a:r>
          </a:p>
          <a:p>
            <a:pPr>
              <a:lnSpc>
                <a:spcPct val="90000"/>
              </a:lnSpc>
            </a:pPr>
            <a:r>
              <a:rPr lang="en-GB" dirty="0"/>
              <a:t>Set of stand-alone servers which provide specific services such as printing, data management, etc.</a:t>
            </a:r>
          </a:p>
          <a:p>
            <a:pPr>
              <a:lnSpc>
                <a:spcPct val="90000"/>
              </a:lnSpc>
            </a:pPr>
            <a:r>
              <a:rPr lang="en-GB" dirty="0"/>
              <a:t>Set of clients which call on these services.</a:t>
            </a:r>
          </a:p>
          <a:p>
            <a:pPr>
              <a:lnSpc>
                <a:spcPct val="90000"/>
              </a:lnSpc>
            </a:pPr>
            <a:r>
              <a:rPr lang="en-GB" dirty="0"/>
              <a:t>Network which allows clients to access servers.</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71</a:t>
            </a:fld>
            <a:endParaRPr lang="en-US"/>
          </a:p>
        </p:txBody>
      </p:sp>
      <p:sp>
        <p:nvSpPr>
          <p:cNvPr id="2" name="Date Placeholder 1"/>
          <p:cNvSpPr>
            <a:spLocks noGrp="1"/>
          </p:cNvSpPr>
          <p:nvPr>
            <p:ph type="dt" sz="half" idx="10"/>
          </p:nvPr>
        </p:nvSpPr>
        <p:spPr/>
        <p:txBody>
          <a:bodyPr/>
          <a:lstStyle/>
          <a:p>
            <a:fld id="{A6DACA6E-3D7C-8343-BB5B-4B9793CA0A9B}" type="datetime1">
              <a:rPr lang="en-GB" smtClean="0"/>
              <a:t>20/12/2021</a:t>
            </a:fld>
            <a:endParaRPr lang="en-US"/>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Number Placeholder 5">
            <a:extLst>
              <a:ext uri="{FF2B5EF4-FFF2-40B4-BE49-F238E27FC236}">
                <a16:creationId xmlns:a16="http://schemas.microsoft.com/office/drawing/2014/main" id="{98D0E803-DA7B-7A4B-8582-6D37D7CBACBC}"/>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89673662-AB88-C042-99DB-2E2AECEC676C}" type="slidenum">
              <a:rPr lang="en-US" altLang="en-US" sz="1200">
                <a:latin typeface="Garamond" panose="02020404030301010803" pitchFamily="18" charset="0"/>
              </a:rPr>
              <a:pPr>
                <a:spcBef>
                  <a:spcPct val="0"/>
                </a:spcBef>
                <a:buClrTx/>
                <a:buSzTx/>
                <a:buFontTx/>
                <a:buNone/>
              </a:pPr>
              <a:t>72</a:t>
            </a:fld>
            <a:endParaRPr lang="en-US" altLang="en-US" sz="1200">
              <a:latin typeface="Garamond" panose="02020404030301010803" pitchFamily="18" charset="0"/>
            </a:endParaRPr>
          </a:p>
        </p:txBody>
      </p:sp>
      <p:sp>
        <p:nvSpPr>
          <p:cNvPr id="396290" name="Rectangle 2">
            <a:extLst>
              <a:ext uri="{FF2B5EF4-FFF2-40B4-BE49-F238E27FC236}">
                <a16:creationId xmlns:a16="http://schemas.microsoft.com/office/drawing/2014/main" id="{BE1808E7-0FF6-DB42-BFE9-4C01CB27035C}"/>
              </a:ext>
            </a:extLst>
          </p:cNvPr>
          <p:cNvSpPr>
            <a:spLocks noGrp="1" noChangeArrowheads="1"/>
          </p:cNvSpPr>
          <p:nvPr>
            <p:ph type="title"/>
          </p:nvPr>
        </p:nvSpPr>
        <p:spPr/>
        <p:txBody>
          <a:bodyPr/>
          <a:lstStyle/>
          <a:p>
            <a:pPr eaLnBrk="1" hangingPunct="1">
              <a:defRPr/>
            </a:pPr>
            <a:r>
              <a:rPr lang="en-US" dirty="0">
                <a:cs typeface="+mj-cs"/>
              </a:rPr>
              <a:t>Extension from Client-Server: N-Tier (Multi-Tier) Client Server Style</a:t>
            </a:r>
          </a:p>
        </p:txBody>
      </p:sp>
      <p:sp>
        <p:nvSpPr>
          <p:cNvPr id="396291" name="Rectangle 3">
            <a:extLst>
              <a:ext uri="{FF2B5EF4-FFF2-40B4-BE49-F238E27FC236}">
                <a16:creationId xmlns:a16="http://schemas.microsoft.com/office/drawing/2014/main" id="{88F748C2-2BD8-214F-830C-6468866E88B0}"/>
              </a:ext>
            </a:extLst>
          </p:cNvPr>
          <p:cNvSpPr>
            <a:spLocks noGrp="1" noChangeArrowheads="1"/>
          </p:cNvSpPr>
          <p:nvPr>
            <p:ph type="body" idx="1"/>
          </p:nvPr>
        </p:nvSpPr>
        <p:spPr>
          <a:xfrm>
            <a:off x="457200" y="1600200"/>
            <a:ext cx="4043363" cy="4530725"/>
          </a:xfrm>
        </p:spPr>
        <p:txBody>
          <a:bodyPr/>
          <a:lstStyle/>
          <a:p>
            <a:pPr eaLnBrk="1" hangingPunct="1">
              <a:lnSpc>
                <a:spcPct val="80000"/>
              </a:lnSpc>
              <a:buFont typeface="Wingdings" charset="0"/>
              <a:buChar char="n"/>
              <a:defRPr/>
            </a:pPr>
            <a:r>
              <a:rPr lang="en-US" sz="1900" b="1">
                <a:cs typeface="+mn-cs"/>
              </a:rPr>
              <a:t>Separation of concerns:</a:t>
            </a:r>
            <a:r>
              <a:rPr lang="en-US" sz="1900">
                <a:cs typeface="+mn-cs"/>
              </a:rPr>
              <a:t> Presentation, business and data handling logic are clearly partitioned in different tiers. </a:t>
            </a:r>
            <a:endParaRPr lang="en-US" sz="1900" b="1">
              <a:cs typeface="+mn-cs"/>
            </a:endParaRPr>
          </a:p>
          <a:p>
            <a:pPr eaLnBrk="1" hangingPunct="1">
              <a:lnSpc>
                <a:spcPct val="80000"/>
              </a:lnSpc>
              <a:buFont typeface="Wingdings" charset="0"/>
              <a:buChar char="n"/>
              <a:defRPr/>
            </a:pPr>
            <a:r>
              <a:rPr lang="en-US" sz="1900" b="1">
                <a:cs typeface="+mn-cs"/>
              </a:rPr>
              <a:t>Synchronous communications:</a:t>
            </a:r>
            <a:r>
              <a:rPr lang="en-US" sz="1900">
                <a:cs typeface="+mn-cs"/>
              </a:rPr>
              <a:t> Communications between tiers is synchronous request-reply. Each tier waits for a response from the other tier before proceeding.</a:t>
            </a:r>
            <a:endParaRPr lang="en-US" sz="1900" b="1">
              <a:cs typeface="+mn-cs"/>
            </a:endParaRPr>
          </a:p>
          <a:p>
            <a:pPr eaLnBrk="1" hangingPunct="1">
              <a:lnSpc>
                <a:spcPct val="80000"/>
              </a:lnSpc>
              <a:buFont typeface="Wingdings" charset="0"/>
              <a:buChar char="n"/>
              <a:defRPr/>
            </a:pPr>
            <a:r>
              <a:rPr lang="en-US" sz="1900" b="1">
                <a:cs typeface="+mn-cs"/>
              </a:rPr>
              <a:t>Flexible deployment:</a:t>
            </a:r>
            <a:r>
              <a:rPr lang="en-US" sz="1900">
                <a:cs typeface="+mn-cs"/>
              </a:rPr>
              <a:t> There are no restrictions on how a multi-tier application is deployed. All tiers could run on the same machine, or each tier may be deployed on its own machine. </a:t>
            </a:r>
          </a:p>
        </p:txBody>
      </p:sp>
      <p:grpSp>
        <p:nvGrpSpPr>
          <p:cNvPr id="41988" name="Group 4">
            <a:extLst>
              <a:ext uri="{FF2B5EF4-FFF2-40B4-BE49-F238E27FC236}">
                <a16:creationId xmlns:a16="http://schemas.microsoft.com/office/drawing/2014/main" id="{E61256FB-EF3C-824D-8408-FE254B280ECD}"/>
              </a:ext>
            </a:extLst>
          </p:cNvPr>
          <p:cNvGrpSpPr>
            <a:grpSpLocks noChangeAspect="1"/>
          </p:cNvGrpSpPr>
          <p:nvPr/>
        </p:nvGrpSpPr>
        <p:grpSpPr bwMode="auto">
          <a:xfrm>
            <a:off x="4787900" y="1989138"/>
            <a:ext cx="4191000" cy="3311525"/>
            <a:chOff x="2331" y="3509"/>
            <a:chExt cx="7200" cy="4713"/>
          </a:xfrm>
        </p:grpSpPr>
        <p:sp>
          <p:nvSpPr>
            <p:cNvPr id="41989" name="AutoShape 5">
              <a:extLst>
                <a:ext uri="{FF2B5EF4-FFF2-40B4-BE49-F238E27FC236}">
                  <a16:creationId xmlns:a16="http://schemas.microsoft.com/office/drawing/2014/main" id="{4A485188-B91A-5749-A921-29C879FE9309}"/>
                </a:ext>
              </a:extLst>
            </p:cNvPr>
            <p:cNvSpPr>
              <a:spLocks noChangeAspect="1" noChangeArrowheads="1"/>
            </p:cNvSpPr>
            <p:nvPr/>
          </p:nvSpPr>
          <p:spPr bwMode="auto">
            <a:xfrm>
              <a:off x="2331" y="3509"/>
              <a:ext cx="7200" cy="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endParaRPr lang="en-GB" altLang="en-US" sz="1800"/>
            </a:p>
          </p:txBody>
        </p:sp>
        <p:sp>
          <p:nvSpPr>
            <p:cNvPr id="41990" name="Rectangle 6">
              <a:extLst>
                <a:ext uri="{FF2B5EF4-FFF2-40B4-BE49-F238E27FC236}">
                  <a16:creationId xmlns:a16="http://schemas.microsoft.com/office/drawing/2014/main" id="{CE69A481-A697-F74D-A515-E9B70B384659}"/>
                </a:ext>
              </a:extLst>
            </p:cNvPr>
            <p:cNvSpPr>
              <a:spLocks noChangeArrowheads="1"/>
            </p:cNvSpPr>
            <p:nvPr/>
          </p:nvSpPr>
          <p:spPr bwMode="auto">
            <a:xfrm>
              <a:off x="4033" y="7306"/>
              <a:ext cx="4974" cy="654"/>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US" altLang="en-US" sz="1200">
                  <a:latin typeface="Times New Roman" panose="02020603050405020304" pitchFamily="18" charset="0"/>
                </a:rPr>
                <a:t>Databases</a:t>
              </a:r>
              <a:endParaRPr lang="en-US" altLang="en-US" sz="2400">
                <a:latin typeface="Arial Narrow" panose="020B0604020202020204" pitchFamily="34" charset="0"/>
              </a:endParaRPr>
            </a:p>
          </p:txBody>
        </p:sp>
        <p:sp>
          <p:nvSpPr>
            <p:cNvPr id="41991" name="Rectangle 7">
              <a:extLst>
                <a:ext uri="{FF2B5EF4-FFF2-40B4-BE49-F238E27FC236}">
                  <a16:creationId xmlns:a16="http://schemas.microsoft.com/office/drawing/2014/main" id="{CCF04AF4-737C-DE46-A518-D9347D27AB48}"/>
                </a:ext>
              </a:extLst>
            </p:cNvPr>
            <p:cNvSpPr>
              <a:spLocks noChangeArrowheads="1"/>
            </p:cNvSpPr>
            <p:nvPr/>
          </p:nvSpPr>
          <p:spPr bwMode="auto">
            <a:xfrm>
              <a:off x="4033" y="6127"/>
              <a:ext cx="4974" cy="655"/>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US" altLang="en-US" sz="1200">
                  <a:latin typeface="Times New Roman" panose="02020603050405020304" pitchFamily="18" charset="0"/>
                </a:rPr>
                <a:t>Application Server</a:t>
              </a:r>
              <a:endParaRPr lang="en-US" altLang="en-US" sz="2400">
                <a:latin typeface="Arial Narrow" panose="020B0604020202020204" pitchFamily="34" charset="0"/>
              </a:endParaRPr>
            </a:p>
          </p:txBody>
        </p:sp>
        <p:sp>
          <p:nvSpPr>
            <p:cNvPr id="41992" name="Rectangle 8">
              <a:extLst>
                <a:ext uri="{FF2B5EF4-FFF2-40B4-BE49-F238E27FC236}">
                  <a16:creationId xmlns:a16="http://schemas.microsoft.com/office/drawing/2014/main" id="{5EB72CF3-DC0B-3D43-A8A0-2C5EC89FDCE2}"/>
                </a:ext>
              </a:extLst>
            </p:cNvPr>
            <p:cNvSpPr>
              <a:spLocks noChangeArrowheads="1"/>
            </p:cNvSpPr>
            <p:nvPr/>
          </p:nvSpPr>
          <p:spPr bwMode="auto">
            <a:xfrm>
              <a:off x="4033" y="4949"/>
              <a:ext cx="4974" cy="655"/>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US" altLang="en-US" sz="1200">
                  <a:latin typeface="Times New Roman" panose="02020603050405020304" pitchFamily="18" charset="0"/>
                </a:rPr>
                <a:t>Web Server</a:t>
              </a:r>
              <a:endParaRPr lang="en-US" altLang="en-US" sz="2400">
                <a:latin typeface="Arial Narrow" panose="020B0604020202020204" pitchFamily="34" charset="0"/>
              </a:endParaRPr>
            </a:p>
          </p:txBody>
        </p:sp>
        <p:sp>
          <p:nvSpPr>
            <p:cNvPr id="41993" name="Rectangle 9">
              <a:extLst>
                <a:ext uri="{FF2B5EF4-FFF2-40B4-BE49-F238E27FC236}">
                  <a16:creationId xmlns:a16="http://schemas.microsoft.com/office/drawing/2014/main" id="{0E00B2A7-D996-9941-AD06-6FEE90A1FAE4}"/>
                </a:ext>
              </a:extLst>
            </p:cNvPr>
            <p:cNvSpPr>
              <a:spLocks noChangeArrowheads="1"/>
            </p:cNvSpPr>
            <p:nvPr/>
          </p:nvSpPr>
          <p:spPr bwMode="auto">
            <a:xfrm>
              <a:off x="4164" y="3640"/>
              <a:ext cx="1440" cy="785"/>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US" altLang="en-US" sz="1200">
                  <a:latin typeface="Times New Roman" panose="02020603050405020304" pitchFamily="18" charset="0"/>
                </a:rPr>
                <a:t>Web </a:t>
              </a:r>
            </a:p>
            <a:p>
              <a:pPr algn="ctr">
                <a:spcBef>
                  <a:spcPct val="0"/>
                </a:spcBef>
                <a:buClrTx/>
                <a:buSzTx/>
                <a:buFontTx/>
                <a:buNone/>
              </a:pPr>
              <a:r>
                <a:rPr lang="en-US" altLang="en-US" sz="1200">
                  <a:latin typeface="Times New Roman" panose="02020603050405020304" pitchFamily="18" charset="0"/>
                </a:rPr>
                <a:t>Client</a:t>
              </a:r>
              <a:endParaRPr lang="en-US" altLang="en-US" sz="2400">
                <a:latin typeface="Arial Narrow" panose="020B0604020202020204" pitchFamily="34" charset="0"/>
              </a:endParaRPr>
            </a:p>
          </p:txBody>
        </p:sp>
        <p:sp>
          <p:nvSpPr>
            <p:cNvPr id="41994" name="Rectangle 10">
              <a:extLst>
                <a:ext uri="{FF2B5EF4-FFF2-40B4-BE49-F238E27FC236}">
                  <a16:creationId xmlns:a16="http://schemas.microsoft.com/office/drawing/2014/main" id="{50B398F2-6F9B-EB45-A2A2-709DC0766242}"/>
                </a:ext>
              </a:extLst>
            </p:cNvPr>
            <p:cNvSpPr>
              <a:spLocks noChangeArrowheads="1"/>
            </p:cNvSpPr>
            <p:nvPr/>
          </p:nvSpPr>
          <p:spPr bwMode="auto">
            <a:xfrm>
              <a:off x="5866" y="3640"/>
              <a:ext cx="1440" cy="785"/>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US" altLang="en-US" sz="1200">
                  <a:latin typeface="Times New Roman" panose="02020603050405020304" pitchFamily="18" charset="0"/>
                </a:rPr>
                <a:t>Web </a:t>
              </a:r>
            </a:p>
            <a:p>
              <a:pPr algn="ctr">
                <a:spcBef>
                  <a:spcPct val="0"/>
                </a:spcBef>
                <a:buClrTx/>
                <a:buSzTx/>
                <a:buFontTx/>
                <a:buNone/>
              </a:pPr>
              <a:r>
                <a:rPr lang="en-US" altLang="en-US" sz="1200">
                  <a:latin typeface="Times New Roman" panose="02020603050405020304" pitchFamily="18" charset="0"/>
                </a:rPr>
                <a:t>Client</a:t>
              </a:r>
              <a:endParaRPr lang="en-US" altLang="en-US" sz="2400">
                <a:latin typeface="Arial Narrow" panose="020B0604020202020204" pitchFamily="34" charset="0"/>
              </a:endParaRPr>
            </a:p>
          </p:txBody>
        </p:sp>
        <p:sp>
          <p:nvSpPr>
            <p:cNvPr id="41995" name="Rectangle 11">
              <a:extLst>
                <a:ext uri="{FF2B5EF4-FFF2-40B4-BE49-F238E27FC236}">
                  <a16:creationId xmlns:a16="http://schemas.microsoft.com/office/drawing/2014/main" id="{0058C23B-FB85-374D-9B75-C5F066685DC5}"/>
                </a:ext>
              </a:extLst>
            </p:cNvPr>
            <p:cNvSpPr>
              <a:spLocks noChangeArrowheads="1"/>
            </p:cNvSpPr>
            <p:nvPr/>
          </p:nvSpPr>
          <p:spPr bwMode="auto">
            <a:xfrm>
              <a:off x="7567" y="3640"/>
              <a:ext cx="1440" cy="785"/>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US" altLang="en-US" sz="1200">
                  <a:latin typeface="Times New Roman" panose="02020603050405020304" pitchFamily="18" charset="0"/>
                </a:rPr>
                <a:t>Web </a:t>
              </a:r>
            </a:p>
            <a:p>
              <a:pPr algn="ctr">
                <a:spcBef>
                  <a:spcPct val="0"/>
                </a:spcBef>
                <a:buClrTx/>
                <a:buSzTx/>
                <a:buFontTx/>
                <a:buNone/>
              </a:pPr>
              <a:r>
                <a:rPr lang="en-US" altLang="en-US" sz="1200">
                  <a:latin typeface="Times New Roman" panose="02020603050405020304" pitchFamily="18" charset="0"/>
                </a:rPr>
                <a:t>Client</a:t>
              </a:r>
              <a:endParaRPr lang="en-US" altLang="en-US" sz="2400">
                <a:latin typeface="Arial Narrow" panose="020B0604020202020204" pitchFamily="34" charset="0"/>
              </a:endParaRPr>
            </a:p>
          </p:txBody>
        </p:sp>
        <p:sp>
          <p:nvSpPr>
            <p:cNvPr id="41996" name="AutoShape 12">
              <a:extLst>
                <a:ext uri="{FF2B5EF4-FFF2-40B4-BE49-F238E27FC236}">
                  <a16:creationId xmlns:a16="http://schemas.microsoft.com/office/drawing/2014/main" id="{D3416FD1-600C-BE47-B00F-796FE4FED126}"/>
                </a:ext>
              </a:extLst>
            </p:cNvPr>
            <p:cNvSpPr>
              <a:spLocks noChangeArrowheads="1"/>
            </p:cNvSpPr>
            <p:nvPr/>
          </p:nvSpPr>
          <p:spPr bwMode="auto">
            <a:xfrm>
              <a:off x="4818" y="4425"/>
              <a:ext cx="393" cy="524"/>
            </a:xfrm>
            <a:prstGeom prst="upDownArrow">
              <a:avLst>
                <a:gd name="adj1" fmla="val 50000"/>
                <a:gd name="adj2" fmla="val 26667"/>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endParaRPr lang="en-GB" altLang="en-US" sz="1800"/>
            </a:p>
          </p:txBody>
        </p:sp>
        <p:sp>
          <p:nvSpPr>
            <p:cNvPr id="41997" name="AutoShape 13">
              <a:extLst>
                <a:ext uri="{FF2B5EF4-FFF2-40B4-BE49-F238E27FC236}">
                  <a16:creationId xmlns:a16="http://schemas.microsoft.com/office/drawing/2014/main" id="{7A4BC24B-BFBB-A24A-8A05-8F15C1849736}"/>
                </a:ext>
              </a:extLst>
            </p:cNvPr>
            <p:cNvSpPr>
              <a:spLocks noChangeArrowheads="1"/>
            </p:cNvSpPr>
            <p:nvPr/>
          </p:nvSpPr>
          <p:spPr bwMode="auto">
            <a:xfrm>
              <a:off x="6389" y="4425"/>
              <a:ext cx="393" cy="524"/>
            </a:xfrm>
            <a:prstGeom prst="upDownArrow">
              <a:avLst>
                <a:gd name="adj1" fmla="val 50000"/>
                <a:gd name="adj2" fmla="val 26667"/>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endParaRPr lang="en-GB" altLang="en-US" sz="1800"/>
            </a:p>
          </p:txBody>
        </p:sp>
        <p:sp>
          <p:nvSpPr>
            <p:cNvPr id="41998" name="AutoShape 14">
              <a:extLst>
                <a:ext uri="{FF2B5EF4-FFF2-40B4-BE49-F238E27FC236}">
                  <a16:creationId xmlns:a16="http://schemas.microsoft.com/office/drawing/2014/main" id="{A566402F-CEFB-6B4D-987E-054BDD013AB8}"/>
                </a:ext>
              </a:extLst>
            </p:cNvPr>
            <p:cNvSpPr>
              <a:spLocks noChangeArrowheads="1"/>
            </p:cNvSpPr>
            <p:nvPr/>
          </p:nvSpPr>
          <p:spPr bwMode="auto">
            <a:xfrm>
              <a:off x="8222" y="4425"/>
              <a:ext cx="393" cy="524"/>
            </a:xfrm>
            <a:prstGeom prst="upDownArrow">
              <a:avLst>
                <a:gd name="adj1" fmla="val 50000"/>
                <a:gd name="adj2" fmla="val 26667"/>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endParaRPr lang="en-GB" altLang="en-US" sz="1800"/>
            </a:p>
          </p:txBody>
        </p:sp>
        <p:sp>
          <p:nvSpPr>
            <p:cNvPr id="41999" name="AutoShape 15">
              <a:extLst>
                <a:ext uri="{FF2B5EF4-FFF2-40B4-BE49-F238E27FC236}">
                  <a16:creationId xmlns:a16="http://schemas.microsoft.com/office/drawing/2014/main" id="{72A0B3D4-4809-6843-8067-347F6D72A59B}"/>
                </a:ext>
              </a:extLst>
            </p:cNvPr>
            <p:cNvSpPr>
              <a:spLocks noChangeArrowheads="1"/>
            </p:cNvSpPr>
            <p:nvPr/>
          </p:nvSpPr>
          <p:spPr bwMode="auto">
            <a:xfrm>
              <a:off x="6389" y="5604"/>
              <a:ext cx="393" cy="523"/>
            </a:xfrm>
            <a:prstGeom prst="upDownArrow">
              <a:avLst>
                <a:gd name="adj1" fmla="val 50000"/>
                <a:gd name="adj2" fmla="val 26616"/>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endParaRPr lang="en-GB" altLang="en-US" sz="1800"/>
            </a:p>
          </p:txBody>
        </p:sp>
        <p:sp>
          <p:nvSpPr>
            <p:cNvPr id="42000" name="AutoShape 16">
              <a:extLst>
                <a:ext uri="{FF2B5EF4-FFF2-40B4-BE49-F238E27FC236}">
                  <a16:creationId xmlns:a16="http://schemas.microsoft.com/office/drawing/2014/main" id="{3DCE12F9-66C8-3A4D-8FCD-B3AF0B257005}"/>
                </a:ext>
              </a:extLst>
            </p:cNvPr>
            <p:cNvSpPr>
              <a:spLocks noChangeArrowheads="1"/>
            </p:cNvSpPr>
            <p:nvPr/>
          </p:nvSpPr>
          <p:spPr bwMode="auto">
            <a:xfrm>
              <a:off x="6389" y="6782"/>
              <a:ext cx="393" cy="524"/>
            </a:xfrm>
            <a:prstGeom prst="upDownArrow">
              <a:avLst>
                <a:gd name="adj1" fmla="val 50000"/>
                <a:gd name="adj2" fmla="val 26667"/>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endParaRPr lang="en-GB" altLang="en-US" sz="1800"/>
            </a:p>
          </p:txBody>
        </p:sp>
        <p:sp>
          <p:nvSpPr>
            <p:cNvPr id="42001" name="Text Box 17">
              <a:extLst>
                <a:ext uri="{FF2B5EF4-FFF2-40B4-BE49-F238E27FC236}">
                  <a16:creationId xmlns:a16="http://schemas.microsoft.com/office/drawing/2014/main" id="{7A1E781C-F1CC-3243-B443-9A39A88C8FDB}"/>
                </a:ext>
              </a:extLst>
            </p:cNvPr>
            <p:cNvSpPr txBox="1">
              <a:spLocks noChangeArrowheads="1"/>
            </p:cNvSpPr>
            <p:nvPr/>
          </p:nvSpPr>
          <p:spPr bwMode="auto">
            <a:xfrm>
              <a:off x="2462" y="3640"/>
              <a:ext cx="1309" cy="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200">
                  <a:latin typeface="Times New Roman" panose="02020603050405020304" pitchFamily="18" charset="0"/>
                </a:rPr>
                <a:t>Client </a:t>
              </a:r>
            </a:p>
            <a:p>
              <a:pPr>
                <a:spcBef>
                  <a:spcPct val="0"/>
                </a:spcBef>
                <a:buClrTx/>
                <a:buSzTx/>
                <a:buFontTx/>
                <a:buNone/>
              </a:pPr>
              <a:r>
                <a:rPr lang="en-US" altLang="en-US" sz="1200">
                  <a:latin typeface="Times New Roman" panose="02020603050405020304" pitchFamily="18" charset="0"/>
                </a:rPr>
                <a:t>Tier</a:t>
              </a:r>
              <a:endParaRPr lang="en-US" altLang="en-US" sz="2400">
                <a:latin typeface="Arial Narrow" panose="020B0604020202020204" pitchFamily="34" charset="0"/>
              </a:endParaRPr>
            </a:p>
          </p:txBody>
        </p:sp>
        <p:sp>
          <p:nvSpPr>
            <p:cNvPr id="42002" name="Text Box 18">
              <a:extLst>
                <a:ext uri="{FF2B5EF4-FFF2-40B4-BE49-F238E27FC236}">
                  <a16:creationId xmlns:a16="http://schemas.microsoft.com/office/drawing/2014/main" id="{9D1A42D4-3E24-7E48-8796-90E456D6B54A}"/>
                </a:ext>
              </a:extLst>
            </p:cNvPr>
            <p:cNvSpPr txBox="1">
              <a:spLocks noChangeArrowheads="1"/>
            </p:cNvSpPr>
            <p:nvPr/>
          </p:nvSpPr>
          <p:spPr bwMode="auto">
            <a:xfrm>
              <a:off x="2462" y="4818"/>
              <a:ext cx="1702" cy="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200">
                  <a:latin typeface="Times New Roman" panose="02020603050405020304" pitchFamily="18" charset="0"/>
                </a:rPr>
                <a:t>Web Server</a:t>
              </a:r>
            </a:p>
            <a:p>
              <a:pPr>
                <a:spcBef>
                  <a:spcPct val="0"/>
                </a:spcBef>
                <a:buClrTx/>
                <a:buSzTx/>
                <a:buFontTx/>
                <a:buNone/>
              </a:pPr>
              <a:r>
                <a:rPr lang="en-US" altLang="en-US" sz="1200">
                  <a:latin typeface="Times New Roman" panose="02020603050405020304" pitchFamily="18" charset="0"/>
                </a:rPr>
                <a:t>Tier</a:t>
              </a:r>
              <a:endParaRPr lang="en-US" altLang="en-US" sz="2400">
                <a:latin typeface="Arial Narrow" panose="020B0604020202020204" pitchFamily="34" charset="0"/>
              </a:endParaRPr>
            </a:p>
          </p:txBody>
        </p:sp>
        <p:sp>
          <p:nvSpPr>
            <p:cNvPr id="42003" name="Text Box 19">
              <a:extLst>
                <a:ext uri="{FF2B5EF4-FFF2-40B4-BE49-F238E27FC236}">
                  <a16:creationId xmlns:a16="http://schemas.microsoft.com/office/drawing/2014/main" id="{9F152C09-A8B5-B446-A124-1434D53805FB}"/>
                </a:ext>
              </a:extLst>
            </p:cNvPr>
            <p:cNvSpPr txBox="1">
              <a:spLocks noChangeArrowheads="1"/>
            </p:cNvSpPr>
            <p:nvPr/>
          </p:nvSpPr>
          <p:spPr bwMode="auto">
            <a:xfrm>
              <a:off x="2462" y="5996"/>
              <a:ext cx="1702" cy="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200">
                  <a:latin typeface="Times New Roman" panose="02020603050405020304" pitchFamily="18" charset="0"/>
                </a:rPr>
                <a:t>Business Logic Tier</a:t>
              </a:r>
              <a:endParaRPr lang="en-US" altLang="en-US" sz="2400">
                <a:latin typeface="Arial Narrow" panose="020B0604020202020204" pitchFamily="34" charset="0"/>
              </a:endParaRPr>
            </a:p>
          </p:txBody>
        </p:sp>
        <p:sp>
          <p:nvSpPr>
            <p:cNvPr id="42004" name="Text Box 20">
              <a:extLst>
                <a:ext uri="{FF2B5EF4-FFF2-40B4-BE49-F238E27FC236}">
                  <a16:creationId xmlns:a16="http://schemas.microsoft.com/office/drawing/2014/main" id="{F7160B2F-0190-8C4A-92EF-521C0D9F1840}"/>
                </a:ext>
              </a:extLst>
            </p:cNvPr>
            <p:cNvSpPr txBox="1">
              <a:spLocks noChangeArrowheads="1"/>
            </p:cNvSpPr>
            <p:nvPr/>
          </p:nvSpPr>
          <p:spPr bwMode="auto">
            <a:xfrm>
              <a:off x="2462" y="7044"/>
              <a:ext cx="1702" cy="1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200">
                  <a:latin typeface="Times New Roman" panose="02020603050405020304" pitchFamily="18" charset="0"/>
                </a:rPr>
                <a:t>Data </a:t>
              </a:r>
            </a:p>
            <a:p>
              <a:pPr>
                <a:spcBef>
                  <a:spcPct val="0"/>
                </a:spcBef>
                <a:buClrTx/>
                <a:buSzTx/>
                <a:buFontTx/>
                <a:buNone/>
              </a:pPr>
              <a:r>
                <a:rPr lang="en-US" altLang="en-US" sz="1200">
                  <a:latin typeface="Times New Roman" panose="02020603050405020304" pitchFamily="18" charset="0"/>
                </a:rPr>
                <a:t>Management Tier</a:t>
              </a:r>
              <a:endParaRPr lang="en-US" altLang="en-US" sz="2400">
                <a:latin typeface="Arial Narrow" panose="020B0604020202020204" pitchFamily="34" charset="0"/>
              </a:endParaRPr>
            </a:p>
          </p:txBody>
        </p:sp>
      </p:grpSp>
    </p:spTree>
    <p:extLst>
      <p:ext uri="{BB962C8B-B14F-4D97-AF65-F5344CB8AC3E}">
        <p14:creationId xmlns:p14="http://schemas.microsoft.com/office/powerpoint/2010/main" val="248779894"/>
      </p:ext>
    </p:extLst>
  </p:cSld>
  <p:clrMapOvr>
    <a:masterClrMapping/>
  </p:clrMapOvr>
  <p:transition spd="med">
    <p:wipe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9">
            <a:extLst>
              <a:ext uri="{FF2B5EF4-FFF2-40B4-BE49-F238E27FC236}">
                <a16:creationId xmlns:a16="http://schemas.microsoft.com/office/drawing/2014/main" id="{C65F6AD3-66FD-A842-92C1-2C11F30367C6}"/>
              </a:ext>
            </a:extLst>
          </p:cNvPr>
          <p:cNvSpPr>
            <a:spLocks noGrp="1"/>
          </p:cNvSpPr>
          <p:nvPr>
            <p:ph type="title"/>
          </p:nvPr>
        </p:nvSpPr>
        <p:spPr/>
        <p:txBody>
          <a:bodyPr/>
          <a:lstStyle/>
          <a:p>
            <a:r>
              <a:rPr lang="en-US" altLang="en-US">
                <a:ea typeface="ＭＳ Ｐゴシック" panose="020B0600070205080204" pitchFamily="34" charset="-128"/>
              </a:rPr>
              <a:t>The 3-Tier Architecture Model</a:t>
            </a:r>
            <a:endParaRPr lang="en-GB" altLang="en-US">
              <a:ea typeface="ＭＳ Ｐゴシック" panose="020B0600070205080204" pitchFamily="34" charset="-128"/>
            </a:endParaRPr>
          </a:p>
        </p:txBody>
      </p:sp>
      <p:grpSp>
        <p:nvGrpSpPr>
          <p:cNvPr id="68610" name="Group 36">
            <a:extLst>
              <a:ext uri="{FF2B5EF4-FFF2-40B4-BE49-F238E27FC236}">
                <a16:creationId xmlns:a16="http://schemas.microsoft.com/office/drawing/2014/main" id="{D596504C-ABA2-5D45-B731-31C08A3C1A9D}"/>
              </a:ext>
            </a:extLst>
          </p:cNvPr>
          <p:cNvGrpSpPr>
            <a:grpSpLocks/>
          </p:cNvGrpSpPr>
          <p:nvPr/>
        </p:nvGrpSpPr>
        <p:grpSpPr bwMode="auto">
          <a:xfrm flipH="1">
            <a:off x="457199" y="1727200"/>
            <a:ext cx="8420100" cy="4419600"/>
            <a:chOff x="349250" y="1054100"/>
            <a:chExt cx="8423275" cy="5346700"/>
          </a:xfrm>
        </p:grpSpPr>
        <p:sp>
          <p:nvSpPr>
            <p:cNvPr id="38" name="Rounded Rectangle 37">
              <a:extLst>
                <a:ext uri="{FF2B5EF4-FFF2-40B4-BE49-F238E27FC236}">
                  <a16:creationId xmlns:a16="http://schemas.microsoft.com/office/drawing/2014/main" id="{7610C8F0-C15A-4744-AE50-532F18F63CC0}"/>
                </a:ext>
              </a:extLst>
            </p:cNvPr>
            <p:cNvSpPr/>
            <p:nvPr/>
          </p:nvSpPr>
          <p:spPr>
            <a:xfrm>
              <a:off x="5845175" y="1054100"/>
              <a:ext cx="2927350" cy="5334000"/>
            </a:xfrm>
            <a:prstGeom prst="roundRect">
              <a:avLst>
                <a:gd name="adj" fmla="val 5695"/>
              </a:avLst>
            </a:prstGeom>
            <a:solidFill>
              <a:schemeClr val="accent5">
                <a:lumMod val="40000"/>
                <a:lumOff val="60000"/>
                <a:alpha val="15000"/>
              </a:schemeClr>
            </a:solidFill>
            <a:ln w="12700">
              <a:solidFill>
                <a:schemeClr val="accent5">
                  <a:lumMod val="60000"/>
                  <a:lumOff val="40000"/>
                </a:schemeClr>
              </a:solidFill>
            </a:ln>
          </p:spPr>
          <p:txBody>
            <a:bodyPr/>
            <a:lstStyle/>
            <a:p>
              <a:pPr>
                <a:spcBef>
                  <a:spcPts val="0"/>
                </a:spcBef>
                <a:buClr>
                  <a:schemeClr val="accent5">
                    <a:lumMod val="40000"/>
                    <a:lumOff val="60000"/>
                  </a:schemeClr>
                </a:buClr>
                <a:buSzPct val="70000"/>
                <a:buFont typeface="Wingdings 2" pitchFamily="18" charset="2"/>
                <a:buNone/>
                <a:defRPr/>
              </a:pPr>
              <a:endParaRPr lang="en-US" sz="2000" b="1" dirty="0">
                <a:solidFill>
                  <a:srgbClr val="FF0000"/>
                </a:solidFill>
                <a:effectLst>
                  <a:outerShdw blurRad="38100" dist="38100" dir="2700000" algn="tl">
                    <a:srgbClr val="000000">
                      <a:alpha val="43137"/>
                    </a:srgbClr>
                  </a:outerShdw>
                </a:effectLst>
                <a:latin typeface="Consolas" pitchFamily="49" charset="0"/>
                <a:ea typeface="+mn-ea"/>
                <a:cs typeface="Consolas" pitchFamily="49" charset="0"/>
              </a:endParaRPr>
            </a:p>
          </p:txBody>
        </p:sp>
        <p:sp>
          <p:nvSpPr>
            <p:cNvPr id="39" name="Rounded Rectangle 38">
              <a:extLst>
                <a:ext uri="{FF2B5EF4-FFF2-40B4-BE49-F238E27FC236}">
                  <a16:creationId xmlns:a16="http://schemas.microsoft.com/office/drawing/2014/main" id="{8487FB6B-B01E-484E-B50C-74394C4D2DA6}"/>
                </a:ext>
              </a:extLst>
            </p:cNvPr>
            <p:cNvSpPr/>
            <p:nvPr/>
          </p:nvSpPr>
          <p:spPr>
            <a:xfrm>
              <a:off x="2438400" y="1066800"/>
              <a:ext cx="2133600" cy="5334000"/>
            </a:xfrm>
            <a:prstGeom prst="roundRect">
              <a:avLst>
                <a:gd name="adj" fmla="val 5695"/>
              </a:avLst>
            </a:prstGeom>
            <a:solidFill>
              <a:schemeClr val="accent5">
                <a:lumMod val="40000"/>
                <a:lumOff val="60000"/>
                <a:alpha val="15000"/>
              </a:schemeClr>
            </a:solidFill>
            <a:ln w="12700">
              <a:solidFill>
                <a:schemeClr val="accent5">
                  <a:lumMod val="60000"/>
                  <a:lumOff val="40000"/>
                </a:schemeClr>
              </a:solidFill>
            </a:ln>
          </p:spPr>
          <p:txBody>
            <a:bodyPr/>
            <a:lstStyle/>
            <a:p>
              <a:pPr>
                <a:spcBef>
                  <a:spcPts val="0"/>
                </a:spcBef>
                <a:buClr>
                  <a:schemeClr val="accent5">
                    <a:lumMod val="40000"/>
                    <a:lumOff val="60000"/>
                  </a:schemeClr>
                </a:buClr>
                <a:buSzPct val="70000"/>
                <a:buFont typeface="Wingdings 2" pitchFamily="18" charset="2"/>
                <a:buNone/>
                <a:defRPr/>
              </a:pPr>
              <a:endParaRPr lang="en-US" sz="2000" b="1" dirty="0">
                <a:solidFill>
                  <a:srgbClr val="FF0000"/>
                </a:solidFill>
                <a:effectLst>
                  <a:outerShdw blurRad="38100" dist="38100" dir="2700000" algn="tl">
                    <a:srgbClr val="000000">
                      <a:alpha val="43137"/>
                    </a:srgbClr>
                  </a:outerShdw>
                </a:effectLst>
                <a:latin typeface="Consolas" pitchFamily="49" charset="0"/>
                <a:ea typeface="+mn-ea"/>
                <a:cs typeface="Consolas" pitchFamily="49" charset="0"/>
              </a:endParaRPr>
            </a:p>
          </p:txBody>
        </p:sp>
        <p:sp>
          <p:nvSpPr>
            <p:cNvPr id="40" name="Rounded Rectangle 39">
              <a:extLst>
                <a:ext uri="{FF2B5EF4-FFF2-40B4-BE49-F238E27FC236}">
                  <a16:creationId xmlns:a16="http://schemas.microsoft.com/office/drawing/2014/main" id="{98CB3E88-20F1-314A-BDFC-D5390CEF26AD}"/>
                </a:ext>
              </a:extLst>
            </p:cNvPr>
            <p:cNvSpPr/>
            <p:nvPr/>
          </p:nvSpPr>
          <p:spPr>
            <a:xfrm>
              <a:off x="355600" y="1054100"/>
              <a:ext cx="1828800" cy="5346700"/>
            </a:xfrm>
            <a:prstGeom prst="roundRect">
              <a:avLst>
                <a:gd name="adj" fmla="val 5695"/>
              </a:avLst>
            </a:prstGeom>
            <a:solidFill>
              <a:schemeClr val="accent5">
                <a:lumMod val="40000"/>
                <a:lumOff val="60000"/>
                <a:alpha val="15000"/>
              </a:schemeClr>
            </a:solidFill>
            <a:ln w="12700">
              <a:solidFill>
                <a:schemeClr val="accent5">
                  <a:lumMod val="60000"/>
                  <a:lumOff val="40000"/>
                </a:schemeClr>
              </a:solidFill>
            </a:ln>
          </p:spPr>
          <p:txBody>
            <a:bodyPr/>
            <a:lstStyle/>
            <a:p>
              <a:pPr>
                <a:spcBef>
                  <a:spcPts val="0"/>
                </a:spcBef>
                <a:buClr>
                  <a:schemeClr val="accent5">
                    <a:lumMod val="40000"/>
                    <a:lumOff val="60000"/>
                  </a:schemeClr>
                </a:buClr>
                <a:buSzPct val="70000"/>
                <a:buFont typeface="Wingdings 2" pitchFamily="18" charset="2"/>
                <a:buNone/>
                <a:defRPr/>
              </a:pPr>
              <a:endParaRPr lang="en-US" sz="2000" b="1" dirty="0">
                <a:solidFill>
                  <a:srgbClr val="FF0000"/>
                </a:solidFill>
                <a:effectLst>
                  <a:outerShdw blurRad="38100" dist="38100" dir="2700000" algn="tl">
                    <a:srgbClr val="000000">
                      <a:alpha val="43137"/>
                    </a:srgbClr>
                  </a:outerShdw>
                </a:effectLst>
                <a:latin typeface="Consolas" pitchFamily="49" charset="0"/>
                <a:ea typeface="+mn-ea"/>
                <a:cs typeface="Consolas" pitchFamily="49" charset="0"/>
              </a:endParaRPr>
            </a:p>
          </p:txBody>
        </p:sp>
        <p:cxnSp>
          <p:nvCxnSpPr>
            <p:cNvPr id="41" name="Straight Connector 40">
              <a:extLst>
                <a:ext uri="{FF2B5EF4-FFF2-40B4-BE49-F238E27FC236}">
                  <a16:creationId xmlns:a16="http://schemas.microsoft.com/office/drawing/2014/main" id="{9761DB43-2705-B349-A975-D69415E53209}"/>
                </a:ext>
              </a:extLst>
            </p:cNvPr>
            <p:cNvCxnSpPr>
              <a:cxnSpLocks noChangeShapeType="1"/>
            </p:cNvCxnSpPr>
            <p:nvPr/>
          </p:nvCxnSpPr>
          <p:spPr bwMode="auto">
            <a:xfrm>
              <a:off x="1576388" y="3505200"/>
              <a:ext cx="1471612" cy="0"/>
            </a:xfrm>
            <a:prstGeom prst="line">
              <a:avLst/>
            </a:prstGeom>
            <a:noFill/>
            <a:ln w="25400">
              <a:solidFill>
                <a:srgbClr val="EBFFC2"/>
              </a:solidFill>
              <a:round/>
              <a:headEnd/>
              <a:tailEnd/>
            </a:ln>
            <a:effectLst>
              <a:outerShdw blurRad="50800" dist="25400" dir="5400000" rotWithShape="0">
                <a:srgbClr val="808080">
                  <a:alpha val="43137"/>
                </a:srgbClr>
              </a:outerShdw>
            </a:effectLst>
            <a:extLst>
              <a:ext uri="{909E8E84-426E-40DD-AFC4-6F175D3DCCD1}">
                <a14:hiddenFill xmlns:a14="http://schemas.microsoft.com/office/drawing/2010/main">
                  <a:noFill/>
                </a14:hiddenFill>
              </a:ext>
            </a:extLst>
          </p:spPr>
        </p:cxnSp>
        <p:cxnSp>
          <p:nvCxnSpPr>
            <p:cNvPr id="42" name="Straight Connector 41">
              <a:extLst>
                <a:ext uri="{FF2B5EF4-FFF2-40B4-BE49-F238E27FC236}">
                  <a16:creationId xmlns:a16="http://schemas.microsoft.com/office/drawing/2014/main" id="{B1C4935E-75D9-664B-AE4D-89559C81A27B}"/>
                </a:ext>
              </a:extLst>
            </p:cNvPr>
            <p:cNvCxnSpPr>
              <a:cxnSpLocks noChangeShapeType="1"/>
            </p:cNvCxnSpPr>
            <p:nvPr/>
          </p:nvCxnSpPr>
          <p:spPr bwMode="auto">
            <a:xfrm>
              <a:off x="3886200" y="3771900"/>
              <a:ext cx="2781300" cy="1600200"/>
            </a:xfrm>
            <a:prstGeom prst="line">
              <a:avLst/>
            </a:prstGeom>
            <a:noFill/>
            <a:ln w="25400">
              <a:solidFill>
                <a:srgbClr val="EBFFC2"/>
              </a:solidFill>
              <a:round/>
              <a:headEnd/>
              <a:tailEnd/>
            </a:ln>
            <a:effectLst>
              <a:outerShdw blurRad="50800" dist="25400" dir="5400000" rotWithShape="0">
                <a:srgbClr val="808080">
                  <a:alpha val="43137"/>
                </a:srgbClr>
              </a:outerShdw>
            </a:effectLst>
            <a:extLst>
              <a:ext uri="{909E8E84-426E-40DD-AFC4-6F175D3DCCD1}">
                <a14:hiddenFill xmlns:a14="http://schemas.microsoft.com/office/drawing/2010/main">
                  <a:noFill/>
                </a14:hiddenFill>
              </a:ext>
            </a:extLst>
          </p:spPr>
        </p:cxnSp>
        <p:cxnSp>
          <p:nvCxnSpPr>
            <p:cNvPr id="43" name="Straight Connector 42">
              <a:extLst>
                <a:ext uri="{FF2B5EF4-FFF2-40B4-BE49-F238E27FC236}">
                  <a16:creationId xmlns:a16="http://schemas.microsoft.com/office/drawing/2014/main" id="{E439BCFC-CFF5-E74F-B701-7CA90ACF663A}"/>
                </a:ext>
              </a:extLst>
            </p:cNvPr>
            <p:cNvCxnSpPr>
              <a:cxnSpLocks noChangeShapeType="1"/>
            </p:cNvCxnSpPr>
            <p:nvPr/>
          </p:nvCxnSpPr>
          <p:spPr bwMode="auto">
            <a:xfrm>
              <a:off x="3759200" y="3492500"/>
              <a:ext cx="3022600" cy="279400"/>
            </a:xfrm>
            <a:prstGeom prst="line">
              <a:avLst/>
            </a:prstGeom>
            <a:noFill/>
            <a:ln w="25400">
              <a:solidFill>
                <a:srgbClr val="EBFFC2"/>
              </a:solidFill>
              <a:round/>
              <a:headEnd/>
              <a:tailEnd/>
            </a:ln>
            <a:effectLst>
              <a:outerShdw blurRad="50800" dist="25400" dir="5400000" rotWithShape="0">
                <a:srgbClr val="808080">
                  <a:alpha val="43137"/>
                </a:srgbClr>
              </a:outerShdw>
            </a:effectLst>
            <a:extLst>
              <a:ext uri="{909E8E84-426E-40DD-AFC4-6F175D3DCCD1}">
                <a14:hiddenFill xmlns:a14="http://schemas.microsoft.com/office/drawing/2010/main">
                  <a:noFill/>
                </a14:hiddenFill>
              </a:ext>
            </a:extLst>
          </p:spPr>
        </p:cxnSp>
        <p:cxnSp>
          <p:nvCxnSpPr>
            <p:cNvPr id="44" name="Straight Connector 43">
              <a:extLst>
                <a:ext uri="{FF2B5EF4-FFF2-40B4-BE49-F238E27FC236}">
                  <a16:creationId xmlns:a16="http://schemas.microsoft.com/office/drawing/2014/main" id="{27E544BC-4E29-ED43-857F-DFA3FD5D3A6C}"/>
                </a:ext>
              </a:extLst>
            </p:cNvPr>
            <p:cNvCxnSpPr>
              <a:cxnSpLocks noChangeShapeType="1"/>
            </p:cNvCxnSpPr>
            <p:nvPr/>
          </p:nvCxnSpPr>
          <p:spPr bwMode="auto">
            <a:xfrm flipV="1">
              <a:off x="3886200" y="2133600"/>
              <a:ext cx="2767013" cy="1143000"/>
            </a:xfrm>
            <a:prstGeom prst="line">
              <a:avLst/>
            </a:prstGeom>
            <a:noFill/>
            <a:ln w="25400">
              <a:solidFill>
                <a:srgbClr val="EBFFC2"/>
              </a:solidFill>
              <a:round/>
              <a:headEnd/>
              <a:tailEnd/>
            </a:ln>
            <a:effectLst>
              <a:outerShdw blurRad="50800" dist="25400" dir="5400000" rotWithShape="0">
                <a:srgbClr val="808080">
                  <a:alpha val="43137"/>
                </a:srgbClr>
              </a:outerShdw>
            </a:effectLst>
            <a:extLst>
              <a:ext uri="{909E8E84-426E-40DD-AFC4-6F175D3DCCD1}">
                <a14:hiddenFill xmlns:a14="http://schemas.microsoft.com/office/drawing/2010/main">
                  <a:noFill/>
                </a14:hiddenFill>
              </a:ext>
            </a:extLst>
          </p:spPr>
        </p:cxnSp>
        <p:sp>
          <p:nvSpPr>
            <p:cNvPr id="45" name="TextBox 44">
              <a:extLst>
                <a:ext uri="{FF2B5EF4-FFF2-40B4-BE49-F238E27FC236}">
                  <a16:creationId xmlns:a16="http://schemas.microsoft.com/office/drawing/2014/main" id="{FDBEFD04-3B90-134F-8BA8-690F073FD6FB}"/>
                </a:ext>
              </a:extLst>
            </p:cNvPr>
            <p:cNvSpPr txBox="1"/>
            <p:nvPr/>
          </p:nvSpPr>
          <p:spPr>
            <a:xfrm>
              <a:off x="2819400" y="4575175"/>
              <a:ext cx="1392238" cy="862013"/>
            </a:xfrm>
            <a:prstGeom prst="rect">
              <a:avLst/>
            </a:prstGeom>
            <a:noFill/>
          </p:spPr>
          <p:txBody>
            <a:bodyPr wrap="none">
              <a:spAutoFit/>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algn="ctr" eaLnBrk="1" hangingPunct="1"/>
              <a:r>
                <a:rPr lang="en-US" altLang="en-US" sz="2500" b="1">
                  <a:solidFill>
                    <a:srgbClr val="FF0000"/>
                  </a:solidFill>
                  <a:effectLst>
                    <a:outerShdw blurRad="38100" dist="38100" dir="2700000" algn="tl">
                      <a:srgbClr val="000000"/>
                    </a:outerShdw>
                  </a:effectLst>
                  <a:latin typeface="Corbel" panose="020B0503020204020204" pitchFamily="34" charset="0"/>
                </a:rPr>
                <a:t>Business</a:t>
              </a:r>
            </a:p>
            <a:p>
              <a:pPr algn="ctr" eaLnBrk="1" hangingPunct="1"/>
              <a:r>
                <a:rPr lang="en-US" altLang="en-US" sz="2500" b="1">
                  <a:solidFill>
                    <a:srgbClr val="FF0000"/>
                  </a:solidFill>
                  <a:effectLst>
                    <a:outerShdw blurRad="38100" dist="38100" dir="2700000" algn="tl">
                      <a:srgbClr val="000000"/>
                    </a:outerShdw>
                  </a:effectLst>
                  <a:latin typeface="Corbel" panose="020B0503020204020204" pitchFamily="34" charset="0"/>
                </a:rPr>
                <a:t>Logic</a:t>
              </a:r>
            </a:p>
          </p:txBody>
        </p:sp>
        <p:pic>
          <p:nvPicPr>
            <p:cNvPr id="68619" name="Picture 3" descr="C:\Users\nakov\Downloads\hp_mobile_2.png">
              <a:extLst>
                <a:ext uri="{FF2B5EF4-FFF2-40B4-BE49-F238E27FC236}">
                  <a16:creationId xmlns:a16="http://schemas.microsoft.com/office/drawing/2014/main" id="{ADA14A0A-8AA5-924D-8C14-7E43FEC834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6625" y="3200400"/>
              <a:ext cx="14478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20" name="Picture 7" descr="laptop,computer">
              <a:extLst>
                <a:ext uri="{FF2B5EF4-FFF2-40B4-BE49-F238E27FC236}">
                  <a16:creationId xmlns:a16="http://schemas.microsoft.com/office/drawing/2014/main" id="{64355B38-D048-8B4D-A78E-E13FC8D0D5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6625" y="1600200"/>
              <a:ext cx="14478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21" name="Picture 11" descr="computer,monitor,screen,display">
              <a:extLst>
                <a:ext uri="{FF2B5EF4-FFF2-40B4-BE49-F238E27FC236}">
                  <a16:creationId xmlns:a16="http://schemas.microsoft.com/office/drawing/2014/main" id="{8CE735DF-F1A0-2D42-B82B-36DEEB6FD8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6625" y="4648200"/>
              <a:ext cx="14478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TextBox 48">
              <a:extLst>
                <a:ext uri="{FF2B5EF4-FFF2-40B4-BE49-F238E27FC236}">
                  <a16:creationId xmlns:a16="http://schemas.microsoft.com/office/drawing/2014/main" id="{B7C182AB-4A12-ED47-90F4-5A17C88E3FAF}"/>
                </a:ext>
              </a:extLst>
            </p:cNvPr>
            <p:cNvSpPr txBox="1"/>
            <p:nvPr/>
          </p:nvSpPr>
          <p:spPr>
            <a:xfrm>
              <a:off x="7413625" y="5105400"/>
              <a:ext cx="1298575" cy="830263"/>
            </a:xfrm>
            <a:prstGeom prst="rect">
              <a:avLst/>
            </a:prstGeom>
            <a:noFill/>
          </p:spPr>
          <p:txBody>
            <a:bodyPr wrap="none">
              <a:spAutoFit/>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algn="ctr" eaLnBrk="1" hangingPunct="1"/>
              <a:r>
                <a:rPr lang="en-US" altLang="en-US" sz="2400" b="1">
                  <a:solidFill>
                    <a:srgbClr val="FF0000"/>
                  </a:solidFill>
                  <a:effectLst>
                    <a:outerShdw blurRad="38100" dist="38100" dir="2700000" algn="tl">
                      <a:srgbClr val="000000"/>
                    </a:outerShdw>
                  </a:effectLst>
                  <a:latin typeface="Corbel" panose="020B0503020204020204" pitchFamily="34" charset="0"/>
                </a:rPr>
                <a:t>Desktop</a:t>
              </a:r>
            </a:p>
            <a:p>
              <a:pPr algn="ctr" eaLnBrk="1" hangingPunct="1"/>
              <a:r>
                <a:rPr lang="en-US" altLang="en-US" sz="2400" b="1">
                  <a:solidFill>
                    <a:srgbClr val="FF0000"/>
                  </a:solidFill>
                  <a:effectLst>
                    <a:outerShdw blurRad="38100" dist="38100" dir="2700000" algn="tl">
                      <a:srgbClr val="000000"/>
                    </a:outerShdw>
                  </a:effectLst>
                  <a:latin typeface="Corbel" panose="020B0503020204020204" pitchFamily="34" charset="0"/>
                </a:rPr>
                <a:t>Client</a:t>
              </a:r>
            </a:p>
          </p:txBody>
        </p:sp>
        <p:sp>
          <p:nvSpPr>
            <p:cNvPr id="50" name="TextBox 49">
              <a:extLst>
                <a:ext uri="{FF2B5EF4-FFF2-40B4-BE49-F238E27FC236}">
                  <a16:creationId xmlns:a16="http://schemas.microsoft.com/office/drawing/2014/main" id="{7E6290DF-62E6-CA45-A40E-89DF623E774C}"/>
                </a:ext>
              </a:extLst>
            </p:cNvPr>
            <p:cNvSpPr txBox="1"/>
            <p:nvPr/>
          </p:nvSpPr>
          <p:spPr>
            <a:xfrm>
              <a:off x="7532688" y="3429000"/>
              <a:ext cx="1092200" cy="830263"/>
            </a:xfrm>
            <a:prstGeom prst="rect">
              <a:avLst/>
            </a:prstGeom>
            <a:noFill/>
          </p:spPr>
          <p:txBody>
            <a:bodyPr wrap="none">
              <a:spAutoFit/>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algn="ctr" eaLnBrk="1" hangingPunct="1"/>
              <a:r>
                <a:rPr lang="en-US" altLang="en-US" sz="2400" b="1">
                  <a:solidFill>
                    <a:srgbClr val="FF0000"/>
                  </a:solidFill>
                  <a:effectLst>
                    <a:outerShdw blurRad="38100" dist="38100" dir="2700000" algn="tl">
                      <a:srgbClr val="000000"/>
                    </a:outerShdw>
                  </a:effectLst>
                  <a:latin typeface="Corbel" panose="020B0503020204020204" pitchFamily="34" charset="0"/>
                </a:rPr>
                <a:t>Mobile</a:t>
              </a:r>
            </a:p>
            <a:p>
              <a:pPr algn="ctr" eaLnBrk="1" hangingPunct="1"/>
              <a:r>
                <a:rPr lang="en-US" altLang="en-US" sz="2400" b="1">
                  <a:solidFill>
                    <a:srgbClr val="FF0000"/>
                  </a:solidFill>
                  <a:effectLst>
                    <a:outerShdw blurRad="38100" dist="38100" dir="2700000" algn="tl">
                      <a:srgbClr val="000000"/>
                    </a:outerShdw>
                  </a:effectLst>
                  <a:latin typeface="Corbel" panose="020B0503020204020204" pitchFamily="34" charset="0"/>
                </a:rPr>
                <a:t>Client</a:t>
              </a:r>
            </a:p>
          </p:txBody>
        </p:sp>
        <p:sp>
          <p:nvSpPr>
            <p:cNvPr id="51" name="TextBox 50">
              <a:extLst>
                <a:ext uri="{FF2B5EF4-FFF2-40B4-BE49-F238E27FC236}">
                  <a16:creationId xmlns:a16="http://schemas.microsoft.com/office/drawing/2014/main" id="{BE908C09-2139-B744-AFE8-F7D6A96FC75D}"/>
                </a:ext>
              </a:extLst>
            </p:cNvPr>
            <p:cNvSpPr txBox="1"/>
            <p:nvPr/>
          </p:nvSpPr>
          <p:spPr>
            <a:xfrm>
              <a:off x="7388225" y="1760538"/>
              <a:ext cx="1311275" cy="830262"/>
            </a:xfrm>
            <a:prstGeom prst="rect">
              <a:avLst/>
            </a:prstGeom>
            <a:noFill/>
          </p:spPr>
          <p:txBody>
            <a:bodyPr wrap="none">
              <a:spAutoFit/>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algn="ctr" eaLnBrk="1" hangingPunct="1"/>
              <a:r>
                <a:rPr lang="en-US" altLang="en-US" sz="2400" b="1">
                  <a:solidFill>
                    <a:srgbClr val="FF0000"/>
                  </a:solidFill>
                  <a:effectLst>
                    <a:outerShdw blurRad="38100" dist="38100" dir="2700000" algn="tl">
                      <a:srgbClr val="000000"/>
                    </a:outerShdw>
                  </a:effectLst>
                  <a:latin typeface="Corbel" panose="020B0503020204020204" pitchFamily="34" charset="0"/>
                </a:rPr>
                <a:t>Client</a:t>
              </a:r>
            </a:p>
            <a:p>
              <a:pPr algn="ctr" eaLnBrk="1" hangingPunct="1"/>
              <a:r>
                <a:rPr lang="en-US" altLang="en-US" sz="2400" b="1">
                  <a:solidFill>
                    <a:srgbClr val="FF0000"/>
                  </a:solidFill>
                  <a:effectLst>
                    <a:outerShdw blurRad="38100" dist="38100" dir="2700000" algn="tl">
                      <a:srgbClr val="000000"/>
                    </a:outerShdw>
                  </a:effectLst>
                  <a:latin typeface="Corbel" panose="020B0503020204020204" pitchFamily="34" charset="0"/>
                </a:rPr>
                <a:t>Machine</a:t>
              </a:r>
            </a:p>
          </p:txBody>
        </p:sp>
        <p:pic>
          <p:nvPicPr>
            <p:cNvPr id="68625" name="Picture 13" descr="off,server,computer">
              <a:extLst>
                <a:ext uri="{FF2B5EF4-FFF2-40B4-BE49-F238E27FC236}">
                  <a16:creationId xmlns:a16="http://schemas.microsoft.com/office/drawing/2014/main" id="{5823DC09-6DFE-6146-AAC3-E7BA44E09A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4600" y="2590800"/>
              <a:ext cx="1890713" cy="189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 name="TextBox 52">
              <a:extLst>
                <a:ext uri="{FF2B5EF4-FFF2-40B4-BE49-F238E27FC236}">
                  <a16:creationId xmlns:a16="http://schemas.microsoft.com/office/drawing/2014/main" id="{6F4C341A-CF16-FB4C-8EEE-8FBD41D69851}"/>
                </a:ext>
              </a:extLst>
            </p:cNvPr>
            <p:cNvSpPr txBox="1"/>
            <p:nvPr/>
          </p:nvSpPr>
          <p:spPr>
            <a:xfrm rot="20309905">
              <a:off x="4654550" y="2312988"/>
              <a:ext cx="1114425" cy="400050"/>
            </a:xfrm>
            <a:prstGeom prst="rect">
              <a:avLst/>
            </a:prstGeom>
            <a:noFill/>
          </p:spPr>
          <p:txBody>
            <a:bodyPr wrap="none">
              <a:spAutoFit/>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eaLnBrk="1" hangingPunct="1"/>
              <a:r>
                <a:rPr lang="en-US" altLang="en-US" sz="2000" b="1">
                  <a:solidFill>
                    <a:srgbClr val="FF0000"/>
                  </a:solidFill>
                  <a:effectLst>
                    <a:outerShdw blurRad="38100" dist="38100" dir="2700000" algn="tl">
                      <a:srgbClr val="000000"/>
                    </a:outerShdw>
                  </a:effectLst>
                  <a:latin typeface="Corbel" panose="020B0503020204020204" pitchFamily="34" charset="0"/>
                </a:rPr>
                <a:t>network</a:t>
              </a:r>
            </a:p>
          </p:txBody>
        </p:sp>
        <p:sp>
          <p:nvSpPr>
            <p:cNvPr id="54" name="TextBox 53">
              <a:extLst>
                <a:ext uri="{FF2B5EF4-FFF2-40B4-BE49-F238E27FC236}">
                  <a16:creationId xmlns:a16="http://schemas.microsoft.com/office/drawing/2014/main" id="{96BC47E2-9268-F24F-95B8-B2F0B4DAA88C}"/>
                </a:ext>
              </a:extLst>
            </p:cNvPr>
            <p:cNvSpPr txBox="1"/>
            <p:nvPr/>
          </p:nvSpPr>
          <p:spPr>
            <a:xfrm rot="249247">
              <a:off x="4673600" y="3240088"/>
              <a:ext cx="1114425" cy="400050"/>
            </a:xfrm>
            <a:prstGeom prst="rect">
              <a:avLst/>
            </a:prstGeom>
            <a:noFill/>
          </p:spPr>
          <p:txBody>
            <a:bodyPr wrap="none">
              <a:spAutoFit/>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eaLnBrk="1" hangingPunct="1"/>
              <a:r>
                <a:rPr lang="en-US" altLang="en-US" sz="2000" b="1">
                  <a:solidFill>
                    <a:srgbClr val="FF0000"/>
                  </a:solidFill>
                  <a:effectLst>
                    <a:outerShdw blurRad="38100" dist="38100" dir="2700000" algn="tl">
                      <a:srgbClr val="000000"/>
                    </a:outerShdw>
                  </a:effectLst>
                  <a:latin typeface="Corbel" panose="020B0503020204020204" pitchFamily="34" charset="0"/>
                </a:rPr>
                <a:t>network</a:t>
              </a:r>
            </a:p>
          </p:txBody>
        </p:sp>
        <p:sp>
          <p:nvSpPr>
            <p:cNvPr id="55" name="TextBox 54">
              <a:extLst>
                <a:ext uri="{FF2B5EF4-FFF2-40B4-BE49-F238E27FC236}">
                  <a16:creationId xmlns:a16="http://schemas.microsoft.com/office/drawing/2014/main" id="{9325FECD-CA18-834C-8132-CE35153D6F86}"/>
                </a:ext>
              </a:extLst>
            </p:cNvPr>
            <p:cNvSpPr txBox="1"/>
            <p:nvPr/>
          </p:nvSpPr>
          <p:spPr>
            <a:xfrm rot="1808832">
              <a:off x="4660900" y="4117975"/>
              <a:ext cx="1114425" cy="400050"/>
            </a:xfrm>
            <a:prstGeom prst="rect">
              <a:avLst/>
            </a:prstGeom>
            <a:noFill/>
          </p:spPr>
          <p:txBody>
            <a:bodyPr wrap="none">
              <a:spAutoFit/>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eaLnBrk="1" hangingPunct="1"/>
              <a:r>
                <a:rPr lang="en-US" altLang="en-US" sz="2000" b="1">
                  <a:solidFill>
                    <a:srgbClr val="FF0000"/>
                  </a:solidFill>
                  <a:effectLst>
                    <a:outerShdw blurRad="38100" dist="38100" dir="2700000" algn="tl">
                      <a:srgbClr val="000000"/>
                    </a:outerShdw>
                  </a:effectLst>
                  <a:latin typeface="Corbel" panose="020B0503020204020204" pitchFamily="34" charset="0"/>
                </a:rPr>
                <a:t>network</a:t>
              </a:r>
            </a:p>
          </p:txBody>
        </p:sp>
        <p:pic>
          <p:nvPicPr>
            <p:cNvPr id="68629" name="Picture 2" descr="database,db">
              <a:extLst>
                <a:ext uri="{FF2B5EF4-FFF2-40B4-BE49-F238E27FC236}">
                  <a16:creationId xmlns:a16="http://schemas.microsoft.com/office/drawing/2014/main" id="{EC2557DF-8C7A-7148-9A61-9E4C1A60302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250" y="2590800"/>
              <a:ext cx="1835150"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TextBox 56">
              <a:extLst>
                <a:ext uri="{FF2B5EF4-FFF2-40B4-BE49-F238E27FC236}">
                  <a16:creationId xmlns:a16="http://schemas.microsoft.com/office/drawing/2014/main" id="{3BFC8878-1CDB-DF4A-82AB-9CC8C64EAB0B}"/>
                </a:ext>
              </a:extLst>
            </p:cNvPr>
            <p:cNvSpPr txBox="1"/>
            <p:nvPr/>
          </p:nvSpPr>
          <p:spPr>
            <a:xfrm>
              <a:off x="520700" y="4419600"/>
              <a:ext cx="1501775" cy="477838"/>
            </a:xfrm>
            <a:prstGeom prst="rect">
              <a:avLst/>
            </a:prstGeom>
            <a:noFill/>
          </p:spPr>
          <p:txBody>
            <a:bodyPr wrap="none">
              <a:spAutoFit/>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eaLnBrk="1" hangingPunct="1"/>
              <a:r>
                <a:rPr lang="en-US" altLang="en-US" sz="2500" b="1">
                  <a:solidFill>
                    <a:srgbClr val="FF0000"/>
                  </a:solidFill>
                  <a:effectLst>
                    <a:outerShdw blurRad="38100" dist="38100" dir="2700000" algn="tl">
                      <a:srgbClr val="000000"/>
                    </a:outerShdw>
                  </a:effectLst>
                  <a:latin typeface="Corbel" panose="020B0503020204020204" pitchFamily="34" charset="0"/>
                </a:rPr>
                <a:t>Database</a:t>
              </a:r>
            </a:p>
          </p:txBody>
        </p:sp>
        <p:sp>
          <p:nvSpPr>
            <p:cNvPr id="58" name="TextBox 57">
              <a:extLst>
                <a:ext uri="{FF2B5EF4-FFF2-40B4-BE49-F238E27FC236}">
                  <a16:creationId xmlns:a16="http://schemas.microsoft.com/office/drawing/2014/main" id="{B30EB4DF-99A1-0044-B8C4-22D6743F3CA3}"/>
                </a:ext>
              </a:extLst>
            </p:cNvPr>
            <p:cNvSpPr txBox="1"/>
            <p:nvPr/>
          </p:nvSpPr>
          <p:spPr>
            <a:xfrm>
              <a:off x="387350" y="1066800"/>
              <a:ext cx="1519238" cy="769938"/>
            </a:xfrm>
            <a:prstGeom prst="rect">
              <a:avLst/>
            </a:prstGeom>
            <a:noFill/>
          </p:spPr>
          <p:txBody>
            <a:bodyPr wrap="none">
              <a:spAutoFit/>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eaLnBrk="1" hangingPunct="1"/>
              <a:r>
                <a:rPr lang="en-US" altLang="en-US" sz="2200" b="1" dirty="0">
                  <a:solidFill>
                    <a:srgbClr val="FF0000"/>
                  </a:solidFill>
                  <a:effectLst>
                    <a:outerShdw blurRad="38100" dist="38100" dir="2700000" algn="tl">
                      <a:srgbClr val="000000"/>
                    </a:outerShdw>
                  </a:effectLst>
                  <a:latin typeface="Corbel" panose="020B0503020204020204" pitchFamily="34" charset="0"/>
                </a:rPr>
                <a:t>Data Tier</a:t>
              </a:r>
            </a:p>
            <a:p>
              <a:pPr eaLnBrk="1" hangingPunct="1"/>
              <a:r>
                <a:rPr lang="en-US" altLang="en-US" sz="2200" b="1" dirty="0">
                  <a:solidFill>
                    <a:srgbClr val="FF0000"/>
                  </a:solidFill>
                  <a:effectLst>
                    <a:outerShdw blurRad="38100" dist="38100" dir="2700000" algn="tl">
                      <a:srgbClr val="000000"/>
                    </a:outerShdw>
                  </a:effectLst>
                  <a:latin typeface="Corbel" panose="020B0503020204020204" pitchFamily="34" charset="0"/>
                </a:rPr>
                <a:t>(Back-End)</a:t>
              </a:r>
            </a:p>
          </p:txBody>
        </p:sp>
        <p:sp>
          <p:nvSpPr>
            <p:cNvPr id="59" name="TextBox 58">
              <a:extLst>
                <a:ext uri="{FF2B5EF4-FFF2-40B4-BE49-F238E27FC236}">
                  <a16:creationId xmlns:a16="http://schemas.microsoft.com/office/drawing/2014/main" id="{D1AA67FF-C844-794C-9254-50D15D1D7252}"/>
                </a:ext>
              </a:extLst>
            </p:cNvPr>
            <p:cNvSpPr txBox="1"/>
            <p:nvPr/>
          </p:nvSpPr>
          <p:spPr>
            <a:xfrm>
              <a:off x="2457450" y="1079500"/>
              <a:ext cx="1933575" cy="769938"/>
            </a:xfrm>
            <a:prstGeom prst="rect">
              <a:avLst/>
            </a:prstGeom>
            <a:noFill/>
          </p:spPr>
          <p:txBody>
            <a:bodyPr wrap="none">
              <a:spAutoFit/>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eaLnBrk="1" hangingPunct="1"/>
              <a:r>
                <a:rPr lang="en-US" altLang="en-US" sz="2200" b="1" dirty="0">
                  <a:solidFill>
                    <a:srgbClr val="FF0000"/>
                  </a:solidFill>
                  <a:effectLst>
                    <a:outerShdw blurRad="38100" dist="38100" dir="2700000" algn="tl">
                      <a:srgbClr val="000000"/>
                    </a:outerShdw>
                  </a:effectLst>
                  <a:latin typeface="Corbel" panose="020B0503020204020204" pitchFamily="34" charset="0"/>
                </a:rPr>
                <a:t>Middle Tier</a:t>
              </a:r>
            </a:p>
            <a:p>
              <a:pPr eaLnBrk="1" hangingPunct="1"/>
              <a:r>
                <a:rPr lang="en-US" altLang="en-US" sz="2200" b="1" dirty="0">
                  <a:solidFill>
                    <a:srgbClr val="FF0000"/>
                  </a:solidFill>
                  <a:effectLst>
                    <a:outerShdw blurRad="38100" dist="38100" dir="2700000" algn="tl">
                      <a:srgbClr val="000000"/>
                    </a:outerShdw>
                  </a:effectLst>
                  <a:latin typeface="Corbel" panose="020B0503020204020204" pitchFamily="34" charset="0"/>
                </a:rPr>
                <a:t>(Business Tier)</a:t>
              </a:r>
            </a:p>
          </p:txBody>
        </p:sp>
        <p:sp>
          <p:nvSpPr>
            <p:cNvPr id="60" name="TextBox 59">
              <a:extLst>
                <a:ext uri="{FF2B5EF4-FFF2-40B4-BE49-F238E27FC236}">
                  <a16:creationId xmlns:a16="http://schemas.microsoft.com/office/drawing/2014/main" id="{6E95BFD7-8D56-4C45-8C57-529A4798F81A}"/>
                </a:ext>
              </a:extLst>
            </p:cNvPr>
            <p:cNvSpPr txBox="1"/>
            <p:nvPr/>
          </p:nvSpPr>
          <p:spPr>
            <a:xfrm>
              <a:off x="5891213" y="1079500"/>
              <a:ext cx="2879725" cy="430213"/>
            </a:xfrm>
            <a:prstGeom prst="rect">
              <a:avLst/>
            </a:prstGeom>
            <a:noFill/>
          </p:spPr>
          <p:txBody>
            <a:bodyPr wrap="none">
              <a:spAutoFit/>
            </a:bodyPr>
            <a:lstStyle>
              <a:lvl1pPr>
                <a:defRPr sz="2800">
                  <a:solidFill>
                    <a:schemeClr val="tx1"/>
                  </a:solidFill>
                  <a:latin typeface="Times" pitchFamily="2" charset="0"/>
                  <a:ea typeface="ＭＳ Ｐゴシック" panose="020B0600070205080204" pitchFamily="34" charset="-128"/>
                </a:defRPr>
              </a:lvl1pPr>
              <a:lvl2pPr marL="742950" indent="-285750">
                <a:defRPr sz="2800">
                  <a:solidFill>
                    <a:schemeClr val="tx1"/>
                  </a:solidFill>
                  <a:latin typeface="Times" pitchFamily="2" charset="0"/>
                  <a:ea typeface="ＭＳ Ｐゴシック" panose="020B0600070205080204" pitchFamily="34" charset="-128"/>
                </a:defRPr>
              </a:lvl2pPr>
              <a:lvl3pPr marL="1143000" indent="-228600">
                <a:defRPr sz="2800">
                  <a:solidFill>
                    <a:schemeClr val="tx1"/>
                  </a:solidFill>
                  <a:latin typeface="Times" pitchFamily="2" charset="0"/>
                  <a:ea typeface="ＭＳ Ｐゴシック" panose="020B0600070205080204" pitchFamily="34" charset="-128"/>
                </a:defRPr>
              </a:lvl3pPr>
              <a:lvl4pPr marL="1600200" indent="-228600">
                <a:defRPr sz="2800">
                  <a:solidFill>
                    <a:schemeClr val="tx1"/>
                  </a:solidFill>
                  <a:latin typeface="Times" pitchFamily="2" charset="0"/>
                  <a:ea typeface="ＭＳ Ｐゴシック" panose="020B0600070205080204" pitchFamily="34" charset="-128"/>
                </a:defRPr>
              </a:lvl4pPr>
              <a:lvl5pPr marL="2057400" indent="-228600">
                <a:defRPr sz="28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Times" pitchFamily="2" charset="0"/>
                  <a:ea typeface="ＭＳ Ｐゴシック" panose="020B0600070205080204" pitchFamily="34" charset="-128"/>
                </a:defRPr>
              </a:lvl9pPr>
            </a:lstStyle>
            <a:p>
              <a:pPr eaLnBrk="1" hangingPunct="1"/>
              <a:r>
                <a:rPr lang="en-US" altLang="en-US" sz="2200" b="1">
                  <a:solidFill>
                    <a:srgbClr val="FF0000"/>
                  </a:solidFill>
                  <a:effectLst>
                    <a:outerShdw blurRad="38100" dist="38100" dir="2700000" algn="tl">
                      <a:srgbClr val="000000"/>
                    </a:outerShdw>
                  </a:effectLst>
                  <a:latin typeface="Corbel" panose="020B0503020204020204" pitchFamily="34" charset="0"/>
                </a:rPr>
                <a:t>Client Tier (Front-End)</a:t>
              </a:r>
            </a:p>
          </p:txBody>
        </p:sp>
      </p:grpSp>
    </p:spTree>
    <p:extLst>
      <p:ext uri="{BB962C8B-B14F-4D97-AF65-F5344CB8AC3E}">
        <p14:creationId xmlns:p14="http://schemas.microsoft.com/office/powerpoint/2010/main" val="809570876"/>
      </p:ext>
    </p:extLst>
  </p:cSld>
  <p:clrMapOvr>
    <a:masterClrMapping/>
  </p:clrMapOvr>
  <p:transition spd="med">
    <p:wipe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Number Placeholder 5">
            <a:extLst>
              <a:ext uri="{FF2B5EF4-FFF2-40B4-BE49-F238E27FC236}">
                <a16:creationId xmlns:a16="http://schemas.microsoft.com/office/drawing/2014/main" id="{398CDA32-271D-8841-9037-C6B4CB23074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4BE8A994-303F-7E48-9461-CC166E3413F9}" type="slidenum">
              <a:rPr lang="en-US" altLang="en-US" sz="1200">
                <a:latin typeface="Garamond" panose="02020404030301010803" pitchFamily="18" charset="0"/>
              </a:rPr>
              <a:pPr>
                <a:spcBef>
                  <a:spcPct val="0"/>
                </a:spcBef>
                <a:buClrTx/>
                <a:buSzTx/>
                <a:buFontTx/>
                <a:buNone/>
              </a:pPr>
              <a:t>74</a:t>
            </a:fld>
            <a:endParaRPr lang="en-US" altLang="en-US" sz="1200">
              <a:latin typeface="Garamond" panose="02020404030301010803" pitchFamily="18" charset="0"/>
            </a:endParaRPr>
          </a:p>
        </p:txBody>
      </p:sp>
      <p:sp>
        <p:nvSpPr>
          <p:cNvPr id="43010" name="Rectangle 79">
            <a:extLst>
              <a:ext uri="{FF2B5EF4-FFF2-40B4-BE49-F238E27FC236}">
                <a16:creationId xmlns:a16="http://schemas.microsoft.com/office/drawing/2014/main" id="{DDEBCE3F-60F0-1D45-83F7-38FC3697A602}"/>
              </a:ext>
            </a:extLst>
          </p:cNvPr>
          <p:cNvSpPr>
            <a:spLocks noGrp="1" noChangeArrowheads="1"/>
          </p:cNvSpPr>
          <p:nvPr>
            <p:ph type="title"/>
          </p:nvPr>
        </p:nvSpPr>
        <p:spPr/>
        <p:txBody>
          <a:bodyPr/>
          <a:lstStyle/>
          <a:p>
            <a:pPr>
              <a:defRPr/>
            </a:pPr>
            <a:r>
              <a:rPr lang="en-US" altLang="en-US" dirty="0">
                <a:cs typeface="+mj-cs"/>
              </a:rPr>
              <a:t>N-Tier Client Server – Quality Attribute Analysis</a:t>
            </a:r>
          </a:p>
        </p:txBody>
      </p:sp>
      <p:graphicFrame>
        <p:nvGraphicFramePr>
          <p:cNvPr id="397394" name="Group 82">
            <a:extLst>
              <a:ext uri="{FF2B5EF4-FFF2-40B4-BE49-F238E27FC236}">
                <a16:creationId xmlns:a16="http://schemas.microsoft.com/office/drawing/2014/main" id="{25BB6417-F57F-FD42-83FF-D33C07F8F779}"/>
              </a:ext>
            </a:extLst>
          </p:cNvPr>
          <p:cNvGraphicFramePr>
            <a:graphicFrameLocks noGrp="1"/>
          </p:cNvGraphicFramePr>
          <p:nvPr>
            <p:ph idx="1"/>
          </p:nvPr>
        </p:nvGraphicFramePr>
        <p:xfrm>
          <a:off x="457200" y="1600200"/>
          <a:ext cx="8229600" cy="4959351"/>
        </p:xfrm>
        <a:graphic>
          <a:graphicData uri="http://schemas.openxmlformats.org/drawingml/2006/table">
            <a:tbl>
              <a:tblPr/>
              <a:tblGrid>
                <a:gridCol w="2139950">
                  <a:extLst>
                    <a:ext uri="{9D8B030D-6E8A-4147-A177-3AD203B41FA5}">
                      <a16:colId xmlns:a16="http://schemas.microsoft.com/office/drawing/2014/main" val="20000"/>
                    </a:ext>
                  </a:extLst>
                </a:gridCol>
                <a:gridCol w="6089650">
                  <a:extLst>
                    <a:ext uri="{9D8B030D-6E8A-4147-A177-3AD203B41FA5}">
                      <a16:colId xmlns:a16="http://schemas.microsoft.com/office/drawing/2014/main" val="20001"/>
                    </a:ext>
                  </a:extLst>
                </a:gridCol>
              </a:tblGrid>
              <a:tr h="518226">
                <a:tc>
                  <a:txBody>
                    <a:bodyPr/>
                    <a:lstStyle>
                      <a:lvl1pPr marL="342900" indent="-342900" eaLnBrk="0" hangingPunct="0">
                        <a:spcBef>
                          <a:spcPct val="20000"/>
                        </a:spcBef>
                        <a:buClr>
                          <a:schemeClr val="accent1"/>
                        </a:buClr>
                        <a:buSzPct val="65000"/>
                        <a:buFont typeface="Wingdings" charset="2"/>
                        <a:defRPr sz="2600">
                          <a:solidFill>
                            <a:schemeClr val="tx1"/>
                          </a:solidFill>
                          <a:latin typeface="Arial" charset="0"/>
                          <a:ea typeface="ＭＳ Ｐゴシック" charset="-128"/>
                        </a:defRPr>
                      </a:lvl1pPr>
                      <a:lvl2pPr marL="742950" indent="-285750" eaLnBrk="0" hangingPunct="0">
                        <a:spcBef>
                          <a:spcPct val="20000"/>
                        </a:spcBef>
                        <a:buClr>
                          <a:schemeClr val="accent2"/>
                        </a:buClr>
                        <a:buSzPct val="60000"/>
                        <a:buFont typeface="Wingdings" charset="2"/>
                        <a:defRPr sz="2200">
                          <a:solidFill>
                            <a:schemeClr val="tx1"/>
                          </a:solidFill>
                          <a:latin typeface="Arial" charset="0"/>
                          <a:ea typeface="ＭＳ Ｐゴシック" charset="-128"/>
                        </a:defRPr>
                      </a:lvl2pPr>
                      <a:lvl3pPr marL="1143000" indent="-228600" eaLnBrk="0" hangingPunct="0">
                        <a:spcBef>
                          <a:spcPct val="20000"/>
                        </a:spcBef>
                        <a:buClr>
                          <a:schemeClr val="accent1"/>
                        </a:buClr>
                        <a:buSzPct val="65000"/>
                        <a:buFont typeface="Wingdings" charset="2"/>
                        <a:defRPr sz="2000">
                          <a:solidFill>
                            <a:schemeClr val="tx1"/>
                          </a:solidFill>
                          <a:latin typeface="Arial" charset="0"/>
                          <a:ea typeface="ＭＳ Ｐゴシック" charset="-128"/>
                        </a:defRPr>
                      </a:lvl3pPr>
                      <a:lvl4pPr marL="1600200" indent="-228600" eaLnBrk="0" hangingPunct="0">
                        <a:spcBef>
                          <a:spcPct val="20000"/>
                        </a:spcBef>
                        <a:buClr>
                          <a:schemeClr val="accent2"/>
                        </a:buClr>
                        <a:buSzPct val="70000"/>
                        <a:buFont typeface="Wingdings" charset="2"/>
                        <a:defRPr>
                          <a:solidFill>
                            <a:schemeClr val="tx1"/>
                          </a:solidFill>
                          <a:latin typeface="Arial" charset="0"/>
                          <a:ea typeface="ＭＳ Ｐゴシック" charset="-128"/>
                        </a:defRPr>
                      </a:lvl4pPr>
                      <a:lvl5pPr marL="2057400" indent="-228600" eaLnBrk="0" hangingPunct="0">
                        <a:spcBef>
                          <a:spcPct val="20000"/>
                        </a:spcBef>
                        <a:buClr>
                          <a:schemeClr val="accent1"/>
                        </a:buClr>
                        <a:buSzPct val="75000"/>
                        <a:buFont typeface="Wingdings" charset="2"/>
                        <a:defRPr>
                          <a:solidFill>
                            <a:schemeClr val="tx1"/>
                          </a:solidFill>
                          <a:latin typeface="Arial"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a:ln>
                            <a:noFill/>
                          </a:ln>
                          <a:solidFill>
                            <a:schemeClr val="tx1"/>
                          </a:solidFill>
                          <a:effectLst/>
                          <a:latin typeface="Times" charset="0"/>
                          <a:ea typeface="ＭＳ Ｐゴシック" charset="-128"/>
                        </a:rPr>
                        <a:t>Quality</a:t>
                      </a:r>
                      <a:endParaRPr kumimoji="0" lang="en-US" altLang="en-US" sz="1400" b="0" i="0" u="none" strike="noStrike" cap="none" normalizeH="0" baseline="0">
                        <a:ln>
                          <a:noFill/>
                        </a:ln>
                        <a:solidFill>
                          <a:schemeClr val="tx1"/>
                        </a:solidFill>
                        <a:effectLst/>
                        <a:latin typeface="Times New Roman" charset="0"/>
                        <a:ea typeface="ＭＳ Ｐゴシック" charset="-128"/>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a:ln>
                            <a:noFill/>
                          </a:ln>
                          <a:solidFill>
                            <a:schemeClr val="tx1"/>
                          </a:solidFill>
                          <a:effectLst/>
                          <a:latin typeface="Times" charset="0"/>
                          <a:ea typeface="ＭＳ Ｐゴシック" charset="-128"/>
                        </a:rPr>
                        <a:t>Attribute</a:t>
                      </a:r>
                      <a:endParaRPr kumimoji="0" lang="en-US" altLang="en-US" sz="1400" b="0" i="0" u="none" strike="noStrike" cap="none" normalizeH="0" baseline="0">
                        <a:ln>
                          <a:noFill/>
                        </a:ln>
                        <a:solidFill>
                          <a:schemeClr val="tx1"/>
                        </a:solidFill>
                        <a:effectLst/>
                        <a:latin typeface="Arial" charset="0"/>
                        <a:ea typeface="ＭＳ Ｐゴシック" charset="-128"/>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accent1"/>
                        </a:buClr>
                        <a:buSzPct val="65000"/>
                        <a:buFont typeface="Wingdings" charset="2"/>
                        <a:defRPr sz="2600">
                          <a:solidFill>
                            <a:schemeClr val="tx1"/>
                          </a:solidFill>
                          <a:latin typeface="Arial" charset="0"/>
                          <a:ea typeface="ＭＳ Ｐゴシック" charset="-128"/>
                        </a:defRPr>
                      </a:lvl1pPr>
                      <a:lvl2pPr marL="742950" indent="-285750" eaLnBrk="0" hangingPunct="0">
                        <a:spcBef>
                          <a:spcPct val="20000"/>
                        </a:spcBef>
                        <a:buClr>
                          <a:schemeClr val="accent2"/>
                        </a:buClr>
                        <a:buSzPct val="60000"/>
                        <a:buFont typeface="Wingdings" charset="2"/>
                        <a:defRPr sz="2200">
                          <a:solidFill>
                            <a:schemeClr val="tx1"/>
                          </a:solidFill>
                          <a:latin typeface="Arial" charset="0"/>
                          <a:ea typeface="ＭＳ Ｐゴシック" charset="-128"/>
                        </a:defRPr>
                      </a:lvl2pPr>
                      <a:lvl3pPr marL="1143000" indent="-228600" eaLnBrk="0" hangingPunct="0">
                        <a:spcBef>
                          <a:spcPct val="20000"/>
                        </a:spcBef>
                        <a:buClr>
                          <a:schemeClr val="accent1"/>
                        </a:buClr>
                        <a:buSzPct val="65000"/>
                        <a:buFont typeface="Wingdings" charset="2"/>
                        <a:defRPr sz="2000">
                          <a:solidFill>
                            <a:schemeClr val="tx1"/>
                          </a:solidFill>
                          <a:latin typeface="Arial" charset="0"/>
                          <a:ea typeface="ＭＳ Ｐゴシック" charset="-128"/>
                        </a:defRPr>
                      </a:lvl3pPr>
                      <a:lvl4pPr marL="1600200" indent="-228600" eaLnBrk="0" hangingPunct="0">
                        <a:spcBef>
                          <a:spcPct val="20000"/>
                        </a:spcBef>
                        <a:buClr>
                          <a:schemeClr val="accent2"/>
                        </a:buClr>
                        <a:buSzPct val="70000"/>
                        <a:buFont typeface="Wingdings" charset="2"/>
                        <a:defRPr>
                          <a:solidFill>
                            <a:schemeClr val="tx1"/>
                          </a:solidFill>
                          <a:latin typeface="Arial" charset="0"/>
                          <a:ea typeface="ＭＳ Ｐゴシック" charset="-128"/>
                        </a:defRPr>
                      </a:lvl4pPr>
                      <a:lvl5pPr marL="2057400" indent="-228600" eaLnBrk="0" hangingPunct="0">
                        <a:spcBef>
                          <a:spcPct val="20000"/>
                        </a:spcBef>
                        <a:buClr>
                          <a:schemeClr val="accent1"/>
                        </a:buClr>
                        <a:buSzPct val="75000"/>
                        <a:buFont typeface="Wingdings" charset="2"/>
                        <a:defRPr>
                          <a:solidFill>
                            <a:schemeClr val="tx1"/>
                          </a:solidFill>
                          <a:latin typeface="Arial"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a:ln>
                            <a:noFill/>
                          </a:ln>
                          <a:solidFill>
                            <a:schemeClr val="tx1"/>
                          </a:solidFill>
                          <a:effectLst/>
                          <a:latin typeface="Times" charset="0"/>
                          <a:ea typeface="ＭＳ Ｐゴシック" charset="-128"/>
                        </a:rPr>
                        <a:t>Issues</a:t>
                      </a:r>
                      <a:endParaRPr kumimoji="0" lang="en-US" altLang="en-US" sz="1400" b="0" i="0" u="none" strike="noStrike" cap="none" normalizeH="0" baseline="0">
                        <a:ln>
                          <a:noFill/>
                        </a:ln>
                        <a:solidFill>
                          <a:schemeClr val="tx1"/>
                        </a:solidFill>
                        <a:effectLst/>
                        <a:latin typeface="Arial" charset="0"/>
                        <a:ea typeface="ＭＳ Ｐゴシック" charset="-128"/>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31932">
                <a:tc>
                  <a:txBody>
                    <a:bodyPr/>
                    <a:lstStyle>
                      <a:lvl1pPr marL="342900" indent="-342900" eaLnBrk="0" hangingPunct="0">
                        <a:spcBef>
                          <a:spcPct val="20000"/>
                        </a:spcBef>
                        <a:buClr>
                          <a:schemeClr val="accent1"/>
                        </a:buClr>
                        <a:buSzPct val="65000"/>
                        <a:buFont typeface="Wingdings" charset="2"/>
                        <a:defRPr sz="2600">
                          <a:solidFill>
                            <a:schemeClr val="tx1"/>
                          </a:solidFill>
                          <a:latin typeface="Arial" charset="0"/>
                          <a:ea typeface="ＭＳ Ｐゴシック" charset="-128"/>
                        </a:defRPr>
                      </a:lvl1pPr>
                      <a:lvl2pPr marL="742950" indent="-285750" eaLnBrk="0" hangingPunct="0">
                        <a:spcBef>
                          <a:spcPct val="20000"/>
                        </a:spcBef>
                        <a:buClr>
                          <a:schemeClr val="accent2"/>
                        </a:buClr>
                        <a:buSzPct val="60000"/>
                        <a:buFont typeface="Wingdings" charset="2"/>
                        <a:defRPr sz="2200">
                          <a:solidFill>
                            <a:schemeClr val="tx1"/>
                          </a:solidFill>
                          <a:latin typeface="Arial" charset="0"/>
                          <a:ea typeface="ＭＳ Ｐゴシック" charset="-128"/>
                        </a:defRPr>
                      </a:lvl2pPr>
                      <a:lvl3pPr marL="1143000" indent="-228600" eaLnBrk="0" hangingPunct="0">
                        <a:spcBef>
                          <a:spcPct val="20000"/>
                        </a:spcBef>
                        <a:buClr>
                          <a:schemeClr val="accent1"/>
                        </a:buClr>
                        <a:buSzPct val="65000"/>
                        <a:buFont typeface="Wingdings" charset="2"/>
                        <a:defRPr sz="2000">
                          <a:solidFill>
                            <a:schemeClr val="tx1"/>
                          </a:solidFill>
                          <a:latin typeface="Arial" charset="0"/>
                          <a:ea typeface="ＭＳ Ｐゴシック" charset="-128"/>
                        </a:defRPr>
                      </a:lvl3pPr>
                      <a:lvl4pPr marL="1600200" indent="-228600" eaLnBrk="0" hangingPunct="0">
                        <a:spcBef>
                          <a:spcPct val="20000"/>
                        </a:spcBef>
                        <a:buClr>
                          <a:schemeClr val="accent2"/>
                        </a:buClr>
                        <a:buSzPct val="70000"/>
                        <a:buFont typeface="Wingdings" charset="2"/>
                        <a:defRPr>
                          <a:solidFill>
                            <a:schemeClr val="tx1"/>
                          </a:solidFill>
                          <a:latin typeface="Arial" charset="0"/>
                          <a:ea typeface="ＭＳ Ｐゴシック" charset="-128"/>
                        </a:defRPr>
                      </a:lvl4pPr>
                      <a:lvl5pPr marL="2057400" indent="-228600" eaLnBrk="0" hangingPunct="0">
                        <a:spcBef>
                          <a:spcPct val="20000"/>
                        </a:spcBef>
                        <a:buClr>
                          <a:schemeClr val="accent1"/>
                        </a:buClr>
                        <a:buSzPct val="75000"/>
                        <a:buFont typeface="Wingdings" charset="2"/>
                        <a:defRPr>
                          <a:solidFill>
                            <a:schemeClr val="tx1"/>
                          </a:solidFill>
                          <a:latin typeface="Arial"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9p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charset="0"/>
                          <a:ea typeface="ＭＳ Ｐゴシック" charset="-128"/>
                        </a:rPr>
                        <a:t>Availability</a:t>
                      </a:r>
                      <a:endParaRPr kumimoji="0" lang="en-US" altLang="en-US" sz="1400" b="0" i="0" u="none" strike="noStrike" cap="none" normalizeH="0" baseline="0">
                        <a:ln>
                          <a:noFill/>
                        </a:ln>
                        <a:solidFill>
                          <a:schemeClr val="tx1"/>
                        </a:solidFill>
                        <a:effectLst/>
                        <a:latin typeface="Arial" charset="0"/>
                        <a:ea typeface="ＭＳ Ｐゴシック" charset="-128"/>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accent1"/>
                        </a:buClr>
                        <a:buSzPct val="65000"/>
                        <a:buFont typeface="Wingdings" charset="2"/>
                        <a:defRPr sz="2600">
                          <a:solidFill>
                            <a:schemeClr val="tx1"/>
                          </a:solidFill>
                          <a:latin typeface="Arial" charset="0"/>
                          <a:ea typeface="ＭＳ Ｐゴシック" charset="-128"/>
                        </a:defRPr>
                      </a:lvl1pPr>
                      <a:lvl2pPr marL="742950" indent="-285750" eaLnBrk="0" hangingPunct="0">
                        <a:spcBef>
                          <a:spcPct val="20000"/>
                        </a:spcBef>
                        <a:buClr>
                          <a:schemeClr val="accent2"/>
                        </a:buClr>
                        <a:buSzPct val="60000"/>
                        <a:buFont typeface="Wingdings" charset="2"/>
                        <a:defRPr sz="2200">
                          <a:solidFill>
                            <a:schemeClr val="tx1"/>
                          </a:solidFill>
                          <a:latin typeface="Arial" charset="0"/>
                          <a:ea typeface="ＭＳ Ｐゴシック" charset="-128"/>
                        </a:defRPr>
                      </a:lvl2pPr>
                      <a:lvl3pPr marL="1143000" indent="-228600" eaLnBrk="0" hangingPunct="0">
                        <a:spcBef>
                          <a:spcPct val="20000"/>
                        </a:spcBef>
                        <a:buClr>
                          <a:schemeClr val="accent1"/>
                        </a:buClr>
                        <a:buSzPct val="65000"/>
                        <a:buFont typeface="Wingdings" charset="2"/>
                        <a:defRPr sz="2000">
                          <a:solidFill>
                            <a:schemeClr val="tx1"/>
                          </a:solidFill>
                          <a:latin typeface="Arial" charset="0"/>
                          <a:ea typeface="ＭＳ Ｐゴシック" charset="-128"/>
                        </a:defRPr>
                      </a:lvl3pPr>
                      <a:lvl4pPr marL="1600200" indent="-228600" eaLnBrk="0" hangingPunct="0">
                        <a:spcBef>
                          <a:spcPct val="20000"/>
                        </a:spcBef>
                        <a:buClr>
                          <a:schemeClr val="accent2"/>
                        </a:buClr>
                        <a:buSzPct val="70000"/>
                        <a:buFont typeface="Wingdings" charset="2"/>
                        <a:defRPr>
                          <a:solidFill>
                            <a:schemeClr val="tx1"/>
                          </a:solidFill>
                          <a:latin typeface="Arial" charset="0"/>
                          <a:ea typeface="ＭＳ Ｐゴシック" charset="-128"/>
                        </a:defRPr>
                      </a:lvl4pPr>
                      <a:lvl5pPr marL="2057400" indent="-228600" eaLnBrk="0" hangingPunct="0">
                        <a:spcBef>
                          <a:spcPct val="20000"/>
                        </a:spcBef>
                        <a:buClr>
                          <a:schemeClr val="accent1"/>
                        </a:buClr>
                        <a:buSzPct val="75000"/>
                        <a:buFont typeface="Wingdings" charset="2"/>
                        <a:defRPr>
                          <a:solidFill>
                            <a:schemeClr val="tx1"/>
                          </a:solidFill>
                          <a:latin typeface="Arial"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charset="0"/>
                          <a:ea typeface="ＭＳ Ｐゴシック" charset="-128"/>
                        </a:rPr>
                        <a:t>Servers in each tier can be replicated, so that if one fails, others remain available. Overall the application will provide a </a:t>
                      </a:r>
                      <a:r>
                        <a:rPr kumimoji="0" lang="en-US" altLang="en-US" sz="1400" b="0" i="0" u="sng" strike="noStrike" cap="none" normalizeH="0" baseline="0">
                          <a:ln>
                            <a:noFill/>
                          </a:ln>
                          <a:solidFill>
                            <a:schemeClr val="tx1"/>
                          </a:solidFill>
                          <a:effectLst/>
                          <a:latin typeface="Times" charset="0"/>
                          <a:ea typeface="ＭＳ Ｐゴシック" charset="-128"/>
                        </a:rPr>
                        <a:t>lower quality of service until the failed server is restored.</a:t>
                      </a:r>
                      <a:endParaRPr kumimoji="0" lang="en-US" altLang="en-US" sz="1400" b="0" i="0" u="sng" strike="noStrike" cap="none" normalizeH="0" baseline="0">
                        <a:ln>
                          <a:noFill/>
                        </a:ln>
                        <a:solidFill>
                          <a:schemeClr val="tx1"/>
                        </a:solidFill>
                        <a:effectLst/>
                        <a:latin typeface="Arial" charset="0"/>
                        <a:ea typeface="ＭＳ Ｐゴシック" charset="-128"/>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01791">
                <a:tc>
                  <a:txBody>
                    <a:bodyPr/>
                    <a:lstStyle>
                      <a:lvl1pPr marL="342900" indent="-342900" eaLnBrk="0" hangingPunct="0">
                        <a:spcBef>
                          <a:spcPct val="20000"/>
                        </a:spcBef>
                        <a:buClr>
                          <a:schemeClr val="accent1"/>
                        </a:buClr>
                        <a:buSzPct val="65000"/>
                        <a:buFont typeface="Wingdings" charset="2"/>
                        <a:defRPr sz="2600">
                          <a:solidFill>
                            <a:schemeClr val="tx1"/>
                          </a:solidFill>
                          <a:latin typeface="Arial" charset="0"/>
                          <a:ea typeface="ＭＳ Ｐゴシック" charset="-128"/>
                        </a:defRPr>
                      </a:lvl1pPr>
                      <a:lvl2pPr marL="742950" indent="-285750" eaLnBrk="0" hangingPunct="0">
                        <a:spcBef>
                          <a:spcPct val="20000"/>
                        </a:spcBef>
                        <a:buClr>
                          <a:schemeClr val="accent2"/>
                        </a:buClr>
                        <a:buSzPct val="60000"/>
                        <a:buFont typeface="Wingdings" charset="2"/>
                        <a:defRPr sz="2200">
                          <a:solidFill>
                            <a:schemeClr val="tx1"/>
                          </a:solidFill>
                          <a:latin typeface="Arial" charset="0"/>
                          <a:ea typeface="ＭＳ Ｐゴシック" charset="-128"/>
                        </a:defRPr>
                      </a:lvl2pPr>
                      <a:lvl3pPr marL="1143000" indent="-228600" eaLnBrk="0" hangingPunct="0">
                        <a:spcBef>
                          <a:spcPct val="20000"/>
                        </a:spcBef>
                        <a:buClr>
                          <a:schemeClr val="accent1"/>
                        </a:buClr>
                        <a:buSzPct val="65000"/>
                        <a:buFont typeface="Wingdings" charset="2"/>
                        <a:defRPr sz="2000">
                          <a:solidFill>
                            <a:schemeClr val="tx1"/>
                          </a:solidFill>
                          <a:latin typeface="Arial" charset="0"/>
                          <a:ea typeface="ＭＳ Ｐゴシック" charset="-128"/>
                        </a:defRPr>
                      </a:lvl3pPr>
                      <a:lvl4pPr marL="1600200" indent="-228600" eaLnBrk="0" hangingPunct="0">
                        <a:spcBef>
                          <a:spcPct val="20000"/>
                        </a:spcBef>
                        <a:buClr>
                          <a:schemeClr val="accent2"/>
                        </a:buClr>
                        <a:buSzPct val="70000"/>
                        <a:buFont typeface="Wingdings" charset="2"/>
                        <a:defRPr>
                          <a:solidFill>
                            <a:schemeClr val="tx1"/>
                          </a:solidFill>
                          <a:latin typeface="Arial" charset="0"/>
                          <a:ea typeface="ＭＳ Ｐゴシック" charset="-128"/>
                        </a:defRPr>
                      </a:lvl4pPr>
                      <a:lvl5pPr marL="2057400" indent="-228600" eaLnBrk="0" hangingPunct="0">
                        <a:spcBef>
                          <a:spcPct val="20000"/>
                        </a:spcBef>
                        <a:buClr>
                          <a:schemeClr val="accent1"/>
                        </a:buClr>
                        <a:buSzPct val="75000"/>
                        <a:buFont typeface="Wingdings" charset="2"/>
                        <a:defRPr>
                          <a:solidFill>
                            <a:schemeClr val="tx1"/>
                          </a:solidFill>
                          <a:latin typeface="Arial"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9p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charset="0"/>
                          <a:ea typeface="ＭＳ Ｐゴシック" charset="-128"/>
                        </a:rPr>
                        <a:t>Failure handling </a:t>
                      </a:r>
                      <a:endParaRPr kumimoji="0" lang="en-US" altLang="en-US" sz="1400" b="0" i="0" u="none" strike="noStrike" cap="none" normalizeH="0" baseline="0">
                        <a:ln>
                          <a:noFill/>
                        </a:ln>
                        <a:solidFill>
                          <a:schemeClr val="tx1"/>
                        </a:solidFill>
                        <a:effectLst/>
                        <a:latin typeface="Arial" charset="0"/>
                        <a:ea typeface="ＭＳ Ｐゴシック" charset="-128"/>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accent1"/>
                        </a:buClr>
                        <a:buSzPct val="65000"/>
                        <a:buFont typeface="Wingdings" charset="2"/>
                        <a:defRPr sz="2600">
                          <a:solidFill>
                            <a:schemeClr val="tx1"/>
                          </a:solidFill>
                          <a:latin typeface="Arial" charset="0"/>
                          <a:ea typeface="ＭＳ Ｐゴシック" charset="-128"/>
                        </a:defRPr>
                      </a:lvl1pPr>
                      <a:lvl2pPr marL="742950" indent="-285750" eaLnBrk="0" hangingPunct="0">
                        <a:spcBef>
                          <a:spcPct val="20000"/>
                        </a:spcBef>
                        <a:buClr>
                          <a:schemeClr val="accent2"/>
                        </a:buClr>
                        <a:buSzPct val="60000"/>
                        <a:buFont typeface="Wingdings" charset="2"/>
                        <a:defRPr sz="2200">
                          <a:solidFill>
                            <a:schemeClr val="tx1"/>
                          </a:solidFill>
                          <a:latin typeface="Arial" charset="0"/>
                          <a:ea typeface="ＭＳ Ｐゴシック" charset="-128"/>
                        </a:defRPr>
                      </a:lvl2pPr>
                      <a:lvl3pPr marL="1143000" indent="-228600" eaLnBrk="0" hangingPunct="0">
                        <a:spcBef>
                          <a:spcPct val="20000"/>
                        </a:spcBef>
                        <a:buClr>
                          <a:schemeClr val="accent1"/>
                        </a:buClr>
                        <a:buSzPct val="65000"/>
                        <a:buFont typeface="Wingdings" charset="2"/>
                        <a:defRPr sz="2000">
                          <a:solidFill>
                            <a:schemeClr val="tx1"/>
                          </a:solidFill>
                          <a:latin typeface="Arial" charset="0"/>
                          <a:ea typeface="ＭＳ Ｐゴシック" charset="-128"/>
                        </a:defRPr>
                      </a:lvl3pPr>
                      <a:lvl4pPr marL="1600200" indent="-228600" eaLnBrk="0" hangingPunct="0">
                        <a:spcBef>
                          <a:spcPct val="20000"/>
                        </a:spcBef>
                        <a:buClr>
                          <a:schemeClr val="accent2"/>
                        </a:buClr>
                        <a:buSzPct val="70000"/>
                        <a:buFont typeface="Wingdings" charset="2"/>
                        <a:defRPr>
                          <a:solidFill>
                            <a:schemeClr val="tx1"/>
                          </a:solidFill>
                          <a:latin typeface="Arial" charset="0"/>
                          <a:ea typeface="ＭＳ Ｐゴシック" charset="-128"/>
                        </a:defRPr>
                      </a:lvl4pPr>
                      <a:lvl5pPr marL="2057400" indent="-228600" eaLnBrk="0" hangingPunct="0">
                        <a:spcBef>
                          <a:spcPct val="20000"/>
                        </a:spcBef>
                        <a:buClr>
                          <a:schemeClr val="accent1"/>
                        </a:buClr>
                        <a:buSzPct val="75000"/>
                        <a:buFont typeface="Wingdings" charset="2"/>
                        <a:defRPr>
                          <a:solidFill>
                            <a:schemeClr val="tx1"/>
                          </a:solidFill>
                          <a:latin typeface="Arial"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charset="0"/>
                          <a:ea typeface="ＭＳ Ｐゴシック" charset="-128"/>
                        </a:rPr>
                        <a:t>If a client is communicating with a server that fails, most web and application servers implement transparent failover. This means a client request is, without its knowledge, </a:t>
                      </a:r>
                      <a:r>
                        <a:rPr kumimoji="0" lang="en-US" altLang="en-US" sz="1400" b="0" i="0" u="sng" strike="noStrike" cap="none" normalizeH="0" baseline="0">
                          <a:ln>
                            <a:noFill/>
                          </a:ln>
                          <a:solidFill>
                            <a:schemeClr val="tx1"/>
                          </a:solidFill>
                          <a:effectLst/>
                          <a:latin typeface="Times" charset="0"/>
                          <a:ea typeface="ＭＳ Ｐゴシック" charset="-128"/>
                        </a:rPr>
                        <a:t>redirected to a live replica server that can satisfy the request</a:t>
                      </a:r>
                      <a:r>
                        <a:rPr kumimoji="0" lang="en-US" altLang="en-US" sz="1400" b="0" i="0" u="none" strike="noStrike" cap="none" normalizeH="0" baseline="0">
                          <a:ln>
                            <a:noFill/>
                          </a:ln>
                          <a:solidFill>
                            <a:schemeClr val="tx1"/>
                          </a:solidFill>
                          <a:effectLst/>
                          <a:latin typeface="Times" charset="0"/>
                          <a:ea typeface="ＭＳ Ｐゴシック" charset="-128"/>
                        </a:rPr>
                        <a:t>.</a:t>
                      </a:r>
                      <a:endParaRPr kumimoji="0" lang="en-US" altLang="en-US" sz="1400" b="0" i="0" u="none" strike="noStrike" cap="none" normalizeH="0" baseline="0">
                        <a:ln>
                          <a:noFill/>
                        </a:ln>
                        <a:solidFill>
                          <a:schemeClr val="tx1"/>
                        </a:solidFill>
                        <a:effectLst/>
                        <a:latin typeface="Arial" charset="0"/>
                        <a:ea typeface="ＭＳ Ｐゴシック" charset="-128"/>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03378">
                <a:tc>
                  <a:txBody>
                    <a:bodyPr/>
                    <a:lstStyle>
                      <a:lvl1pPr marL="342900" indent="-342900" eaLnBrk="0" hangingPunct="0">
                        <a:spcBef>
                          <a:spcPct val="20000"/>
                        </a:spcBef>
                        <a:buClr>
                          <a:schemeClr val="accent1"/>
                        </a:buClr>
                        <a:buSzPct val="65000"/>
                        <a:buFont typeface="Wingdings" charset="2"/>
                        <a:defRPr sz="2600">
                          <a:solidFill>
                            <a:schemeClr val="tx1"/>
                          </a:solidFill>
                          <a:latin typeface="Arial" charset="0"/>
                          <a:ea typeface="ＭＳ Ｐゴシック" charset="-128"/>
                        </a:defRPr>
                      </a:lvl1pPr>
                      <a:lvl2pPr marL="742950" indent="-285750" eaLnBrk="0" hangingPunct="0">
                        <a:spcBef>
                          <a:spcPct val="20000"/>
                        </a:spcBef>
                        <a:buClr>
                          <a:schemeClr val="accent2"/>
                        </a:buClr>
                        <a:buSzPct val="60000"/>
                        <a:buFont typeface="Wingdings" charset="2"/>
                        <a:defRPr sz="2200">
                          <a:solidFill>
                            <a:schemeClr val="tx1"/>
                          </a:solidFill>
                          <a:latin typeface="Arial" charset="0"/>
                          <a:ea typeface="ＭＳ Ｐゴシック" charset="-128"/>
                        </a:defRPr>
                      </a:lvl2pPr>
                      <a:lvl3pPr marL="1143000" indent="-228600" eaLnBrk="0" hangingPunct="0">
                        <a:spcBef>
                          <a:spcPct val="20000"/>
                        </a:spcBef>
                        <a:buClr>
                          <a:schemeClr val="accent1"/>
                        </a:buClr>
                        <a:buSzPct val="65000"/>
                        <a:buFont typeface="Wingdings" charset="2"/>
                        <a:defRPr sz="2000">
                          <a:solidFill>
                            <a:schemeClr val="tx1"/>
                          </a:solidFill>
                          <a:latin typeface="Arial" charset="0"/>
                          <a:ea typeface="ＭＳ Ｐゴシック" charset="-128"/>
                        </a:defRPr>
                      </a:lvl3pPr>
                      <a:lvl4pPr marL="1600200" indent="-228600" eaLnBrk="0" hangingPunct="0">
                        <a:spcBef>
                          <a:spcPct val="20000"/>
                        </a:spcBef>
                        <a:buClr>
                          <a:schemeClr val="accent2"/>
                        </a:buClr>
                        <a:buSzPct val="70000"/>
                        <a:buFont typeface="Wingdings" charset="2"/>
                        <a:defRPr>
                          <a:solidFill>
                            <a:schemeClr val="tx1"/>
                          </a:solidFill>
                          <a:latin typeface="Arial" charset="0"/>
                          <a:ea typeface="ＭＳ Ｐゴシック" charset="-128"/>
                        </a:defRPr>
                      </a:lvl4pPr>
                      <a:lvl5pPr marL="2057400" indent="-228600" eaLnBrk="0" hangingPunct="0">
                        <a:spcBef>
                          <a:spcPct val="20000"/>
                        </a:spcBef>
                        <a:buClr>
                          <a:schemeClr val="accent1"/>
                        </a:buClr>
                        <a:buSzPct val="75000"/>
                        <a:buFont typeface="Wingdings" charset="2"/>
                        <a:defRPr>
                          <a:solidFill>
                            <a:schemeClr val="tx1"/>
                          </a:solidFill>
                          <a:latin typeface="Arial"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9p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charset="0"/>
                          <a:ea typeface="ＭＳ Ｐゴシック" charset="-128"/>
                        </a:rPr>
                        <a:t>Modifiability</a:t>
                      </a:r>
                      <a:endParaRPr kumimoji="0" lang="en-US" altLang="en-US" sz="1400" b="0" i="0" u="none" strike="noStrike" cap="none" normalizeH="0" baseline="0">
                        <a:ln>
                          <a:noFill/>
                        </a:ln>
                        <a:solidFill>
                          <a:schemeClr val="tx1"/>
                        </a:solidFill>
                        <a:effectLst/>
                        <a:latin typeface="Arial" charset="0"/>
                        <a:ea typeface="ＭＳ Ｐゴシック" charset="-128"/>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accent1"/>
                        </a:buClr>
                        <a:buSzPct val="65000"/>
                        <a:buFont typeface="Wingdings" charset="2"/>
                        <a:defRPr sz="2600">
                          <a:solidFill>
                            <a:schemeClr val="tx1"/>
                          </a:solidFill>
                          <a:latin typeface="Arial" charset="0"/>
                          <a:ea typeface="ＭＳ Ｐゴシック" charset="-128"/>
                        </a:defRPr>
                      </a:lvl1pPr>
                      <a:lvl2pPr marL="742950" indent="-285750" eaLnBrk="0" hangingPunct="0">
                        <a:spcBef>
                          <a:spcPct val="20000"/>
                        </a:spcBef>
                        <a:buClr>
                          <a:schemeClr val="accent2"/>
                        </a:buClr>
                        <a:buSzPct val="60000"/>
                        <a:buFont typeface="Wingdings" charset="2"/>
                        <a:defRPr sz="2200">
                          <a:solidFill>
                            <a:schemeClr val="tx1"/>
                          </a:solidFill>
                          <a:latin typeface="Arial" charset="0"/>
                          <a:ea typeface="ＭＳ Ｐゴシック" charset="-128"/>
                        </a:defRPr>
                      </a:lvl2pPr>
                      <a:lvl3pPr marL="1143000" indent="-228600" eaLnBrk="0" hangingPunct="0">
                        <a:spcBef>
                          <a:spcPct val="20000"/>
                        </a:spcBef>
                        <a:buClr>
                          <a:schemeClr val="accent1"/>
                        </a:buClr>
                        <a:buSzPct val="65000"/>
                        <a:buFont typeface="Wingdings" charset="2"/>
                        <a:defRPr sz="2000">
                          <a:solidFill>
                            <a:schemeClr val="tx1"/>
                          </a:solidFill>
                          <a:latin typeface="Arial" charset="0"/>
                          <a:ea typeface="ＭＳ Ｐゴシック" charset="-128"/>
                        </a:defRPr>
                      </a:lvl3pPr>
                      <a:lvl4pPr marL="1600200" indent="-228600" eaLnBrk="0" hangingPunct="0">
                        <a:spcBef>
                          <a:spcPct val="20000"/>
                        </a:spcBef>
                        <a:buClr>
                          <a:schemeClr val="accent2"/>
                        </a:buClr>
                        <a:buSzPct val="70000"/>
                        <a:buFont typeface="Wingdings" charset="2"/>
                        <a:defRPr>
                          <a:solidFill>
                            <a:schemeClr val="tx1"/>
                          </a:solidFill>
                          <a:latin typeface="Arial" charset="0"/>
                          <a:ea typeface="ＭＳ Ｐゴシック" charset="-128"/>
                        </a:defRPr>
                      </a:lvl4pPr>
                      <a:lvl5pPr marL="2057400" indent="-228600" eaLnBrk="0" hangingPunct="0">
                        <a:spcBef>
                          <a:spcPct val="20000"/>
                        </a:spcBef>
                        <a:buClr>
                          <a:schemeClr val="accent1"/>
                        </a:buClr>
                        <a:buSzPct val="75000"/>
                        <a:buFont typeface="Wingdings" charset="2"/>
                        <a:defRPr>
                          <a:solidFill>
                            <a:schemeClr val="tx1"/>
                          </a:solidFill>
                          <a:latin typeface="Arial"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sng" strike="noStrike" cap="none" normalizeH="0" baseline="0">
                          <a:ln>
                            <a:noFill/>
                          </a:ln>
                          <a:solidFill>
                            <a:schemeClr val="tx1"/>
                          </a:solidFill>
                          <a:effectLst/>
                          <a:latin typeface="Times" charset="0"/>
                          <a:ea typeface="ＭＳ Ｐゴシック" charset="-128"/>
                        </a:rPr>
                        <a:t>Separation of concerns enhances modifiability</a:t>
                      </a:r>
                      <a:r>
                        <a:rPr kumimoji="0" lang="en-US" altLang="en-US" sz="1400" b="0" i="0" u="none" strike="noStrike" cap="none" normalizeH="0" baseline="0">
                          <a:ln>
                            <a:noFill/>
                          </a:ln>
                          <a:solidFill>
                            <a:schemeClr val="tx1"/>
                          </a:solidFill>
                          <a:effectLst/>
                          <a:latin typeface="Times" charset="0"/>
                          <a:ea typeface="ＭＳ Ｐゴシック" charset="-128"/>
                        </a:rPr>
                        <a:t>, as the presentation, business and data management logic are all clearly encapsulated. Each can have its internal logic modified in many cases without changes rippling into other tiers.</a:t>
                      </a:r>
                      <a:endParaRPr kumimoji="0" lang="en-US" altLang="en-US" sz="1400" b="0" i="0" u="none" strike="noStrike" cap="none" normalizeH="0" baseline="0">
                        <a:ln>
                          <a:noFill/>
                        </a:ln>
                        <a:solidFill>
                          <a:schemeClr val="tx1"/>
                        </a:solidFill>
                        <a:effectLst/>
                        <a:latin typeface="Arial" charset="0"/>
                        <a:ea typeface="ＭＳ Ｐゴシック" charset="-128"/>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159023">
                <a:tc>
                  <a:txBody>
                    <a:bodyPr/>
                    <a:lstStyle>
                      <a:lvl1pPr marL="342900" indent="-342900" eaLnBrk="0" hangingPunct="0">
                        <a:spcBef>
                          <a:spcPct val="20000"/>
                        </a:spcBef>
                        <a:buClr>
                          <a:schemeClr val="accent1"/>
                        </a:buClr>
                        <a:buSzPct val="65000"/>
                        <a:buFont typeface="Wingdings" charset="2"/>
                        <a:defRPr sz="2600">
                          <a:solidFill>
                            <a:schemeClr val="tx1"/>
                          </a:solidFill>
                          <a:latin typeface="Arial" charset="0"/>
                          <a:ea typeface="ＭＳ Ｐゴシック" charset="-128"/>
                        </a:defRPr>
                      </a:lvl1pPr>
                      <a:lvl2pPr marL="742950" indent="-285750" eaLnBrk="0" hangingPunct="0">
                        <a:spcBef>
                          <a:spcPct val="20000"/>
                        </a:spcBef>
                        <a:buClr>
                          <a:schemeClr val="accent2"/>
                        </a:buClr>
                        <a:buSzPct val="60000"/>
                        <a:buFont typeface="Wingdings" charset="2"/>
                        <a:defRPr sz="2200">
                          <a:solidFill>
                            <a:schemeClr val="tx1"/>
                          </a:solidFill>
                          <a:latin typeface="Arial" charset="0"/>
                          <a:ea typeface="ＭＳ Ｐゴシック" charset="-128"/>
                        </a:defRPr>
                      </a:lvl2pPr>
                      <a:lvl3pPr marL="1143000" indent="-228600" eaLnBrk="0" hangingPunct="0">
                        <a:spcBef>
                          <a:spcPct val="20000"/>
                        </a:spcBef>
                        <a:buClr>
                          <a:schemeClr val="accent1"/>
                        </a:buClr>
                        <a:buSzPct val="65000"/>
                        <a:buFont typeface="Wingdings" charset="2"/>
                        <a:defRPr sz="2000">
                          <a:solidFill>
                            <a:schemeClr val="tx1"/>
                          </a:solidFill>
                          <a:latin typeface="Arial" charset="0"/>
                          <a:ea typeface="ＭＳ Ｐゴシック" charset="-128"/>
                        </a:defRPr>
                      </a:lvl3pPr>
                      <a:lvl4pPr marL="1600200" indent="-228600" eaLnBrk="0" hangingPunct="0">
                        <a:spcBef>
                          <a:spcPct val="20000"/>
                        </a:spcBef>
                        <a:buClr>
                          <a:schemeClr val="accent2"/>
                        </a:buClr>
                        <a:buSzPct val="70000"/>
                        <a:buFont typeface="Wingdings" charset="2"/>
                        <a:defRPr>
                          <a:solidFill>
                            <a:schemeClr val="tx1"/>
                          </a:solidFill>
                          <a:latin typeface="Arial" charset="0"/>
                          <a:ea typeface="ＭＳ Ｐゴシック" charset="-128"/>
                        </a:defRPr>
                      </a:lvl4pPr>
                      <a:lvl5pPr marL="2057400" indent="-228600" eaLnBrk="0" hangingPunct="0">
                        <a:spcBef>
                          <a:spcPct val="20000"/>
                        </a:spcBef>
                        <a:buClr>
                          <a:schemeClr val="accent1"/>
                        </a:buClr>
                        <a:buSzPct val="75000"/>
                        <a:buFont typeface="Wingdings" charset="2"/>
                        <a:defRPr>
                          <a:solidFill>
                            <a:schemeClr val="tx1"/>
                          </a:solidFill>
                          <a:latin typeface="Arial"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9p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charset="0"/>
                          <a:ea typeface="ＭＳ Ｐゴシック" charset="-128"/>
                        </a:rPr>
                        <a:t>Performance</a:t>
                      </a:r>
                      <a:endParaRPr kumimoji="0" lang="en-US" altLang="en-US" sz="1400" b="0" i="0" u="none" strike="noStrike" cap="none" normalizeH="0" baseline="0">
                        <a:ln>
                          <a:noFill/>
                        </a:ln>
                        <a:solidFill>
                          <a:schemeClr val="tx1"/>
                        </a:solidFill>
                        <a:effectLst/>
                        <a:latin typeface="Arial" charset="0"/>
                        <a:ea typeface="ＭＳ Ｐゴシック" charset="-128"/>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accent1"/>
                        </a:buClr>
                        <a:buSzPct val="65000"/>
                        <a:buFont typeface="Wingdings" charset="2"/>
                        <a:defRPr sz="2600">
                          <a:solidFill>
                            <a:schemeClr val="tx1"/>
                          </a:solidFill>
                          <a:latin typeface="Arial" charset="0"/>
                          <a:ea typeface="ＭＳ Ｐゴシック" charset="-128"/>
                        </a:defRPr>
                      </a:lvl1pPr>
                      <a:lvl2pPr marL="742950" indent="-285750" eaLnBrk="0" hangingPunct="0">
                        <a:spcBef>
                          <a:spcPct val="20000"/>
                        </a:spcBef>
                        <a:buClr>
                          <a:schemeClr val="accent2"/>
                        </a:buClr>
                        <a:buSzPct val="60000"/>
                        <a:buFont typeface="Wingdings" charset="2"/>
                        <a:defRPr sz="2200">
                          <a:solidFill>
                            <a:schemeClr val="tx1"/>
                          </a:solidFill>
                          <a:latin typeface="Arial" charset="0"/>
                          <a:ea typeface="ＭＳ Ｐゴシック" charset="-128"/>
                        </a:defRPr>
                      </a:lvl2pPr>
                      <a:lvl3pPr marL="1143000" indent="-228600" eaLnBrk="0" hangingPunct="0">
                        <a:spcBef>
                          <a:spcPct val="20000"/>
                        </a:spcBef>
                        <a:buClr>
                          <a:schemeClr val="accent1"/>
                        </a:buClr>
                        <a:buSzPct val="65000"/>
                        <a:buFont typeface="Wingdings" charset="2"/>
                        <a:defRPr sz="2000">
                          <a:solidFill>
                            <a:schemeClr val="tx1"/>
                          </a:solidFill>
                          <a:latin typeface="Arial" charset="0"/>
                          <a:ea typeface="ＭＳ Ｐゴシック" charset="-128"/>
                        </a:defRPr>
                      </a:lvl3pPr>
                      <a:lvl4pPr marL="1600200" indent="-228600" eaLnBrk="0" hangingPunct="0">
                        <a:spcBef>
                          <a:spcPct val="20000"/>
                        </a:spcBef>
                        <a:buClr>
                          <a:schemeClr val="accent2"/>
                        </a:buClr>
                        <a:buSzPct val="70000"/>
                        <a:buFont typeface="Wingdings" charset="2"/>
                        <a:defRPr>
                          <a:solidFill>
                            <a:schemeClr val="tx1"/>
                          </a:solidFill>
                          <a:latin typeface="Arial" charset="0"/>
                          <a:ea typeface="ＭＳ Ｐゴシック" charset="-128"/>
                        </a:defRPr>
                      </a:lvl4pPr>
                      <a:lvl5pPr marL="2057400" indent="-228600" eaLnBrk="0" hangingPunct="0">
                        <a:spcBef>
                          <a:spcPct val="20000"/>
                        </a:spcBef>
                        <a:buClr>
                          <a:schemeClr val="accent1"/>
                        </a:buClr>
                        <a:buSzPct val="75000"/>
                        <a:buFont typeface="Wingdings" charset="2"/>
                        <a:defRPr>
                          <a:solidFill>
                            <a:schemeClr val="tx1"/>
                          </a:solidFill>
                          <a:latin typeface="Arial"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charset="0"/>
                          <a:ea typeface="ＭＳ Ｐゴシック" charset="-128"/>
                        </a:rPr>
                        <a:t>This architecture has proven high performance. </a:t>
                      </a:r>
                      <a:r>
                        <a:rPr kumimoji="0" lang="en-US" altLang="en-US" sz="1400" b="0" i="0" u="sng" strike="noStrike" cap="none" normalizeH="0" baseline="0">
                          <a:ln>
                            <a:noFill/>
                          </a:ln>
                          <a:solidFill>
                            <a:schemeClr val="tx1"/>
                          </a:solidFill>
                          <a:effectLst/>
                          <a:latin typeface="Times" charset="0"/>
                          <a:ea typeface="ＭＳ Ｐゴシック" charset="-128"/>
                        </a:rPr>
                        <a:t>Key issues to consider are the amount of concurrent threads supported in each server</a:t>
                      </a:r>
                      <a:r>
                        <a:rPr kumimoji="0" lang="en-US" altLang="en-US" sz="1400" b="0" i="0" u="none" strike="noStrike" cap="none" normalizeH="0" baseline="0">
                          <a:ln>
                            <a:noFill/>
                          </a:ln>
                          <a:solidFill>
                            <a:schemeClr val="tx1"/>
                          </a:solidFill>
                          <a:effectLst/>
                          <a:latin typeface="Times" charset="0"/>
                          <a:ea typeface="ＭＳ Ｐゴシック" charset="-128"/>
                        </a:rPr>
                        <a:t>, </a:t>
                      </a:r>
                      <a:r>
                        <a:rPr kumimoji="0" lang="en-US" altLang="en-US" sz="1400" b="0" i="0" u="sng" strike="noStrike" cap="none" normalizeH="0" baseline="0">
                          <a:ln>
                            <a:noFill/>
                          </a:ln>
                          <a:solidFill>
                            <a:schemeClr val="tx1"/>
                          </a:solidFill>
                          <a:effectLst/>
                          <a:latin typeface="Times" charset="0"/>
                          <a:ea typeface="ＭＳ Ｐゴシック" charset="-128"/>
                        </a:rPr>
                        <a:t>the speed of connections between tiers</a:t>
                      </a:r>
                      <a:r>
                        <a:rPr kumimoji="0" lang="en-US" altLang="en-US" sz="1400" b="0" i="0" u="none" strike="noStrike" cap="none" normalizeH="0" baseline="0">
                          <a:ln>
                            <a:noFill/>
                          </a:ln>
                          <a:solidFill>
                            <a:schemeClr val="tx1"/>
                          </a:solidFill>
                          <a:effectLst/>
                          <a:latin typeface="Times" charset="0"/>
                          <a:ea typeface="ＭＳ Ｐゴシック" charset="-128"/>
                        </a:rPr>
                        <a:t> and </a:t>
                      </a:r>
                      <a:r>
                        <a:rPr kumimoji="0" lang="en-US" altLang="en-US" sz="1400" b="0" i="0" u="sng" strike="noStrike" cap="none" normalizeH="0" baseline="0">
                          <a:ln>
                            <a:noFill/>
                          </a:ln>
                          <a:solidFill>
                            <a:schemeClr val="tx1"/>
                          </a:solidFill>
                          <a:effectLst/>
                          <a:latin typeface="Times" charset="0"/>
                          <a:ea typeface="ＭＳ Ｐゴシック" charset="-128"/>
                        </a:rPr>
                        <a:t>the amount of data that is transferred</a:t>
                      </a:r>
                      <a:r>
                        <a:rPr kumimoji="0" lang="en-US" altLang="en-US" sz="1400" b="0" i="0" u="none" strike="noStrike" cap="none" normalizeH="0" baseline="0">
                          <a:ln>
                            <a:noFill/>
                          </a:ln>
                          <a:solidFill>
                            <a:schemeClr val="tx1"/>
                          </a:solidFill>
                          <a:effectLst/>
                          <a:latin typeface="Times" charset="0"/>
                          <a:ea typeface="ＭＳ Ｐゴシック" charset="-128"/>
                        </a:rPr>
                        <a:t>. As always with distributed systems, it makes sense to minimize the calls needed between tiers to fulfill each request.</a:t>
                      </a:r>
                      <a:endParaRPr kumimoji="0" lang="en-US" altLang="en-US" sz="1400" b="0" i="0" u="none" strike="noStrike" cap="none" normalizeH="0" baseline="0">
                        <a:ln>
                          <a:noFill/>
                        </a:ln>
                        <a:solidFill>
                          <a:schemeClr val="tx1"/>
                        </a:solidFill>
                        <a:effectLst/>
                        <a:latin typeface="Arial" charset="0"/>
                        <a:ea typeface="ＭＳ Ｐゴシック" charset="-128"/>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945001">
                <a:tc>
                  <a:txBody>
                    <a:bodyPr/>
                    <a:lstStyle>
                      <a:lvl1pPr marL="342900" indent="-342900" eaLnBrk="0" hangingPunct="0">
                        <a:spcBef>
                          <a:spcPct val="20000"/>
                        </a:spcBef>
                        <a:buClr>
                          <a:schemeClr val="accent1"/>
                        </a:buClr>
                        <a:buSzPct val="65000"/>
                        <a:buFont typeface="Wingdings" charset="2"/>
                        <a:defRPr sz="2600">
                          <a:solidFill>
                            <a:schemeClr val="tx1"/>
                          </a:solidFill>
                          <a:latin typeface="Arial" charset="0"/>
                          <a:ea typeface="ＭＳ Ｐゴシック" charset="-128"/>
                        </a:defRPr>
                      </a:lvl1pPr>
                      <a:lvl2pPr marL="742950" indent="-285750" eaLnBrk="0" hangingPunct="0">
                        <a:spcBef>
                          <a:spcPct val="20000"/>
                        </a:spcBef>
                        <a:buClr>
                          <a:schemeClr val="accent2"/>
                        </a:buClr>
                        <a:buSzPct val="60000"/>
                        <a:buFont typeface="Wingdings" charset="2"/>
                        <a:defRPr sz="2200">
                          <a:solidFill>
                            <a:schemeClr val="tx1"/>
                          </a:solidFill>
                          <a:latin typeface="Arial" charset="0"/>
                          <a:ea typeface="ＭＳ Ｐゴシック" charset="-128"/>
                        </a:defRPr>
                      </a:lvl2pPr>
                      <a:lvl3pPr marL="1143000" indent="-228600" eaLnBrk="0" hangingPunct="0">
                        <a:spcBef>
                          <a:spcPct val="20000"/>
                        </a:spcBef>
                        <a:buClr>
                          <a:schemeClr val="accent1"/>
                        </a:buClr>
                        <a:buSzPct val="65000"/>
                        <a:buFont typeface="Wingdings" charset="2"/>
                        <a:defRPr sz="2000">
                          <a:solidFill>
                            <a:schemeClr val="tx1"/>
                          </a:solidFill>
                          <a:latin typeface="Arial" charset="0"/>
                          <a:ea typeface="ＭＳ Ｐゴシック" charset="-128"/>
                        </a:defRPr>
                      </a:lvl3pPr>
                      <a:lvl4pPr marL="1600200" indent="-228600" eaLnBrk="0" hangingPunct="0">
                        <a:spcBef>
                          <a:spcPct val="20000"/>
                        </a:spcBef>
                        <a:buClr>
                          <a:schemeClr val="accent2"/>
                        </a:buClr>
                        <a:buSzPct val="70000"/>
                        <a:buFont typeface="Wingdings" charset="2"/>
                        <a:defRPr>
                          <a:solidFill>
                            <a:schemeClr val="tx1"/>
                          </a:solidFill>
                          <a:latin typeface="Arial" charset="0"/>
                          <a:ea typeface="ＭＳ Ｐゴシック" charset="-128"/>
                        </a:defRPr>
                      </a:lvl4pPr>
                      <a:lvl5pPr marL="2057400" indent="-228600" eaLnBrk="0" hangingPunct="0">
                        <a:spcBef>
                          <a:spcPct val="20000"/>
                        </a:spcBef>
                        <a:buClr>
                          <a:schemeClr val="accent1"/>
                        </a:buClr>
                        <a:buSzPct val="75000"/>
                        <a:buFont typeface="Wingdings" charset="2"/>
                        <a:defRPr>
                          <a:solidFill>
                            <a:schemeClr val="tx1"/>
                          </a:solidFill>
                          <a:latin typeface="Arial"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9p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charset="0"/>
                          <a:ea typeface="ＭＳ Ｐゴシック" charset="-128"/>
                        </a:rPr>
                        <a:t>Scalability </a:t>
                      </a:r>
                      <a:endParaRPr kumimoji="0" lang="en-US" altLang="en-US" sz="1400" b="0" i="0" u="none" strike="noStrike" cap="none" normalizeH="0" baseline="0">
                        <a:ln>
                          <a:noFill/>
                        </a:ln>
                        <a:solidFill>
                          <a:schemeClr val="tx1"/>
                        </a:solidFill>
                        <a:effectLst/>
                        <a:latin typeface="Arial" charset="0"/>
                        <a:ea typeface="ＭＳ Ｐゴシック" charset="-128"/>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accent1"/>
                        </a:buClr>
                        <a:buSzPct val="65000"/>
                        <a:buFont typeface="Wingdings" charset="2"/>
                        <a:defRPr sz="2600">
                          <a:solidFill>
                            <a:schemeClr val="tx1"/>
                          </a:solidFill>
                          <a:latin typeface="Arial" charset="0"/>
                          <a:ea typeface="ＭＳ Ｐゴシック" charset="-128"/>
                        </a:defRPr>
                      </a:lvl1pPr>
                      <a:lvl2pPr marL="742950" indent="-285750" eaLnBrk="0" hangingPunct="0">
                        <a:spcBef>
                          <a:spcPct val="20000"/>
                        </a:spcBef>
                        <a:buClr>
                          <a:schemeClr val="accent2"/>
                        </a:buClr>
                        <a:buSzPct val="60000"/>
                        <a:buFont typeface="Wingdings" charset="2"/>
                        <a:defRPr sz="2200">
                          <a:solidFill>
                            <a:schemeClr val="tx1"/>
                          </a:solidFill>
                          <a:latin typeface="Arial" charset="0"/>
                          <a:ea typeface="ＭＳ Ｐゴシック" charset="-128"/>
                        </a:defRPr>
                      </a:lvl2pPr>
                      <a:lvl3pPr marL="1143000" indent="-228600" eaLnBrk="0" hangingPunct="0">
                        <a:spcBef>
                          <a:spcPct val="20000"/>
                        </a:spcBef>
                        <a:buClr>
                          <a:schemeClr val="accent1"/>
                        </a:buClr>
                        <a:buSzPct val="65000"/>
                        <a:buFont typeface="Wingdings" charset="2"/>
                        <a:defRPr sz="2000">
                          <a:solidFill>
                            <a:schemeClr val="tx1"/>
                          </a:solidFill>
                          <a:latin typeface="Arial" charset="0"/>
                          <a:ea typeface="ＭＳ Ｐゴシック" charset="-128"/>
                        </a:defRPr>
                      </a:lvl3pPr>
                      <a:lvl4pPr marL="1600200" indent="-228600" eaLnBrk="0" hangingPunct="0">
                        <a:spcBef>
                          <a:spcPct val="20000"/>
                        </a:spcBef>
                        <a:buClr>
                          <a:schemeClr val="accent2"/>
                        </a:buClr>
                        <a:buSzPct val="70000"/>
                        <a:buFont typeface="Wingdings" charset="2"/>
                        <a:defRPr>
                          <a:solidFill>
                            <a:schemeClr val="tx1"/>
                          </a:solidFill>
                          <a:latin typeface="Arial" charset="0"/>
                          <a:ea typeface="ＭＳ Ｐゴシック" charset="-128"/>
                        </a:defRPr>
                      </a:lvl4pPr>
                      <a:lvl5pPr marL="2057400" indent="-228600" eaLnBrk="0" hangingPunct="0">
                        <a:spcBef>
                          <a:spcPct val="20000"/>
                        </a:spcBef>
                        <a:buClr>
                          <a:schemeClr val="accent1"/>
                        </a:buClr>
                        <a:buSzPct val="75000"/>
                        <a:buFont typeface="Wingdings" charset="2"/>
                        <a:defRPr>
                          <a:solidFill>
                            <a:schemeClr val="tx1"/>
                          </a:solidFill>
                          <a:latin typeface="Arial"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a:solidFill>
                            <a:schemeClr val="tx1"/>
                          </a:solidFill>
                          <a:latin typeface="Arial"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charset="0"/>
                          <a:ea typeface="ＭＳ Ｐゴシック" charset="-128"/>
                        </a:rPr>
                        <a:t>As servers in each tier can be replicated, and</a:t>
                      </a:r>
                      <a:r>
                        <a:rPr kumimoji="0" lang="en-US" altLang="en-US" sz="1400" b="0" i="0" u="sng" strike="noStrike" cap="none" normalizeH="0" baseline="0">
                          <a:ln>
                            <a:noFill/>
                          </a:ln>
                          <a:solidFill>
                            <a:schemeClr val="tx1"/>
                          </a:solidFill>
                          <a:effectLst/>
                          <a:latin typeface="Times" charset="0"/>
                          <a:ea typeface="ＭＳ Ｐゴシック" charset="-128"/>
                        </a:rPr>
                        <a:t> multiple server instances run on the same or different servers</a:t>
                      </a:r>
                      <a:r>
                        <a:rPr kumimoji="0" lang="en-US" altLang="en-US" sz="1400" b="0" i="0" u="none" strike="noStrike" cap="none" normalizeH="0" baseline="0">
                          <a:ln>
                            <a:noFill/>
                          </a:ln>
                          <a:solidFill>
                            <a:schemeClr val="tx1"/>
                          </a:solidFill>
                          <a:effectLst/>
                          <a:latin typeface="Times" charset="0"/>
                          <a:ea typeface="ＭＳ Ｐゴシック" charset="-128"/>
                        </a:rPr>
                        <a:t>, the </a:t>
                      </a:r>
                      <a:r>
                        <a:rPr kumimoji="0" lang="en-US" altLang="en-US" sz="1400" b="0" i="0" u="sng" strike="noStrike" cap="none" normalizeH="0" baseline="0">
                          <a:ln>
                            <a:noFill/>
                          </a:ln>
                          <a:solidFill>
                            <a:schemeClr val="tx1"/>
                          </a:solidFill>
                          <a:effectLst/>
                          <a:latin typeface="Times" charset="0"/>
                          <a:ea typeface="ＭＳ Ｐゴシック" charset="-128"/>
                        </a:rPr>
                        <a:t>architecture scales out and up well</a:t>
                      </a:r>
                      <a:r>
                        <a:rPr kumimoji="0" lang="en-US" altLang="en-US" sz="1400" b="0" i="0" u="none" strike="noStrike" cap="none" normalizeH="0" baseline="0">
                          <a:ln>
                            <a:noFill/>
                          </a:ln>
                          <a:solidFill>
                            <a:schemeClr val="tx1"/>
                          </a:solidFill>
                          <a:effectLst/>
                          <a:latin typeface="Times" charset="0"/>
                          <a:ea typeface="ＭＳ Ｐゴシック" charset="-128"/>
                        </a:rPr>
                        <a:t>. In practice, the data management tier often becomes a bottleneck on the capacity of a system.</a:t>
                      </a:r>
                      <a:endParaRPr kumimoji="0" lang="en-US" altLang="en-US" sz="1400" b="0" i="0" u="none" strike="noStrike" cap="none" normalizeH="0" baseline="0">
                        <a:ln>
                          <a:noFill/>
                        </a:ln>
                        <a:solidFill>
                          <a:schemeClr val="tx1"/>
                        </a:solidFill>
                        <a:effectLst/>
                        <a:latin typeface="Arial" charset="0"/>
                        <a:ea typeface="ＭＳ Ｐゴシック" charset="-128"/>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3834798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noFill/>
          <a:ln/>
        </p:spPr>
        <p:txBody>
          <a:bodyPr lIns="90487" tIns="44450" rIns="90487" bIns="44450"/>
          <a:lstStyle/>
          <a:p>
            <a:r>
              <a:rPr lang="en-GB" dirty="0"/>
              <a:t>Example 2: Layered architecture</a:t>
            </a:r>
          </a:p>
        </p:txBody>
      </p:sp>
      <p:sp>
        <p:nvSpPr>
          <p:cNvPr id="19459" name="Rectangle 3"/>
          <p:cNvSpPr>
            <a:spLocks noGrp="1" noChangeArrowheads="1"/>
          </p:cNvSpPr>
          <p:nvPr>
            <p:ph idx="1"/>
          </p:nvPr>
        </p:nvSpPr>
        <p:spPr>
          <a:noFill/>
          <a:ln/>
        </p:spPr>
        <p:txBody>
          <a:bodyPr lIns="90487" tIns="44450" rIns="90487" bIns="44450"/>
          <a:lstStyle/>
          <a:p>
            <a:r>
              <a:rPr lang="en-GB" sz="2400"/>
              <a:t>Used to model the interfacing of sub-systems.</a:t>
            </a:r>
          </a:p>
          <a:p>
            <a:r>
              <a:rPr lang="en-GB" sz="2400"/>
              <a:t>Organises the system into a set of layers (or abstract machines) each of which provide a set of services.</a:t>
            </a:r>
          </a:p>
          <a:p>
            <a:r>
              <a:rPr lang="en-GB" sz="2400"/>
              <a:t>Supports the incremental development of sub-systems in different layers. When a layer interface changes, only the adjacent layer is affected.</a:t>
            </a:r>
          </a:p>
          <a:p>
            <a:r>
              <a:rPr lang="en-GB" sz="2400"/>
              <a:t>However, often artificial to structure systems in this way.</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75</a:t>
            </a:fld>
            <a:endParaRPr lang="en-US"/>
          </a:p>
        </p:txBody>
      </p:sp>
      <p:sp>
        <p:nvSpPr>
          <p:cNvPr id="2" name="Date Placeholder 1"/>
          <p:cNvSpPr>
            <a:spLocks noGrp="1"/>
          </p:cNvSpPr>
          <p:nvPr>
            <p:ph type="dt" sz="half" idx="10"/>
          </p:nvPr>
        </p:nvSpPr>
        <p:spPr/>
        <p:txBody>
          <a:bodyPr/>
          <a:lstStyle/>
          <a:p>
            <a:fld id="{671AD420-8029-344A-9A64-C4ADDEF11B35}" type="datetime1">
              <a:rPr lang="en-GB" smtClean="0"/>
              <a:t>20/12/2021</a:t>
            </a:fld>
            <a:endParaRPr lang="en-US"/>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Layered architecture</a:t>
            </a:r>
          </a:p>
        </p:txBody>
      </p:sp>
      <p:graphicFrame>
        <p:nvGraphicFramePr>
          <p:cNvPr id="4" name="Content Placeholder 3"/>
          <p:cNvGraphicFramePr>
            <a:graphicFrameLocks noGrp="1"/>
          </p:cNvGraphicFramePr>
          <p:nvPr>
            <p:ph idx="1"/>
          </p:nvPr>
        </p:nvGraphicFramePr>
        <p:xfrm>
          <a:off x="1024689" y="1621197"/>
          <a:ext cx="7190386" cy="4638040"/>
        </p:xfrm>
        <a:graphic>
          <a:graphicData uri="http://schemas.openxmlformats.org/drawingml/2006/table">
            <a:tbl>
              <a:tblPr firstRow="1" bandRow="1">
                <a:tableStyleId>{5C22544A-7EE6-4342-B048-85BDC9FD1C3A}</a:tableStyleId>
              </a:tblPr>
              <a:tblGrid>
                <a:gridCol w="1961618">
                  <a:extLst>
                    <a:ext uri="{9D8B030D-6E8A-4147-A177-3AD203B41FA5}">
                      <a16:colId xmlns:a16="http://schemas.microsoft.com/office/drawing/2014/main" val="20000"/>
                    </a:ext>
                  </a:extLst>
                </a:gridCol>
                <a:gridCol w="5228768">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Layered architecture</a:t>
                      </a:r>
                    </a:p>
                  </a:txBody>
                  <a:tcPr marL="68580" marR="68580" marT="0" marB="0"/>
                </a:tc>
                <a:extLst>
                  <a:ext uri="{0D108BD9-81ED-4DB2-BD59-A6C34878D82A}">
                    <a16:rowId xmlns:a16="http://schemas.microsoft.com/office/drawing/2014/main" val="10000"/>
                  </a:ext>
                </a:extLst>
              </a:tr>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Organizes the system into layers with related functionality associated with each layer. A layer provides services to the layer above it so the lowest-level layers represent core services that are likely to be used throughout the system. See Figure 6.6.</a:t>
                      </a: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 layered model of a system for sharing copyright documents held in different libraries, as shown in Figure 6.7.</a:t>
                      </a: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Used when building new facilities on top of existing systems; when the development is spread across several teams with each team responsibility for a layer of functionality; when there is a requirement for multi-level security.</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Allows replacement of entire layers so long as the interface is maintained. Redundant facilities (e.g., authentication) can be provided in each layer to increase the dependability of the system.</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p>
                  </a:txBody>
                  <a:tcPr marL="68580" marR="68580" marT="0" marB="0"/>
                </a:tc>
                <a:tc>
                  <a:txBody>
                    <a:bodyPr/>
                    <a:lstStyle/>
                    <a:p>
                      <a:pPr algn="l">
                        <a:spcAft>
                          <a:spcPts val="0"/>
                        </a:spcAft>
                        <a:tabLst>
                          <a:tab pos="342900" algn="l"/>
                          <a:tab pos="685800" algn="l"/>
                          <a:tab pos="1028700" algn="l"/>
                        </a:tabLst>
                      </a:pPr>
                      <a:r>
                        <a:rPr lang="en-GB" sz="1400" dirty="0">
                          <a:solidFill>
                            <a:srgbClr val="000000"/>
                          </a:solidFill>
                          <a:latin typeface="Helvetica"/>
                          <a:ea typeface="Times New Roman"/>
                          <a:cs typeface="Helvetica"/>
                        </a:rPr>
                        <a:t>In practice, providing a clean separation between layers is often difficult and a high-level layer may have to interact directly with lower-level layers rather than through the layer immediately below it. Performance can be a problem because of multiple levels of interpretation of a service request as it is processed at each layer.</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76</a:t>
            </a:fld>
            <a:endParaRPr lang="en-US"/>
          </a:p>
        </p:txBody>
      </p:sp>
      <p:sp>
        <p:nvSpPr>
          <p:cNvPr id="3" name="Date Placeholder 2"/>
          <p:cNvSpPr>
            <a:spLocks noGrp="1"/>
          </p:cNvSpPr>
          <p:nvPr>
            <p:ph type="dt" sz="half" idx="10"/>
          </p:nvPr>
        </p:nvSpPr>
        <p:spPr/>
        <p:txBody>
          <a:bodyPr/>
          <a:lstStyle/>
          <a:p>
            <a:fld id="{7579E7B3-2680-844A-ABFE-0A9126E84481}" type="datetime1">
              <a:rPr lang="en-GB" smtClean="0"/>
              <a:t>20/12/2021</a:t>
            </a:fld>
            <a:endParaRPr lang="en-US"/>
          </a:p>
        </p:txBody>
      </p:sp>
    </p:spTree>
  </p:cSld>
  <p:clrMapOvr>
    <a:masterClrMapping/>
  </p:clrMapOvr>
  <p:transition spd="med">
    <p:wipe dir="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generic layered architecture</a:t>
            </a:r>
            <a:r>
              <a:rPr lang="en-GB" dirty="0"/>
              <a:t> </a:t>
            </a:r>
            <a:endParaRPr lang="en-US" dirty="0"/>
          </a:p>
        </p:txBody>
      </p:sp>
      <p:pic>
        <p:nvPicPr>
          <p:cNvPr id="4" name="Content Placeholder 3" descr="6.6 LayeredArch.eps"/>
          <p:cNvPicPr>
            <a:picLocks noGrp="1" noChangeAspect="1"/>
          </p:cNvPicPr>
          <p:nvPr>
            <p:ph idx="1"/>
          </p:nvPr>
        </p:nvPicPr>
        <p:blipFill>
          <a:blip r:embed="rId2"/>
          <a:srcRect l="-16082" r="-16082"/>
          <a:stretch>
            <a:fillRect/>
          </a:stretch>
        </p:blipFill>
        <p:spPr>
          <a:xfrm>
            <a:off x="740945" y="1600200"/>
            <a:ext cx="7271456" cy="3999021"/>
          </a:xfrm>
        </p:spPr>
      </p:pic>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77</a:t>
            </a:fld>
            <a:endParaRPr lang="en-US"/>
          </a:p>
        </p:txBody>
      </p:sp>
      <p:sp>
        <p:nvSpPr>
          <p:cNvPr id="3" name="Date Placeholder 2"/>
          <p:cNvSpPr>
            <a:spLocks noGrp="1"/>
          </p:cNvSpPr>
          <p:nvPr>
            <p:ph type="dt" sz="half" idx="10"/>
          </p:nvPr>
        </p:nvSpPr>
        <p:spPr/>
        <p:txBody>
          <a:bodyPr/>
          <a:lstStyle/>
          <a:p>
            <a:fld id="{F199DED5-5D11-144B-BCA9-DD1AE6B9EA54}" type="datetime1">
              <a:rPr lang="en-GB" smtClean="0"/>
              <a:t>20/12/2021</a:t>
            </a:fld>
            <a:endParaRPr lang="en-US"/>
          </a:p>
        </p:txBody>
      </p:sp>
    </p:spTree>
  </p:cSld>
  <p:clrMapOvr>
    <a:masterClrMapping/>
  </p:clrMapOvr>
  <p:transition spd="med">
    <p:wipe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FE606-9619-E044-A99C-53DCD0A6A36B}"/>
              </a:ext>
            </a:extLst>
          </p:cNvPr>
          <p:cNvSpPr>
            <a:spLocks noGrp="1"/>
          </p:cNvSpPr>
          <p:nvPr>
            <p:ph type="title"/>
          </p:nvPr>
        </p:nvSpPr>
        <p:spPr/>
        <p:txBody>
          <a:bodyPr/>
          <a:lstStyle/>
          <a:p>
            <a:pPr>
              <a:defRPr/>
            </a:pPr>
            <a:endParaRPr lang="en-GB" dirty="0"/>
          </a:p>
        </p:txBody>
      </p:sp>
      <p:sp>
        <p:nvSpPr>
          <p:cNvPr id="6" name="Subtitle 5">
            <a:extLst>
              <a:ext uri="{FF2B5EF4-FFF2-40B4-BE49-F238E27FC236}">
                <a16:creationId xmlns:a16="http://schemas.microsoft.com/office/drawing/2014/main" id="{4090E0D8-88CE-1B4E-9EC7-B8D5234242E9}"/>
              </a:ext>
            </a:extLst>
          </p:cNvPr>
          <p:cNvSpPr>
            <a:spLocks noGrp="1"/>
          </p:cNvSpPr>
          <p:nvPr>
            <p:ph idx="1"/>
          </p:nvPr>
        </p:nvSpPr>
        <p:spPr/>
        <p:txBody>
          <a:bodyPr/>
          <a:lstStyle/>
          <a:p>
            <a:pPr>
              <a:buClr>
                <a:srgbClr val="B5DBE5"/>
              </a:buClr>
              <a:buFont typeface="Wingdings 2" pitchFamily="2" charset="2"/>
              <a:buNone/>
            </a:pPr>
            <a:r>
              <a:rPr lang="en-GB" altLang="en-US" dirty="0">
                <a:effectLst>
                  <a:outerShdw blurRad="38100" dist="38100" dir="2700000" algn="tl">
                    <a:srgbClr val="FFFFFF"/>
                  </a:outerShdw>
                </a:effectLst>
                <a:latin typeface="Corbel" panose="020B0503020204020204" pitchFamily="34" charset="0"/>
                <a:ea typeface="ＭＳ Ｐゴシック" panose="020B0600070205080204" pitchFamily="34" charset="-128"/>
              </a:rPr>
              <a:t>Classical Layered Structure of Software Systems</a:t>
            </a:r>
          </a:p>
        </p:txBody>
      </p:sp>
      <p:pic>
        <p:nvPicPr>
          <p:cNvPr id="4098" name="Picture 2" descr="http://download.oracle.com/docs/cd/E17904_01/web.1111/b32441/img/threetierov.gif">
            <a:extLst>
              <a:ext uri="{FF2B5EF4-FFF2-40B4-BE49-F238E27FC236}">
                <a16:creationId xmlns:a16="http://schemas.microsoft.com/office/drawing/2014/main" id="{B67D8B0A-8390-F147-B6FD-0DC9D2F8C5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743200"/>
            <a:ext cx="7048500" cy="2819400"/>
          </a:xfrm>
          <a:prstGeom prst="roundRect">
            <a:avLst>
              <a:gd name="adj" fmla="val 4000"/>
            </a:avLst>
          </a:prstGeom>
          <a:noFill/>
          <a:extLst>
            <a:ext uri="{909E8E84-426E-40dd-AFC4-6F175D3DCCD1}">
              <a14:hiddenFill xmlns="" xmlns:a14="http://schemas.microsoft.com/office/drawing/2010/main">
                <a:solidFill>
                  <a:srgbClr val="FFFFFF"/>
                </a:solidFill>
              </a14:hiddenFill>
            </a:ext>
          </a:extLst>
        </p:spPr>
      </p:pic>
      <p:sp>
        <p:nvSpPr>
          <p:cNvPr id="5" name="Arc 4">
            <a:extLst>
              <a:ext uri="{FF2B5EF4-FFF2-40B4-BE49-F238E27FC236}">
                <a16:creationId xmlns:a16="http://schemas.microsoft.com/office/drawing/2014/main" id="{4EE4B5FE-7E61-C34C-A202-C1A8B56BE0DE}"/>
              </a:ext>
            </a:extLst>
          </p:cNvPr>
          <p:cNvSpPr/>
          <p:nvPr/>
        </p:nvSpPr>
        <p:spPr>
          <a:xfrm>
            <a:off x="3543300" y="2006600"/>
            <a:ext cx="927100" cy="1422400"/>
          </a:xfrm>
          <a:prstGeom prst="arc">
            <a:avLst>
              <a:gd name="adj1" fmla="val 16200000"/>
              <a:gd name="adj2" fmla="val 505618"/>
            </a:avLst>
          </a:prstGeom>
          <a:ln w="57150">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83437691"/>
      </p:ext>
    </p:extLst>
  </p:cSld>
  <p:clrMapOvr>
    <a:masterClrMapping/>
  </p:clrMapOvr>
  <p:transition spd="med">
    <p:wipe dir="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architecture of the iLearn system</a:t>
            </a:r>
            <a:r>
              <a:rPr lang="en-GB" dirty="0"/>
              <a:t> </a:t>
            </a:r>
            <a:endParaRPr lang="en-US" dirty="0"/>
          </a:p>
        </p:txBody>
      </p:sp>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79</a:t>
            </a:fld>
            <a:endParaRPr lang="en-US"/>
          </a:p>
        </p:txBody>
      </p:sp>
      <p:pic>
        <p:nvPicPr>
          <p:cNvPr id="7" name="Picture 6" descr="6.9 iLearn architectur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1036" y="1585960"/>
            <a:ext cx="5781175" cy="4810291"/>
          </a:xfrm>
          <a:prstGeom prst="rect">
            <a:avLst/>
          </a:prstGeom>
        </p:spPr>
      </p:pic>
      <p:sp>
        <p:nvSpPr>
          <p:cNvPr id="3" name="Date Placeholder 2"/>
          <p:cNvSpPr>
            <a:spLocks noGrp="1"/>
          </p:cNvSpPr>
          <p:nvPr>
            <p:ph type="dt" sz="half" idx="10"/>
          </p:nvPr>
        </p:nvSpPr>
        <p:spPr/>
        <p:txBody>
          <a:bodyPr/>
          <a:lstStyle/>
          <a:p>
            <a:fld id="{B18BBAB0-88FA-894B-BC18-3819C4D50B1C}" type="datetime1">
              <a:rPr lang="en-GB" smtClean="0"/>
              <a:t>20/12/2021</a:t>
            </a:fld>
            <a:endParaRPr lang="en-US"/>
          </a:p>
        </p:txBody>
      </p:sp>
    </p:spTree>
  </p:cSld>
  <p:clrMapOvr>
    <a:masterClrMapping/>
  </p:clrMapOvr>
  <p:transition spd="med">
    <p:wipe dir="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75FA8CE1-B0E9-9346-92A7-C6B112089F04}"/>
              </a:ext>
            </a:extLst>
          </p:cNvPr>
          <p:cNvSpPr>
            <a:spLocks noGrp="1" noChangeArrowheads="1"/>
          </p:cNvSpPr>
          <p:nvPr>
            <p:ph type="title"/>
          </p:nvPr>
        </p:nvSpPr>
        <p:spPr/>
        <p:txBody>
          <a:bodyPr/>
          <a:lstStyle/>
          <a:p>
            <a:pPr eaLnBrk="1" hangingPunct="1"/>
            <a:r>
              <a:rPr lang="en-US" altLang="en-US" dirty="0"/>
              <a:t>Example 3: Publish-Subscribe Style</a:t>
            </a:r>
          </a:p>
        </p:txBody>
      </p:sp>
      <p:sp>
        <p:nvSpPr>
          <p:cNvPr id="2" name="Content Placeholder 1">
            <a:extLst>
              <a:ext uri="{FF2B5EF4-FFF2-40B4-BE49-F238E27FC236}">
                <a16:creationId xmlns:a16="http://schemas.microsoft.com/office/drawing/2014/main" id="{D063AE93-02CF-C846-A7EA-3FDF6215B265}"/>
              </a:ext>
            </a:extLst>
          </p:cNvPr>
          <p:cNvSpPr>
            <a:spLocks noGrp="1"/>
          </p:cNvSpPr>
          <p:nvPr>
            <p:ph sz="half" idx="1"/>
          </p:nvPr>
        </p:nvSpPr>
        <p:spPr>
          <a:xfrm>
            <a:off x="457200" y="1600200"/>
            <a:ext cx="3733800" cy="4525963"/>
          </a:xfrm>
        </p:spPr>
        <p:txBody>
          <a:bodyPr/>
          <a:lstStyle/>
          <a:p>
            <a:r>
              <a:rPr lang="en-MY" sz="1600" dirty="0">
                <a:latin typeface="Arial" panose="020B0604020202020204" pitchFamily="34" charset="0"/>
                <a:cs typeface="Arial" panose="020B0604020202020204" pitchFamily="34" charset="0"/>
              </a:rPr>
              <a:t>In software architecture, </a:t>
            </a:r>
            <a:r>
              <a:rPr lang="en-MY" sz="1600" b="1" dirty="0">
                <a:latin typeface="Arial" panose="020B0604020202020204" pitchFamily="34" charset="0"/>
                <a:cs typeface="Arial" panose="020B0604020202020204" pitchFamily="34" charset="0"/>
              </a:rPr>
              <a:t>publish–subscribe</a:t>
            </a:r>
            <a:r>
              <a:rPr lang="en-MY" sz="1600" dirty="0">
                <a:latin typeface="Arial" panose="020B0604020202020204" pitchFamily="34" charset="0"/>
                <a:cs typeface="Arial" panose="020B0604020202020204" pitchFamily="34" charset="0"/>
              </a:rPr>
              <a:t> is a </a:t>
            </a:r>
            <a:r>
              <a:rPr lang="en-MY" sz="1600" dirty="0">
                <a:latin typeface="Arial" panose="020B0604020202020204" pitchFamily="34" charset="0"/>
                <a:cs typeface="Arial" panose="020B0604020202020204" pitchFamily="34" charset="0"/>
                <a:hlinkClick r:id="rId2" tooltip="Messaging pattern"/>
              </a:rPr>
              <a:t>messaging </a:t>
            </a:r>
            <a:r>
              <a:rPr lang="en-MY" sz="1600" dirty="0">
                <a:latin typeface="Arial" panose="020B0604020202020204" pitchFamily="34" charset="0"/>
                <a:cs typeface="Arial" panose="020B0604020202020204" pitchFamily="34" charset="0"/>
              </a:rPr>
              <a:t>style where senders of </a:t>
            </a:r>
            <a:r>
              <a:rPr lang="en-MY" sz="1600" dirty="0">
                <a:latin typeface="Arial" panose="020B0604020202020204" pitchFamily="34" charset="0"/>
                <a:cs typeface="Arial" panose="020B0604020202020204" pitchFamily="34" charset="0"/>
                <a:hlinkClick r:id="rId3" tooltip="Message passing"/>
              </a:rPr>
              <a:t>messages</a:t>
            </a:r>
            <a:r>
              <a:rPr lang="en-MY" sz="1600" dirty="0">
                <a:latin typeface="Arial" panose="020B0604020202020204" pitchFamily="34" charset="0"/>
                <a:cs typeface="Arial" panose="020B0604020202020204" pitchFamily="34" charset="0"/>
              </a:rPr>
              <a:t>, called publishers, do not program the messages to be sent directly to specific receivers, called subscribers, but instead categorize published messages into classes without knowledge of which subscribers, if any, there may be. Similarly, subscribers express interest in one or more classes and only receive messages that are of interest, without knowledge of which publishers, if any, there are.</a:t>
            </a:r>
            <a:endParaRPr lang="en-US" altLang="en-US" sz="1600" dirty="0">
              <a:latin typeface="Arial" panose="020B0604020202020204" pitchFamily="34" charset="0"/>
              <a:cs typeface="Arial" panose="020B0604020202020204" pitchFamily="34" charset="0"/>
            </a:endParaRPr>
          </a:p>
          <a:p>
            <a:pPr>
              <a:lnSpc>
                <a:spcPct val="80000"/>
              </a:lnSpc>
              <a:spcBef>
                <a:spcPts val="900"/>
              </a:spcBef>
              <a:buClr>
                <a:schemeClr val="tx1"/>
              </a:buClr>
              <a:buSzPct val="75000"/>
            </a:pPr>
            <a:r>
              <a:rPr lang="en-US" altLang="en-US" sz="1600" dirty="0">
                <a:latin typeface="Arial" panose="020B0604020202020204" pitchFamily="34" charset="0"/>
                <a:cs typeface="Arial" panose="020B0604020202020204" pitchFamily="34" charset="0"/>
              </a:rPr>
              <a:t>Subscribers register/deregister to receive specific messages or specific content. Publishers broadcast messages to subscribers either synchronously or asynchronously.</a:t>
            </a:r>
          </a:p>
          <a:p>
            <a:endParaRPr lang="en-GB" sz="1600"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6193F88D-7607-024A-8D4F-34AE2EF2C095}"/>
              </a:ext>
            </a:extLst>
          </p:cNvPr>
          <p:cNvSpPr>
            <a:spLocks noGrp="1"/>
          </p:cNvSpPr>
          <p:nvPr>
            <p:ph sz="half" idx="2"/>
          </p:nvPr>
        </p:nvSpPr>
        <p:spPr/>
        <p:txBody>
          <a:bodyPr/>
          <a:lstStyle/>
          <a:p>
            <a:endParaRPr lang="en-GB"/>
          </a:p>
        </p:txBody>
      </p:sp>
      <p:sp>
        <p:nvSpPr>
          <p:cNvPr id="67586" name="Rectangle 4">
            <a:extLst>
              <a:ext uri="{FF2B5EF4-FFF2-40B4-BE49-F238E27FC236}">
                <a16:creationId xmlns:a16="http://schemas.microsoft.com/office/drawing/2014/main" id="{8E9B5028-235E-EE41-A6E3-2BB11DEAE107}"/>
              </a:ext>
            </a:extLst>
          </p:cNvPr>
          <p:cNvSpPr>
            <a:spLocks noChangeArrowheads="1"/>
          </p:cNvSpPr>
          <p:nvPr/>
        </p:nvSpPr>
        <p:spPr bwMode="auto">
          <a:xfrm>
            <a:off x="609600" y="1828800"/>
            <a:ext cx="8001000"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46038"/>
          <a:lstStyle>
            <a:lvl1pPr marL="342900" indent="-34290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lnSpc>
                <a:spcPct val="80000"/>
              </a:lnSpc>
              <a:spcBef>
                <a:spcPts val="900"/>
              </a:spcBef>
              <a:buClr>
                <a:schemeClr val="accent2"/>
              </a:buClr>
              <a:buSzPct val="75000"/>
              <a:buFont typeface="Wingdings" pitchFamily="2" charset="2"/>
              <a:buChar char="l"/>
            </a:pPr>
            <a:endParaRPr lang="en-US" altLang="en-US" sz="2400" b="1" dirty="0">
              <a:latin typeface="Tahoma" panose="020B0604030504040204" pitchFamily="34" charset="0"/>
            </a:endParaRPr>
          </a:p>
        </p:txBody>
      </p:sp>
      <p:pic>
        <p:nvPicPr>
          <p:cNvPr id="6" name="Picture 6" descr="Image result for publisher broker subscriber">
            <a:extLst>
              <a:ext uri="{FF2B5EF4-FFF2-40B4-BE49-F238E27FC236}">
                <a16:creationId xmlns:a16="http://schemas.microsoft.com/office/drawing/2014/main" id="{E900C8A9-0E60-0E40-BF52-6D20696062C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077" t="2533" r="4360" b="8092"/>
          <a:stretch/>
        </p:blipFill>
        <p:spPr bwMode="auto">
          <a:xfrm>
            <a:off x="4191000" y="2463799"/>
            <a:ext cx="4869170" cy="3277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9584951"/>
      </p:ext>
    </p:extLst>
  </p:cSld>
  <p:clrMapOvr>
    <a:masterClrMapping/>
  </p:clrMapOvr>
  <p:transition spd="med">
    <p:wipe dir="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E7E58142-EC0F-A84F-AF26-886BDF673825}"/>
              </a:ext>
            </a:extLst>
          </p:cNvPr>
          <p:cNvSpPr>
            <a:spLocks noGrp="1" noChangeArrowheads="1"/>
          </p:cNvSpPr>
          <p:nvPr>
            <p:ph type="title"/>
          </p:nvPr>
        </p:nvSpPr>
        <p:spPr/>
        <p:txBody>
          <a:bodyPr/>
          <a:lstStyle/>
          <a:p>
            <a:pPr eaLnBrk="1" hangingPunct="1"/>
            <a:r>
              <a:rPr lang="en-US" altLang="en-US"/>
              <a:t>Publish-Subscribe Style (cont.)</a:t>
            </a:r>
          </a:p>
        </p:txBody>
      </p:sp>
      <p:sp>
        <p:nvSpPr>
          <p:cNvPr id="68610" name="Rectangle 3">
            <a:extLst>
              <a:ext uri="{FF2B5EF4-FFF2-40B4-BE49-F238E27FC236}">
                <a16:creationId xmlns:a16="http://schemas.microsoft.com/office/drawing/2014/main" id="{7BD0E6DF-5EB6-604B-A14D-9F949664DD86}"/>
              </a:ext>
            </a:extLst>
          </p:cNvPr>
          <p:cNvSpPr>
            <a:spLocks noGrp="1" noChangeArrowheads="1"/>
          </p:cNvSpPr>
          <p:nvPr>
            <p:ph type="body" idx="1"/>
          </p:nvPr>
        </p:nvSpPr>
        <p:spPr/>
        <p:txBody>
          <a:bodyPr/>
          <a:lstStyle/>
          <a:p>
            <a:pPr eaLnBrk="1" hangingPunct="1"/>
            <a:r>
              <a:rPr lang="en-US" altLang="en-US" dirty="0"/>
              <a:t>Components: Publishers, subscribers, proxies for managing distribution (broker)</a:t>
            </a:r>
          </a:p>
          <a:p>
            <a:pPr eaLnBrk="1" hangingPunct="1"/>
            <a:r>
              <a:rPr lang="en-US" altLang="en-US" dirty="0"/>
              <a:t>Connectors: Typically a network protocol is required.  Content-based subscription requires sophisticated connectors.</a:t>
            </a:r>
          </a:p>
          <a:p>
            <a:pPr eaLnBrk="1" hangingPunct="1"/>
            <a:r>
              <a:rPr lang="en-US" altLang="en-US" dirty="0"/>
              <a:t>Data Elements: Subscriptions, notifications, published information </a:t>
            </a:r>
          </a:p>
          <a:p>
            <a:pPr eaLnBrk="1" hangingPunct="1"/>
            <a:r>
              <a:rPr lang="en-US" altLang="en-US" dirty="0"/>
              <a:t>Topology: Subscribers connect to publishers either directly or may receive notifications via a network protocol from intermediaries</a:t>
            </a:r>
          </a:p>
          <a:p>
            <a:pPr eaLnBrk="1" hangingPunct="1">
              <a:buFont typeface="Wingdings" pitchFamily="2" charset="2"/>
              <a:buNone/>
            </a:pPr>
            <a:endParaRPr lang="en-US" altLang="en-US" dirty="0"/>
          </a:p>
        </p:txBody>
      </p:sp>
    </p:spTree>
    <p:extLst>
      <p:ext uri="{BB962C8B-B14F-4D97-AF65-F5344CB8AC3E}">
        <p14:creationId xmlns:p14="http://schemas.microsoft.com/office/powerpoint/2010/main" val="4286323777"/>
      </p:ext>
    </p:extLst>
  </p:cSld>
  <p:clrMapOvr>
    <a:masterClrMapping/>
  </p:clrMapOvr>
  <p:transition spd="med">
    <p:wipe dir="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1CCE209-AC54-47E8-AE5C-B85BD55FEBFB}"/>
              </a:ext>
            </a:extLst>
          </p:cNvPr>
          <p:cNvSpPr>
            <a:spLocks noGrp="1"/>
          </p:cNvSpPr>
          <p:nvPr>
            <p:ph type="title"/>
          </p:nvPr>
        </p:nvSpPr>
        <p:spPr>
          <a:xfrm>
            <a:off x="457200" y="274638"/>
            <a:ext cx="7293232" cy="1143000"/>
          </a:xfrm>
        </p:spPr>
        <p:txBody>
          <a:bodyPr/>
          <a:lstStyle/>
          <a:p>
            <a:endParaRPr lang="en-US"/>
          </a:p>
        </p:txBody>
      </p:sp>
      <p:pic>
        <p:nvPicPr>
          <p:cNvPr id="7" name="Content Placeholder 3">
            <a:extLst>
              <a:ext uri="{FF2B5EF4-FFF2-40B4-BE49-F238E27FC236}">
                <a16:creationId xmlns:a16="http://schemas.microsoft.com/office/drawing/2014/main" id="{4358D86C-201B-104A-94BD-9B5078EF1D82}"/>
              </a:ext>
            </a:extLst>
          </p:cNvPr>
          <p:cNvPicPr>
            <a:picLocks noChangeAspect="1"/>
          </p:cNvPicPr>
          <p:nvPr/>
        </p:nvPicPr>
        <p:blipFill>
          <a:blip r:embed="rId2"/>
          <a:stretch>
            <a:fillRect/>
          </a:stretch>
        </p:blipFill>
        <p:spPr>
          <a:xfrm>
            <a:off x="1360026" y="1600200"/>
            <a:ext cx="6423947" cy="4525963"/>
          </a:xfrm>
          <a:prstGeom prst="rect">
            <a:avLst/>
          </a:prstGeom>
          <a:noFill/>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Date Placeholder 3">
            <a:extLst>
              <a:ext uri="{FF2B5EF4-FFF2-40B4-BE49-F238E27FC236}">
                <a16:creationId xmlns:a16="http://schemas.microsoft.com/office/drawing/2014/main" id="{71A5CC0B-0386-B447-8E48-4356470AB337}"/>
              </a:ext>
            </a:extLst>
          </p:cNvPr>
          <p:cNvSpPr>
            <a:spLocks noGrp="1"/>
          </p:cNvSpPr>
          <p:nvPr>
            <p:ph type="dt" sz="half" idx="10"/>
          </p:nvPr>
        </p:nvSpPr>
        <p:spPr>
          <a:xfrm>
            <a:off x="457200" y="6356350"/>
            <a:ext cx="2133600" cy="365125"/>
          </a:xfrm>
        </p:spPr>
        <p:txBody>
          <a:bodyPr anchor="ctr">
            <a:normAutofit/>
          </a:bodyPr>
          <a:lstStyle/>
          <a:p>
            <a:pPr>
              <a:spcAft>
                <a:spcPts val="600"/>
              </a:spcAft>
            </a:pPr>
            <a:fld id="{1EC4D177-3FD8-1541-B11E-1C53E75416D7}" type="datetime1">
              <a:rPr lang="en-GB" smtClean="0"/>
              <a:pPr>
                <a:spcAft>
                  <a:spcPts val="600"/>
                </a:spcAft>
              </a:pPr>
              <a:t>20/12/2021</a:t>
            </a:fld>
            <a:endParaRPr lang="en-US"/>
          </a:p>
        </p:txBody>
      </p:sp>
      <p:sp>
        <p:nvSpPr>
          <p:cNvPr id="5" name="Footer Placeholder 4">
            <a:extLst>
              <a:ext uri="{FF2B5EF4-FFF2-40B4-BE49-F238E27FC236}">
                <a16:creationId xmlns:a16="http://schemas.microsoft.com/office/drawing/2014/main" id="{71DC41D6-A4E2-8C46-95E8-EA79A01C2B4D}"/>
              </a:ext>
            </a:extLst>
          </p:cNvPr>
          <p:cNvSpPr>
            <a:spLocks noGrp="1"/>
          </p:cNvSpPr>
          <p:nvPr>
            <p:ph type="ftr" sz="quarter" idx="11"/>
          </p:nvPr>
        </p:nvSpPr>
        <p:spPr>
          <a:xfrm>
            <a:off x="3124200" y="6356350"/>
            <a:ext cx="2895600" cy="365125"/>
          </a:xfrm>
        </p:spPr>
        <p:txBody>
          <a:bodyPr anchor="ctr">
            <a:normAutofit/>
          </a:bodyPr>
          <a:lstStyle/>
          <a:p>
            <a:pPr>
              <a:spcAft>
                <a:spcPts val="600"/>
              </a:spcAft>
            </a:pPr>
            <a:r>
              <a:rPr lang="en-US"/>
              <a:t>Chapter 6 Architectural Design</a:t>
            </a:r>
          </a:p>
        </p:txBody>
      </p:sp>
      <p:sp>
        <p:nvSpPr>
          <p:cNvPr id="6" name="Slide Number Placeholder 5">
            <a:extLst>
              <a:ext uri="{FF2B5EF4-FFF2-40B4-BE49-F238E27FC236}">
                <a16:creationId xmlns:a16="http://schemas.microsoft.com/office/drawing/2014/main" id="{71F60EDE-8E92-4A40-880B-47D54FA8CC1D}"/>
              </a:ext>
            </a:extLst>
          </p:cNvPr>
          <p:cNvSpPr>
            <a:spLocks noGrp="1"/>
          </p:cNvSpPr>
          <p:nvPr>
            <p:ph type="sldNum" sz="quarter" idx="12"/>
          </p:nvPr>
        </p:nvSpPr>
        <p:spPr>
          <a:xfrm>
            <a:off x="6553200" y="6356350"/>
            <a:ext cx="2133600" cy="365125"/>
          </a:xfrm>
        </p:spPr>
        <p:txBody>
          <a:bodyPr anchor="ctr">
            <a:normAutofit/>
          </a:bodyPr>
          <a:lstStyle/>
          <a:p>
            <a:pPr>
              <a:spcAft>
                <a:spcPts val="600"/>
              </a:spcAft>
            </a:pPr>
            <a:fld id="{EC33B370-F672-B743-B3AF-248A63C17270}" type="slidenum">
              <a:rPr lang="en-US" smtClean="0"/>
              <a:pPr>
                <a:spcAft>
                  <a:spcPts val="600"/>
                </a:spcAft>
              </a:pPr>
              <a:t>82</a:t>
            </a:fld>
            <a:endParaRPr lang="en-US"/>
          </a:p>
        </p:txBody>
      </p:sp>
    </p:spTree>
    <p:extLst>
      <p:ext uri="{BB962C8B-B14F-4D97-AF65-F5344CB8AC3E}">
        <p14:creationId xmlns:p14="http://schemas.microsoft.com/office/powerpoint/2010/main" val="1697749113"/>
      </p:ext>
    </p:extLst>
  </p:cSld>
  <p:clrMapOvr>
    <a:masterClrMapping/>
  </p:clrMapOvr>
  <p:transition spd="med">
    <p:wipe dir="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7BBE408-6FAC-4A6E-9F3B-3AEC3335A77D}"/>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63020" y="1190670"/>
            <a:ext cx="7414199" cy="5560650"/>
          </a:xfrm>
          <a:prstGeom prst="rect">
            <a:avLst/>
          </a:prstGeom>
        </p:spPr>
      </p:pic>
      <p:sp>
        <p:nvSpPr>
          <p:cNvPr id="4" name="Title 3">
            <a:extLst>
              <a:ext uri="{FF2B5EF4-FFF2-40B4-BE49-F238E27FC236}">
                <a16:creationId xmlns:a16="http://schemas.microsoft.com/office/drawing/2014/main" id="{1753DBA6-E026-0B47-BA59-E30B1E8FB8E7}"/>
              </a:ext>
            </a:extLst>
          </p:cNvPr>
          <p:cNvSpPr>
            <a:spLocks noGrp="1"/>
          </p:cNvSpPr>
          <p:nvPr>
            <p:ph type="title"/>
          </p:nvPr>
        </p:nvSpPr>
        <p:spPr/>
        <p:txBody>
          <a:bodyPr/>
          <a:lstStyle/>
          <a:p>
            <a:r>
              <a:rPr lang="en-GB" dirty="0"/>
              <a:t>Pubs-Subs Example</a:t>
            </a:r>
          </a:p>
        </p:txBody>
      </p:sp>
    </p:spTree>
    <p:extLst>
      <p:ext uri="{BB962C8B-B14F-4D97-AF65-F5344CB8AC3E}">
        <p14:creationId xmlns:p14="http://schemas.microsoft.com/office/powerpoint/2010/main" val="2047919211"/>
      </p:ext>
    </p:extLst>
  </p:cSld>
  <p:clrMapOvr>
    <a:masterClrMapping/>
  </p:clrMapOvr>
  <p:transition spd="med">
    <p:wipe dir="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Consequences – Pros</a:t>
            </a:r>
          </a:p>
        </p:txBody>
      </p:sp>
      <p:sp>
        <p:nvSpPr>
          <p:cNvPr id="3" name="Content Placeholder 2"/>
          <p:cNvSpPr>
            <a:spLocks noGrp="1"/>
          </p:cNvSpPr>
          <p:nvPr>
            <p:ph idx="1"/>
          </p:nvPr>
        </p:nvSpPr>
        <p:spPr/>
        <p:txBody>
          <a:bodyPr>
            <a:normAutofit/>
          </a:bodyPr>
          <a:lstStyle/>
          <a:p>
            <a:r>
              <a:rPr lang="en-MY" sz="1800" b="1" dirty="0">
                <a:latin typeface="Arial" panose="020B0604020202020204" pitchFamily="34" charset="0"/>
                <a:cs typeface="Arial" panose="020B0604020202020204" pitchFamily="34" charset="0"/>
              </a:rPr>
              <a:t>Loose coupling</a:t>
            </a:r>
            <a:r>
              <a:rPr lang="en-MY" sz="1800" dirty="0">
                <a:latin typeface="Arial" panose="020B0604020202020204" pitchFamily="34" charset="0"/>
                <a:cs typeface="Arial" panose="020B0604020202020204" pitchFamily="34" charset="0"/>
              </a:rPr>
              <a:t>. The publisher is not aware of the number of subscribers, of the identities of the subscribers, or of the message types that the subscribers are subscribed to.</a:t>
            </a:r>
          </a:p>
          <a:p>
            <a:r>
              <a:rPr lang="en-MY" sz="1800" b="1" dirty="0">
                <a:latin typeface="Arial" panose="020B0604020202020204" pitchFamily="34" charset="0"/>
                <a:cs typeface="Arial" panose="020B0604020202020204" pitchFamily="34" charset="0"/>
              </a:rPr>
              <a:t>Improved security. </a:t>
            </a:r>
            <a:r>
              <a:rPr lang="en-MY" sz="1800" dirty="0">
                <a:latin typeface="Arial" panose="020B0604020202020204" pitchFamily="34" charset="0"/>
                <a:cs typeface="Arial" panose="020B0604020202020204" pitchFamily="34" charset="0"/>
              </a:rPr>
              <a:t>The communication infrastructure transports the published messages only to the applications that are subscribed to the corresponding topic. Specific applications can exchange messages directly, excluding other applications from the message exchange.</a:t>
            </a:r>
          </a:p>
          <a:p>
            <a:r>
              <a:rPr lang="en-MY" sz="1800" b="1" dirty="0">
                <a:latin typeface="Arial" panose="020B0604020202020204" pitchFamily="34" charset="0"/>
                <a:cs typeface="Arial" panose="020B0604020202020204" pitchFamily="34" charset="0"/>
              </a:rPr>
              <a:t>Improved testability</a:t>
            </a:r>
            <a:r>
              <a:rPr lang="en-MY" sz="1800" dirty="0">
                <a:latin typeface="Arial" panose="020B0604020202020204" pitchFamily="34" charset="0"/>
                <a:cs typeface="Arial" panose="020B0604020202020204" pitchFamily="34" charset="0"/>
              </a:rPr>
              <a:t>. Topics usually reduce the number of messages that are required for testing.</a:t>
            </a:r>
          </a:p>
          <a:p>
            <a:r>
              <a:rPr lang="en-MY" sz="1800" b="1" dirty="0">
                <a:latin typeface="Arial" panose="020B0604020202020204" pitchFamily="34" charset="0"/>
                <a:cs typeface="Arial" panose="020B0604020202020204" pitchFamily="34" charset="0"/>
              </a:rPr>
              <a:t>Scalability. </a:t>
            </a:r>
            <a:r>
              <a:rPr lang="en-MY" sz="1800" dirty="0">
                <a:latin typeface="Arial" panose="020B0604020202020204" pitchFamily="34" charset="0"/>
                <a:cs typeface="Arial" panose="020B0604020202020204" pitchFamily="34" charset="0"/>
              </a:rPr>
              <a:t>Pub/sub provides the opportunity for better </a:t>
            </a:r>
            <a:r>
              <a:rPr lang="en-MY" sz="1800" dirty="0">
                <a:latin typeface="Arial" panose="020B0604020202020204" pitchFamily="34" charset="0"/>
                <a:cs typeface="Arial" panose="020B0604020202020204" pitchFamily="34" charset="0"/>
                <a:hlinkClick r:id="rId2" tooltip="Scalability"/>
              </a:rPr>
              <a:t>scalability</a:t>
            </a:r>
            <a:r>
              <a:rPr lang="en-MY" sz="1800" dirty="0">
                <a:latin typeface="Arial" panose="020B0604020202020204" pitchFamily="34" charset="0"/>
                <a:cs typeface="Arial" panose="020B0604020202020204" pitchFamily="34" charset="0"/>
              </a:rPr>
              <a:t> than traditional client-server, through parallel operation, message caching, tree-based or network-based routing, etc. </a:t>
            </a:r>
          </a:p>
        </p:txBody>
      </p:sp>
    </p:spTree>
    <p:extLst>
      <p:ext uri="{BB962C8B-B14F-4D97-AF65-F5344CB8AC3E}">
        <p14:creationId xmlns:p14="http://schemas.microsoft.com/office/powerpoint/2010/main" val="2580335905"/>
      </p:ext>
    </p:extLst>
  </p:cSld>
  <p:clrMapOvr>
    <a:masterClrMapping/>
  </p:clrMapOvr>
  <p:transition spd="med">
    <p:wipe dir="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MY" dirty="0"/>
              <a:t>Consequences – Cons</a:t>
            </a:r>
          </a:p>
        </p:txBody>
      </p:sp>
      <p:sp>
        <p:nvSpPr>
          <p:cNvPr id="3" name="Content Placeholder 2"/>
          <p:cNvSpPr>
            <a:spLocks noGrp="1"/>
          </p:cNvSpPr>
          <p:nvPr>
            <p:ph idx="1"/>
          </p:nvPr>
        </p:nvSpPr>
        <p:spPr/>
        <p:txBody>
          <a:bodyPr>
            <a:normAutofit fontScale="92500" lnSpcReduction="10000"/>
          </a:bodyPr>
          <a:lstStyle/>
          <a:p>
            <a:r>
              <a:rPr lang="en-MY" b="1" dirty="0">
                <a:latin typeface="Arial" panose="020B0604020202020204" pitchFamily="34" charset="0"/>
                <a:cs typeface="Arial" panose="020B0604020202020204" pitchFamily="34" charset="0"/>
              </a:rPr>
              <a:t>Increased complexity</a:t>
            </a:r>
            <a:r>
              <a:rPr lang="en-MY" dirty="0">
                <a:latin typeface="Arial" panose="020B0604020202020204" pitchFamily="34" charset="0"/>
                <a:cs typeface="Arial" panose="020B0604020202020204" pitchFamily="34" charset="0"/>
              </a:rPr>
              <a:t>. Publish/Subscribe requires you to address the following:</a:t>
            </a:r>
          </a:p>
          <a:p>
            <a:pPr lvl="1"/>
            <a:r>
              <a:rPr lang="en-MY" dirty="0">
                <a:latin typeface="Arial" panose="020B0604020202020204" pitchFamily="34" charset="0"/>
                <a:cs typeface="Arial" panose="020B0604020202020204" pitchFamily="34" charset="0"/>
              </a:rPr>
              <a:t>You have to design a message classification scheme for topic implementation.</a:t>
            </a:r>
          </a:p>
          <a:p>
            <a:pPr lvl="1"/>
            <a:r>
              <a:rPr lang="en-MY" dirty="0">
                <a:latin typeface="Arial" panose="020B0604020202020204" pitchFamily="34" charset="0"/>
                <a:cs typeface="Arial" panose="020B0604020202020204" pitchFamily="34" charset="0"/>
              </a:rPr>
              <a:t>You have to implement the subscription mechanism.</a:t>
            </a:r>
          </a:p>
          <a:p>
            <a:pPr lvl="1"/>
            <a:r>
              <a:rPr lang="en-MY" dirty="0">
                <a:latin typeface="Arial" panose="020B0604020202020204" pitchFamily="34" charset="0"/>
                <a:cs typeface="Arial" panose="020B0604020202020204" pitchFamily="34" charset="0"/>
              </a:rPr>
              <a:t>You have to modify the publisher and the subscribers.</a:t>
            </a:r>
          </a:p>
          <a:p>
            <a:r>
              <a:rPr lang="en-MY" b="1" dirty="0">
                <a:latin typeface="Arial" panose="020B0604020202020204" pitchFamily="34" charset="0"/>
                <a:cs typeface="Arial" panose="020B0604020202020204" pitchFamily="34" charset="0"/>
              </a:rPr>
              <a:t>Increased maintenance effort</a:t>
            </a:r>
            <a:r>
              <a:rPr lang="en-MY" dirty="0">
                <a:latin typeface="Arial" panose="020B0604020202020204" pitchFamily="34" charset="0"/>
                <a:cs typeface="Arial" panose="020B0604020202020204" pitchFamily="34" charset="0"/>
              </a:rPr>
              <a:t>. Managing topics requires maintenance work. Organizations that maintain many topics usually have formal procedures for their use.</a:t>
            </a:r>
          </a:p>
          <a:p>
            <a:r>
              <a:rPr lang="en-MY" b="1" dirty="0">
                <a:latin typeface="Arial" panose="020B0604020202020204" pitchFamily="34" charset="0"/>
                <a:cs typeface="Arial" panose="020B0604020202020204" pitchFamily="34" charset="0"/>
              </a:rPr>
              <a:t>Decreased performance</a:t>
            </a:r>
            <a:r>
              <a:rPr lang="en-MY" dirty="0">
                <a:latin typeface="Arial" panose="020B0604020202020204" pitchFamily="34" charset="0"/>
                <a:cs typeface="Arial" panose="020B0604020202020204" pitchFamily="34" charset="0"/>
              </a:rPr>
              <a:t>. Subscription management adds overhead. This overhead increases the latency of message exchange, and this latency decreases performance.</a:t>
            </a:r>
          </a:p>
          <a:p>
            <a:endParaRPr lang="en-MY"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388957"/>
      </p:ext>
    </p:extLst>
  </p:cSld>
  <p:clrMapOvr>
    <a:masterClrMapping/>
  </p:clrMapOvr>
  <p:transition spd="med">
    <p:wipe dir="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noFill/>
          <a:ln/>
        </p:spPr>
        <p:txBody>
          <a:bodyPr lIns="90487" tIns="44450" rIns="90487" bIns="44450"/>
          <a:lstStyle/>
          <a:p>
            <a:r>
              <a:rPr lang="en-GB" dirty="0"/>
              <a:t>Example 4: Repository architecture</a:t>
            </a:r>
          </a:p>
        </p:txBody>
      </p:sp>
      <p:sp>
        <p:nvSpPr>
          <p:cNvPr id="13315" name="Rectangle 3"/>
          <p:cNvSpPr>
            <a:spLocks noGrp="1" noChangeArrowheads="1"/>
          </p:cNvSpPr>
          <p:nvPr>
            <p:ph idx="1"/>
          </p:nvPr>
        </p:nvSpPr>
        <p:spPr>
          <a:noFill/>
          <a:ln/>
        </p:spPr>
        <p:txBody>
          <a:bodyPr lIns="90487" tIns="44450" rIns="90487" bIns="44450"/>
          <a:lstStyle/>
          <a:p>
            <a:pPr>
              <a:lnSpc>
                <a:spcPct val="90000"/>
              </a:lnSpc>
            </a:pPr>
            <a:r>
              <a:rPr lang="en-GB" dirty="0"/>
              <a:t>Sub-systems must exchange data. This may be done in two ways:</a:t>
            </a:r>
          </a:p>
          <a:p>
            <a:pPr lvl="1">
              <a:lnSpc>
                <a:spcPct val="90000"/>
              </a:lnSpc>
            </a:pPr>
            <a:r>
              <a:rPr lang="en-GB" dirty="0"/>
              <a:t>Shared data is held in a central database or repository and may be accessed by all sub-systems;</a:t>
            </a:r>
          </a:p>
          <a:p>
            <a:pPr lvl="1">
              <a:lnSpc>
                <a:spcPct val="90000"/>
              </a:lnSpc>
            </a:pPr>
            <a:r>
              <a:rPr lang="en-GB" dirty="0"/>
              <a:t>Each sub-system maintains its own database and passes data explicitly to other sub-systems.</a:t>
            </a:r>
          </a:p>
          <a:p>
            <a:pPr>
              <a:lnSpc>
                <a:spcPct val="90000"/>
              </a:lnSpc>
            </a:pPr>
            <a:r>
              <a:rPr lang="en-GB" dirty="0"/>
              <a:t>When large amounts of data are to be shared, the repository model of sharing is most commonly used a this is an efficient data sharing mechanism.</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86</a:t>
            </a:fld>
            <a:endParaRPr lang="en-US"/>
          </a:p>
        </p:txBody>
      </p:sp>
      <p:sp>
        <p:nvSpPr>
          <p:cNvPr id="2" name="Date Placeholder 1"/>
          <p:cNvSpPr>
            <a:spLocks noGrp="1"/>
          </p:cNvSpPr>
          <p:nvPr>
            <p:ph type="dt" sz="half" idx="10"/>
          </p:nvPr>
        </p:nvSpPr>
        <p:spPr/>
        <p:txBody>
          <a:bodyPr/>
          <a:lstStyle/>
          <a:p>
            <a:fld id="{FB4E5D8B-9CA5-9743-B64B-E7016EE305D0}" type="datetime1">
              <a:rPr lang="en-GB" smtClean="0"/>
              <a:t>20/12/2021</a:t>
            </a:fld>
            <a:endParaRPr lang="en-US"/>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Repository pattern</a:t>
            </a:r>
            <a:r>
              <a:rPr lang="en-GB" dirty="0"/>
              <a:t> </a:t>
            </a:r>
            <a:endParaRPr lang="en-US" dirty="0"/>
          </a:p>
        </p:txBody>
      </p:sp>
      <p:graphicFrame>
        <p:nvGraphicFramePr>
          <p:cNvPr id="4" name="Content Placeholder 3"/>
          <p:cNvGraphicFramePr>
            <a:graphicFrameLocks noGrp="1"/>
          </p:cNvGraphicFramePr>
          <p:nvPr>
            <p:ph idx="1"/>
          </p:nvPr>
        </p:nvGraphicFramePr>
        <p:xfrm>
          <a:off x="1213851" y="1417638"/>
          <a:ext cx="6595874" cy="5064760"/>
        </p:xfrm>
        <a:graphic>
          <a:graphicData uri="http://schemas.openxmlformats.org/drawingml/2006/table">
            <a:tbl>
              <a:tblPr firstRow="1" bandRow="1">
                <a:tableStyleId>{5C22544A-7EE6-4342-B048-85BDC9FD1C3A}</a:tableStyleId>
              </a:tblPr>
              <a:tblGrid>
                <a:gridCol w="1550354">
                  <a:extLst>
                    <a:ext uri="{9D8B030D-6E8A-4147-A177-3AD203B41FA5}">
                      <a16:colId xmlns:a16="http://schemas.microsoft.com/office/drawing/2014/main" val="20000"/>
                    </a:ext>
                  </a:extLst>
                </a:gridCol>
                <a:gridCol w="5045520">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Repository </a:t>
                      </a:r>
                    </a:p>
                  </a:txBody>
                  <a:tcPr marL="68580" marR="68580" marT="0" marB="0"/>
                </a:tc>
                <a:extLst>
                  <a:ext uri="{0D108BD9-81ED-4DB2-BD59-A6C34878D82A}">
                    <a16:rowId xmlns:a16="http://schemas.microsoft.com/office/drawing/2014/main" val="10000"/>
                  </a:ext>
                </a:extLst>
              </a:tr>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All data in a system is managed in a central repository that is accessible to all system components. Components do not interact directly, only through the repository. </a:t>
                      </a: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Example</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Figure 6.9 is an example of an IDE where the components use a repository of system design information. Each software tool generates information which is then available for use by other tools.</a:t>
                      </a: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You should use this pattern when you have a system in which large volumes of information are generated that has to be stored for a long time. You may also use it in data-driven systems where the inclusion of data in the repository triggers an action or tool.</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Components can be independent—they do not need to know of the existence of other components. Changes made by one component can be propagated to all components. All data can be managed consistently (e.g., backups done at the same time) as it is all in one place. </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The repository is a single point of failure so problems in the repository affect the whole system. May be inefficiencies in organizing all communication through the repository. Distributing the repository across several computers may be difficult.</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87</a:t>
            </a:fld>
            <a:endParaRPr lang="en-US"/>
          </a:p>
        </p:txBody>
      </p:sp>
      <p:sp>
        <p:nvSpPr>
          <p:cNvPr id="3" name="Date Placeholder 2"/>
          <p:cNvSpPr>
            <a:spLocks noGrp="1"/>
          </p:cNvSpPr>
          <p:nvPr>
            <p:ph type="dt" sz="half" idx="10"/>
          </p:nvPr>
        </p:nvSpPr>
        <p:spPr/>
        <p:txBody>
          <a:bodyPr/>
          <a:lstStyle/>
          <a:p>
            <a:fld id="{2F0DA552-248F-164B-9C52-F8071E93B4E4}" type="datetime1">
              <a:rPr lang="en-GB" smtClean="0"/>
              <a:t>20/12/2021</a:t>
            </a:fld>
            <a:endParaRPr lang="en-US"/>
          </a:p>
        </p:txBody>
      </p:sp>
    </p:spTree>
  </p:cSld>
  <p:clrMapOvr>
    <a:masterClrMapping/>
  </p:clrMapOvr>
  <p:transition spd="med">
    <p:wipe dir="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repository architecture for an IDE</a:t>
            </a:r>
            <a:r>
              <a:rPr lang="en-GB" dirty="0"/>
              <a:t> </a:t>
            </a:r>
            <a:endParaRPr lang="en-US" dirty="0"/>
          </a:p>
        </p:txBody>
      </p:sp>
      <p:pic>
        <p:nvPicPr>
          <p:cNvPr id="4" name="Content Placeholder 3" descr="6.9 RepositoryIDE.eps"/>
          <p:cNvPicPr>
            <a:picLocks noGrp="1" noChangeAspect="1"/>
          </p:cNvPicPr>
          <p:nvPr>
            <p:ph idx="1"/>
          </p:nvPr>
        </p:nvPicPr>
        <p:blipFill>
          <a:blip r:embed="rId2"/>
          <a:srcRect t="-12287" b="-12287"/>
          <a:stretch>
            <a:fillRect/>
          </a:stretch>
        </p:blipFill>
        <p:spPr>
          <a:xfrm>
            <a:off x="754456" y="1600200"/>
            <a:ext cx="7244433" cy="3984159"/>
          </a:xfrm>
        </p:spPr>
      </p:pic>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88</a:t>
            </a:fld>
            <a:endParaRPr lang="en-US"/>
          </a:p>
        </p:txBody>
      </p:sp>
      <p:sp>
        <p:nvSpPr>
          <p:cNvPr id="3" name="Date Placeholder 2"/>
          <p:cNvSpPr>
            <a:spLocks noGrp="1"/>
          </p:cNvSpPr>
          <p:nvPr>
            <p:ph type="dt" sz="half" idx="10"/>
          </p:nvPr>
        </p:nvSpPr>
        <p:spPr/>
        <p:txBody>
          <a:bodyPr/>
          <a:lstStyle/>
          <a:p>
            <a:fld id="{BA16D6FC-FDE3-7142-8191-38F6A5A2805F}" type="datetime1">
              <a:rPr lang="en-GB" smtClean="0"/>
              <a:t>20/12/2021</a:t>
            </a:fld>
            <a:endParaRPr lang="en-US"/>
          </a:p>
        </p:txBody>
      </p:sp>
    </p:spTree>
  </p:cSld>
  <p:clrMapOvr>
    <a:masterClrMapping/>
  </p:clrMapOvr>
  <p:transition spd="med">
    <p:wipe dir="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46744"/>
            <a:ext cx="8229600" cy="1143000"/>
          </a:xfrm>
        </p:spPr>
        <p:txBody>
          <a:bodyPr/>
          <a:lstStyle/>
          <a:p>
            <a:pPr algn="ctr"/>
            <a:r>
              <a:rPr lang="en-US" dirty="0"/>
              <a:t>Application architectures</a:t>
            </a:r>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89</a:t>
            </a:fld>
            <a:endParaRPr lang="en-US"/>
          </a:p>
        </p:txBody>
      </p:sp>
      <p:sp>
        <p:nvSpPr>
          <p:cNvPr id="6" name="Date Placeholder 5"/>
          <p:cNvSpPr>
            <a:spLocks noGrp="1"/>
          </p:cNvSpPr>
          <p:nvPr>
            <p:ph type="dt" sz="half" idx="10"/>
          </p:nvPr>
        </p:nvSpPr>
        <p:spPr/>
        <p:txBody>
          <a:bodyPr/>
          <a:lstStyle/>
          <a:p>
            <a:fld id="{A47BEF99-C949-C342-9C09-4F6A44CADEA5}" type="datetime1">
              <a:rPr lang="en-GB" smtClean="0"/>
              <a:t>20/12/2021</a:t>
            </a:fld>
            <a:endParaRPr lang="en-US"/>
          </a:p>
        </p:txBody>
      </p:sp>
    </p:spTree>
    <p:extLst>
      <p:ext uri="{BB962C8B-B14F-4D97-AF65-F5344CB8AC3E}">
        <p14:creationId xmlns:p14="http://schemas.microsoft.com/office/powerpoint/2010/main" val="1230688648"/>
      </p:ext>
    </p:extLst>
  </p:cSld>
  <p:clrMapOvr>
    <a:masterClrMapping/>
  </p:clrMapOvr>
  <p:transition spd="med">
    <p:wipe dir="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r>
              <a:rPr lang="en-US" dirty="0"/>
              <a:t>Application architectures</a:t>
            </a:r>
          </a:p>
        </p:txBody>
      </p:sp>
      <p:sp>
        <p:nvSpPr>
          <p:cNvPr id="137219" name="Rectangle 3"/>
          <p:cNvSpPr>
            <a:spLocks noGrp="1" noChangeArrowheads="1"/>
          </p:cNvSpPr>
          <p:nvPr>
            <p:ph idx="1"/>
          </p:nvPr>
        </p:nvSpPr>
        <p:spPr/>
        <p:txBody>
          <a:bodyPr lIns="91797" tIns="45898" rIns="91797" bIns="45898"/>
          <a:lstStyle/>
          <a:p>
            <a:r>
              <a:rPr lang="en-US" dirty="0"/>
              <a:t>Application systems are designed to meet an </a:t>
            </a:r>
            <a:r>
              <a:rPr lang="en-US" dirty="0" err="1"/>
              <a:t>organisational</a:t>
            </a:r>
            <a:r>
              <a:rPr lang="en-US" dirty="0"/>
              <a:t> need.</a:t>
            </a:r>
          </a:p>
          <a:p>
            <a:r>
              <a:rPr lang="en-US" dirty="0"/>
              <a:t>As businesses have much in common, their application systems also tend to have a common architecture that reflects the application requirements.</a:t>
            </a:r>
          </a:p>
          <a:p>
            <a:r>
              <a:rPr lang="en-US" dirty="0"/>
              <a:t>A generic application architecture is an architecture for a type of software system that may be configured and adapted to create a system that meets specific requirements.</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90</a:t>
            </a:fld>
            <a:endParaRPr lang="en-US"/>
          </a:p>
        </p:txBody>
      </p:sp>
      <p:sp>
        <p:nvSpPr>
          <p:cNvPr id="2" name="Date Placeholder 1"/>
          <p:cNvSpPr>
            <a:spLocks noGrp="1"/>
          </p:cNvSpPr>
          <p:nvPr>
            <p:ph type="dt" sz="half" idx="10"/>
          </p:nvPr>
        </p:nvSpPr>
        <p:spPr/>
        <p:txBody>
          <a:bodyPr/>
          <a:lstStyle/>
          <a:p>
            <a:fld id="{2E8D8C0F-774B-1444-B7D2-BCC57C718D4C}" type="datetime1">
              <a:rPr lang="en-GB" smtClean="0"/>
              <a:t>20/12/2021</a:t>
            </a:fld>
            <a:endParaRPr lang="en-US"/>
          </a:p>
        </p:txBody>
      </p:sp>
    </p:spTree>
  </p:cSld>
  <p:clrMapOvr>
    <a:masterClrMapping/>
  </p:clrMapOvr>
  <p:transition spd="med">
    <p:wipe dir="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r>
              <a:rPr lang="en-US"/>
              <a:t>Use of application architectures</a:t>
            </a:r>
          </a:p>
        </p:txBody>
      </p:sp>
      <p:sp>
        <p:nvSpPr>
          <p:cNvPr id="138243" name="Rectangle 3"/>
          <p:cNvSpPr>
            <a:spLocks noGrp="1" noChangeArrowheads="1"/>
          </p:cNvSpPr>
          <p:nvPr>
            <p:ph idx="1"/>
          </p:nvPr>
        </p:nvSpPr>
        <p:spPr/>
        <p:txBody>
          <a:bodyPr lIns="91797" tIns="45898" rIns="91797" bIns="45898"/>
          <a:lstStyle/>
          <a:p>
            <a:pPr>
              <a:lnSpc>
                <a:spcPct val="90000"/>
              </a:lnSpc>
            </a:pPr>
            <a:r>
              <a:rPr lang="en-US"/>
              <a:t>As a starting point for architectural design.</a:t>
            </a:r>
          </a:p>
          <a:p>
            <a:pPr>
              <a:lnSpc>
                <a:spcPct val="90000"/>
              </a:lnSpc>
            </a:pPr>
            <a:r>
              <a:rPr lang="en-US"/>
              <a:t>As a design checklist.</a:t>
            </a:r>
          </a:p>
          <a:p>
            <a:pPr>
              <a:lnSpc>
                <a:spcPct val="90000"/>
              </a:lnSpc>
            </a:pPr>
            <a:r>
              <a:rPr lang="en-US"/>
              <a:t>As a way of organising the work of the development team.</a:t>
            </a:r>
          </a:p>
          <a:p>
            <a:pPr>
              <a:lnSpc>
                <a:spcPct val="90000"/>
              </a:lnSpc>
            </a:pPr>
            <a:r>
              <a:rPr lang="en-US"/>
              <a:t>As a means of assessing components for reuse.</a:t>
            </a:r>
          </a:p>
          <a:p>
            <a:pPr>
              <a:lnSpc>
                <a:spcPct val="90000"/>
              </a:lnSpc>
            </a:pPr>
            <a:r>
              <a:rPr lang="en-US"/>
              <a:t>As a vocabulary for talking about application types.</a:t>
            </a:r>
          </a:p>
          <a:p>
            <a:pPr>
              <a:lnSpc>
                <a:spcPct val="90000"/>
              </a:lnSpc>
              <a:buFont typeface="Zapf Dingbats" charset="2"/>
              <a:buNone/>
            </a:pPr>
            <a:endParaRPr lang="en-US"/>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91</a:t>
            </a:fld>
            <a:endParaRPr lang="en-US"/>
          </a:p>
        </p:txBody>
      </p:sp>
      <p:sp>
        <p:nvSpPr>
          <p:cNvPr id="2" name="Date Placeholder 1"/>
          <p:cNvSpPr>
            <a:spLocks noGrp="1"/>
          </p:cNvSpPr>
          <p:nvPr>
            <p:ph type="dt" sz="half" idx="10"/>
          </p:nvPr>
        </p:nvSpPr>
        <p:spPr/>
        <p:txBody>
          <a:bodyPr/>
          <a:lstStyle/>
          <a:p>
            <a:fld id="{C3D984BB-04E1-CF40-8920-D410C409BE69}" type="datetime1">
              <a:rPr lang="en-GB" smtClean="0"/>
              <a:t>20/12/2021</a:t>
            </a:fld>
            <a:endParaRPr lang="en-US"/>
          </a:p>
        </p:txBody>
      </p:sp>
    </p:spTree>
  </p:cSld>
  <p:clrMapOvr>
    <a:masterClrMapping/>
  </p:clrMapOvr>
  <p:transition spd="med">
    <p:wipe dir="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Number Placeholder 3">
            <a:extLst>
              <a:ext uri="{FF2B5EF4-FFF2-40B4-BE49-F238E27FC236}">
                <a16:creationId xmlns:a16="http://schemas.microsoft.com/office/drawing/2014/main" id="{5EB6F272-F4DA-704B-BDF4-98A06D4BE5DD}"/>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4E81A041-EF31-2042-B1B9-005984DDE846}" type="slidenum">
              <a:rPr lang="en-US" altLang="en-US">
                <a:latin typeface="Garamond" panose="02020404030301010803" pitchFamily="18" charset="0"/>
              </a:rPr>
              <a:pPr/>
              <a:t>92</a:t>
            </a:fld>
            <a:endParaRPr lang="en-US" altLang="en-US">
              <a:latin typeface="Garamond" panose="02020404030301010803" pitchFamily="18" charset="0"/>
            </a:endParaRPr>
          </a:p>
        </p:txBody>
      </p:sp>
      <p:pic>
        <p:nvPicPr>
          <p:cNvPr id="21506" name="Picture 4">
            <a:extLst>
              <a:ext uri="{FF2B5EF4-FFF2-40B4-BE49-F238E27FC236}">
                <a16:creationId xmlns:a16="http://schemas.microsoft.com/office/drawing/2014/main" id="{154B9464-729C-2840-9BBD-19180D85D07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2198688"/>
            <a:ext cx="5294312"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7" name="Picture 5">
            <a:extLst>
              <a:ext uri="{FF2B5EF4-FFF2-40B4-BE49-F238E27FC236}">
                <a16:creationId xmlns:a16="http://schemas.microsoft.com/office/drawing/2014/main" id="{862C4DCD-451D-DE4A-BFC3-9D1CF611CD6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84200" y="4578350"/>
            <a:ext cx="5014913" cy="218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8" name="Picture 6">
            <a:extLst>
              <a:ext uri="{FF2B5EF4-FFF2-40B4-BE49-F238E27FC236}">
                <a16:creationId xmlns:a16="http://schemas.microsoft.com/office/drawing/2014/main" id="{5B3FEEB2-8003-E74D-BDEE-C3F1D75F355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500563" y="404813"/>
            <a:ext cx="4356100"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Picture 7">
            <a:extLst>
              <a:ext uri="{FF2B5EF4-FFF2-40B4-BE49-F238E27FC236}">
                <a16:creationId xmlns:a16="http://schemas.microsoft.com/office/drawing/2014/main" id="{B2EE1993-0250-B049-AB15-8262260D931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11188" y="404813"/>
            <a:ext cx="2592387"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4C5F2E61-29C0-8C44-8F25-7547E3EBEAB8}"/>
              </a:ext>
            </a:extLst>
          </p:cNvPr>
          <p:cNvSpPr/>
          <p:nvPr/>
        </p:nvSpPr>
        <p:spPr>
          <a:xfrm>
            <a:off x="250825" y="296863"/>
            <a:ext cx="3384550" cy="1800225"/>
          </a:xfrm>
          <a:prstGeom prst="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GB"/>
          </a:p>
        </p:txBody>
      </p:sp>
      <p:sp>
        <p:nvSpPr>
          <p:cNvPr id="8" name="Rectangle 7">
            <a:extLst>
              <a:ext uri="{FF2B5EF4-FFF2-40B4-BE49-F238E27FC236}">
                <a16:creationId xmlns:a16="http://schemas.microsoft.com/office/drawing/2014/main" id="{519F18BB-4328-9B42-BBDC-405482ED2216}"/>
              </a:ext>
            </a:extLst>
          </p:cNvPr>
          <p:cNvSpPr/>
          <p:nvPr/>
        </p:nvSpPr>
        <p:spPr>
          <a:xfrm>
            <a:off x="557213" y="2198688"/>
            <a:ext cx="6894512" cy="2238375"/>
          </a:xfrm>
          <a:prstGeom prst="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GB"/>
          </a:p>
        </p:txBody>
      </p:sp>
      <p:sp>
        <p:nvSpPr>
          <p:cNvPr id="9" name="Rectangle 8">
            <a:extLst>
              <a:ext uri="{FF2B5EF4-FFF2-40B4-BE49-F238E27FC236}">
                <a16:creationId xmlns:a16="http://schemas.microsoft.com/office/drawing/2014/main" id="{4DF5BEB5-1F02-B747-86D1-9A8882396DB5}"/>
              </a:ext>
            </a:extLst>
          </p:cNvPr>
          <p:cNvSpPr/>
          <p:nvPr/>
        </p:nvSpPr>
        <p:spPr>
          <a:xfrm>
            <a:off x="4067175" y="280988"/>
            <a:ext cx="4789488" cy="1800225"/>
          </a:xfrm>
          <a:prstGeom prst="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GB"/>
          </a:p>
        </p:txBody>
      </p:sp>
      <p:sp>
        <p:nvSpPr>
          <p:cNvPr id="10" name="Rectangle 9">
            <a:extLst>
              <a:ext uri="{FF2B5EF4-FFF2-40B4-BE49-F238E27FC236}">
                <a16:creationId xmlns:a16="http://schemas.microsoft.com/office/drawing/2014/main" id="{0F73E380-E8F2-564D-A941-847F62D12AE6}"/>
              </a:ext>
            </a:extLst>
          </p:cNvPr>
          <p:cNvSpPr/>
          <p:nvPr/>
        </p:nvSpPr>
        <p:spPr>
          <a:xfrm>
            <a:off x="550863" y="4521200"/>
            <a:ext cx="6894512" cy="2238375"/>
          </a:xfrm>
          <a:prstGeom prst="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GB"/>
          </a:p>
        </p:txBody>
      </p:sp>
    </p:spTree>
    <p:extLst>
      <p:ext uri="{BB962C8B-B14F-4D97-AF65-F5344CB8AC3E}">
        <p14:creationId xmlns:p14="http://schemas.microsoft.com/office/powerpoint/2010/main" val="2862927415"/>
      </p:ext>
    </p:extLst>
  </p:cSld>
  <p:clrMapOvr>
    <a:masterClrMapping/>
  </p:clrMapOvr>
  <p:transition spd="med">
    <p:wipe dir="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7">
            <a:extLst>
              <a:ext uri="{FF2B5EF4-FFF2-40B4-BE49-F238E27FC236}">
                <a16:creationId xmlns:a16="http://schemas.microsoft.com/office/drawing/2014/main" id="{402E8DF1-4660-F944-AE69-355692F1CC4B}"/>
              </a:ext>
            </a:extLst>
          </p:cNvPr>
          <p:cNvSpPr>
            <a:spLocks noGrp="1" noChangeArrowheads="1"/>
          </p:cNvSpPr>
          <p:nvPr>
            <p:ph type="title"/>
          </p:nvPr>
        </p:nvSpPr>
        <p:spPr/>
        <p:txBody>
          <a:bodyPr/>
          <a:lstStyle/>
          <a:p>
            <a:r>
              <a:rPr lang="en-US" altLang="en-US"/>
              <a:t>1. Everything On One Server</a:t>
            </a:r>
            <a:br>
              <a:rPr lang="en-US" altLang="en-US"/>
            </a:br>
            <a:endParaRPr lang="en-GB" altLang="en-US"/>
          </a:p>
        </p:txBody>
      </p:sp>
      <p:sp>
        <p:nvSpPr>
          <p:cNvPr id="23554" name="Content Placeholder 3">
            <a:extLst>
              <a:ext uri="{FF2B5EF4-FFF2-40B4-BE49-F238E27FC236}">
                <a16:creationId xmlns:a16="http://schemas.microsoft.com/office/drawing/2014/main" id="{0D0D1F2A-9B37-444B-A0C3-8A4CB69AC30D}"/>
              </a:ext>
            </a:extLst>
          </p:cNvPr>
          <p:cNvSpPr>
            <a:spLocks noGrp="1" noChangeArrowheads="1"/>
          </p:cNvSpPr>
          <p:nvPr>
            <p:ph sz="half" idx="1"/>
          </p:nvPr>
        </p:nvSpPr>
        <p:spPr/>
        <p:txBody>
          <a:bodyPr/>
          <a:lstStyle/>
          <a:p>
            <a:r>
              <a:rPr lang="en-US" altLang="en-US" sz="2000" dirty="0"/>
              <a:t>The entire environment resides on a single server. For a typical web application, that would include the web server, application server, and database server. A common variation of this setup is a LAMP stack, which stands for Linux, Apache, MySQL, and PHP, on a single server.</a:t>
            </a:r>
          </a:p>
          <a:p>
            <a:r>
              <a:rPr lang="en-US" altLang="en-US" sz="2000" dirty="0"/>
              <a:t>Use Case: Good for setting up an application quickly, as it is the simplest setup possible, but it offers little in the way of scalability and component isolation.</a:t>
            </a:r>
          </a:p>
          <a:p>
            <a:endParaRPr lang="en-GB" altLang="en-US" sz="2000" dirty="0"/>
          </a:p>
        </p:txBody>
      </p:sp>
      <p:sp>
        <p:nvSpPr>
          <p:cNvPr id="2" name="Content Placeholder 1">
            <a:extLst>
              <a:ext uri="{FF2B5EF4-FFF2-40B4-BE49-F238E27FC236}">
                <a16:creationId xmlns:a16="http://schemas.microsoft.com/office/drawing/2014/main" id="{0D54AA3D-4034-7446-90FD-F26659D0BE9E}"/>
              </a:ext>
            </a:extLst>
          </p:cNvPr>
          <p:cNvSpPr>
            <a:spLocks noGrp="1"/>
          </p:cNvSpPr>
          <p:nvPr>
            <p:ph sz="half" idx="2"/>
          </p:nvPr>
        </p:nvSpPr>
        <p:spPr/>
        <p:txBody>
          <a:bodyPr/>
          <a:lstStyle/>
          <a:p>
            <a:r>
              <a:rPr lang="en-US" altLang="en-US" sz="1600" b="1" dirty="0"/>
              <a:t>Pros</a:t>
            </a:r>
            <a:r>
              <a:rPr lang="en-US" altLang="en-US" sz="1600" dirty="0"/>
              <a:t>:</a:t>
            </a:r>
          </a:p>
          <a:p>
            <a:pPr lvl="1"/>
            <a:r>
              <a:rPr lang="en-US" altLang="en-US" sz="1600" dirty="0"/>
              <a:t>Simple</a:t>
            </a:r>
          </a:p>
          <a:p>
            <a:r>
              <a:rPr lang="en-US" altLang="en-US" sz="1600" b="1" dirty="0"/>
              <a:t>Cons</a:t>
            </a:r>
            <a:r>
              <a:rPr lang="en-US" altLang="en-US" sz="1600" dirty="0"/>
              <a:t>:</a:t>
            </a:r>
          </a:p>
          <a:p>
            <a:pPr lvl="1"/>
            <a:r>
              <a:rPr lang="en-US" altLang="en-US" sz="1600" dirty="0"/>
              <a:t>Application and database contend for the same server resources (CPU, Memory, I/O, etc.) which, aside from possible poor performance, can make it difficult to determine the source (application or database) of poor performance</a:t>
            </a:r>
          </a:p>
          <a:p>
            <a:pPr lvl="1"/>
            <a:r>
              <a:rPr lang="en-US" altLang="en-US" sz="1600" dirty="0"/>
              <a:t>Not readily horizontally scalable</a:t>
            </a:r>
          </a:p>
          <a:p>
            <a:endParaRPr lang="en-GB" sz="1600" dirty="0"/>
          </a:p>
        </p:txBody>
      </p:sp>
      <p:sp>
        <p:nvSpPr>
          <p:cNvPr id="23555" name="Slide Number Placeholder 1">
            <a:extLst>
              <a:ext uri="{FF2B5EF4-FFF2-40B4-BE49-F238E27FC236}">
                <a16:creationId xmlns:a16="http://schemas.microsoft.com/office/drawing/2014/main" id="{935110CE-75F3-1643-81A9-C25B6A34A977}"/>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A110724F-EEBD-1941-AD15-9F6F90335A21}" type="slidenum">
              <a:rPr lang="en-US" altLang="en-US">
                <a:latin typeface="Garamond" panose="02020404030301010803" pitchFamily="18" charset="0"/>
              </a:rPr>
              <a:pPr/>
              <a:t>93</a:t>
            </a:fld>
            <a:endParaRPr lang="en-US" altLang="en-US">
              <a:latin typeface="Garamond" panose="02020404030301010803" pitchFamily="18" charset="0"/>
            </a:endParaRPr>
          </a:p>
        </p:txBody>
      </p:sp>
      <p:pic>
        <p:nvPicPr>
          <p:cNvPr id="23556" name="Picture 14">
            <a:extLst>
              <a:ext uri="{FF2B5EF4-FFF2-40B4-BE49-F238E27FC236}">
                <a16:creationId xmlns:a16="http://schemas.microsoft.com/office/drawing/2014/main" id="{D5684446-BE6A-EB48-99D4-51167CA9BC8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68490" y="4667933"/>
            <a:ext cx="3198019" cy="1915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801296"/>
      </p:ext>
    </p:extLst>
  </p:cSld>
  <p:clrMapOvr>
    <a:masterClrMapping/>
  </p:clrMapOvr>
  <p:transition spd="med">
    <p:wipe dir="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a:extLst>
              <a:ext uri="{FF2B5EF4-FFF2-40B4-BE49-F238E27FC236}">
                <a16:creationId xmlns:a16="http://schemas.microsoft.com/office/drawing/2014/main" id="{3D86A85C-2CD9-6B46-A5F6-B9B022A32EC3}"/>
              </a:ext>
            </a:extLst>
          </p:cNvPr>
          <p:cNvSpPr>
            <a:spLocks noGrp="1" noChangeArrowheads="1"/>
          </p:cNvSpPr>
          <p:nvPr>
            <p:ph type="title"/>
          </p:nvPr>
        </p:nvSpPr>
        <p:spPr>
          <a:xfrm>
            <a:off x="457200" y="274638"/>
            <a:ext cx="7293232" cy="1143000"/>
          </a:xfrm>
        </p:spPr>
        <p:txBody>
          <a:bodyPr wrap="square" anchor="ctr">
            <a:normAutofit/>
          </a:bodyPr>
          <a:lstStyle/>
          <a:p>
            <a:r>
              <a:rPr lang="en-US" altLang="en-US"/>
              <a:t>2. Separate Database Server</a:t>
            </a:r>
            <a:endParaRPr lang="en-GB" altLang="en-US"/>
          </a:p>
        </p:txBody>
      </p:sp>
      <p:sp>
        <p:nvSpPr>
          <p:cNvPr id="25602" name="Content Placeholder 7">
            <a:extLst>
              <a:ext uri="{FF2B5EF4-FFF2-40B4-BE49-F238E27FC236}">
                <a16:creationId xmlns:a16="http://schemas.microsoft.com/office/drawing/2014/main" id="{8A0942CA-C1EE-4245-AF6F-72E5A1FAB8AC}"/>
              </a:ext>
            </a:extLst>
          </p:cNvPr>
          <p:cNvSpPr>
            <a:spLocks noGrp="1" noChangeArrowheads="1"/>
          </p:cNvSpPr>
          <p:nvPr>
            <p:ph sz="half" idx="1"/>
          </p:nvPr>
        </p:nvSpPr>
        <p:spPr>
          <a:xfrm>
            <a:off x="457200" y="1600200"/>
            <a:ext cx="4038600" cy="4525963"/>
          </a:xfrm>
        </p:spPr>
        <p:txBody>
          <a:bodyPr>
            <a:normAutofit/>
          </a:bodyPr>
          <a:lstStyle/>
          <a:p>
            <a:pPr>
              <a:lnSpc>
                <a:spcPct val="90000"/>
              </a:lnSpc>
            </a:pPr>
            <a:r>
              <a:rPr lang="en-US" altLang="en-US" sz="2000" dirty="0"/>
              <a:t>The database management system (DBMS) can be separated from the rest of the environment to eliminate the resource contention between the application and the database, and to increase security by removing the database from the DMZ, or public internet.</a:t>
            </a:r>
          </a:p>
          <a:p>
            <a:pPr>
              <a:lnSpc>
                <a:spcPct val="90000"/>
              </a:lnSpc>
            </a:pPr>
            <a:r>
              <a:rPr lang="en-US" altLang="en-US" sz="2000" b="1" dirty="0"/>
              <a:t>Use Case</a:t>
            </a:r>
            <a:r>
              <a:rPr lang="en-US" altLang="en-US" sz="2000" dirty="0"/>
              <a:t>: Good for setting up an application quickly but keeps application and database from fighting over the same system resources.</a:t>
            </a:r>
          </a:p>
          <a:p>
            <a:pPr>
              <a:lnSpc>
                <a:spcPct val="90000"/>
              </a:lnSpc>
            </a:pPr>
            <a:endParaRPr lang="en-GB" altLang="en-US" sz="2000" dirty="0"/>
          </a:p>
        </p:txBody>
      </p:sp>
      <p:pic>
        <p:nvPicPr>
          <p:cNvPr id="25604" name="Picture 10">
            <a:extLst>
              <a:ext uri="{FF2B5EF4-FFF2-40B4-BE49-F238E27FC236}">
                <a16:creationId xmlns:a16="http://schemas.microsoft.com/office/drawing/2014/main" id="{C0596686-F6DA-CB44-9117-1225B26D32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648200" y="3078352"/>
            <a:ext cx="4038600" cy="15696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73" name="Date Placeholder 4">
            <a:extLst>
              <a:ext uri="{FF2B5EF4-FFF2-40B4-BE49-F238E27FC236}">
                <a16:creationId xmlns:a16="http://schemas.microsoft.com/office/drawing/2014/main" id="{D398EEAC-8CEC-4AD9-B53C-B1CE572A7090}"/>
              </a:ext>
            </a:extLst>
          </p:cNvPr>
          <p:cNvSpPr>
            <a:spLocks noGrp="1"/>
          </p:cNvSpPr>
          <p:nvPr>
            <p:ph type="dt" sz="half" idx="10"/>
          </p:nvPr>
        </p:nvSpPr>
        <p:spPr>
          <a:xfrm>
            <a:off x="457200" y="6356350"/>
            <a:ext cx="2133600" cy="365125"/>
          </a:xfrm>
        </p:spPr>
        <p:txBody>
          <a:bodyPr/>
          <a:lstStyle/>
          <a:p>
            <a:pPr>
              <a:spcAft>
                <a:spcPts val="600"/>
              </a:spcAft>
            </a:pPr>
            <a:fld id="{C5D1CCAB-69C6-0143-A029-A2CB647FDE54}" type="datetime1">
              <a:rPr lang="en-GB" smtClean="0"/>
              <a:pPr>
                <a:spcAft>
                  <a:spcPts val="600"/>
                </a:spcAft>
              </a:pPr>
              <a:t>20/12/2021</a:t>
            </a:fld>
            <a:endParaRPr lang="en-US"/>
          </a:p>
        </p:txBody>
      </p:sp>
      <p:sp>
        <p:nvSpPr>
          <p:cNvPr id="75" name="Footer Placeholder 5">
            <a:extLst>
              <a:ext uri="{FF2B5EF4-FFF2-40B4-BE49-F238E27FC236}">
                <a16:creationId xmlns:a16="http://schemas.microsoft.com/office/drawing/2014/main" id="{CD346987-06C0-42A4-A7B3-FA00B7D6A440}"/>
              </a:ext>
            </a:extLst>
          </p:cNvPr>
          <p:cNvSpPr>
            <a:spLocks noGrp="1"/>
          </p:cNvSpPr>
          <p:nvPr>
            <p:ph type="ftr" sz="quarter" idx="11"/>
          </p:nvPr>
        </p:nvSpPr>
        <p:spPr>
          <a:xfrm>
            <a:off x="3124200" y="6356350"/>
            <a:ext cx="2895600" cy="365125"/>
          </a:xfrm>
        </p:spPr>
        <p:txBody>
          <a:bodyPr/>
          <a:lstStyle/>
          <a:p>
            <a:pPr>
              <a:spcAft>
                <a:spcPts val="600"/>
              </a:spcAft>
            </a:pPr>
            <a:r>
              <a:rPr lang="en-US"/>
              <a:t>Chapter 6 Architectural Design</a:t>
            </a:r>
          </a:p>
        </p:txBody>
      </p:sp>
      <p:sp>
        <p:nvSpPr>
          <p:cNvPr id="25603" name="Slide Number Placeholder 4">
            <a:extLst>
              <a:ext uri="{FF2B5EF4-FFF2-40B4-BE49-F238E27FC236}">
                <a16:creationId xmlns:a16="http://schemas.microsoft.com/office/drawing/2014/main" id="{1856A7A3-5AA4-B442-9423-9650444222B4}"/>
              </a:ext>
            </a:extLst>
          </p:cNvPr>
          <p:cNvSpPr>
            <a:spLocks noGrp="1"/>
          </p:cNvSpPr>
          <p:nvPr>
            <p:ph type="sldNum" sz="quarter" idx="12"/>
          </p:nvPr>
        </p:nvSpPr>
        <p:spPr>
          <a:xfrm>
            <a:off x="6553200" y="6356350"/>
            <a:ext cx="21336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spcAft>
                <a:spcPts val="600"/>
              </a:spcAft>
            </a:pPr>
            <a:fld id="{D3198137-5EC3-124A-B6C8-DDD868C2CDDD}" type="slidenum">
              <a:rPr lang="en-US" altLang="en-US">
                <a:solidFill>
                  <a:schemeClr val="tx1">
                    <a:tint val="75000"/>
                  </a:schemeClr>
                </a:solidFill>
              </a:rPr>
              <a:pPr>
                <a:spcAft>
                  <a:spcPts val="600"/>
                </a:spcAft>
              </a:pPr>
              <a:t>94</a:t>
            </a:fld>
            <a:endParaRPr lang="en-US" altLang="en-US">
              <a:solidFill>
                <a:schemeClr val="tx1">
                  <a:tint val="75000"/>
                </a:schemeClr>
              </a:solidFill>
            </a:endParaRPr>
          </a:p>
        </p:txBody>
      </p:sp>
    </p:spTree>
    <p:extLst>
      <p:ext uri="{BB962C8B-B14F-4D97-AF65-F5344CB8AC3E}">
        <p14:creationId xmlns:p14="http://schemas.microsoft.com/office/powerpoint/2010/main" val="2817221399"/>
      </p:ext>
    </p:extLst>
  </p:cSld>
  <p:clrMapOvr>
    <a:masterClrMapping/>
  </p:clrMapOvr>
  <p:transition spd="med">
    <p:wipe dir="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a:extLst>
              <a:ext uri="{FF2B5EF4-FFF2-40B4-BE49-F238E27FC236}">
                <a16:creationId xmlns:a16="http://schemas.microsoft.com/office/drawing/2014/main" id="{D4A9E55F-04D6-664D-9718-00A5F45F3A66}"/>
              </a:ext>
            </a:extLst>
          </p:cNvPr>
          <p:cNvSpPr>
            <a:spLocks noGrp="1" noChangeArrowheads="1"/>
          </p:cNvSpPr>
          <p:nvPr>
            <p:ph type="title"/>
          </p:nvPr>
        </p:nvSpPr>
        <p:spPr/>
        <p:txBody>
          <a:bodyPr/>
          <a:lstStyle/>
          <a:p>
            <a:r>
              <a:rPr lang="en-US" altLang="en-US"/>
              <a:t>3. Load Balancer (Reverse Proxy)</a:t>
            </a:r>
            <a:br>
              <a:rPr lang="en-US" altLang="en-US"/>
            </a:br>
            <a:endParaRPr lang="en-GB" altLang="en-US"/>
          </a:p>
        </p:txBody>
      </p:sp>
      <p:sp>
        <p:nvSpPr>
          <p:cNvPr id="27650" name="Content Placeholder 7">
            <a:extLst>
              <a:ext uri="{FF2B5EF4-FFF2-40B4-BE49-F238E27FC236}">
                <a16:creationId xmlns:a16="http://schemas.microsoft.com/office/drawing/2014/main" id="{9998A913-C668-FC4B-A71A-2E27DCB835DE}"/>
              </a:ext>
            </a:extLst>
          </p:cNvPr>
          <p:cNvSpPr>
            <a:spLocks noGrp="1" noChangeArrowheads="1"/>
          </p:cNvSpPr>
          <p:nvPr>
            <p:ph idx="1"/>
          </p:nvPr>
        </p:nvSpPr>
        <p:spPr/>
        <p:txBody>
          <a:bodyPr/>
          <a:lstStyle/>
          <a:p>
            <a:r>
              <a:rPr lang="en-US" altLang="en-US" sz="1600"/>
              <a:t>Load balancers can be added to a server environment to improve performance and reliability by distributing the workload across multiple servers. If one of the servers that is load balanced fails, the other servers will handle the incoming traffic until the failed server becomes healthy again. It can also be used to serve multiple applications through the same domain and port, by using a layer 7 (application layer) reverse proxy.</a:t>
            </a:r>
          </a:p>
          <a:p>
            <a:r>
              <a:rPr lang="en-US" altLang="en-US" sz="1600"/>
              <a:t>Examples of software capable of reverse proxy load balancing: HAProxy, Nginx, and Varnish.</a:t>
            </a:r>
          </a:p>
          <a:p>
            <a:r>
              <a:rPr lang="en-US" altLang="en-US" sz="1600" b="1"/>
              <a:t>Use Case</a:t>
            </a:r>
            <a:r>
              <a:rPr lang="en-US" altLang="en-US" sz="1600"/>
              <a:t>: Useful in an environment that requires scaling by adding more servers, also known as horizontal scaling.</a:t>
            </a:r>
          </a:p>
        </p:txBody>
      </p:sp>
      <p:sp>
        <p:nvSpPr>
          <p:cNvPr id="27651" name="Slide Number Placeholder 4">
            <a:extLst>
              <a:ext uri="{FF2B5EF4-FFF2-40B4-BE49-F238E27FC236}">
                <a16:creationId xmlns:a16="http://schemas.microsoft.com/office/drawing/2014/main" id="{4179F160-478F-9247-9F50-895DD67A7719}"/>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1BEBF389-0BDB-E14B-A417-EE15FED722AF}" type="slidenum">
              <a:rPr lang="en-US" altLang="en-US" smtClean="0">
                <a:latin typeface="Garamond" panose="02020404030301010803" pitchFamily="18" charset="0"/>
              </a:rPr>
              <a:pPr/>
              <a:t>95</a:t>
            </a:fld>
            <a:endParaRPr lang="en-US" altLang="en-US">
              <a:latin typeface="Garamond" panose="02020404030301010803" pitchFamily="18" charset="0"/>
            </a:endParaRPr>
          </a:p>
        </p:txBody>
      </p:sp>
      <p:pic>
        <p:nvPicPr>
          <p:cNvPr id="27652" name="Picture 9">
            <a:extLst>
              <a:ext uri="{FF2B5EF4-FFF2-40B4-BE49-F238E27FC236}">
                <a16:creationId xmlns:a16="http://schemas.microsoft.com/office/drawing/2014/main" id="{51FDF272-23D5-A446-8678-63BE07F8396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75069" y="4456382"/>
            <a:ext cx="5309931" cy="2244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02072021"/>
      </p:ext>
    </p:extLst>
  </p:cSld>
  <p:clrMapOvr>
    <a:masterClrMapping/>
  </p:clrMapOvr>
  <p:transition>
    <p:cut/>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8E42E509-09A7-2C4D-9FFC-77754D764CAB}"/>
              </a:ext>
            </a:extLst>
          </p:cNvPr>
          <p:cNvSpPr>
            <a:spLocks noGrp="1" noChangeArrowheads="1"/>
          </p:cNvSpPr>
          <p:nvPr>
            <p:ph type="title"/>
          </p:nvPr>
        </p:nvSpPr>
        <p:spPr/>
        <p:txBody>
          <a:bodyPr/>
          <a:lstStyle/>
          <a:p>
            <a:r>
              <a:rPr lang="en-US" altLang="en-US"/>
              <a:t>4. HTTP Accelerator (Caching Reverse Proxy)</a:t>
            </a:r>
            <a:br>
              <a:rPr lang="en-US" altLang="en-US"/>
            </a:br>
            <a:endParaRPr lang="en-GB" altLang="en-US"/>
          </a:p>
        </p:txBody>
      </p:sp>
      <p:sp>
        <p:nvSpPr>
          <p:cNvPr id="29698" name="Content Placeholder 6">
            <a:extLst>
              <a:ext uri="{FF2B5EF4-FFF2-40B4-BE49-F238E27FC236}">
                <a16:creationId xmlns:a16="http://schemas.microsoft.com/office/drawing/2014/main" id="{DEADDE0A-F1E3-EA46-A804-336302E37FD8}"/>
              </a:ext>
            </a:extLst>
          </p:cNvPr>
          <p:cNvSpPr>
            <a:spLocks noGrp="1" noChangeArrowheads="1"/>
          </p:cNvSpPr>
          <p:nvPr>
            <p:ph idx="1"/>
          </p:nvPr>
        </p:nvSpPr>
        <p:spPr/>
        <p:txBody>
          <a:bodyPr/>
          <a:lstStyle/>
          <a:p>
            <a:r>
              <a:rPr lang="en-US" altLang="en-US" sz="1800"/>
              <a:t>An HTTP accelerator, or caching HTTP reverse proxy, can be used to reduce the time it takes to serve content to a user through a variety of techniques. The main technique employed with an HTTP accelerator is caching responses from a web or application server in memory, so future requests for the same content can be served quickly, with less unnecessary interaction with the web or application servers.</a:t>
            </a:r>
          </a:p>
          <a:p>
            <a:r>
              <a:rPr lang="en-US" altLang="en-US" sz="1800"/>
              <a:t>Examples of software capable of HTTP acceleration: Varnish, Squid, Nginx.</a:t>
            </a:r>
          </a:p>
          <a:p>
            <a:r>
              <a:rPr lang="en-US" altLang="en-US" sz="1800" b="1"/>
              <a:t>Use Case</a:t>
            </a:r>
            <a:r>
              <a:rPr lang="en-US" altLang="en-US" sz="1800"/>
              <a:t>: Useful in an environment with content-heavy dynamic web applications, or with many commonly accessed files.</a:t>
            </a:r>
          </a:p>
          <a:p>
            <a:endParaRPr lang="en-GB" altLang="en-US" sz="1600"/>
          </a:p>
        </p:txBody>
      </p:sp>
      <p:sp>
        <p:nvSpPr>
          <p:cNvPr id="29699" name="Slide Number Placeholder 3">
            <a:extLst>
              <a:ext uri="{FF2B5EF4-FFF2-40B4-BE49-F238E27FC236}">
                <a16:creationId xmlns:a16="http://schemas.microsoft.com/office/drawing/2014/main" id="{4DE735B9-D0B5-FC4E-B407-E4B9A5C43293}"/>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F615CBFA-9E86-3C4F-8B41-9C99574DBE24}" type="slidenum">
              <a:rPr lang="en-US" altLang="en-US">
                <a:latin typeface="Garamond" panose="02020404030301010803" pitchFamily="18" charset="0"/>
              </a:rPr>
              <a:pPr/>
              <a:t>96</a:t>
            </a:fld>
            <a:endParaRPr lang="en-US" altLang="en-US">
              <a:latin typeface="Garamond" panose="02020404030301010803" pitchFamily="18" charset="0"/>
            </a:endParaRPr>
          </a:p>
        </p:txBody>
      </p:sp>
      <p:pic>
        <p:nvPicPr>
          <p:cNvPr id="29700" name="Picture 7">
            <a:extLst>
              <a:ext uri="{FF2B5EF4-FFF2-40B4-BE49-F238E27FC236}">
                <a16:creationId xmlns:a16="http://schemas.microsoft.com/office/drawing/2014/main" id="{4FAEF4DF-6952-6048-A552-E10E47B4783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0725" y="4379913"/>
            <a:ext cx="7702550"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19917298"/>
      </p:ext>
    </p:extLst>
  </p:cSld>
  <p:clrMapOvr>
    <a:masterClrMapping/>
  </p:clrMapOvr>
  <p:transition spd="med">
    <p:wipe dir="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9DD44AAE-F9EF-944E-A194-E030C9EDFD02}"/>
              </a:ext>
            </a:extLst>
          </p:cNvPr>
          <p:cNvSpPr>
            <a:spLocks noGrp="1" noChangeArrowheads="1"/>
          </p:cNvSpPr>
          <p:nvPr>
            <p:ph type="title"/>
          </p:nvPr>
        </p:nvSpPr>
        <p:spPr/>
        <p:txBody>
          <a:bodyPr/>
          <a:lstStyle/>
          <a:p>
            <a:r>
              <a:rPr lang="en-US" altLang="en-US"/>
              <a:t>5. Master-Slave Database Replication</a:t>
            </a:r>
            <a:br>
              <a:rPr lang="en-US" altLang="en-US"/>
            </a:br>
            <a:endParaRPr lang="en-GB" altLang="en-US"/>
          </a:p>
        </p:txBody>
      </p:sp>
      <p:sp>
        <p:nvSpPr>
          <p:cNvPr id="31746" name="Content Placeholder 6">
            <a:extLst>
              <a:ext uri="{FF2B5EF4-FFF2-40B4-BE49-F238E27FC236}">
                <a16:creationId xmlns:a16="http://schemas.microsoft.com/office/drawing/2014/main" id="{83E4D01B-6E17-6440-93B1-63FD8D5B8DE3}"/>
              </a:ext>
            </a:extLst>
          </p:cNvPr>
          <p:cNvSpPr>
            <a:spLocks noGrp="1" noChangeArrowheads="1"/>
          </p:cNvSpPr>
          <p:nvPr>
            <p:ph idx="1"/>
          </p:nvPr>
        </p:nvSpPr>
        <p:spPr/>
        <p:txBody>
          <a:bodyPr/>
          <a:lstStyle/>
          <a:p>
            <a:r>
              <a:rPr lang="en-US" altLang="en-US" sz="1800"/>
              <a:t>One way to improve performance of a database system that performs many reads compared to writes, such as a CMS, is to use master-slave database replication. Master-slave replication requires a master and one or more slave nodes. In this setup, all updates are sent to the master node and reads can be distributed across all nodes.</a:t>
            </a:r>
          </a:p>
          <a:p>
            <a:r>
              <a:rPr lang="en-US" altLang="en-US" sz="1800" b="1"/>
              <a:t>Use Case</a:t>
            </a:r>
            <a:r>
              <a:rPr lang="en-US" altLang="en-US" sz="1800"/>
              <a:t>: Good for increasing the read performance for the database tier of an application.</a:t>
            </a:r>
          </a:p>
          <a:p>
            <a:r>
              <a:rPr lang="en-US" altLang="en-US" sz="1800"/>
              <a:t>Here is an example of a master-slave replication setup, with a single slave node:</a:t>
            </a:r>
          </a:p>
          <a:p>
            <a:endParaRPr lang="en-GB" altLang="en-US" sz="1600"/>
          </a:p>
        </p:txBody>
      </p:sp>
      <p:sp>
        <p:nvSpPr>
          <p:cNvPr id="31747" name="Slide Number Placeholder 3">
            <a:extLst>
              <a:ext uri="{FF2B5EF4-FFF2-40B4-BE49-F238E27FC236}">
                <a16:creationId xmlns:a16="http://schemas.microsoft.com/office/drawing/2014/main" id="{B08DDAE7-8E10-9F4A-83A5-6D3F46E74D7D}"/>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856FF17E-8275-5547-AE82-5FDA355CE60F}" type="slidenum">
              <a:rPr lang="en-US" altLang="en-US">
                <a:latin typeface="Garamond" panose="02020404030301010803" pitchFamily="18" charset="0"/>
              </a:rPr>
              <a:pPr/>
              <a:t>97</a:t>
            </a:fld>
            <a:endParaRPr lang="en-US" altLang="en-US">
              <a:latin typeface="Garamond" panose="02020404030301010803" pitchFamily="18" charset="0"/>
            </a:endParaRPr>
          </a:p>
        </p:txBody>
      </p:sp>
      <p:pic>
        <p:nvPicPr>
          <p:cNvPr id="31748" name="Picture 7">
            <a:extLst>
              <a:ext uri="{FF2B5EF4-FFF2-40B4-BE49-F238E27FC236}">
                <a16:creationId xmlns:a16="http://schemas.microsoft.com/office/drawing/2014/main" id="{4A17FE58-CBE8-E243-85D1-2BEF6FF7C54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27238" y="4076700"/>
            <a:ext cx="6011862" cy="262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63173331"/>
      </p:ext>
    </p:extLst>
  </p:cSld>
  <p:clrMapOvr>
    <a:masterClrMapping/>
  </p:clrMapOvr>
  <p:transition spd="med">
    <p:wipe dir="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5">
            <a:extLst>
              <a:ext uri="{FF2B5EF4-FFF2-40B4-BE49-F238E27FC236}">
                <a16:creationId xmlns:a16="http://schemas.microsoft.com/office/drawing/2014/main" id="{29E076DF-7A6B-0B45-8A2D-36FCB819A042}"/>
              </a:ext>
            </a:extLst>
          </p:cNvPr>
          <p:cNvSpPr>
            <a:spLocks noGrp="1" noChangeArrowheads="1"/>
          </p:cNvSpPr>
          <p:nvPr>
            <p:ph type="title"/>
          </p:nvPr>
        </p:nvSpPr>
        <p:spPr/>
        <p:txBody>
          <a:bodyPr/>
          <a:lstStyle/>
          <a:p>
            <a:r>
              <a:rPr lang="en-US" altLang="en-US"/>
              <a:t>Example: Combining the Concepts</a:t>
            </a:r>
          </a:p>
        </p:txBody>
      </p:sp>
      <p:sp>
        <p:nvSpPr>
          <p:cNvPr id="33794" name="Slide Number Placeholder 3">
            <a:extLst>
              <a:ext uri="{FF2B5EF4-FFF2-40B4-BE49-F238E27FC236}">
                <a16:creationId xmlns:a16="http://schemas.microsoft.com/office/drawing/2014/main" id="{65359D85-2094-6147-8C63-91904F77CDB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DBDE22A3-FED8-9541-9C57-3F22DCD2B8E3}" type="slidenum">
              <a:rPr lang="en-US" altLang="en-US">
                <a:latin typeface="Garamond" panose="02020404030301010803" pitchFamily="18" charset="0"/>
              </a:rPr>
              <a:pPr/>
              <a:t>98</a:t>
            </a:fld>
            <a:endParaRPr lang="en-US" altLang="en-US">
              <a:latin typeface="Garamond" panose="02020404030301010803" pitchFamily="18" charset="0"/>
            </a:endParaRPr>
          </a:p>
        </p:txBody>
      </p:sp>
      <p:pic>
        <p:nvPicPr>
          <p:cNvPr id="33795" name="Picture 4">
            <a:extLst>
              <a:ext uri="{FF2B5EF4-FFF2-40B4-BE49-F238E27FC236}">
                <a16:creationId xmlns:a16="http://schemas.microsoft.com/office/drawing/2014/main" id="{7823345D-96D2-414B-871E-C54DEF1B866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84338" y="1638300"/>
            <a:ext cx="5935662" cy="434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7879228"/>
      </p:ext>
    </p:extLst>
  </p:cSld>
  <p:clrMapOvr>
    <a:masterClrMapping/>
  </p:clrMapOvr>
  <p:transition spd="med">
    <p:wipe dir="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3">
            <a:extLst>
              <a:ext uri="{FF2B5EF4-FFF2-40B4-BE49-F238E27FC236}">
                <a16:creationId xmlns:a16="http://schemas.microsoft.com/office/drawing/2014/main" id="{1A34C379-9871-2E42-9BBF-713989167C18}"/>
              </a:ext>
            </a:extLst>
          </p:cNvPr>
          <p:cNvSpPr>
            <a:spLocks noGrp="1" noChangeArrowheads="1"/>
          </p:cNvSpPr>
          <p:nvPr>
            <p:ph type="title"/>
          </p:nvPr>
        </p:nvSpPr>
        <p:spPr/>
        <p:txBody>
          <a:bodyPr/>
          <a:lstStyle/>
          <a:p>
            <a:r>
              <a:rPr lang="en-US" altLang="en-US"/>
              <a:t>Example: Combining the Concepts (cont.)</a:t>
            </a:r>
            <a:endParaRPr lang="en-GB" altLang="en-US"/>
          </a:p>
        </p:txBody>
      </p:sp>
      <p:sp>
        <p:nvSpPr>
          <p:cNvPr id="35842" name="Content Placeholder 4">
            <a:extLst>
              <a:ext uri="{FF2B5EF4-FFF2-40B4-BE49-F238E27FC236}">
                <a16:creationId xmlns:a16="http://schemas.microsoft.com/office/drawing/2014/main" id="{2EBE782C-085F-9A4D-AD05-114A13F51FF2}"/>
              </a:ext>
            </a:extLst>
          </p:cNvPr>
          <p:cNvSpPr>
            <a:spLocks noGrp="1" noChangeArrowheads="1"/>
          </p:cNvSpPr>
          <p:nvPr>
            <p:ph idx="1"/>
          </p:nvPr>
        </p:nvSpPr>
        <p:spPr/>
        <p:txBody>
          <a:bodyPr/>
          <a:lstStyle/>
          <a:p>
            <a:r>
              <a:rPr lang="en-US" altLang="en-US" sz="1200" dirty="0"/>
              <a:t>Let's assume that the load balancer is configured to recognize static requests (like images, </a:t>
            </a:r>
            <a:r>
              <a:rPr lang="en-US" altLang="en-US" sz="1200" dirty="0" err="1"/>
              <a:t>css</a:t>
            </a:r>
            <a:r>
              <a:rPr lang="en-US" altLang="en-US" sz="1200" dirty="0"/>
              <a:t>, </a:t>
            </a:r>
            <a:r>
              <a:rPr lang="en-US" altLang="en-US" sz="1200" dirty="0" err="1"/>
              <a:t>javascript</a:t>
            </a:r>
            <a:r>
              <a:rPr lang="en-US" altLang="en-US" sz="1200" dirty="0"/>
              <a:t>, etc.) and send those requests directly to the caching servers, and send other requests to the application servers.</a:t>
            </a:r>
          </a:p>
          <a:p>
            <a:r>
              <a:rPr lang="en-US" altLang="en-US" sz="1200" dirty="0"/>
              <a:t>Here is a description of what would happen when a user sends a requests dynamic content:</a:t>
            </a:r>
          </a:p>
          <a:p>
            <a:pPr lvl="1"/>
            <a:r>
              <a:rPr lang="en-US" altLang="en-US" sz="1200" dirty="0"/>
              <a:t>The user requests dynamic content from </a:t>
            </a:r>
            <a:r>
              <a:rPr lang="en-US" altLang="en-US" sz="1200" i="1" dirty="0">
                <a:hlinkClick r:id="rId3"/>
              </a:rPr>
              <a:t>http://example.com/</a:t>
            </a:r>
            <a:r>
              <a:rPr lang="en-US" altLang="en-US" sz="1200" dirty="0"/>
              <a:t> (load balancer)</a:t>
            </a:r>
          </a:p>
          <a:p>
            <a:pPr lvl="1"/>
            <a:r>
              <a:rPr lang="en-US" altLang="en-US" sz="1200" dirty="0"/>
              <a:t>The load balancer sends request to app-backend</a:t>
            </a:r>
          </a:p>
          <a:p>
            <a:pPr lvl="1"/>
            <a:r>
              <a:rPr lang="en-US" altLang="en-US" sz="1200" dirty="0"/>
              <a:t>app-backend reads from the database and returns requested content to load balancer</a:t>
            </a:r>
          </a:p>
          <a:p>
            <a:pPr lvl="1"/>
            <a:r>
              <a:rPr lang="en-US" altLang="en-US" sz="1200" dirty="0"/>
              <a:t>The load balancer returns requested data to the user</a:t>
            </a:r>
          </a:p>
          <a:p>
            <a:r>
              <a:rPr lang="en-US" altLang="en-US" sz="1200" dirty="0"/>
              <a:t>If the user requests static content:</a:t>
            </a:r>
          </a:p>
          <a:p>
            <a:pPr lvl="1"/>
            <a:r>
              <a:rPr lang="en-US" altLang="en-US" sz="1200" dirty="0"/>
              <a:t>The load balancer checks cache-backend to see if the requested content is cached (cache-hit) or not (cache-miss)</a:t>
            </a:r>
          </a:p>
          <a:p>
            <a:pPr lvl="1"/>
            <a:r>
              <a:rPr lang="en-US" altLang="en-US" sz="1200" i="1" dirty="0"/>
              <a:t>If cache-hit</a:t>
            </a:r>
            <a:r>
              <a:rPr lang="en-US" altLang="en-US" sz="1200" dirty="0"/>
              <a:t>: return the requested content to the load balancer and jump to Step 7. </a:t>
            </a:r>
            <a:r>
              <a:rPr lang="en-US" altLang="en-US" sz="1200" i="1" dirty="0"/>
              <a:t>If cache-miss</a:t>
            </a:r>
            <a:r>
              <a:rPr lang="en-US" altLang="en-US" sz="1200" dirty="0"/>
              <a:t>: the cache server forwards the request to app-backend, through the load balancer</a:t>
            </a:r>
          </a:p>
          <a:p>
            <a:pPr lvl="1"/>
            <a:r>
              <a:rPr lang="en-US" altLang="en-US" sz="1200" dirty="0"/>
              <a:t>The load balancer forwards the request through to app-backend</a:t>
            </a:r>
          </a:p>
          <a:p>
            <a:pPr lvl="1"/>
            <a:r>
              <a:rPr lang="en-US" altLang="en-US" sz="1200" dirty="0"/>
              <a:t>app-backend reads from the database then returns requested content to the load balancer</a:t>
            </a:r>
          </a:p>
          <a:p>
            <a:pPr lvl="1"/>
            <a:r>
              <a:rPr lang="en-US" altLang="en-US" sz="1200" dirty="0"/>
              <a:t>The load balancer forwards the response to cache-backend</a:t>
            </a:r>
          </a:p>
          <a:p>
            <a:pPr lvl="1"/>
            <a:r>
              <a:rPr lang="en-US" altLang="en-US" sz="1200" dirty="0"/>
              <a:t>cache-backend </a:t>
            </a:r>
            <a:r>
              <a:rPr lang="en-US" altLang="en-US" sz="1200" i="1" dirty="0"/>
              <a:t>caches the content</a:t>
            </a:r>
            <a:r>
              <a:rPr lang="en-US" altLang="en-US" sz="1200" dirty="0"/>
              <a:t> then returns it to the load balancer</a:t>
            </a:r>
          </a:p>
          <a:p>
            <a:pPr lvl="1"/>
            <a:r>
              <a:rPr lang="en-US" altLang="en-US" sz="1200" dirty="0"/>
              <a:t>The load balancer returns requested data to the user</a:t>
            </a:r>
          </a:p>
          <a:p>
            <a:r>
              <a:rPr lang="en-US" altLang="en-US" sz="1200" dirty="0"/>
              <a:t>This environment still has two single points of failure (load balancer and master database server), but it provides the all of the other reliability and performance benefits that were described in each section above.</a:t>
            </a:r>
          </a:p>
          <a:p>
            <a:endParaRPr lang="en-GB" altLang="en-US" sz="1200" dirty="0"/>
          </a:p>
        </p:txBody>
      </p:sp>
      <p:sp>
        <p:nvSpPr>
          <p:cNvPr id="35843" name="Slide Number Placeholder 2">
            <a:extLst>
              <a:ext uri="{FF2B5EF4-FFF2-40B4-BE49-F238E27FC236}">
                <a16:creationId xmlns:a16="http://schemas.microsoft.com/office/drawing/2014/main" id="{FBF2136D-59BC-E54E-B5BB-C77BD84096F6}"/>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65526C19-78B5-934B-9203-D4D38D73C5D6}" type="slidenum">
              <a:rPr lang="en-US" altLang="en-US">
                <a:latin typeface="Garamond" panose="02020404030301010803" pitchFamily="18" charset="0"/>
              </a:rPr>
              <a:pPr/>
              <a:t>99</a:t>
            </a:fld>
            <a:endParaRPr lang="en-US" altLang="en-US">
              <a:latin typeface="Garamond" panose="02020404030301010803" pitchFamily="18" charset="0"/>
            </a:endParaRPr>
          </a:p>
        </p:txBody>
      </p:sp>
    </p:spTree>
    <p:extLst>
      <p:ext uri="{BB962C8B-B14F-4D97-AF65-F5344CB8AC3E}">
        <p14:creationId xmlns:p14="http://schemas.microsoft.com/office/powerpoint/2010/main" val="1565601880"/>
      </p:ext>
    </p:extLst>
  </p:cSld>
  <p:clrMapOvr>
    <a:masterClrMapping/>
  </p:clrMapOvr>
  <p:transition spd="med">
    <p:wipe dir="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26954"/>
            <a:ext cx="8229600" cy="1143000"/>
          </a:xfrm>
        </p:spPr>
        <p:txBody>
          <a:bodyPr/>
          <a:lstStyle/>
          <a:p>
            <a:pPr algn="ctr"/>
            <a:r>
              <a:rPr lang="en-GB" altLang="en-US" dirty="0"/>
              <a:t>Example: IoT Smart Weather</a:t>
            </a:r>
            <a:endParaRPr lang="en-US" dirty="0"/>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100</a:t>
            </a:fld>
            <a:endParaRPr lang="en-US"/>
          </a:p>
        </p:txBody>
      </p:sp>
      <p:sp>
        <p:nvSpPr>
          <p:cNvPr id="6" name="Date Placeholder 5"/>
          <p:cNvSpPr>
            <a:spLocks noGrp="1"/>
          </p:cNvSpPr>
          <p:nvPr>
            <p:ph type="dt" sz="half" idx="10"/>
          </p:nvPr>
        </p:nvSpPr>
        <p:spPr/>
        <p:txBody>
          <a:bodyPr/>
          <a:lstStyle/>
          <a:p>
            <a:fld id="{50621CF8-8542-A840-BABB-E0B22B2F0879}" type="datetime1">
              <a:rPr lang="en-GB" smtClean="0"/>
              <a:t>20/12/2021</a:t>
            </a:fld>
            <a:endParaRPr lang="en-US"/>
          </a:p>
        </p:txBody>
      </p:sp>
    </p:spTree>
    <p:extLst>
      <p:ext uri="{BB962C8B-B14F-4D97-AF65-F5344CB8AC3E}">
        <p14:creationId xmlns:p14="http://schemas.microsoft.com/office/powerpoint/2010/main" val="2466803590"/>
      </p:ext>
    </p:extLst>
  </p:cSld>
  <p:clrMapOvr>
    <a:masterClrMapping/>
  </p:clrMapOvr>
  <p:transition spd="med">
    <p:wipe dir="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Content Placeholder 1">
            <a:extLst>
              <a:ext uri="{FF2B5EF4-FFF2-40B4-BE49-F238E27FC236}">
                <a16:creationId xmlns:a16="http://schemas.microsoft.com/office/drawing/2014/main" id="{23C6DBD0-7EE4-D546-974E-CA71566A501A}"/>
              </a:ext>
            </a:extLst>
          </p:cNvPr>
          <p:cNvSpPr>
            <a:spLocks noGrp="1"/>
          </p:cNvSpPr>
          <p:nvPr>
            <p:ph idx="1"/>
          </p:nvPr>
        </p:nvSpPr>
        <p:spPr/>
        <p:txBody>
          <a:bodyPr/>
          <a:lstStyle/>
          <a:p>
            <a:r>
              <a:rPr lang="en-GB" altLang="en-US"/>
              <a:t>There is several possible way to connect to the Cloud IoT</a:t>
            </a:r>
          </a:p>
        </p:txBody>
      </p:sp>
      <p:sp>
        <p:nvSpPr>
          <p:cNvPr id="20482" name="Title 1">
            <a:extLst>
              <a:ext uri="{FF2B5EF4-FFF2-40B4-BE49-F238E27FC236}">
                <a16:creationId xmlns:a16="http://schemas.microsoft.com/office/drawing/2014/main" id="{E5325B0B-7BB6-1141-A109-22C72755ACD0}"/>
              </a:ext>
            </a:extLst>
          </p:cNvPr>
          <p:cNvSpPr>
            <a:spLocks noGrp="1"/>
          </p:cNvSpPr>
          <p:nvPr>
            <p:ph type="title"/>
          </p:nvPr>
        </p:nvSpPr>
        <p:spPr/>
        <p:txBody>
          <a:bodyPr/>
          <a:lstStyle/>
          <a:p>
            <a:r>
              <a:rPr lang="en-GB" altLang="en-US"/>
              <a:t>Example: High Level Architecture for a Connected Smart Light Bulb</a:t>
            </a:r>
            <a:br>
              <a:rPr lang="en-GB" altLang="en-US"/>
            </a:br>
            <a:endParaRPr lang="en-GB" altLang="en-US"/>
          </a:p>
        </p:txBody>
      </p:sp>
      <p:pic>
        <p:nvPicPr>
          <p:cNvPr id="20483" name="Picture 9">
            <a:extLst>
              <a:ext uri="{FF2B5EF4-FFF2-40B4-BE49-F238E27FC236}">
                <a16:creationId xmlns:a16="http://schemas.microsoft.com/office/drawing/2014/main" id="{267F81F5-19B8-114E-9F0A-1A1FD7B7C71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92475" y="2212975"/>
            <a:ext cx="4951413" cy="391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4" name="Slide Number Placeholder 3">
            <a:extLst>
              <a:ext uri="{FF2B5EF4-FFF2-40B4-BE49-F238E27FC236}">
                <a16:creationId xmlns:a16="http://schemas.microsoft.com/office/drawing/2014/main" id="{E1BEA8D0-A5CB-1742-B8A5-6470E9F1AB1B}"/>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FF8DD62B-170D-5D46-B20B-1E57FFF73657}" type="slidenum">
              <a:rPr lang="en-US" altLang="en-US">
                <a:latin typeface="Garamond" panose="02020404030301010803" pitchFamily="18" charset="0"/>
              </a:rPr>
              <a:pPr/>
              <a:t>101</a:t>
            </a:fld>
            <a:endParaRPr lang="en-US" altLang="en-US">
              <a:latin typeface="Garamond" panose="02020404030301010803" pitchFamily="18" charset="0"/>
            </a:endParaRPr>
          </a:p>
        </p:txBody>
      </p:sp>
      <p:sp>
        <p:nvSpPr>
          <p:cNvPr id="20485" name="TextBox 10">
            <a:extLst>
              <a:ext uri="{FF2B5EF4-FFF2-40B4-BE49-F238E27FC236}">
                <a16:creationId xmlns:a16="http://schemas.microsoft.com/office/drawing/2014/main" id="{BBDEB95D-49E9-FD45-BEFC-2FBF2126D8B2}"/>
              </a:ext>
            </a:extLst>
          </p:cNvPr>
          <p:cNvSpPr txBox="1">
            <a:spLocks noChangeArrowheads="1"/>
          </p:cNvSpPr>
          <p:nvPr/>
        </p:nvSpPr>
        <p:spPr bwMode="auto">
          <a:xfrm>
            <a:off x="611188" y="2640013"/>
            <a:ext cx="230505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GB" altLang="en-US"/>
              <a:t>1st way of network cloud configuration is called - Smartphone centric</a:t>
            </a:r>
          </a:p>
          <a:p>
            <a:pPr algn="ctr"/>
            <a:r>
              <a:rPr lang="en-GB" altLang="en-US"/>
              <a:t>architecture</a:t>
            </a:r>
          </a:p>
        </p:txBody>
      </p:sp>
    </p:spTree>
    <p:extLst>
      <p:ext uri="{BB962C8B-B14F-4D97-AF65-F5344CB8AC3E}">
        <p14:creationId xmlns:p14="http://schemas.microsoft.com/office/powerpoint/2010/main" val="3429065494"/>
      </p:ext>
    </p:extLst>
  </p:cSld>
  <p:clrMapOvr>
    <a:masterClrMapping/>
  </p:clrMapOvr>
  <p:transition spd="med">
    <p:wipe dir="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6">
            <a:extLst>
              <a:ext uri="{FF2B5EF4-FFF2-40B4-BE49-F238E27FC236}">
                <a16:creationId xmlns:a16="http://schemas.microsoft.com/office/drawing/2014/main" id="{27D30D7F-2D79-F745-9273-4BC8A1AECA72}"/>
              </a:ext>
            </a:extLst>
          </p:cNvPr>
          <p:cNvSpPr>
            <a:spLocks noGrp="1"/>
          </p:cNvSpPr>
          <p:nvPr>
            <p:ph type="title"/>
          </p:nvPr>
        </p:nvSpPr>
        <p:spPr/>
        <p:txBody>
          <a:bodyPr/>
          <a:lstStyle/>
          <a:p>
            <a:r>
              <a:rPr lang="en-GB" altLang="en-US"/>
              <a:t> cont.</a:t>
            </a:r>
            <a:br>
              <a:rPr lang="en-GB" altLang="en-US"/>
            </a:br>
            <a:endParaRPr lang="en-GB" altLang="en-US"/>
          </a:p>
        </p:txBody>
      </p:sp>
      <p:sp>
        <p:nvSpPr>
          <p:cNvPr id="21506" name="Slide Number Placeholder 3">
            <a:extLst>
              <a:ext uri="{FF2B5EF4-FFF2-40B4-BE49-F238E27FC236}">
                <a16:creationId xmlns:a16="http://schemas.microsoft.com/office/drawing/2014/main" id="{274779EE-9DFF-B241-AD38-BE87230F8C9D}"/>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5752A7DF-CB3F-3A4B-8BBF-388DF61D925D}" type="slidenum">
              <a:rPr lang="en-US" altLang="en-US">
                <a:latin typeface="Garamond" panose="02020404030301010803" pitchFamily="18" charset="0"/>
              </a:rPr>
              <a:pPr/>
              <a:t>102</a:t>
            </a:fld>
            <a:endParaRPr lang="en-US" altLang="en-US">
              <a:latin typeface="Garamond" panose="02020404030301010803" pitchFamily="18" charset="0"/>
            </a:endParaRPr>
          </a:p>
        </p:txBody>
      </p:sp>
      <p:pic>
        <p:nvPicPr>
          <p:cNvPr id="21507" name="Picture 7">
            <a:extLst>
              <a:ext uri="{FF2B5EF4-FFF2-40B4-BE49-F238E27FC236}">
                <a16:creationId xmlns:a16="http://schemas.microsoft.com/office/drawing/2014/main" id="{DAB4C1EC-0341-DE4C-BA35-B4B43E20D3E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5650" y="1700213"/>
            <a:ext cx="4722813" cy="427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TextBox 11">
            <a:extLst>
              <a:ext uri="{FF2B5EF4-FFF2-40B4-BE49-F238E27FC236}">
                <a16:creationId xmlns:a16="http://schemas.microsoft.com/office/drawing/2014/main" id="{9DC37D8A-229F-2F42-8219-1CCD4DA5DDCA}"/>
              </a:ext>
            </a:extLst>
          </p:cNvPr>
          <p:cNvSpPr txBox="1">
            <a:spLocks noChangeArrowheads="1"/>
          </p:cNvSpPr>
          <p:nvPr/>
        </p:nvSpPr>
        <p:spPr bwMode="auto">
          <a:xfrm>
            <a:off x="3889375" y="1700213"/>
            <a:ext cx="53276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GB" altLang="en-US"/>
              <a:t>2nd way of network cloud configuration is called </a:t>
            </a:r>
            <a:r>
              <a:rPr lang="mr-IN" altLang="en-US"/>
              <a:t>–</a:t>
            </a:r>
            <a:r>
              <a:rPr lang="en-GB" altLang="en-US"/>
              <a:t> </a:t>
            </a:r>
          </a:p>
          <a:p>
            <a:pPr algn="ctr"/>
            <a:r>
              <a:rPr lang="en-GB" altLang="en-US"/>
              <a:t>Hub-centric architecture </a:t>
            </a:r>
          </a:p>
          <a:p>
            <a:pPr algn="ctr"/>
            <a:r>
              <a:rPr lang="en-GB" altLang="en-US"/>
              <a:t>(with or without cloud)</a:t>
            </a:r>
          </a:p>
        </p:txBody>
      </p:sp>
    </p:spTree>
    <p:extLst>
      <p:ext uri="{BB962C8B-B14F-4D97-AF65-F5344CB8AC3E}">
        <p14:creationId xmlns:p14="http://schemas.microsoft.com/office/powerpoint/2010/main" val="3076271355"/>
      </p:ext>
    </p:extLst>
  </p:cSld>
  <p:clrMapOvr>
    <a:masterClrMapping/>
  </p:clrMapOvr>
  <p:transition spd="med">
    <p:wipe dir="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6">
            <a:extLst>
              <a:ext uri="{FF2B5EF4-FFF2-40B4-BE49-F238E27FC236}">
                <a16:creationId xmlns:a16="http://schemas.microsoft.com/office/drawing/2014/main" id="{111EB1EF-5E67-304F-B55B-ED4E71A3F651}"/>
              </a:ext>
            </a:extLst>
          </p:cNvPr>
          <p:cNvSpPr>
            <a:spLocks noGrp="1"/>
          </p:cNvSpPr>
          <p:nvPr>
            <p:ph type="title"/>
          </p:nvPr>
        </p:nvSpPr>
        <p:spPr/>
        <p:txBody>
          <a:bodyPr/>
          <a:lstStyle/>
          <a:p>
            <a:r>
              <a:rPr lang="en-GB" altLang="en-US"/>
              <a:t>cont.</a:t>
            </a:r>
          </a:p>
        </p:txBody>
      </p:sp>
      <p:sp>
        <p:nvSpPr>
          <p:cNvPr id="22530" name="Slide Number Placeholder 3">
            <a:extLst>
              <a:ext uri="{FF2B5EF4-FFF2-40B4-BE49-F238E27FC236}">
                <a16:creationId xmlns:a16="http://schemas.microsoft.com/office/drawing/2014/main" id="{D9A0904A-F865-B047-9C2F-957AA9F79A88}"/>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E5839880-4E3D-E644-B55A-39B337CA99CC}" type="slidenum">
              <a:rPr lang="en-US" altLang="en-US">
                <a:latin typeface="Garamond" panose="02020404030301010803" pitchFamily="18" charset="0"/>
              </a:rPr>
              <a:pPr/>
              <a:t>103</a:t>
            </a:fld>
            <a:endParaRPr lang="en-US" altLang="en-US">
              <a:latin typeface="Garamond" panose="02020404030301010803" pitchFamily="18" charset="0"/>
            </a:endParaRPr>
          </a:p>
        </p:txBody>
      </p:sp>
      <p:pic>
        <p:nvPicPr>
          <p:cNvPr id="22531" name="Picture 8">
            <a:extLst>
              <a:ext uri="{FF2B5EF4-FFF2-40B4-BE49-F238E27FC236}">
                <a16:creationId xmlns:a16="http://schemas.microsoft.com/office/drawing/2014/main" id="{EB4E900F-39AB-DB40-B5ED-7F9B407024A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346200"/>
            <a:ext cx="5653088" cy="490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Rectangle 8">
            <a:extLst>
              <a:ext uri="{FF2B5EF4-FFF2-40B4-BE49-F238E27FC236}">
                <a16:creationId xmlns:a16="http://schemas.microsoft.com/office/drawing/2014/main" id="{DA1DCF65-5AFA-BF47-A6A1-216FAD03E9AF}"/>
              </a:ext>
            </a:extLst>
          </p:cNvPr>
          <p:cNvSpPr>
            <a:spLocks noChangeArrowheads="1"/>
          </p:cNvSpPr>
          <p:nvPr/>
        </p:nvSpPr>
        <p:spPr bwMode="auto">
          <a:xfrm>
            <a:off x="4427538" y="1509713"/>
            <a:ext cx="457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GB" altLang="en-US"/>
              <a:t>3rd way of network cloud configuration is called - Cloud-centric architecture </a:t>
            </a:r>
          </a:p>
          <a:p>
            <a:pPr algn="ctr"/>
            <a:r>
              <a:rPr lang="en-GB" altLang="en-US"/>
              <a:t>(without hub)</a:t>
            </a:r>
          </a:p>
          <a:p>
            <a:r>
              <a:rPr lang="en-GB" altLang="en-US"/>
              <a:t> </a:t>
            </a:r>
          </a:p>
        </p:txBody>
      </p:sp>
    </p:spTree>
    <p:extLst>
      <p:ext uri="{BB962C8B-B14F-4D97-AF65-F5344CB8AC3E}">
        <p14:creationId xmlns:p14="http://schemas.microsoft.com/office/powerpoint/2010/main" val="17975882"/>
      </p:ext>
    </p:extLst>
  </p:cSld>
  <p:clrMapOvr>
    <a:masterClrMapping/>
  </p:clrMapOvr>
  <p:transition spd="med">
    <p:wipe dir="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457200" y="1546160"/>
            <a:ext cx="8229600" cy="4525963"/>
          </a:xfrm>
        </p:spPr>
        <p:txBody>
          <a:bodyPr/>
          <a:lstStyle/>
          <a:p>
            <a:r>
              <a:rPr lang="en-US" dirty="0"/>
              <a:t>A software architecture is a description of how a software system is organized. </a:t>
            </a:r>
            <a:endParaRPr lang="en-GB" dirty="0"/>
          </a:p>
          <a:p>
            <a:r>
              <a:rPr lang="en-US" dirty="0"/>
              <a:t>Architectural design decisions include decisions on the type of application, the distribution of the system, the architectural styles to be used.</a:t>
            </a:r>
            <a:endParaRPr lang="en-GB" dirty="0"/>
          </a:p>
          <a:p>
            <a:r>
              <a:rPr lang="en-US" dirty="0"/>
              <a:t>Architectures may be documented from several different perspectives or views such as a conceptual view, a logical view, a process view, and a development view.</a:t>
            </a:r>
            <a:endParaRPr lang="en-GB" dirty="0"/>
          </a:p>
          <a:p>
            <a:r>
              <a:rPr lang="en-US" dirty="0"/>
              <a:t>Architectural styles &amp; patterns are a means of reusing knowledge about generic system architectures. They describe the architecture, explain when it may be used and describe its advantages and disadvantages.</a:t>
            </a:r>
            <a:endParaRPr lang="en-GB" dirty="0"/>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104</a:t>
            </a:fld>
            <a:endParaRPr lang="en-US"/>
          </a:p>
        </p:txBody>
      </p:sp>
      <p:sp>
        <p:nvSpPr>
          <p:cNvPr id="6" name="Date Placeholder 5"/>
          <p:cNvSpPr>
            <a:spLocks noGrp="1"/>
          </p:cNvSpPr>
          <p:nvPr>
            <p:ph type="dt" sz="half" idx="10"/>
          </p:nvPr>
        </p:nvSpPr>
        <p:spPr/>
        <p:txBody>
          <a:bodyPr/>
          <a:lstStyle/>
          <a:p>
            <a:fld id="{74A92B8B-2D7F-FC49-B8DF-38971076F605}" type="datetime1">
              <a:rPr lang="en-GB" smtClean="0"/>
              <a:t>20/12/2021</a:t>
            </a:fld>
            <a:endParaRPr lang="en-US"/>
          </a:p>
        </p:txBody>
      </p:sp>
    </p:spTree>
    <p:extLst>
      <p:ext uri="{BB962C8B-B14F-4D97-AF65-F5344CB8AC3E}">
        <p14:creationId xmlns:p14="http://schemas.microsoft.com/office/powerpoint/2010/main" val="3426720306"/>
      </p:ext>
    </p:extLst>
  </p:cSld>
  <p:clrMapOvr>
    <a:masterClrMapping/>
  </p:clrMapOvr>
  <p:transition spd="med">
    <p:wipe dir="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US" dirty="0"/>
              <a:t>Models of application systems architectures help us understand and compare applications, validate application system designs and assess large-scale components for reuse.</a:t>
            </a:r>
            <a:endParaRPr lang="en-GB" dirty="0"/>
          </a:p>
          <a:p>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105</a:t>
            </a:fld>
            <a:endParaRPr lang="en-US" dirty="0"/>
          </a:p>
        </p:txBody>
      </p:sp>
      <p:sp>
        <p:nvSpPr>
          <p:cNvPr id="6" name="Date Placeholder 5"/>
          <p:cNvSpPr>
            <a:spLocks noGrp="1"/>
          </p:cNvSpPr>
          <p:nvPr>
            <p:ph type="dt" sz="half" idx="10"/>
          </p:nvPr>
        </p:nvSpPr>
        <p:spPr/>
        <p:txBody>
          <a:bodyPr/>
          <a:lstStyle/>
          <a:p>
            <a:fld id="{FA65F8FA-AC2E-5544-A7FC-F5D975AC1D94}" type="datetime1">
              <a:rPr lang="en-GB" smtClean="0"/>
              <a:t>20/12/2021</a:t>
            </a:fld>
            <a:endParaRPr lang="en-US"/>
          </a:p>
        </p:txBody>
      </p:sp>
    </p:spTree>
  </p:cSld>
  <p:clrMapOvr>
    <a:masterClrMapping/>
  </p:clrMapOvr>
  <p:transition spd="med">
    <p:wipe dir="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EF105012-809E-4A4F-949F-66140AF2848D}"/>
              </a:ext>
            </a:extLst>
          </p:cNvPr>
          <p:cNvSpPr>
            <a:spLocks noGrp="1" noChangeArrowheads="1"/>
          </p:cNvSpPr>
          <p:nvPr>
            <p:ph type="title"/>
          </p:nvPr>
        </p:nvSpPr>
        <p:spPr/>
        <p:txBody>
          <a:bodyPr/>
          <a:lstStyle/>
          <a:p>
            <a:r>
              <a:rPr lang="en-GB" altLang="en-US"/>
              <a:t>References</a:t>
            </a:r>
          </a:p>
        </p:txBody>
      </p:sp>
      <p:sp>
        <p:nvSpPr>
          <p:cNvPr id="37890" name="Content Placeholder 2">
            <a:extLst>
              <a:ext uri="{FF2B5EF4-FFF2-40B4-BE49-F238E27FC236}">
                <a16:creationId xmlns:a16="http://schemas.microsoft.com/office/drawing/2014/main" id="{90FF653F-4E3D-AB4C-9B14-D2BC5ED85D03}"/>
              </a:ext>
            </a:extLst>
          </p:cNvPr>
          <p:cNvSpPr>
            <a:spLocks noGrp="1" noChangeArrowheads="1"/>
          </p:cNvSpPr>
          <p:nvPr>
            <p:ph idx="1"/>
          </p:nvPr>
        </p:nvSpPr>
        <p:spPr/>
        <p:txBody>
          <a:bodyPr/>
          <a:lstStyle/>
          <a:p>
            <a:r>
              <a:rPr lang="en-GB" altLang="en-US" sz="1400">
                <a:hlinkClick r:id="rId2"/>
              </a:rPr>
              <a:t>https://www.digitalocean.com/community/tutorials/5-common-server-setups-for-your-web-application</a:t>
            </a:r>
            <a:endParaRPr lang="en-GB" altLang="en-US" sz="1400"/>
          </a:p>
          <a:p>
            <a:r>
              <a:rPr lang="en-GB" altLang="en-US" sz="1400">
                <a:hlinkClick r:id="rId3"/>
              </a:rPr>
              <a:t>https://www.eventhelix.com/RealtimeMantra/FaultHandling/reliability_availability_basics.htm#.WMugv7W2zBL</a:t>
            </a:r>
            <a:endParaRPr lang="en-GB" altLang="en-US" sz="1400"/>
          </a:p>
          <a:p>
            <a:r>
              <a:rPr lang="en-GB" altLang="en-US" sz="1400">
                <a:hlinkClick r:id="rId4"/>
              </a:rPr>
              <a:t>https://docs.microsoft.com/en-us/previous-versions/msp-n-p/ee658117(v=pandp.10)?redirectedfrom=MSDN#ServiceOrientedStyle</a:t>
            </a:r>
            <a:endParaRPr lang="en-GB" altLang="en-US" sz="1400"/>
          </a:p>
          <a:p>
            <a:r>
              <a:rPr lang="en-GB" altLang="en-US" sz="1400">
                <a:hlinkClick r:id="rId5"/>
              </a:rPr>
              <a:t>https://www.processimpact.com/articles/qualreqs.pdf</a:t>
            </a:r>
            <a:endParaRPr lang="en-GB" altLang="en-US" sz="1400"/>
          </a:p>
          <a:p>
            <a:r>
              <a:rPr lang="en-GB" altLang="en-US" sz="1400">
                <a:hlinkClick r:id="rId6"/>
              </a:rPr>
              <a:t>https://reqexperts.com/2012/10/09/using-the-correct-terms-shall-will-should/</a:t>
            </a:r>
            <a:endParaRPr lang="en-GB" altLang="en-US" sz="1400"/>
          </a:p>
          <a:p>
            <a:r>
              <a:rPr lang="en-GB" altLang="en-US" sz="1400">
                <a:hlinkClick r:id="rId7"/>
              </a:rPr>
              <a:t>https://www.ibm.com/developerworks/rational/library/2774.html</a:t>
            </a:r>
            <a:endParaRPr lang="en-GB" altLang="en-US" sz="1400"/>
          </a:p>
          <a:p>
            <a:endParaRPr lang="en-GB" altLang="en-US" sz="1400"/>
          </a:p>
        </p:txBody>
      </p:sp>
      <p:sp>
        <p:nvSpPr>
          <p:cNvPr id="37891" name="Slide Number Placeholder 3">
            <a:extLst>
              <a:ext uri="{FF2B5EF4-FFF2-40B4-BE49-F238E27FC236}">
                <a16:creationId xmlns:a16="http://schemas.microsoft.com/office/drawing/2014/main" id="{C3064C15-C768-9D4B-80F6-F9B9239BBD76}"/>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9EEDEE5F-95E9-CB40-8B55-AEC2360696B6}" type="slidenum">
              <a:rPr lang="en-US" altLang="en-US">
                <a:latin typeface="Garamond" panose="02020404030301010803" pitchFamily="18" charset="0"/>
              </a:rPr>
              <a:pPr/>
              <a:t>106</a:t>
            </a:fld>
            <a:endParaRPr lang="en-US" altLang="en-US">
              <a:latin typeface="Garamond" panose="02020404030301010803" pitchFamily="18" charset="0"/>
            </a:endParaRPr>
          </a:p>
        </p:txBody>
      </p:sp>
    </p:spTree>
    <p:extLst>
      <p:ext uri="{BB962C8B-B14F-4D97-AF65-F5344CB8AC3E}">
        <p14:creationId xmlns:p14="http://schemas.microsoft.com/office/powerpoint/2010/main" val="3965012879"/>
      </p:ext>
    </p:extLst>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34</TotalTime>
  <Words>6419</Words>
  <Application>Microsoft Macintosh PowerPoint</Application>
  <PresentationFormat>On-screen Show (4:3)</PresentationFormat>
  <Paragraphs>780</Paragraphs>
  <Slides>106</Slides>
  <Notes>12</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106</vt:i4>
      </vt:variant>
    </vt:vector>
  </HeadingPairs>
  <TitlesOfParts>
    <vt:vector size="123" baseType="lpstr">
      <vt:lpstr>Arial</vt:lpstr>
      <vt:lpstr>Arial Black</vt:lpstr>
      <vt:lpstr>Arial Narrow</vt:lpstr>
      <vt:lpstr>Calibri</vt:lpstr>
      <vt:lpstr>Consolas</vt:lpstr>
      <vt:lpstr>Corbel</vt:lpstr>
      <vt:lpstr>Garamond</vt:lpstr>
      <vt:lpstr>Gill Sans MT</vt:lpstr>
      <vt:lpstr>Helvetica</vt:lpstr>
      <vt:lpstr>Tahoma</vt:lpstr>
      <vt:lpstr>Times</vt:lpstr>
      <vt:lpstr>Times New Roman</vt:lpstr>
      <vt:lpstr>Verdana</vt:lpstr>
      <vt:lpstr>Wingdings</vt:lpstr>
      <vt:lpstr>Wingdings 2</vt:lpstr>
      <vt:lpstr>Zapf Dingbats</vt:lpstr>
      <vt:lpstr>SE10 slides</vt:lpstr>
      <vt:lpstr>Chapter 4 &amp; 5 – Architectural Design &amp; Application Architecture</vt:lpstr>
      <vt:lpstr>Topics covered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Architectural design</vt:lpstr>
      <vt:lpstr>What is Software Architecture?</vt:lpstr>
      <vt:lpstr>Definitions 1 - ANSI/IEEE Std 1471-2000 </vt:lpstr>
      <vt:lpstr>Definitions 2 – SEI (Len Bass, Paul Clements, Rick Kazman) </vt:lpstr>
      <vt:lpstr>Agility and architecture</vt:lpstr>
      <vt:lpstr>Architectural abstraction</vt:lpstr>
      <vt:lpstr>PowerPoint Presentation</vt:lpstr>
      <vt:lpstr>Limitations of File Servers</vt:lpstr>
      <vt:lpstr>Designing Systems for a Client/Server Architecture</vt:lpstr>
      <vt:lpstr>Advantages of explicit architecture</vt:lpstr>
      <vt:lpstr>Architectural representations</vt:lpstr>
      <vt:lpstr>Box and line diagrams</vt:lpstr>
      <vt:lpstr>Use of architectural models</vt:lpstr>
      <vt:lpstr>Architectural design decisions</vt:lpstr>
      <vt:lpstr>Architectural design decisions</vt:lpstr>
      <vt:lpstr>Architectural design decisions</vt:lpstr>
      <vt:lpstr>Architecture reuse</vt:lpstr>
      <vt:lpstr>Architecture and system characteristics</vt:lpstr>
      <vt:lpstr>Architectural views</vt:lpstr>
      <vt:lpstr>Architectural views</vt:lpstr>
      <vt:lpstr>Physiological Structures</vt:lpstr>
      <vt:lpstr>Physiological Structures</vt:lpstr>
      <vt:lpstr>Architectural views</vt:lpstr>
      <vt:lpstr>Philippe Krutchen – 4 + 1 view model of software architecture</vt:lpstr>
      <vt:lpstr>Representing architectural views</vt:lpstr>
      <vt:lpstr>Quality Attributes</vt:lpstr>
      <vt:lpstr>PowerPoint Presentation</vt:lpstr>
      <vt:lpstr>Architecture, and Quality Attributes</vt:lpstr>
      <vt:lpstr>What are Quality Attributes</vt:lpstr>
      <vt:lpstr>Performance</vt:lpstr>
      <vt:lpstr>1. Performance - Throughput</vt:lpstr>
      <vt:lpstr>PowerPoint Presentation</vt:lpstr>
      <vt:lpstr>2. Performance - Response Time</vt:lpstr>
      <vt:lpstr>3. Performance - Deadlines</vt:lpstr>
      <vt:lpstr>Something to watch for …</vt:lpstr>
      <vt:lpstr>Scalability</vt:lpstr>
      <vt:lpstr>1. Scalability – Request Load</vt:lpstr>
      <vt:lpstr>Scalability – Add more hardware …</vt:lpstr>
      <vt:lpstr>2. Scalability - connections</vt:lpstr>
      <vt:lpstr>3. Scalability – Data Size</vt:lpstr>
      <vt:lpstr>4. Scalability - Deployment</vt:lpstr>
      <vt:lpstr>Security</vt:lpstr>
      <vt:lpstr>Security (cont.)</vt:lpstr>
      <vt:lpstr>Security Approaches</vt:lpstr>
      <vt:lpstr>Availability</vt:lpstr>
      <vt:lpstr>Availability</vt:lpstr>
      <vt:lpstr>Integration</vt:lpstr>
      <vt:lpstr>Integration Strategies</vt:lpstr>
      <vt:lpstr>Architectural Patterns &amp; Styles</vt:lpstr>
      <vt:lpstr>Choosing the Architecture</vt:lpstr>
      <vt:lpstr>Architectural Patterns</vt:lpstr>
      <vt:lpstr>Architectural Styles </vt:lpstr>
      <vt:lpstr>Patterns and Styles</vt:lpstr>
      <vt:lpstr>Some Common Styles</vt:lpstr>
      <vt:lpstr>Benefits of Using Styles</vt:lpstr>
      <vt:lpstr>Basic Properties of Patterns/Styles</vt:lpstr>
      <vt:lpstr>Example: The Model-View-Controller (MVC) pattern </vt:lpstr>
      <vt:lpstr>The organization of the Model-View-Controller </vt:lpstr>
      <vt:lpstr>Web application architecture using the MVC pattern </vt:lpstr>
      <vt:lpstr>MVC-Based Web Application Frameworks</vt:lpstr>
      <vt:lpstr>Example 1: The Client–server</vt:lpstr>
      <vt:lpstr>Client-server architecture</vt:lpstr>
      <vt:lpstr>Extension from Client-Server: N-Tier (Multi-Tier) Client Server Style</vt:lpstr>
      <vt:lpstr>The 3-Tier Architecture Model</vt:lpstr>
      <vt:lpstr>N-Tier Client Server – Quality Attribute Analysis</vt:lpstr>
      <vt:lpstr>Example 2: Layered architecture</vt:lpstr>
      <vt:lpstr>The Layered architecture</vt:lpstr>
      <vt:lpstr>A generic layered architecture </vt:lpstr>
      <vt:lpstr>PowerPoint Presentation</vt:lpstr>
      <vt:lpstr>The architecture of the iLearn system </vt:lpstr>
      <vt:lpstr>Example 3: Publish-Subscribe Style</vt:lpstr>
      <vt:lpstr>Publish-Subscribe Style (cont.)</vt:lpstr>
      <vt:lpstr>PowerPoint Presentation</vt:lpstr>
      <vt:lpstr>Pubs-Subs Example</vt:lpstr>
      <vt:lpstr>Consequences – Pros</vt:lpstr>
      <vt:lpstr>Consequences – Cons</vt:lpstr>
      <vt:lpstr>Example 4: Repository architecture</vt:lpstr>
      <vt:lpstr>The Repository pattern </vt:lpstr>
      <vt:lpstr>A repository architecture for an IDE </vt:lpstr>
      <vt:lpstr>Application architectures</vt:lpstr>
      <vt:lpstr>Application architectures</vt:lpstr>
      <vt:lpstr>Use of application architectures</vt:lpstr>
      <vt:lpstr>PowerPoint Presentation</vt:lpstr>
      <vt:lpstr>1. Everything On One Server </vt:lpstr>
      <vt:lpstr>2. Separate Database Server</vt:lpstr>
      <vt:lpstr>3. Load Balancer (Reverse Proxy) </vt:lpstr>
      <vt:lpstr>4. HTTP Accelerator (Caching Reverse Proxy) </vt:lpstr>
      <vt:lpstr>5. Master-Slave Database Replication </vt:lpstr>
      <vt:lpstr>Example: Combining the Concepts</vt:lpstr>
      <vt:lpstr>Example: Combining the Concepts (cont.)</vt:lpstr>
      <vt:lpstr>Example: IoT Smart Weather</vt:lpstr>
      <vt:lpstr>Example: High Level Architecture for a Connected Smart Light Bulb </vt:lpstr>
      <vt:lpstr> cont. </vt:lpstr>
      <vt:lpstr>cont.</vt:lpstr>
      <vt:lpstr>Key points</vt:lpstr>
      <vt:lpstr>Key points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&amp; 5 – Architectural Design &amp; Application Architecture</dc:title>
  <dc:creator>NOVIA INDRIATY ADMODISASTRO</dc:creator>
  <cp:lastModifiedBy>MUHAMAD SUFRI MUHAMMAD</cp:lastModifiedBy>
  <cp:revision>10</cp:revision>
  <dcterms:created xsi:type="dcterms:W3CDTF">2020-11-22T03:28:45Z</dcterms:created>
  <dcterms:modified xsi:type="dcterms:W3CDTF">2021-12-20T07:22:39Z</dcterms:modified>
</cp:coreProperties>
</file>
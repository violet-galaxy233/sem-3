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21"/>
  </p:notesMasterIdLst>
  <p:handoutMasterIdLst>
    <p:handoutMasterId r:id="rId122"/>
  </p:handoutMasterIdLst>
  <p:sldIdLst>
    <p:sldId id="329" r:id="rId2"/>
    <p:sldId id="333" r:id="rId3"/>
    <p:sldId id="463" r:id="rId4"/>
    <p:sldId id="334" r:id="rId5"/>
    <p:sldId id="335" r:id="rId6"/>
    <p:sldId id="336" r:id="rId7"/>
    <p:sldId id="337" r:id="rId8"/>
    <p:sldId id="257" r:id="rId9"/>
    <p:sldId id="338" r:id="rId10"/>
    <p:sldId id="339" r:id="rId11"/>
    <p:sldId id="341" r:id="rId12"/>
    <p:sldId id="342" r:id="rId13"/>
    <p:sldId id="343" r:id="rId14"/>
    <p:sldId id="344" r:id="rId15"/>
    <p:sldId id="345" r:id="rId16"/>
    <p:sldId id="346" r:id="rId17"/>
    <p:sldId id="347" r:id="rId18"/>
    <p:sldId id="348" r:id="rId19"/>
    <p:sldId id="349" r:id="rId20"/>
    <p:sldId id="350" r:id="rId21"/>
    <p:sldId id="352" r:id="rId22"/>
    <p:sldId id="353" r:id="rId23"/>
    <p:sldId id="354" r:id="rId24"/>
    <p:sldId id="355" r:id="rId25"/>
    <p:sldId id="357" r:id="rId26"/>
    <p:sldId id="358" r:id="rId27"/>
    <p:sldId id="359" r:id="rId28"/>
    <p:sldId id="374" r:id="rId29"/>
    <p:sldId id="375" r:id="rId30"/>
    <p:sldId id="364" r:id="rId31"/>
    <p:sldId id="365" r:id="rId32"/>
    <p:sldId id="373" r:id="rId33"/>
    <p:sldId id="370" r:id="rId34"/>
    <p:sldId id="371" r:id="rId35"/>
    <p:sldId id="372" r:id="rId36"/>
    <p:sldId id="376" r:id="rId37"/>
    <p:sldId id="461" r:id="rId38"/>
    <p:sldId id="377" r:id="rId39"/>
    <p:sldId id="378" r:id="rId40"/>
    <p:sldId id="413" r:id="rId41"/>
    <p:sldId id="414" r:id="rId42"/>
    <p:sldId id="415" r:id="rId43"/>
    <p:sldId id="416" r:id="rId44"/>
    <p:sldId id="417" r:id="rId45"/>
    <p:sldId id="379" r:id="rId46"/>
    <p:sldId id="380" r:id="rId47"/>
    <p:sldId id="381" r:id="rId48"/>
    <p:sldId id="382" r:id="rId49"/>
    <p:sldId id="409" r:id="rId50"/>
    <p:sldId id="462" r:id="rId51"/>
    <p:sldId id="418" r:id="rId52"/>
    <p:sldId id="410" r:id="rId53"/>
    <p:sldId id="405" r:id="rId54"/>
    <p:sldId id="419" r:id="rId55"/>
    <p:sldId id="408" r:id="rId56"/>
    <p:sldId id="421" r:id="rId57"/>
    <p:sldId id="422" r:id="rId58"/>
    <p:sldId id="423" r:id="rId59"/>
    <p:sldId id="424" r:id="rId60"/>
    <p:sldId id="425" r:id="rId61"/>
    <p:sldId id="426" r:id="rId62"/>
    <p:sldId id="427" r:id="rId63"/>
    <p:sldId id="428" r:id="rId64"/>
    <p:sldId id="429" r:id="rId65"/>
    <p:sldId id="430" r:id="rId66"/>
    <p:sldId id="431" r:id="rId67"/>
    <p:sldId id="432" r:id="rId68"/>
    <p:sldId id="433" r:id="rId69"/>
    <p:sldId id="434" r:id="rId70"/>
    <p:sldId id="435" r:id="rId71"/>
    <p:sldId id="436" r:id="rId72"/>
    <p:sldId id="437" r:id="rId73"/>
    <p:sldId id="440" r:id="rId74"/>
    <p:sldId id="441" r:id="rId75"/>
    <p:sldId id="447" r:id="rId76"/>
    <p:sldId id="439" r:id="rId77"/>
    <p:sldId id="399" r:id="rId78"/>
    <p:sldId id="393" r:id="rId79"/>
    <p:sldId id="394" r:id="rId80"/>
    <p:sldId id="395" r:id="rId81"/>
    <p:sldId id="396" r:id="rId82"/>
    <p:sldId id="420" r:id="rId83"/>
    <p:sldId id="468" r:id="rId84"/>
    <p:sldId id="469" r:id="rId85"/>
    <p:sldId id="475" r:id="rId86"/>
    <p:sldId id="471" r:id="rId87"/>
    <p:sldId id="476" r:id="rId88"/>
    <p:sldId id="472" r:id="rId89"/>
    <p:sldId id="473" r:id="rId90"/>
    <p:sldId id="474" r:id="rId91"/>
    <p:sldId id="397" r:id="rId92"/>
    <p:sldId id="398" r:id="rId93"/>
    <p:sldId id="446" r:id="rId94"/>
    <p:sldId id="442" r:id="rId95"/>
    <p:sldId id="443" r:id="rId96"/>
    <p:sldId id="444" r:id="rId97"/>
    <p:sldId id="445" r:id="rId98"/>
    <p:sldId id="389" r:id="rId99"/>
    <p:sldId id="448" r:id="rId100"/>
    <p:sldId id="464" r:id="rId101"/>
    <p:sldId id="465" r:id="rId102"/>
    <p:sldId id="466" r:id="rId103"/>
    <p:sldId id="467" r:id="rId104"/>
    <p:sldId id="449" r:id="rId105"/>
    <p:sldId id="390" r:id="rId106"/>
    <p:sldId id="391" r:id="rId107"/>
    <p:sldId id="460" r:id="rId108"/>
    <p:sldId id="458" r:id="rId109"/>
    <p:sldId id="459" r:id="rId110"/>
    <p:sldId id="450" r:id="rId111"/>
    <p:sldId id="451" r:id="rId112"/>
    <p:sldId id="452" r:id="rId113"/>
    <p:sldId id="453" r:id="rId114"/>
    <p:sldId id="454" r:id="rId115"/>
    <p:sldId id="455" r:id="rId116"/>
    <p:sldId id="456" r:id="rId117"/>
    <p:sldId id="457" r:id="rId118"/>
    <p:sldId id="316" r:id="rId119"/>
    <p:sldId id="330" r:id="rId120"/>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ahoma" pitchFamily="34" charset="0"/>
        <a:ea typeface="+mn-ea"/>
        <a:cs typeface="+mn-cs"/>
      </a:defRPr>
    </a:lvl1pPr>
    <a:lvl2pPr marL="457200" algn="l" rtl="0" fontAlgn="base">
      <a:spcBef>
        <a:spcPct val="0"/>
      </a:spcBef>
      <a:spcAft>
        <a:spcPct val="0"/>
      </a:spcAft>
      <a:defRPr sz="2400" kern="1200">
        <a:solidFill>
          <a:schemeClr val="tx1"/>
        </a:solidFill>
        <a:latin typeface="Tahoma" pitchFamily="34" charset="0"/>
        <a:ea typeface="+mn-ea"/>
        <a:cs typeface="+mn-cs"/>
      </a:defRPr>
    </a:lvl2pPr>
    <a:lvl3pPr marL="914400" algn="l" rtl="0" fontAlgn="base">
      <a:spcBef>
        <a:spcPct val="0"/>
      </a:spcBef>
      <a:spcAft>
        <a:spcPct val="0"/>
      </a:spcAft>
      <a:defRPr sz="2400" kern="1200">
        <a:solidFill>
          <a:schemeClr val="tx1"/>
        </a:solidFill>
        <a:latin typeface="Tahoma" pitchFamily="34" charset="0"/>
        <a:ea typeface="+mn-ea"/>
        <a:cs typeface="+mn-cs"/>
      </a:defRPr>
    </a:lvl3pPr>
    <a:lvl4pPr marL="1371600" algn="l" rtl="0" fontAlgn="base">
      <a:spcBef>
        <a:spcPct val="0"/>
      </a:spcBef>
      <a:spcAft>
        <a:spcPct val="0"/>
      </a:spcAft>
      <a:defRPr sz="2400" kern="1200">
        <a:solidFill>
          <a:schemeClr val="tx1"/>
        </a:solidFill>
        <a:latin typeface="Tahoma" pitchFamily="34" charset="0"/>
        <a:ea typeface="+mn-ea"/>
        <a:cs typeface="+mn-cs"/>
      </a:defRPr>
    </a:lvl4pPr>
    <a:lvl5pPr marL="1828800" algn="l" rtl="0" fontAlgn="base">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0929" autoAdjust="0"/>
  </p:normalViewPr>
  <p:slideViewPr>
    <p:cSldViewPr>
      <p:cViewPr varScale="1">
        <p:scale>
          <a:sx n="86" d="100"/>
          <a:sy n="86" d="100"/>
        </p:scale>
        <p:origin x="1382" y="5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Lst>
  </p:outlineViewPr>
  <p:notesTextViewPr>
    <p:cViewPr>
      <p:scale>
        <a:sx n="100" d="100"/>
        <a:sy n="100" d="100"/>
      </p:scale>
      <p:origin x="0" y="0"/>
    </p:cViewPr>
  </p:notesTextViewPr>
  <p:sorterViewPr>
    <p:cViewPr>
      <p:scale>
        <a:sx n="110" d="100"/>
        <a:sy n="110" d="100"/>
      </p:scale>
      <p:origin x="0" y="-24096"/>
    </p:cViewPr>
  </p:sorterViewPr>
  <p:notesViewPr>
    <p:cSldViewPr>
      <p:cViewPr varScale="1">
        <p:scale>
          <a:sx n="80" d="100"/>
          <a:sy n="80" d="100"/>
        </p:scale>
        <p:origin x="-25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8" Type="http://schemas.openxmlformats.org/officeDocument/2006/relationships/slide" Target="slides/slide69.xml"/><Relationship Id="rId13" Type="http://schemas.openxmlformats.org/officeDocument/2006/relationships/slide" Target="slides/slide107.xml"/><Relationship Id="rId3" Type="http://schemas.openxmlformats.org/officeDocument/2006/relationships/slide" Target="slides/slide27.xml"/><Relationship Id="rId7" Type="http://schemas.openxmlformats.org/officeDocument/2006/relationships/slide" Target="slides/slide68.xml"/><Relationship Id="rId12" Type="http://schemas.openxmlformats.org/officeDocument/2006/relationships/slide" Target="slides/slide104.xml"/><Relationship Id="rId2" Type="http://schemas.openxmlformats.org/officeDocument/2006/relationships/slide" Target="slides/slide14.xml"/><Relationship Id="rId1" Type="http://schemas.openxmlformats.org/officeDocument/2006/relationships/slide" Target="slides/slide5.xml"/><Relationship Id="rId6" Type="http://schemas.openxmlformats.org/officeDocument/2006/relationships/slide" Target="slides/slide66.xml"/><Relationship Id="rId11" Type="http://schemas.openxmlformats.org/officeDocument/2006/relationships/slide" Target="slides/slide96.xml"/><Relationship Id="rId5" Type="http://schemas.openxmlformats.org/officeDocument/2006/relationships/slide" Target="slides/slide60.xml"/><Relationship Id="rId10" Type="http://schemas.openxmlformats.org/officeDocument/2006/relationships/slide" Target="slides/slide92.xml"/><Relationship Id="rId4" Type="http://schemas.openxmlformats.org/officeDocument/2006/relationships/slide" Target="slides/slide56.xml"/><Relationship Id="rId9"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6861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6861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6861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928FAC1-C051-49E8-9505-436D12089A8A}"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02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0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02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03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A604A88-55F8-49CB-A6F6-64AFE6869EDF}"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ln/>
        </p:spPr>
        <p:txBody>
          <a:bodyPr/>
          <a:lstStyle/>
          <a:p>
            <a:endParaRPr lang="en-US"/>
          </a:p>
        </p:txBody>
      </p:sp>
      <p:sp>
        <p:nvSpPr>
          <p:cNvPr id="43011" name="Rectangle 3"/>
          <p:cNvSpPr>
            <a:spLocks noGrp="1" noRot="1" noChangeAspect="1" noChangeArrowheads="1" noTextEdit="1"/>
          </p:cNvSpPr>
          <p:nvPr>
            <p:ph type="sldImg"/>
          </p:nvPr>
        </p:nvSpPr>
        <p:spPr>
          <a:xfrm>
            <a:off x="1143000" y="685800"/>
            <a:ext cx="4572000" cy="3429000"/>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ln/>
        </p:spPr>
        <p:txBody>
          <a:bodyPr/>
          <a:lstStyle/>
          <a:p>
            <a:endParaRPr lang="en-US"/>
          </a:p>
        </p:txBody>
      </p:sp>
      <p:sp>
        <p:nvSpPr>
          <p:cNvPr id="43011" name="Rectangle 3"/>
          <p:cNvSpPr>
            <a:spLocks noGrp="1" noRot="1" noChangeAspect="1" noChangeArrowheads="1" noTextEdit="1"/>
          </p:cNvSpPr>
          <p:nvPr>
            <p:ph type="sldImg"/>
          </p:nvPr>
        </p:nvSpPr>
        <p:spPr>
          <a:xfrm>
            <a:off x="1143000" y="685800"/>
            <a:ext cx="4572000" cy="3429000"/>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ln/>
        </p:spPr>
        <p:txBody>
          <a:bodyPr/>
          <a:lstStyle/>
          <a:p>
            <a:endParaRPr lang="en-US"/>
          </a:p>
        </p:txBody>
      </p:sp>
      <p:sp>
        <p:nvSpPr>
          <p:cNvPr id="43011" name="Rectangle 3"/>
          <p:cNvSpPr>
            <a:spLocks noGrp="1" noRot="1" noChangeAspect="1" noChangeArrowheads="1" noTextEdit="1"/>
          </p:cNvSpPr>
          <p:nvPr>
            <p:ph type="sldImg"/>
          </p:nvPr>
        </p:nvSpPr>
        <p:spPr>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ln/>
        </p:spPr>
        <p:txBody>
          <a:bodyPr/>
          <a:lstStyle/>
          <a:p>
            <a:endParaRPr lang="en-US"/>
          </a:p>
        </p:txBody>
      </p:sp>
      <p:sp>
        <p:nvSpPr>
          <p:cNvPr id="43011" name="Rectangle 3"/>
          <p:cNvSpPr>
            <a:spLocks noGrp="1" noRot="1" noChangeAspect="1" noChangeArrowheads="1" noTextEdit="1"/>
          </p:cNvSpPr>
          <p:nvPr>
            <p:ph type="sldImg"/>
          </p:nvPr>
        </p:nvSpPr>
        <p:spPr>
          <a:xfrm>
            <a:off x="1143000" y="685800"/>
            <a:ext cx="4572000" cy="3429000"/>
          </a:xfrm>
          <a:ln cap="fla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ln/>
        </p:spPr>
        <p:txBody>
          <a:bodyPr/>
          <a:lstStyle/>
          <a:p>
            <a:endParaRPr lang="en-US"/>
          </a:p>
        </p:txBody>
      </p:sp>
      <p:sp>
        <p:nvSpPr>
          <p:cNvPr id="43011" name="Rectangle 3"/>
          <p:cNvSpPr>
            <a:spLocks noGrp="1" noRot="1" noChangeAspect="1" noChangeArrowheads="1" noTextEdit="1"/>
          </p:cNvSpPr>
          <p:nvPr>
            <p:ph type="sldImg"/>
          </p:nvPr>
        </p:nvSpPr>
        <p:spPr>
          <a:xfrm>
            <a:off x="1143000" y="685800"/>
            <a:ext cx="4572000" cy="3429000"/>
          </a:xfrm>
          <a:ln cap="fla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ln/>
        </p:spPr>
        <p:txBody>
          <a:bodyPr/>
          <a:lstStyle/>
          <a:p>
            <a:endParaRPr lang="en-US"/>
          </a:p>
        </p:txBody>
      </p:sp>
      <p:sp>
        <p:nvSpPr>
          <p:cNvPr id="43011" name="Rectangle 3"/>
          <p:cNvSpPr>
            <a:spLocks noGrp="1" noRot="1" noChangeAspect="1" noChangeArrowheads="1" noTextEdit="1"/>
          </p:cNvSpPr>
          <p:nvPr>
            <p:ph type="sldImg"/>
          </p:nvPr>
        </p:nvSpPr>
        <p:spPr>
          <a:xfrm>
            <a:off x="1143000" y="685800"/>
            <a:ext cx="4572000" cy="3429000"/>
          </a:xfrm>
          <a:ln cap="fla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ln/>
        </p:spPr>
        <p:txBody>
          <a:bodyPr/>
          <a:lstStyle/>
          <a:p>
            <a:endParaRPr lang="en-US"/>
          </a:p>
        </p:txBody>
      </p:sp>
      <p:sp>
        <p:nvSpPr>
          <p:cNvPr id="43011" name="Rectangle 3"/>
          <p:cNvSpPr>
            <a:spLocks noGrp="1" noRot="1" noChangeAspect="1" noChangeArrowheads="1" noTextEdit="1"/>
          </p:cNvSpPr>
          <p:nvPr>
            <p:ph type="sldImg"/>
          </p:nvPr>
        </p:nvSpPr>
        <p:spPr>
          <a:xfrm>
            <a:off x="1143000" y="685800"/>
            <a:ext cx="4572000" cy="3429000"/>
          </a:xfrm>
          <a:ln cap="fla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ln/>
        </p:spPr>
        <p:txBody>
          <a:bodyPr/>
          <a:lstStyle/>
          <a:p>
            <a:endParaRPr lang="en-US"/>
          </a:p>
        </p:txBody>
      </p:sp>
      <p:sp>
        <p:nvSpPr>
          <p:cNvPr id="43011" name="Rectangle 3"/>
          <p:cNvSpPr>
            <a:spLocks noGrp="1" noRot="1" noChangeAspect="1" noChangeArrowheads="1" noTextEdit="1"/>
          </p:cNvSpPr>
          <p:nvPr>
            <p:ph type="sldImg"/>
          </p:nvPr>
        </p:nvSpPr>
        <p:spPr>
          <a:xfrm>
            <a:off x="1143000" y="685800"/>
            <a:ext cx="4572000" cy="3429000"/>
          </a:xfrm>
          <a:ln cap="fla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body" idx="1"/>
          </p:nvPr>
        </p:nvSpPr>
        <p:spPr bwMode="auto">
          <a:xfrm>
            <a:off x="827690" y="4345781"/>
            <a:ext cx="5202621" cy="3857625"/>
          </a:xfrm>
          <a:prstGeom prst="rect">
            <a:avLst/>
          </a:prstGeom>
          <a:noFill/>
          <a:ln w="12700">
            <a:miter lim="800000"/>
            <a:headEnd/>
            <a:tailEnd/>
          </a:ln>
        </p:spPr>
        <p:txBody>
          <a:bodyPr lIns="90487" tIns="44450" rIns="90487" bIns="44450">
            <a:prstTxWarp prst="textNoShape">
              <a:avLst/>
            </a:prstTxWarp>
          </a:bodyPr>
          <a:lstStyle/>
          <a:p>
            <a:endParaRPr lang="en-US"/>
          </a:p>
        </p:txBody>
      </p:sp>
      <p:sp>
        <p:nvSpPr>
          <p:cNvPr id="131075" name="Rectangle 3"/>
          <p:cNvSpPr>
            <a:spLocks noGrp="1" noRot="1" noChangeAspect="1" noChangeArrowheads="1"/>
          </p:cNvSpPr>
          <p:nvPr>
            <p:ph type="sldImg"/>
          </p:nvPr>
        </p:nvSpPr>
        <p:spPr bwMode="auto">
          <a:xfrm>
            <a:off x="1293813" y="798513"/>
            <a:ext cx="4270375" cy="3201987"/>
          </a:xfrm>
          <a:prstGeom prst="rect">
            <a:avLst/>
          </a:prstGeom>
          <a:noFill/>
          <a:ln w="12700" cap="flat">
            <a:solidFill>
              <a:schemeClr val="tx1"/>
            </a:solidFill>
            <a:miter lim="800000"/>
            <a:headEnd/>
            <a:tailEnd/>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ln/>
        </p:spPr>
        <p:txBody>
          <a:bodyPr/>
          <a:lstStyle/>
          <a:p>
            <a:endParaRPr lang="en-US"/>
          </a:p>
        </p:txBody>
      </p:sp>
      <p:sp>
        <p:nvSpPr>
          <p:cNvPr id="43011" name="Rectangle 3"/>
          <p:cNvSpPr>
            <a:spLocks noGrp="1" noRot="1" noChangeAspect="1" noChangeArrowheads="1" noTextEdit="1"/>
          </p:cNvSpPr>
          <p:nvPr>
            <p:ph type="sldImg"/>
          </p:nvPr>
        </p:nvSpPr>
        <p:spPr>
          <a:xfrm>
            <a:off x="1143000" y="685800"/>
            <a:ext cx="4572000" cy="3429000"/>
          </a:xfrm>
          <a:ln cap="fla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ln/>
        </p:spPr>
        <p:txBody>
          <a:bodyPr/>
          <a:lstStyle/>
          <a:p>
            <a:endParaRPr lang="en-US"/>
          </a:p>
        </p:txBody>
      </p:sp>
      <p:sp>
        <p:nvSpPr>
          <p:cNvPr id="43011" name="Rectangle 3"/>
          <p:cNvSpPr>
            <a:spLocks noGrp="1" noRot="1" noChangeAspect="1" noChangeArrowheads="1" noTextEdit="1"/>
          </p:cNvSpPr>
          <p:nvPr>
            <p:ph type="sldImg"/>
          </p:nvPr>
        </p:nvSpPr>
        <p:spPr>
          <a:xfrm>
            <a:off x="1143000" y="685800"/>
            <a:ext cx="4572000" cy="3429000"/>
          </a:xfrm>
          <a:ln cap="fla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ln/>
        </p:spPr>
        <p:txBody>
          <a:bodyPr/>
          <a:lstStyle/>
          <a:p>
            <a:endParaRPr lang="en-US"/>
          </a:p>
        </p:txBody>
      </p:sp>
      <p:sp>
        <p:nvSpPr>
          <p:cNvPr id="43011" name="Rectangle 3"/>
          <p:cNvSpPr>
            <a:spLocks noGrp="1" noRot="1" noChangeAspect="1" noChangeArrowheads="1" noTextEdit="1"/>
          </p:cNvSpPr>
          <p:nvPr>
            <p:ph type="sldImg"/>
          </p:nvPr>
        </p:nvSpPr>
        <p:spPr>
          <a:xfrm>
            <a:off x="1143000" y="685800"/>
            <a:ext cx="4572000" cy="3429000"/>
          </a:xfrm>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098" name="Group 2"/>
          <p:cNvGrpSpPr>
            <a:grpSpLocks/>
          </p:cNvGrpSpPr>
          <p:nvPr/>
        </p:nvGrpSpPr>
        <p:grpSpPr bwMode="auto">
          <a:xfrm>
            <a:off x="0" y="2438400"/>
            <a:ext cx="9009063" cy="1052513"/>
            <a:chOff x="0" y="1536"/>
            <a:chExt cx="5675" cy="663"/>
          </a:xfrm>
        </p:grpSpPr>
        <p:grpSp>
          <p:nvGrpSpPr>
            <p:cNvPr id="4099" name="Group 3"/>
            <p:cNvGrpSpPr>
              <a:grpSpLocks/>
            </p:cNvGrpSpPr>
            <p:nvPr/>
          </p:nvGrpSpPr>
          <p:grpSpPr bwMode="auto">
            <a:xfrm>
              <a:off x="183" y="1604"/>
              <a:ext cx="448" cy="299"/>
              <a:chOff x="720" y="336"/>
              <a:chExt cx="624" cy="432"/>
            </a:xfrm>
          </p:grpSpPr>
          <p:sp>
            <p:nvSpPr>
              <p:cNvPr id="4100"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endParaRPr lang="en-US"/>
              </a:p>
            </p:txBody>
          </p:sp>
          <p:sp>
            <p:nvSpPr>
              <p:cNvPr id="4101"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endParaRPr lang="en-US"/>
              </a:p>
            </p:txBody>
          </p:sp>
        </p:grpSp>
        <p:grpSp>
          <p:nvGrpSpPr>
            <p:cNvPr id="4102" name="Group 6"/>
            <p:cNvGrpSpPr>
              <a:grpSpLocks/>
            </p:cNvGrpSpPr>
            <p:nvPr/>
          </p:nvGrpSpPr>
          <p:grpSpPr bwMode="auto">
            <a:xfrm>
              <a:off x="261" y="1870"/>
              <a:ext cx="465" cy="299"/>
              <a:chOff x="912" y="2640"/>
              <a:chExt cx="672" cy="432"/>
            </a:xfrm>
          </p:grpSpPr>
          <p:sp>
            <p:nvSpPr>
              <p:cNvPr id="4103"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endParaRPr lang="en-US"/>
              </a:p>
            </p:txBody>
          </p:sp>
          <p:sp>
            <p:nvSpPr>
              <p:cNvPr id="4104"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endParaRPr lang="en-US"/>
              </a:p>
            </p:txBody>
          </p:sp>
        </p:grpSp>
        <p:sp>
          <p:nvSpPr>
            <p:cNvPr id="4105"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endParaRPr lang="en-US"/>
            </a:p>
          </p:txBody>
        </p:sp>
        <p:sp>
          <p:nvSpPr>
            <p:cNvPr id="4106"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endParaRPr lang="en-US"/>
            </a:p>
          </p:txBody>
        </p:sp>
        <p:sp>
          <p:nvSpPr>
            <p:cNvPr id="4107"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endParaRPr lang="en-US"/>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4110"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p>
        </p:txBody>
      </p:sp>
      <p:sp>
        <p:nvSpPr>
          <p:cNvPr id="4111"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r>
              <a:rPr lang="en-US"/>
              <a:t>Chapter 6-Object-oriented design</a:t>
            </a:r>
          </a:p>
        </p:txBody>
      </p:sp>
      <p:sp>
        <p:nvSpPr>
          <p:cNvPr id="4112"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D821990E-7AD8-4196-B11B-844D99558A61}"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Chapter 6-Object-oriented design</a:t>
            </a:r>
          </a:p>
        </p:txBody>
      </p:sp>
      <p:sp>
        <p:nvSpPr>
          <p:cNvPr id="6" name="Slide Number Placeholder 5"/>
          <p:cNvSpPr>
            <a:spLocks noGrp="1"/>
          </p:cNvSpPr>
          <p:nvPr>
            <p:ph type="sldNum" sz="quarter" idx="12"/>
          </p:nvPr>
        </p:nvSpPr>
        <p:spPr/>
        <p:txBody>
          <a:bodyPr/>
          <a:lstStyle>
            <a:lvl1pPr>
              <a:defRPr/>
            </a:lvl1pPr>
          </a:lstStyle>
          <a:p>
            <a:fld id="{20317CA6-3557-4F90-84AF-53D5354FC7C6}"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Chapter 6-Object-oriented design</a:t>
            </a:r>
          </a:p>
        </p:txBody>
      </p:sp>
      <p:sp>
        <p:nvSpPr>
          <p:cNvPr id="6" name="Slide Number Placeholder 5"/>
          <p:cNvSpPr>
            <a:spLocks noGrp="1"/>
          </p:cNvSpPr>
          <p:nvPr>
            <p:ph type="sldNum" sz="quarter" idx="12"/>
          </p:nvPr>
        </p:nvSpPr>
        <p:spPr/>
        <p:txBody>
          <a:bodyPr/>
          <a:lstStyle>
            <a:lvl1pPr>
              <a:defRPr/>
            </a:lvl1pPr>
          </a:lstStyle>
          <a:p>
            <a:fld id="{E8DDC6F8-ED6C-403B-BD6C-E5B2964593B2}"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Chapter 6-Object-oriented design</a:t>
            </a:r>
          </a:p>
        </p:txBody>
      </p:sp>
      <p:sp>
        <p:nvSpPr>
          <p:cNvPr id="7" name="Slide Number Placeholder 6"/>
          <p:cNvSpPr>
            <a:spLocks noGrp="1"/>
          </p:cNvSpPr>
          <p:nvPr>
            <p:ph type="sldNum" sz="quarter" idx="12"/>
          </p:nvPr>
        </p:nvSpPr>
        <p:spPr/>
        <p:txBody>
          <a:bodyPr/>
          <a:lstStyle>
            <a:lvl1pPr>
              <a:defRPr/>
            </a:lvl1pPr>
          </a:lstStyle>
          <a:p>
            <a:fld id="{CA7B7C2F-1A3F-42F5-A2D3-BCB6A59F51D7}"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r>
              <a:rPr lang="en-US"/>
              <a:t>Chapter 6-Object-oriented design</a:t>
            </a:r>
          </a:p>
        </p:txBody>
      </p:sp>
      <p:sp>
        <p:nvSpPr>
          <p:cNvPr id="9" name="Slide Number Placeholder 8"/>
          <p:cNvSpPr>
            <a:spLocks noGrp="1"/>
          </p:cNvSpPr>
          <p:nvPr>
            <p:ph type="sldNum" sz="quarter" idx="12"/>
          </p:nvPr>
        </p:nvSpPr>
        <p:spPr/>
        <p:txBody>
          <a:bodyPr/>
          <a:lstStyle>
            <a:lvl1pPr>
              <a:defRPr/>
            </a:lvl1pPr>
          </a:lstStyle>
          <a:p>
            <a:fld id="{C82BA9C3-A172-4F15-8FFC-EF9DDC867FC0}"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r>
              <a:rPr lang="en-US"/>
              <a:t>Chapter 6-Object-oriented design</a:t>
            </a:r>
          </a:p>
        </p:txBody>
      </p:sp>
      <p:sp>
        <p:nvSpPr>
          <p:cNvPr id="5" name="Slide Number Placeholder 4"/>
          <p:cNvSpPr>
            <a:spLocks noGrp="1"/>
          </p:cNvSpPr>
          <p:nvPr>
            <p:ph type="sldNum" sz="quarter" idx="12"/>
          </p:nvPr>
        </p:nvSpPr>
        <p:spPr/>
        <p:txBody>
          <a:bodyPr/>
          <a:lstStyle>
            <a:lvl1pPr>
              <a:defRPr/>
            </a:lvl1pPr>
          </a:lstStyle>
          <a:p>
            <a:fld id="{4137D889-1542-4A25-8749-28960C632F4C}"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r>
              <a:rPr lang="en-US"/>
              <a:t>Chapter 6-Object-oriented design</a:t>
            </a:r>
          </a:p>
        </p:txBody>
      </p:sp>
      <p:sp>
        <p:nvSpPr>
          <p:cNvPr id="4" name="Slide Number Placeholder 3"/>
          <p:cNvSpPr>
            <a:spLocks noGrp="1"/>
          </p:cNvSpPr>
          <p:nvPr>
            <p:ph type="sldNum" sz="quarter" idx="12"/>
          </p:nvPr>
        </p:nvSpPr>
        <p:spPr/>
        <p:txBody>
          <a:bodyPr/>
          <a:lstStyle>
            <a:lvl1pPr>
              <a:defRPr/>
            </a:lvl1pPr>
          </a:lstStyle>
          <a:p>
            <a:fld id="{740A20F3-FD26-44F9-9255-776295407438}"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Chapter 6-Object-oriented design</a:t>
            </a:r>
          </a:p>
        </p:txBody>
      </p:sp>
      <p:sp>
        <p:nvSpPr>
          <p:cNvPr id="7" name="Slide Number Placeholder 6"/>
          <p:cNvSpPr>
            <a:spLocks noGrp="1"/>
          </p:cNvSpPr>
          <p:nvPr>
            <p:ph type="sldNum" sz="quarter" idx="12"/>
          </p:nvPr>
        </p:nvSpPr>
        <p:spPr/>
        <p:txBody>
          <a:bodyPr/>
          <a:lstStyle>
            <a:lvl1pPr>
              <a:defRPr/>
            </a:lvl1pPr>
          </a:lstStyle>
          <a:p>
            <a:fld id="{D84042FC-3316-4E26-9170-B72418C5D6BC}"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Chapter 6-Object-oriented design</a:t>
            </a:r>
          </a:p>
        </p:txBody>
      </p:sp>
      <p:sp>
        <p:nvSpPr>
          <p:cNvPr id="7" name="Slide Number Placeholder 6"/>
          <p:cNvSpPr>
            <a:spLocks noGrp="1"/>
          </p:cNvSpPr>
          <p:nvPr>
            <p:ph type="sldNum" sz="quarter" idx="12"/>
          </p:nvPr>
        </p:nvSpPr>
        <p:spPr/>
        <p:txBody>
          <a:bodyPr/>
          <a:lstStyle>
            <a:lvl1pPr>
              <a:defRPr/>
            </a:lvl1pPr>
          </a:lstStyle>
          <a:p>
            <a:fld id="{D6FA7AB4-3120-49F2-8C95-58E8C3B87B81}"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Chapter 6-Object-oriented design</a:t>
            </a:r>
          </a:p>
        </p:txBody>
      </p:sp>
      <p:sp>
        <p:nvSpPr>
          <p:cNvPr id="6" name="Slide Number Placeholder 5"/>
          <p:cNvSpPr>
            <a:spLocks noGrp="1"/>
          </p:cNvSpPr>
          <p:nvPr>
            <p:ph type="sldNum" sz="quarter" idx="12"/>
          </p:nvPr>
        </p:nvSpPr>
        <p:spPr/>
        <p:txBody>
          <a:bodyPr/>
          <a:lstStyle>
            <a:lvl1pPr>
              <a:defRPr/>
            </a:lvl1pPr>
          </a:lstStyle>
          <a:p>
            <a:fld id="{CE292623-9BDE-4543-9724-8EB83A2B2C16}"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617538"/>
            <a:ext cx="1951038" cy="55149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50938" y="617538"/>
            <a:ext cx="5700712" cy="5514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Chapter 6-Object-oriented design</a:t>
            </a:r>
          </a:p>
        </p:txBody>
      </p:sp>
      <p:sp>
        <p:nvSpPr>
          <p:cNvPr id="6" name="Slide Number Placeholder 5"/>
          <p:cNvSpPr>
            <a:spLocks noGrp="1"/>
          </p:cNvSpPr>
          <p:nvPr>
            <p:ph type="sldNum" sz="quarter" idx="12"/>
          </p:nvPr>
        </p:nvSpPr>
        <p:spPr/>
        <p:txBody>
          <a:bodyPr/>
          <a:lstStyle>
            <a:lvl1pPr>
              <a:defRPr/>
            </a:lvl1pPr>
          </a:lstStyle>
          <a:p>
            <a:fld id="{6E8B73D7-9747-40CF-A6BD-A7D29C428750}"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417513" y="1098550"/>
            <a:ext cx="438150" cy="474663"/>
          </a:xfrm>
          <a:prstGeom prst="rect">
            <a:avLst/>
          </a:prstGeom>
          <a:solidFill>
            <a:schemeClr val="accent2"/>
          </a:solidFill>
          <a:ln w="9525">
            <a:noFill/>
            <a:miter lim="800000"/>
            <a:headEnd/>
            <a:tailEnd/>
          </a:ln>
          <a:effectLst/>
        </p:spPr>
        <p:txBody>
          <a:bodyPr wrap="none" anchor="ctr"/>
          <a:lstStyle/>
          <a:p>
            <a:pPr algn="ctr"/>
            <a:endParaRPr kumimoji="1" lang="en-US"/>
          </a:p>
        </p:txBody>
      </p:sp>
      <p:sp>
        <p:nvSpPr>
          <p:cNvPr id="3075"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endParaRPr kumimoji="1" lang="en-US"/>
          </a:p>
        </p:txBody>
      </p:sp>
      <p:sp>
        <p:nvSpPr>
          <p:cNvPr id="3076" name="Rectangle 4"/>
          <p:cNvSpPr>
            <a:spLocks noChangeArrowheads="1"/>
          </p:cNvSpPr>
          <p:nvPr/>
        </p:nvSpPr>
        <p:spPr bwMode="ltGray">
          <a:xfrm>
            <a:off x="541338" y="1520825"/>
            <a:ext cx="422275" cy="474663"/>
          </a:xfrm>
          <a:prstGeom prst="rect">
            <a:avLst/>
          </a:prstGeom>
          <a:solidFill>
            <a:schemeClr val="folHlink"/>
          </a:solidFill>
          <a:ln w="9525">
            <a:noFill/>
            <a:miter lim="800000"/>
            <a:headEnd/>
            <a:tailEnd/>
          </a:ln>
          <a:effectLst/>
        </p:spPr>
        <p:txBody>
          <a:bodyPr wrap="none" anchor="ctr"/>
          <a:lstStyle/>
          <a:p>
            <a:pPr algn="ctr"/>
            <a:endParaRPr kumimoji="1" lang="en-US"/>
          </a:p>
        </p:txBody>
      </p:sp>
      <p:sp>
        <p:nvSpPr>
          <p:cNvPr id="3077"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endParaRPr kumimoji="1" lang="en-US"/>
          </a:p>
        </p:txBody>
      </p:sp>
      <p:sp>
        <p:nvSpPr>
          <p:cNvPr id="3078"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endParaRPr kumimoji="1" lang="en-US"/>
          </a:p>
        </p:txBody>
      </p:sp>
      <p:sp>
        <p:nvSpPr>
          <p:cNvPr id="3079" name="Rectangle 7"/>
          <p:cNvSpPr>
            <a:spLocks noChangeArrowheads="1"/>
          </p:cNvSpPr>
          <p:nvPr/>
        </p:nvSpPr>
        <p:spPr bwMode="gray">
          <a:xfrm>
            <a:off x="762000" y="990600"/>
            <a:ext cx="31750" cy="1052513"/>
          </a:xfrm>
          <a:prstGeom prst="rect">
            <a:avLst/>
          </a:prstGeom>
          <a:solidFill>
            <a:schemeClr val="bg2"/>
          </a:solidFill>
          <a:ln w="9525">
            <a:noFill/>
            <a:miter lim="800000"/>
            <a:headEnd/>
            <a:tailEnd/>
          </a:ln>
          <a:effectLst/>
        </p:spPr>
        <p:txBody>
          <a:bodyPr wrap="none" anchor="ctr"/>
          <a:lstStyle/>
          <a:p>
            <a:pPr algn="ctr"/>
            <a:endParaRPr kumimoji="1" lang="en-US"/>
          </a:p>
        </p:txBody>
      </p:sp>
      <p:sp>
        <p:nvSpPr>
          <p:cNvPr id="3080"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endParaRPr kumimoji="1" lang="en-US"/>
          </a:p>
        </p:txBody>
      </p:sp>
      <p:sp>
        <p:nvSpPr>
          <p:cNvPr id="3081" name="Rectangle 9"/>
          <p:cNvSpPr>
            <a:spLocks noGrp="1" noChangeArrowheads="1"/>
          </p:cNvSpPr>
          <p:nvPr>
            <p:ph type="title"/>
          </p:nvPr>
        </p:nvSpPr>
        <p:spPr bwMode="auto">
          <a:xfrm>
            <a:off x="1150938" y="617538"/>
            <a:ext cx="7793037"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3082" name="Rectangle 10"/>
          <p:cNvSpPr>
            <a:spLocks noGrp="1" noChangeArrowheads="1"/>
          </p:cNvSpPr>
          <p:nvPr>
            <p:ph type="body" idx="1"/>
          </p:nvPr>
        </p:nvSpPr>
        <p:spPr bwMode="auto">
          <a:xfrm>
            <a:off x="1182688" y="2017713"/>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83" name="Rectangle 11"/>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vl1pPr>
          </a:lstStyle>
          <a:p>
            <a:endParaRPr lang="en-US"/>
          </a:p>
        </p:txBody>
      </p:sp>
      <p:sp>
        <p:nvSpPr>
          <p:cNvPr id="3084" name="Rectangle 12"/>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vl1pPr>
          </a:lstStyle>
          <a:p>
            <a:r>
              <a:rPr lang="en-US"/>
              <a:t>Chapter 6-Object-oriented design</a:t>
            </a:r>
          </a:p>
        </p:txBody>
      </p:sp>
      <p:sp>
        <p:nvSpPr>
          <p:cNvPr id="3085" name="Rectangle 13"/>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fld id="{1A56740D-BB0F-4E24-B997-AA66B4DB925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dt="0"/>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itchFamily="34" charset="0"/>
        </a:defRPr>
      </a:lvl2pPr>
      <a:lvl3pPr algn="l" rtl="0" fontAlgn="base">
        <a:spcBef>
          <a:spcPct val="0"/>
        </a:spcBef>
        <a:spcAft>
          <a:spcPct val="0"/>
        </a:spcAft>
        <a:defRPr sz="4400">
          <a:solidFill>
            <a:schemeClr val="tx2"/>
          </a:solidFill>
          <a:latin typeface="Tahoma" pitchFamily="34" charset="0"/>
        </a:defRPr>
      </a:lvl3pPr>
      <a:lvl4pPr algn="l" rtl="0" fontAlgn="base">
        <a:spcBef>
          <a:spcPct val="0"/>
        </a:spcBef>
        <a:spcAft>
          <a:spcPct val="0"/>
        </a:spcAft>
        <a:defRPr sz="4400">
          <a:solidFill>
            <a:schemeClr val="tx2"/>
          </a:solidFill>
          <a:latin typeface="Tahoma" pitchFamily="34" charset="0"/>
        </a:defRPr>
      </a:lvl4pPr>
      <a:lvl5pPr algn="l" rtl="0" fontAlgn="base">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10.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6"/>
          <p:cNvSpPr>
            <a:spLocks noGrp="1" noChangeArrowheads="1"/>
          </p:cNvSpPr>
          <p:nvPr>
            <p:ph type="sldNum" sz="quarter" idx="4"/>
          </p:nvPr>
        </p:nvSpPr>
        <p:spPr/>
        <p:txBody>
          <a:bodyPr/>
          <a:lstStyle/>
          <a:p>
            <a:fld id="{D026B6D8-1020-480C-B13A-5434E669E780}" type="slidenum">
              <a:rPr lang="en-US"/>
              <a:pPr/>
              <a:t>1</a:t>
            </a:fld>
            <a:endParaRPr lang="en-US"/>
          </a:p>
        </p:txBody>
      </p:sp>
      <p:sp>
        <p:nvSpPr>
          <p:cNvPr id="80899" name="Rectangle 3"/>
          <p:cNvSpPr>
            <a:spLocks noGrp="1" noChangeArrowheads="1"/>
          </p:cNvSpPr>
          <p:nvPr>
            <p:ph type="subTitle" idx="1"/>
          </p:nvPr>
        </p:nvSpPr>
        <p:spPr>
          <a:xfrm>
            <a:off x="1371600" y="1981200"/>
            <a:ext cx="6400800" cy="1219200"/>
          </a:xfrm>
        </p:spPr>
        <p:txBody>
          <a:bodyPr/>
          <a:lstStyle/>
          <a:p>
            <a:r>
              <a:rPr lang="en-US" i="1" dirty="0"/>
              <a:t>CHAPTER 6 :</a:t>
            </a:r>
          </a:p>
          <a:p>
            <a:r>
              <a:rPr lang="en-US" sz="4400" i="1" dirty="0"/>
              <a:t>OBJECT-ORIENTED DESIGN</a:t>
            </a:r>
          </a:p>
        </p:txBody>
      </p:sp>
      <p:sp>
        <p:nvSpPr>
          <p:cNvPr id="4" name="Footer Placeholder 3"/>
          <p:cNvSpPr>
            <a:spLocks noGrp="1"/>
          </p:cNvSpPr>
          <p:nvPr>
            <p:ph type="ftr" sz="quarter" idx="3"/>
          </p:nvPr>
        </p:nvSpPr>
        <p:spPr/>
        <p:txBody>
          <a:bodyPr/>
          <a:lstStyle/>
          <a:p>
            <a:r>
              <a:rPr lang="en-US"/>
              <a:t>Chapter 6-Object-oriented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Outcomes</a:t>
            </a:r>
          </a:p>
        </p:txBody>
      </p:sp>
      <p:sp>
        <p:nvSpPr>
          <p:cNvPr id="3" name="Footer Placeholder 2"/>
          <p:cNvSpPr>
            <a:spLocks noGrp="1"/>
          </p:cNvSpPr>
          <p:nvPr>
            <p:ph type="ftr" sz="quarter" idx="11"/>
          </p:nvPr>
        </p:nvSpPr>
        <p:spPr>
          <a:xfrm>
            <a:off x="1857375" y="6356350"/>
            <a:ext cx="4800600" cy="365760"/>
          </a:xfrm>
        </p:spPr>
        <p:txBody>
          <a:bodyPr/>
          <a:lstStyle/>
          <a:p>
            <a:r>
              <a:rPr lang="en-US" sz="1200"/>
              <a:t>Chapter 6-Object-oriented design</a:t>
            </a:r>
            <a:endParaRPr lang="en-US" sz="1200" dirty="0"/>
          </a:p>
        </p:txBody>
      </p:sp>
      <p:sp>
        <p:nvSpPr>
          <p:cNvPr id="4" name="Slide Number Placeholder 3"/>
          <p:cNvSpPr>
            <a:spLocks noGrp="1"/>
          </p:cNvSpPr>
          <p:nvPr>
            <p:ph type="sldNum" sz="quarter" idx="12"/>
          </p:nvPr>
        </p:nvSpPr>
        <p:spPr/>
        <p:txBody>
          <a:bodyPr/>
          <a:lstStyle/>
          <a:p>
            <a:fld id="{EC83099C-5FA5-B04A-B819-64718E2A253A}" type="slidenum">
              <a:rPr lang="en-US" smtClean="0"/>
              <a:pPr/>
              <a:t>2</a:t>
            </a:fld>
            <a:endParaRPr lang="en-US"/>
          </a:p>
        </p:txBody>
      </p:sp>
      <p:sp>
        <p:nvSpPr>
          <p:cNvPr id="5" name="Content Placeholder 4"/>
          <p:cNvSpPr>
            <a:spLocks noGrp="1"/>
          </p:cNvSpPr>
          <p:nvPr>
            <p:ph sz="quarter" idx="1"/>
          </p:nvPr>
        </p:nvSpPr>
        <p:spPr>
          <a:xfrm>
            <a:off x="762000" y="2057400"/>
            <a:ext cx="7888288" cy="4114800"/>
          </a:xfrm>
        </p:spPr>
        <p:txBody>
          <a:bodyPr/>
          <a:lstStyle/>
          <a:p>
            <a:r>
              <a:rPr lang="en-US" sz="2800" dirty="0"/>
              <a:t>Students able to:</a:t>
            </a:r>
          </a:p>
          <a:p>
            <a:pPr lvl="1"/>
            <a:r>
              <a:rPr lang="en-US" dirty="0"/>
              <a:t>Explain the concept of object-oriented (C2)</a:t>
            </a:r>
          </a:p>
          <a:p>
            <a:pPr lvl="1"/>
            <a:r>
              <a:rPr lang="en-US" dirty="0"/>
              <a:t>Construct design models using object-oriented approach (C3)</a:t>
            </a:r>
          </a:p>
          <a:p>
            <a:pPr lvl="1"/>
            <a:r>
              <a:rPr lang="en-US" dirty="0"/>
              <a:t>Differentiate and show types of models in object-oriented approach (A3, P2)</a:t>
            </a:r>
          </a:p>
          <a:p>
            <a:pPr lvl="1">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a:xfrm>
            <a:off x="838200" y="2017713"/>
            <a:ext cx="8116888" cy="4114800"/>
          </a:xfrm>
        </p:spPr>
        <p:txBody>
          <a:bodyPr/>
          <a:lstStyle/>
          <a:p>
            <a:r>
              <a:rPr lang="en-US" sz="2000" dirty="0"/>
              <a:t>An Overview of Object-Oriented Analysis and Design</a:t>
            </a:r>
          </a:p>
          <a:p>
            <a:r>
              <a:rPr lang="en-US" sz="2000" dirty="0"/>
              <a:t>Introduction to the Unified Modeling Language</a:t>
            </a:r>
          </a:p>
          <a:p>
            <a:r>
              <a:rPr lang="en-US" sz="2000" dirty="0"/>
              <a:t>Object-Oriented analysis</a:t>
            </a:r>
          </a:p>
          <a:p>
            <a:pPr lvl="1"/>
            <a:r>
              <a:rPr lang="en-US" sz="1600" dirty="0"/>
              <a:t>User Model View : Use Case Model/Use Case Diagram</a:t>
            </a:r>
          </a:p>
          <a:p>
            <a:r>
              <a:rPr lang="en-US" sz="2000" dirty="0"/>
              <a:t>Object-Oriented design</a:t>
            </a:r>
          </a:p>
          <a:p>
            <a:pPr lvl="1"/>
            <a:r>
              <a:rPr lang="en-GB" sz="1600" dirty="0"/>
              <a:t>Object Class Identification</a:t>
            </a:r>
          </a:p>
          <a:p>
            <a:pPr lvl="1"/>
            <a:r>
              <a:rPr lang="en-GB" sz="1600" dirty="0"/>
              <a:t>Design Classes &amp; Structural Model View</a:t>
            </a:r>
          </a:p>
          <a:p>
            <a:pPr lvl="1"/>
            <a:r>
              <a:rPr lang="en-GB" sz="1600" dirty="0"/>
              <a:t>Behavioural Model View</a:t>
            </a:r>
          </a:p>
          <a:p>
            <a:pPr lvl="1"/>
            <a:r>
              <a:rPr lang="en-GB" sz="1600" dirty="0"/>
              <a:t>Design Interface Objects</a:t>
            </a:r>
          </a:p>
          <a:p>
            <a:pPr lvl="1"/>
            <a:r>
              <a:rPr lang="en-GB" sz="1600" dirty="0"/>
              <a:t>Implementation Model View</a:t>
            </a:r>
          </a:p>
          <a:p>
            <a:pPr lvl="1"/>
            <a:r>
              <a:rPr lang="en-GB" sz="1600" dirty="0"/>
              <a:t>Environmental Model View</a:t>
            </a:r>
          </a:p>
          <a:p>
            <a:pPr lvl="1"/>
            <a:r>
              <a:rPr lang="en-GB" sz="1600" dirty="0"/>
              <a:t>Design Rule</a:t>
            </a:r>
          </a:p>
          <a:p>
            <a:pPr lvl="1"/>
            <a:endParaRPr lang="en-GB" sz="1600" dirty="0"/>
          </a:p>
          <a:p>
            <a:pPr lvl="1"/>
            <a:endParaRPr lang="en-US" sz="1600" dirty="0"/>
          </a:p>
          <a:p>
            <a:endParaRPr lang="en-US" sz="2000" dirty="0"/>
          </a:p>
        </p:txBody>
      </p:sp>
      <p:sp>
        <p:nvSpPr>
          <p:cNvPr id="4" name="Footer Placeholder 3"/>
          <p:cNvSpPr>
            <a:spLocks noGrp="1"/>
          </p:cNvSpPr>
          <p:nvPr>
            <p:ph type="ftr" sz="quarter" idx="11"/>
          </p:nvPr>
        </p:nvSpPr>
        <p:spPr/>
        <p:txBody>
          <a:bodyPr/>
          <a:lstStyle/>
          <a:p>
            <a:r>
              <a:rPr lang="en-US"/>
              <a:t>Chapter 6-Object-oriented design</a:t>
            </a:r>
          </a:p>
        </p:txBody>
      </p:sp>
      <p:sp>
        <p:nvSpPr>
          <p:cNvPr id="5" name="Slide Number Placeholder 4"/>
          <p:cNvSpPr>
            <a:spLocks noGrp="1"/>
          </p:cNvSpPr>
          <p:nvPr>
            <p:ph type="sldNum" sz="quarter" idx="12"/>
          </p:nvPr>
        </p:nvSpPr>
        <p:spPr/>
        <p:txBody>
          <a:bodyPr/>
          <a:lstStyle/>
          <a:p>
            <a:fld id="{20317CA6-3557-4F90-84AF-53D5354FC7C6}"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endParaRPr lang="en-US" dirty="0"/>
          </a:p>
        </p:txBody>
      </p:sp>
      <p:sp>
        <p:nvSpPr>
          <p:cNvPr id="5" name="Slide Number Placeholder 5"/>
          <p:cNvSpPr>
            <a:spLocks noGrp="1"/>
          </p:cNvSpPr>
          <p:nvPr>
            <p:ph type="sldNum" sz="quarter" idx="12"/>
          </p:nvPr>
        </p:nvSpPr>
        <p:spPr/>
        <p:txBody>
          <a:bodyPr/>
          <a:lstStyle/>
          <a:p>
            <a:fld id="{AE7DF411-5BF3-423A-806D-4CD5EA47AE4F}" type="slidenum">
              <a:rPr lang="en-US"/>
              <a:pPr/>
              <a:t>4</a:t>
            </a:fld>
            <a:endParaRPr lang="en-US"/>
          </a:p>
        </p:txBody>
      </p:sp>
      <p:sp>
        <p:nvSpPr>
          <p:cNvPr id="10242" name="Rectangle 2"/>
          <p:cNvSpPr>
            <a:spLocks noGrp="1" noChangeArrowheads="1"/>
          </p:cNvSpPr>
          <p:nvPr>
            <p:ph type="title"/>
          </p:nvPr>
        </p:nvSpPr>
        <p:spPr>
          <a:xfrm>
            <a:off x="1150938" y="617538"/>
            <a:ext cx="6773862" cy="1143000"/>
          </a:xfrm>
        </p:spPr>
        <p:txBody>
          <a:bodyPr/>
          <a:lstStyle/>
          <a:p>
            <a:r>
              <a:rPr lang="en-US" sz="3600" dirty="0"/>
              <a:t>An Overview of Object-Oriented Analysis and Design</a:t>
            </a:r>
          </a:p>
        </p:txBody>
      </p:sp>
      <p:sp>
        <p:nvSpPr>
          <p:cNvPr id="10243" name="Rectangle 3"/>
          <p:cNvSpPr>
            <a:spLocks noGrp="1" noChangeArrowheads="1"/>
          </p:cNvSpPr>
          <p:nvPr>
            <p:ph type="body" idx="1"/>
          </p:nvPr>
        </p:nvSpPr>
        <p:spPr>
          <a:xfrm>
            <a:off x="609600" y="2017713"/>
            <a:ext cx="8345488" cy="4114800"/>
          </a:xfrm>
        </p:spPr>
        <p:txBody>
          <a:bodyPr/>
          <a:lstStyle/>
          <a:p>
            <a:r>
              <a:rPr lang="en-US" sz="2800" dirty="0"/>
              <a:t>Object-oriented analysis (OOA) is concerned with developing software engineering requirements and specifications that expressed as a system’s object model</a:t>
            </a:r>
          </a:p>
          <a:p>
            <a:r>
              <a:rPr lang="en-US" sz="2800" dirty="0"/>
              <a:t>OOA views the world as objects with data structures and behaviors and events that trigger operations, or object behavior changes, that change the state of objects.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Footer Placeholder 4"/>
          <p:cNvSpPr>
            <a:spLocks noGrp="1"/>
          </p:cNvSpPr>
          <p:nvPr>
            <p:ph type="ftr" sz="quarter" idx="11"/>
          </p:nvPr>
        </p:nvSpPr>
        <p:spPr/>
        <p:txBody>
          <a:bodyPr/>
          <a:lstStyle/>
          <a:p>
            <a:r>
              <a:rPr lang="en-US"/>
              <a:t>Chapter 6-Object-oriented design</a:t>
            </a:r>
            <a:endParaRPr lang="en-US" dirty="0"/>
          </a:p>
        </p:txBody>
      </p:sp>
      <p:sp>
        <p:nvSpPr>
          <p:cNvPr id="75" name="Slide Number Placeholder 5"/>
          <p:cNvSpPr>
            <a:spLocks noGrp="1"/>
          </p:cNvSpPr>
          <p:nvPr>
            <p:ph type="sldNum" sz="quarter" idx="12"/>
          </p:nvPr>
        </p:nvSpPr>
        <p:spPr/>
        <p:txBody>
          <a:bodyPr/>
          <a:lstStyle/>
          <a:p>
            <a:fld id="{2E1BC699-31A7-47E2-B602-DAD72067402E}" type="slidenum">
              <a:rPr lang="en-US"/>
              <a:pPr/>
              <a:t>5</a:t>
            </a:fld>
            <a:endParaRPr lang="en-US" dirty="0"/>
          </a:p>
        </p:txBody>
      </p:sp>
      <p:grpSp>
        <p:nvGrpSpPr>
          <p:cNvPr id="2" name="Group 31"/>
          <p:cNvGrpSpPr>
            <a:grpSpLocks/>
          </p:cNvGrpSpPr>
          <p:nvPr/>
        </p:nvGrpSpPr>
        <p:grpSpPr bwMode="auto">
          <a:xfrm>
            <a:off x="1981200" y="2667000"/>
            <a:ext cx="636588" cy="647700"/>
            <a:chOff x="2704" y="2832"/>
            <a:chExt cx="720" cy="565"/>
          </a:xfrm>
        </p:grpSpPr>
        <p:sp>
          <p:nvSpPr>
            <p:cNvPr id="7200" name="Oval 32"/>
            <p:cNvSpPr>
              <a:spLocks noChangeArrowheads="1"/>
            </p:cNvSpPr>
            <p:nvPr/>
          </p:nvSpPr>
          <p:spPr bwMode="auto">
            <a:xfrm>
              <a:off x="2704" y="2832"/>
              <a:ext cx="720" cy="288"/>
            </a:xfrm>
            <a:prstGeom prst="ellipse">
              <a:avLst/>
            </a:prstGeom>
            <a:noFill/>
            <a:ln w="28575" cap="rnd">
              <a:solidFill>
                <a:srgbClr val="000000"/>
              </a:solidFill>
              <a:round/>
              <a:headEnd/>
              <a:tailEnd/>
            </a:ln>
            <a:effectLst/>
          </p:spPr>
          <p:txBody>
            <a:bodyPr wrap="none" anchor="ctr">
              <a:spAutoFit/>
            </a:bodyPr>
            <a:lstStyle/>
            <a:p>
              <a:endParaRPr lang="en-US"/>
            </a:p>
          </p:txBody>
        </p:sp>
        <p:sp>
          <p:nvSpPr>
            <p:cNvPr id="7201" name="Text Box 33"/>
            <p:cNvSpPr txBox="1">
              <a:spLocks noChangeArrowheads="1"/>
            </p:cNvSpPr>
            <p:nvPr/>
          </p:nvSpPr>
          <p:spPr bwMode="auto">
            <a:xfrm>
              <a:off x="2972" y="3131"/>
              <a:ext cx="208" cy="266"/>
            </a:xfrm>
            <a:prstGeom prst="rect">
              <a:avLst/>
            </a:prstGeom>
            <a:noFill/>
            <a:ln w="50800" cap="rnd">
              <a:noFill/>
              <a:miter lim="800000"/>
              <a:headEnd/>
              <a:tailEnd/>
            </a:ln>
            <a:effectLst/>
          </p:spPr>
          <p:txBody>
            <a:bodyPr wrap="none" anchor="ctr">
              <a:spAutoFit/>
            </a:bodyPr>
            <a:lstStyle/>
            <a:p>
              <a:pPr algn="ctr" eaLnBrk="0" hangingPunct="0"/>
              <a:endParaRPr lang="en-US" sz="1400">
                <a:solidFill>
                  <a:srgbClr val="000000"/>
                </a:solidFill>
                <a:latin typeface="Arial" pitchFamily="34" charset="0"/>
              </a:endParaRPr>
            </a:p>
          </p:txBody>
        </p:sp>
      </p:grpSp>
      <p:grpSp>
        <p:nvGrpSpPr>
          <p:cNvPr id="3" name="Group 6"/>
          <p:cNvGrpSpPr>
            <a:grpSpLocks/>
          </p:cNvGrpSpPr>
          <p:nvPr/>
        </p:nvGrpSpPr>
        <p:grpSpPr bwMode="auto">
          <a:xfrm>
            <a:off x="1066800" y="1981200"/>
            <a:ext cx="184150" cy="1130300"/>
            <a:chOff x="1467" y="2784"/>
            <a:chExt cx="255" cy="777"/>
          </a:xfrm>
        </p:grpSpPr>
        <p:grpSp>
          <p:nvGrpSpPr>
            <p:cNvPr id="4" name="Group 7"/>
            <p:cNvGrpSpPr>
              <a:grpSpLocks/>
            </p:cNvGrpSpPr>
            <p:nvPr/>
          </p:nvGrpSpPr>
          <p:grpSpPr bwMode="auto">
            <a:xfrm>
              <a:off x="1474" y="2784"/>
              <a:ext cx="240" cy="528"/>
              <a:chOff x="4637" y="1609"/>
              <a:chExt cx="717" cy="1640"/>
            </a:xfrm>
          </p:grpSpPr>
          <p:sp>
            <p:nvSpPr>
              <p:cNvPr id="7176" name="Oval 8"/>
              <p:cNvSpPr>
                <a:spLocks noChangeArrowheads="1"/>
              </p:cNvSpPr>
              <p:nvPr/>
            </p:nvSpPr>
            <p:spPr bwMode="auto">
              <a:xfrm>
                <a:off x="4701" y="1609"/>
                <a:ext cx="589" cy="607"/>
              </a:xfrm>
              <a:prstGeom prst="ellipse">
                <a:avLst/>
              </a:prstGeom>
              <a:noFill/>
              <a:ln w="28575">
                <a:solidFill>
                  <a:srgbClr val="000000"/>
                </a:solidFill>
                <a:round/>
                <a:headEnd/>
                <a:tailEnd/>
              </a:ln>
              <a:effectLst/>
            </p:spPr>
            <p:txBody>
              <a:bodyPr wrap="none" anchor="ctr"/>
              <a:lstStyle/>
              <a:p>
                <a:endParaRPr lang="en-US"/>
              </a:p>
            </p:txBody>
          </p:sp>
          <p:grpSp>
            <p:nvGrpSpPr>
              <p:cNvPr id="5" name="Group 9"/>
              <p:cNvGrpSpPr>
                <a:grpSpLocks/>
              </p:cNvGrpSpPr>
              <p:nvPr/>
            </p:nvGrpSpPr>
            <p:grpSpPr bwMode="auto">
              <a:xfrm>
                <a:off x="4637" y="2754"/>
                <a:ext cx="717" cy="495"/>
                <a:chOff x="4637" y="2754"/>
                <a:chExt cx="717" cy="495"/>
              </a:xfrm>
            </p:grpSpPr>
            <p:sp>
              <p:nvSpPr>
                <p:cNvPr id="7178" name="Line 10"/>
                <p:cNvSpPr>
                  <a:spLocks noChangeShapeType="1"/>
                </p:cNvSpPr>
                <p:nvPr/>
              </p:nvSpPr>
              <p:spPr bwMode="auto">
                <a:xfrm flipH="1">
                  <a:off x="4637" y="2754"/>
                  <a:ext cx="360" cy="495"/>
                </a:xfrm>
                <a:prstGeom prst="line">
                  <a:avLst/>
                </a:prstGeom>
                <a:noFill/>
                <a:ln w="28575">
                  <a:solidFill>
                    <a:srgbClr val="000000"/>
                  </a:solidFill>
                  <a:round/>
                  <a:headEnd type="none" w="sm" len="sm"/>
                  <a:tailEnd type="none" w="sm" len="sm"/>
                </a:ln>
                <a:effectLst/>
              </p:spPr>
              <p:txBody>
                <a:bodyPr wrap="none" anchor="ctr"/>
                <a:lstStyle/>
                <a:p>
                  <a:endParaRPr lang="en-US"/>
                </a:p>
              </p:txBody>
            </p:sp>
            <p:sp>
              <p:nvSpPr>
                <p:cNvPr id="7179" name="Line 11"/>
                <p:cNvSpPr>
                  <a:spLocks noChangeShapeType="1"/>
                </p:cNvSpPr>
                <p:nvPr/>
              </p:nvSpPr>
              <p:spPr bwMode="auto">
                <a:xfrm>
                  <a:off x="4994" y="2754"/>
                  <a:ext cx="360" cy="495"/>
                </a:xfrm>
                <a:prstGeom prst="line">
                  <a:avLst/>
                </a:prstGeom>
                <a:noFill/>
                <a:ln w="28575">
                  <a:solidFill>
                    <a:srgbClr val="000000"/>
                  </a:solidFill>
                  <a:round/>
                  <a:headEnd type="none" w="sm" len="sm"/>
                  <a:tailEnd type="none" w="sm" len="sm"/>
                </a:ln>
                <a:effectLst/>
              </p:spPr>
              <p:txBody>
                <a:bodyPr wrap="none" anchor="ctr"/>
                <a:lstStyle/>
                <a:p>
                  <a:endParaRPr lang="en-US"/>
                </a:p>
              </p:txBody>
            </p:sp>
          </p:grpSp>
          <p:grpSp>
            <p:nvGrpSpPr>
              <p:cNvPr id="6" name="Group 12"/>
              <p:cNvGrpSpPr>
                <a:grpSpLocks/>
              </p:cNvGrpSpPr>
              <p:nvPr/>
            </p:nvGrpSpPr>
            <p:grpSpPr bwMode="auto">
              <a:xfrm>
                <a:off x="4640" y="2241"/>
                <a:ext cx="711" cy="504"/>
                <a:chOff x="4640" y="2241"/>
                <a:chExt cx="711" cy="504"/>
              </a:xfrm>
            </p:grpSpPr>
            <p:sp>
              <p:nvSpPr>
                <p:cNvPr id="7181" name="Line 13"/>
                <p:cNvSpPr>
                  <a:spLocks noChangeShapeType="1"/>
                </p:cNvSpPr>
                <p:nvPr/>
              </p:nvSpPr>
              <p:spPr bwMode="auto">
                <a:xfrm>
                  <a:off x="4995" y="2241"/>
                  <a:ext cx="0" cy="504"/>
                </a:xfrm>
                <a:prstGeom prst="line">
                  <a:avLst/>
                </a:prstGeom>
                <a:noFill/>
                <a:ln w="28575">
                  <a:solidFill>
                    <a:srgbClr val="000000"/>
                  </a:solidFill>
                  <a:round/>
                  <a:headEnd type="none" w="sm" len="sm"/>
                  <a:tailEnd type="none" w="sm" len="sm"/>
                </a:ln>
                <a:effectLst/>
              </p:spPr>
              <p:txBody>
                <a:bodyPr wrap="none" anchor="ctr"/>
                <a:lstStyle/>
                <a:p>
                  <a:endParaRPr lang="en-US"/>
                </a:p>
              </p:txBody>
            </p:sp>
            <p:sp>
              <p:nvSpPr>
                <p:cNvPr id="7182" name="Line 14"/>
                <p:cNvSpPr>
                  <a:spLocks noChangeShapeType="1"/>
                </p:cNvSpPr>
                <p:nvPr/>
              </p:nvSpPr>
              <p:spPr bwMode="auto">
                <a:xfrm>
                  <a:off x="4640" y="2430"/>
                  <a:ext cx="711" cy="0"/>
                </a:xfrm>
                <a:prstGeom prst="line">
                  <a:avLst/>
                </a:prstGeom>
                <a:noFill/>
                <a:ln w="28575">
                  <a:solidFill>
                    <a:srgbClr val="000000"/>
                  </a:solidFill>
                  <a:round/>
                  <a:headEnd type="none" w="sm" len="sm"/>
                  <a:tailEnd type="none" w="sm" len="sm"/>
                </a:ln>
                <a:effectLst/>
              </p:spPr>
              <p:txBody>
                <a:bodyPr wrap="none" anchor="ctr"/>
                <a:lstStyle/>
                <a:p>
                  <a:endParaRPr lang="en-US"/>
                </a:p>
              </p:txBody>
            </p:sp>
          </p:grpSp>
        </p:grpSp>
        <p:sp>
          <p:nvSpPr>
            <p:cNvPr id="7183" name="Text Box 15"/>
            <p:cNvSpPr txBox="1">
              <a:spLocks noChangeArrowheads="1"/>
            </p:cNvSpPr>
            <p:nvPr/>
          </p:nvSpPr>
          <p:spPr bwMode="auto">
            <a:xfrm>
              <a:off x="1467" y="3351"/>
              <a:ext cx="255" cy="210"/>
            </a:xfrm>
            <a:prstGeom prst="rect">
              <a:avLst/>
            </a:prstGeom>
            <a:noFill/>
            <a:ln w="50800" cap="rnd">
              <a:noFill/>
              <a:miter lim="800000"/>
              <a:headEnd/>
              <a:tailEnd/>
            </a:ln>
            <a:effectLst/>
          </p:spPr>
          <p:txBody>
            <a:bodyPr wrap="none" anchor="ctr">
              <a:spAutoFit/>
            </a:bodyPr>
            <a:lstStyle/>
            <a:p>
              <a:pPr algn="ctr" eaLnBrk="0" hangingPunct="0"/>
              <a:endParaRPr lang="en-US" sz="1400">
                <a:solidFill>
                  <a:srgbClr val="000000"/>
                </a:solidFill>
                <a:latin typeface="Times New Roman" pitchFamily="18" charset="0"/>
              </a:endParaRPr>
            </a:p>
          </p:txBody>
        </p:sp>
      </p:grpSp>
      <p:grpSp>
        <p:nvGrpSpPr>
          <p:cNvPr id="7" name="Group 16"/>
          <p:cNvGrpSpPr>
            <a:grpSpLocks/>
          </p:cNvGrpSpPr>
          <p:nvPr/>
        </p:nvGrpSpPr>
        <p:grpSpPr bwMode="auto">
          <a:xfrm>
            <a:off x="1944688" y="2133600"/>
            <a:ext cx="722312" cy="719138"/>
            <a:chOff x="2704" y="2832"/>
            <a:chExt cx="720" cy="548"/>
          </a:xfrm>
        </p:grpSpPr>
        <p:sp>
          <p:nvSpPr>
            <p:cNvPr id="7185" name="Oval 17"/>
            <p:cNvSpPr>
              <a:spLocks noChangeArrowheads="1"/>
            </p:cNvSpPr>
            <p:nvPr/>
          </p:nvSpPr>
          <p:spPr bwMode="auto">
            <a:xfrm>
              <a:off x="2704" y="2832"/>
              <a:ext cx="720" cy="288"/>
            </a:xfrm>
            <a:prstGeom prst="ellipse">
              <a:avLst/>
            </a:prstGeom>
            <a:noFill/>
            <a:ln w="28575" cap="rnd">
              <a:solidFill>
                <a:srgbClr val="000000"/>
              </a:solidFill>
              <a:round/>
              <a:headEnd/>
              <a:tailEnd/>
            </a:ln>
            <a:effectLst/>
          </p:spPr>
          <p:txBody>
            <a:bodyPr wrap="none" anchor="ctr">
              <a:spAutoFit/>
            </a:bodyPr>
            <a:lstStyle/>
            <a:p>
              <a:endParaRPr lang="en-US"/>
            </a:p>
          </p:txBody>
        </p:sp>
        <p:sp>
          <p:nvSpPr>
            <p:cNvPr id="7186" name="Text Box 18"/>
            <p:cNvSpPr txBox="1">
              <a:spLocks noChangeArrowheads="1"/>
            </p:cNvSpPr>
            <p:nvPr/>
          </p:nvSpPr>
          <p:spPr bwMode="auto">
            <a:xfrm>
              <a:off x="2981" y="3148"/>
              <a:ext cx="183" cy="232"/>
            </a:xfrm>
            <a:prstGeom prst="rect">
              <a:avLst/>
            </a:prstGeom>
            <a:noFill/>
            <a:ln w="50800" cap="rnd">
              <a:noFill/>
              <a:miter lim="800000"/>
              <a:headEnd/>
              <a:tailEnd/>
            </a:ln>
            <a:effectLst/>
          </p:spPr>
          <p:txBody>
            <a:bodyPr wrap="none" anchor="ctr">
              <a:spAutoFit/>
            </a:bodyPr>
            <a:lstStyle/>
            <a:p>
              <a:pPr algn="ctr" eaLnBrk="0" hangingPunct="0"/>
              <a:endParaRPr lang="en-US" sz="1400">
                <a:solidFill>
                  <a:srgbClr val="000000"/>
                </a:solidFill>
                <a:latin typeface="Arial" pitchFamily="34" charset="0"/>
              </a:endParaRPr>
            </a:p>
          </p:txBody>
        </p:sp>
      </p:grpSp>
      <p:sp>
        <p:nvSpPr>
          <p:cNvPr id="7197" name="Line 29"/>
          <p:cNvSpPr>
            <a:spLocks noChangeShapeType="1"/>
          </p:cNvSpPr>
          <p:nvPr/>
        </p:nvSpPr>
        <p:spPr bwMode="auto">
          <a:xfrm flipV="1">
            <a:off x="1290638" y="2330450"/>
            <a:ext cx="623887" cy="0"/>
          </a:xfrm>
          <a:prstGeom prst="line">
            <a:avLst/>
          </a:prstGeom>
          <a:noFill/>
          <a:ln w="28575" cap="sq">
            <a:solidFill>
              <a:srgbClr val="000000"/>
            </a:solidFill>
            <a:miter lim="800000"/>
            <a:headEnd type="none" w="sm" len="sm"/>
            <a:tailEnd type="triangle" w="med" len="med"/>
          </a:ln>
          <a:effectLst/>
        </p:spPr>
        <p:txBody>
          <a:bodyPr wrap="none"/>
          <a:lstStyle/>
          <a:p>
            <a:endParaRPr lang="en-US"/>
          </a:p>
        </p:txBody>
      </p:sp>
      <p:sp>
        <p:nvSpPr>
          <p:cNvPr id="7202" name="Line 34"/>
          <p:cNvSpPr>
            <a:spLocks noChangeShapeType="1"/>
          </p:cNvSpPr>
          <p:nvPr/>
        </p:nvSpPr>
        <p:spPr bwMode="auto">
          <a:xfrm>
            <a:off x="1290638" y="2540000"/>
            <a:ext cx="690562" cy="203200"/>
          </a:xfrm>
          <a:prstGeom prst="line">
            <a:avLst/>
          </a:prstGeom>
          <a:noFill/>
          <a:ln w="28575" cap="sq">
            <a:solidFill>
              <a:srgbClr val="000000"/>
            </a:solidFill>
            <a:miter lim="800000"/>
            <a:headEnd type="none" w="sm" len="sm"/>
            <a:tailEnd type="triangle" w="med" len="med"/>
          </a:ln>
          <a:effectLst/>
        </p:spPr>
        <p:txBody>
          <a:bodyPr wrap="none"/>
          <a:lstStyle/>
          <a:p>
            <a:endParaRPr lang="en-US"/>
          </a:p>
        </p:txBody>
      </p:sp>
      <p:sp>
        <p:nvSpPr>
          <p:cNvPr id="7204" name="AutoShape 36"/>
          <p:cNvSpPr>
            <a:spLocks noChangeArrowheads="1"/>
          </p:cNvSpPr>
          <p:nvPr/>
        </p:nvSpPr>
        <p:spPr bwMode="auto">
          <a:xfrm>
            <a:off x="609600" y="3733800"/>
            <a:ext cx="1143000" cy="1295400"/>
          </a:xfrm>
          <a:prstGeom prst="flowChartDocument">
            <a:avLst/>
          </a:prstGeom>
          <a:solidFill>
            <a:srgbClr val="FFFFCC"/>
          </a:solidFill>
          <a:ln w="9525">
            <a:solidFill>
              <a:schemeClr val="tx1"/>
            </a:solidFill>
            <a:miter lim="800000"/>
            <a:headEnd/>
            <a:tailEnd/>
          </a:ln>
          <a:effectLst/>
        </p:spPr>
        <p:txBody>
          <a:bodyPr wrap="none" anchor="ctr"/>
          <a:lstStyle/>
          <a:p>
            <a:pPr algn="ctr"/>
            <a:r>
              <a:rPr lang="en-US"/>
              <a:t>Glossary</a:t>
            </a:r>
          </a:p>
        </p:txBody>
      </p:sp>
      <p:sp>
        <p:nvSpPr>
          <p:cNvPr id="7205" name="AutoShape 37"/>
          <p:cNvSpPr>
            <a:spLocks noChangeArrowheads="1"/>
          </p:cNvSpPr>
          <p:nvPr/>
        </p:nvSpPr>
        <p:spPr bwMode="auto">
          <a:xfrm>
            <a:off x="1219200" y="5105400"/>
            <a:ext cx="2209800" cy="1295400"/>
          </a:xfrm>
          <a:prstGeom prst="flowChartMultidocument">
            <a:avLst/>
          </a:prstGeom>
          <a:solidFill>
            <a:srgbClr val="FFFFCC"/>
          </a:solidFill>
          <a:ln w="9525">
            <a:solidFill>
              <a:schemeClr val="tx1"/>
            </a:solidFill>
            <a:miter lim="800000"/>
            <a:headEnd/>
            <a:tailEnd/>
          </a:ln>
          <a:effectLst/>
        </p:spPr>
        <p:txBody>
          <a:bodyPr wrap="none" anchor="ctr"/>
          <a:lstStyle/>
          <a:p>
            <a:pPr algn="ctr"/>
            <a:r>
              <a:rPr lang="en-US"/>
              <a:t>Supplementary</a:t>
            </a:r>
          </a:p>
          <a:p>
            <a:pPr algn="ctr"/>
            <a:r>
              <a:rPr lang="en-US"/>
              <a:t>specification</a:t>
            </a:r>
          </a:p>
        </p:txBody>
      </p:sp>
      <p:grpSp>
        <p:nvGrpSpPr>
          <p:cNvPr id="8" name="Group 80"/>
          <p:cNvGrpSpPr>
            <a:grpSpLocks/>
          </p:cNvGrpSpPr>
          <p:nvPr/>
        </p:nvGrpSpPr>
        <p:grpSpPr bwMode="auto">
          <a:xfrm>
            <a:off x="2438400" y="3048000"/>
            <a:ext cx="3362325" cy="1143000"/>
            <a:chOff x="1702" y="1824"/>
            <a:chExt cx="2138" cy="672"/>
          </a:xfrm>
        </p:grpSpPr>
        <p:sp>
          <p:nvSpPr>
            <p:cNvPr id="7172" name="Text Box 4"/>
            <p:cNvSpPr txBox="1">
              <a:spLocks noChangeArrowheads="1"/>
            </p:cNvSpPr>
            <p:nvPr/>
          </p:nvSpPr>
          <p:spPr bwMode="auto">
            <a:xfrm>
              <a:off x="1702" y="2016"/>
              <a:ext cx="2062" cy="269"/>
            </a:xfrm>
            <a:prstGeom prst="rect">
              <a:avLst/>
            </a:prstGeom>
            <a:noFill/>
            <a:ln w="9525">
              <a:noFill/>
              <a:miter lim="800000"/>
              <a:headEnd/>
              <a:tailEnd/>
            </a:ln>
            <a:effectLst/>
          </p:spPr>
          <p:txBody>
            <a:bodyPr wrap="none">
              <a:spAutoFit/>
            </a:bodyPr>
            <a:lstStyle/>
            <a:p>
              <a:pPr algn="ctr"/>
              <a:r>
                <a:rPr lang="en-US"/>
                <a:t>    Analysis and Design</a:t>
              </a:r>
            </a:p>
          </p:txBody>
        </p:sp>
        <p:sp>
          <p:nvSpPr>
            <p:cNvPr id="7209" name="Oval 41"/>
            <p:cNvSpPr>
              <a:spLocks noChangeArrowheads="1"/>
            </p:cNvSpPr>
            <p:nvPr/>
          </p:nvSpPr>
          <p:spPr bwMode="auto">
            <a:xfrm>
              <a:off x="1872" y="1824"/>
              <a:ext cx="1968" cy="672"/>
            </a:xfrm>
            <a:prstGeom prst="ellipse">
              <a:avLst/>
            </a:prstGeom>
            <a:noFill/>
            <a:ln w="9525">
              <a:solidFill>
                <a:schemeClr val="tx1"/>
              </a:solidFill>
              <a:miter lim="800000"/>
              <a:headEnd/>
              <a:tailEnd/>
            </a:ln>
            <a:effectLst/>
          </p:spPr>
          <p:txBody>
            <a:bodyPr wrap="none" anchor="ctr"/>
            <a:lstStyle/>
            <a:p>
              <a:endParaRPr lang="en-US"/>
            </a:p>
          </p:txBody>
        </p:sp>
      </p:grpSp>
      <p:grpSp>
        <p:nvGrpSpPr>
          <p:cNvPr id="9" name="Group 79"/>
          <p:cNvGrpSpPr>
            <a:grpSpLocks/>
          </p:cNvGrpSpPr>
          <p:nvPr/>
        </p:nvGrpSpPr>
        <p:grpSpPr bwMode="auto">
          <a:xfrm>
            <a:off x="5638800" y="1828800"/>
            <a:ext cx="1905000" cy="1066800"/>
            <a:chOff x="4032" y="1248"/>
            <a:chExt cx="1200" cy="672"/>
          </a:xfrm>
        </p:grpSpPr>
        <p:grpSp>
          <p:nvGrpSpPr>
            <p:cNvPr id="10" name="Group 46"/>
            <p:cNvGrpSpPr>
              <a:grpSpLocks/>
            </p:cNvGrpSpPr>
            <p:nvPr/>
          </p:nvGrpSpPr>
          <p:grpSpPr bwMode="auto">
            <a:xfrm>
              <a:off x="4032" y="1248"/>
              <a:ext cx="480" cy="288"/>
              <a:chOff x="4272" y="1344"/>
              <a:chExt cx="480" cy="288"/>
            </a:xfrm>
          </p:grpSpPr>
          <p:sp>
            <p:nvSpPr>
              <p:cNvPr id="7211" name="Rectangle 43"/>
              <p:cNvSpPr>
                <a:spLocks noChangeArrowheads="1"/>
              </p:cNvSpPr>
              <p:nvPr/>
            </p:nvSpPr>
            <p:spPr bwMode="auto">
              <a:xfrm>
                <a:off x="4272" y="1344"/>
                <a:ext cx="480" cy="288"/>
              </a:xfrm>
              <a:prstGeom prst="rect">
                <a:avLst/>
              </a:prstGeom>
              <a:solidFill>
                <a:srgbClr val="FFFFCC"/>
              </a:solidFill>
              <a:ln w="9525">
                <a:solidFill>
                  <a:schemeClr val="tx1"/>
                </a:solidFill>
                <a:miter lim="800000"/>
                <a:headEnd/>
                <a:tailEnd/>
              </a:ln>
              <a:effectLst/>
            </p:spPr>
            <p:txBody>
              <a:bodyPr wrap="none" anchor="ctr"/>
              <a:lstStyle/>
              <a:p>
                <a:endParaRPr lang="en-US"/>
              </a:p>
            </p:txBody>
          </p:sp>
          <p:sp>
            <p:nvSpPr>
              <p:cNvPr id="7212" name="Line 44"/>
              <p:cNvSpPr>
                <a:spLocks noChangeShapeType="1"/>
              </p:cNvSpPr>
              <p:nvPr/>
            </p:nvSpPr>
            <p:spPr bwMode="auto">
              <a:xfrm>
                <a:off x="4272" y="1440"/>
                <a:ext cx="480" cy="0"/>
              </a:xfrm>
              <a:prstGeom prst="line">
                <a:avLst/>
              </a:prstGeom>
              <a:noFill/>
              <a:ln w="9525">
                <a:solidFill>
                  <a:schemeClr val="tx1"/>
                </a:solidFill>
                <a:miter lim="800000"/>
                <a:headEnd/>
                <a:tailEnd/>
              </a:ln>
              <a:effectLst/>
            </p:spPr>
            <p:txBody>
              <a:bodyPr wrap="none"/>
              <a:lstStyle/>
              <a:p>
                <a:endParaRPr lang="en-US"/>
              </a:p>
            </p:txBody>
          </p:sp>
          <p:sp>
            <p:nvSpPr>
              <p:cNvPr id="7213" name="Line 45"/>
              <p:cNvSpPr>
                <a:spLocks noChangeShapeType="1"/>
              </p:cNvSpPr>
              <p:nvPr/>
            </p:nvSpPr>
            <p:spPr bwMode="auto">
              <a:xfrm>
                <a:off x="4272" y="1536"/>
                <a:ext cx="480" cy="0"/>
              </a:xfrm>
              <a:prstGeom prst="line">
                <a:avLst/>
              </a:prstGeom>
              <a:noFill/>
              <a:ln w="9525">
                <a:solidFill>
                  <a:schemeClr val="tx1"/>
                </a:solidFill>
                <a:miter lim="800000"/>
                <a:headEnd/>
                <a:tailEnd/>
              </a:ln>
              <a:effectLst/>
            </p:spPr>
            <p:txBody>
              <a:bodyPr wrap="none"/>
              <a:lstStyle/>
              <a:p>
                <a:endParaRPr lang="en-US"/>
              </a:p>
            </p:txBody>
          </p:sp>
        </p:grpSp>
        <p:grpSp>
          <p:nvGrpSpPr>
            <p:cNvPr id="11" name="Group 47"/>
            <p:cNvGrpSpPr>
              <a:grpSpLocks/>
            </p:cNvGrpSpPr>
            <p:nvPr/>
          </p:nvGrpSpPr>
          <p:grpSpPr bwMode="auto">
            <a:xfrm>
              <a:off x="4752" y="1248"/>
              <a:ext cx="480" cy="288"/>
              <a:chOff x="4272" y="1344"/>
              <a:chExt cx="480" cy="288"/>
            </a:xfrm>
          </p:grpSpPr>
          <p:sp>
            <p:nvSpPr>
              <p:cNvPr id="7216" name="Rectangle 48"/>
              <p:cNvSpPr>
                <a:spLocks noChangeArrowheads="1"/>
              </p:cNvSpPr>
              <p:nvPr/>
            </p:nvSpPr>
            <p:spPr bwMode="auto">
              <a:xfrm>
                <a:off x="4272" y="1344"/>
                <a:ext cx="480" cy="288"/>
              </a:xfrm>
              <a:prstGeom prst="rect">
                <a:avLst/>
              </a:prstGeom>
              <a:solidFill>
                <a:srgbClr val="FFFFCC"/>
              </a:solidFill>
              <a:ln w="9525">
                <a:solidFill>
                  <a:schemeClr val="tx1"/>
                </a:solidFill>
                <a:miter lim="800000"/>
                <a:headEnd/>
                <a:tailEnd/>
              </a:ln>
              <a:effectLst/>
            </p:spPr>
            <p:txBody>
              <a:bodyPr wrap="none" anchor="ctr"/>
              <a:lstStyle/>
              <a:p>
                <a:endParaRPr lang="en-US"/>
              </a:p>
            </p:txBody>
          </p:sp>
          <p:sp>
            <p:nvSpPr>
              <p:cNvPr id="7217" name="Line 49"/>
              <p:cNvSpPr>
                <a:spLocks noChangeShapeType="1"/>
              </p:cNvSpPr>
              <p:nvPr/>
            </p:nvSpPr>
            <p:spPr bwMode="auto">
              <a:xfrm>
                <a:off x="4272" y="1440"/>
                <a:ext cx="480" cy="0"/>
              </a:xfrm>
              <a:prstGeom prst="line">
                <a:avLst/>
              </a:prstGeom>
              <a:noFill/>
              <a:ln w="9525">
                <a:solidFill>
                  <a:schemeClr val="tx1"/>
                </a:solidFill>
                <a:miter lim="800000"/>
                <a:headEnd/>
                <a:tailEnd/>
              </a:ln>
              <a:effectLst/>
            </p:spPr>
            <p:txBody>
              <a:bodyPr wrap="none"/>
              <a:lstStyle/>
              <a:p>
                <a:endParaRPr lang="en-US"/>
              </a:p>
            </p:txBody>
          </p:sp>
          <p:sp>
            <p:nvSpPr>
              <p:cNvPr id="7218" name="Line 50"/>
              <p:cNvSpPr>
                <a:spLocks noChangeShapeType="1"/>
              </p:cNvSpPr>
              <p:nvPr/>
            </p:nvSpPr>
            <p:spPr bwMode="auto">
              <a:xfrm>
                <a:off x="4272" y="1536"/>
                <a:ext cx="480" cy="0"/>
              </a:xfrm>
              <a:prstGeom prst="line">
                <a:avLst/>
              </a:prstGeom>
              <a:noFill/>
              <a:ln w="9525">
                <a:solidFill>
                  <a:schemeClr val="tx1"/>
                </a:solidFill>
                <a:miter lim="800000"/>
                <a:headEnd/>
                <a:tailEnd/>
              </a:ln>
              <a:effectLst/>
            </p:spPr>
            <p:txBody>
              <a:bodyPr wrap="none"/>
              <a:lstStyle/>
              <a:p>
                <a:endParaRPr lang="en-US"/>
              </a:p>
            </p:txBody>
          </p:sp>
        </p:grpSp>
        <p:grpSp>
          <p:nvGrpSpPr>
            <p:cNvPr id="12" name="Group 51"/>
            <p:cNvGrpSpPr>
              <a:grpSpLocks/>
            </p:cNvGrpSpPr>
            <p:nvPr/>
          </p:nvGrpSpPr>
          <p:grpSpPr bwMode="auto">
            <a:xfrm>
              <a:off x="4080" y="1632"/>
              <a:ext cx="480" cy="288"/>
              <a:chOff x="4272" y="1344"/>
              <a:chExt cx="480" cy="288"/>
            </a:xfrm>
          </p:grpSpPr>
          <p:sp>
            <p:nvSpPr>
              <p:cNvPr id="7220" name="Rectangle 52"/>
              <p:cNvSpPr>
                <a:spLocks noChangeArrowheads="1"/>
              </p:cNvSpPr>
              <p:nvPr/>
            </p:nvSpPr>
            <p:spPr bwMode="auto">
              <a:xfrm>
                <a:off x="4272" y="1344"/>
                <a:ext cx="480" cy="288"/>
              </a:xfrm>
              <a:prstGeom prst="rect">
                <a:avLst/>
              </a:prstGeom>
              <a:solidFill>
                <a:srgbClr val="FFFFCC"/>
              </a:solidFill>
              <a:ln w="9525">
                <a:solidFill>
                  <a:schemeClr val="tx1"/>
                </a:solidFill>
                <a:miter lim="800000"/>
                <a:headEnd/>
                <a:tailEnd/>
              </a:ln>
              <a:effectLst/>
            </p:spPr>
            <p:txBody>
              <a:bodyPr wrap="none" anchor="ctr"/>
              <a:lstStyle/>
              <a:p>
                <a:endParaRPr lang="en-US"/>
              </a:p>
            </p:txBody>
          </p:sp>
          <p:sp>
            <p:nvSpPr>
              <p:cNvPr id="7221" name="Line 53"/>
              <p:cNvSpPr>
                <a:spLocks noChangeShapeType="1"/>
              </p:cNvSpPr>
              <p:nvPr/>
            </p:nvSpPr>
            <p:spPr bwMode="auto">
              <a:xfrm>
                <a:off x="4272" y="1440"/>
                <a:ext cx="480" cy="0"/>
              </a:xfrm>
              <a:prstGeom prst="line">
                <a:avLst/>
              </a:prstGeom>
              <a:noFill/>
              <a:ln w="9525">
                <a:solidFill>
                  <a:schemeClr val="tx1"/>
                </a:solidFill>
                <a:miter lim="800000"/>
                <a:headEnd/>
                <a:tailEnd/>
              </a:ln>
              <a:effectLst/>
            </p:spPr>
            <p:txBody>
              <a:bodyPr wrap="none"/>
              <a:lstStyle/>
              <a:p>
                <a:endParaRPr lang="en-US"/>
              </a:p>
            </p:txBody>
          </p:sp>
          <p:sp>
            <p:nvSpPr>
              <p:cNvPr id="7222" name="Line 54"/>
              <p:cNvSpPr>
                <a:spLocks noChangeShapeType="1"/>
              </p:cNvSpPr>
              <p:nvPr/>
            </p:nvSpPr>
            <p:spPr bwMode="auto">
              <a:xfrm>
                <a:off x="4272" y="1536"/>
                <a:ext cx="480" cy="0"/>
              </a:xfrm>
              <a:prstGeom prst="line">
                <a:avLst/>
              </a:prstGeom>
              <a:noFill/>
              <a:ln w="9525">
                <a:solidFill>
                  <a:schemeClr val="tx1"/>
                </a:solidFill>
                <a:miter lim="800000"/>
                <a:headEnd/>
                <a:tailEnd/>
              </a:ln>
              <a:effectLst/>
            </p:spPr>
            <p:txBody>
              <a:bodyPr wrap="none"/>
              <a:lstStyle/>
              <a:p>
                <a:endParaRPr lang="en-US"/>
              </a:p>
            </p:txBody>
          </p:sp>
        </p:grpSp>
        <p:grpSp>
          <p:nvGrpSpPr>
            <p:cNvPr id="13" name="Group 55"/>
            <p:cNvGrpSpPr>
              <a:grpSpLocks/>
            </p:cNvGrpSpPr>
            <p:nvPr/>
          </p:nvGrpSpPr>
          <p:grpSpPr bwMode="auto">
            <a:xfrm>
              <a:off x="4704" y="1632"/>
              <a:ext cx="480" cy="288"/>
              <a:chOff x="4272" y="1344"/>
              <a:chExt cx="480" cy="288"/>
            </a:xfrm>
          </p:grpSpPr>
          <p:sp>
            <p:nvSpPr>
              <p:cNvPr id="7224" name="Rectangle 56"/>
              <p:cNvSpPr>
                <a:spLocks noChangeArrowheads="1"/>
              </p:cNvSpPr>
              <p:nvPr/>
            </p:nvSpPr>
            <p:spPr bwMode="auto">
              <a:xfrm>
                <a:off x="4272" y="1344"/>
                <a:ext cx="480" cy="288"/>
              </a:xfrm>
              <a:prstGeom prst="rect">
                <a:avLst/>
              </a:prstGeom>
              <a:solidFill>
                <a:srgbClr val="FFFFCC"/>
              </a:solidFill>
              <a:ln w="9525">
                <a:solidFill>
                  <a:schemeClr val="tx1"/>
                </a:solidFill>
                <a:miter lim="800000"/>
                <a:headEnd/>
                <a:tailEnd/>
              </a:ln>
              <a:effectLst/>
            </p:spPr>
            <p:txBody>
              <a:bodyPr wrap="none" anchor="ctr"/>
              <a:lstStyle/>
              <a:p>
                <a:endParaRPr lang="en-US"/>
              </a:p>
            </p:txBody>
          </p:sp>
          <p:sp>
            <p:nvSpPr>
              <p:cNvPr id="7225" name="Line 57"/>
              <p:cNvSpPr>
                <a:spLocks noChangeShapeType="1"/>
              </p:cNvSpPr>
              <p:nvPr/>
            </p:nvSpPr>
            <p:spPr bwMode="auto">
              <a:xfrm>
                <a:off x="4272" y="1440"/>
                <a:ext cx="480" cy="0"/>
              </a:xfrm>
              <a:prstGeom prst="line">
                <a:avLst/>
              </a:prstGeom>
              <a:noFill/>
              <a:ln w="9525">
                <a:solidFill>
                  <a:schemeClr val="tx1"/>
                </a:solidFill>
                <a:miter lim="800000"/>
                <a:headEnd/>
                <a:tailEnd/>
              </a:ln>
              <a:effectLst/>
            </p:spPr>
            <p:txBody>
              <a:bodyPr wrap="none"/>
              <a:lstStyle/>
              <a:p>
                <a:endParaRPr lang="en-US"/>
              </a:p>
            </p:txBody>
          </p:sp>
          <p:sp>
            <p:nvSpPr>
              <p:cNvPr id="7226" name="Line 58"/>
              <p:cNvSpPr>
                <a:spLocks noChangeShapeType="1"/>
              </p:cNvSpPr>
              <p:nvPr/>
            </p:nvSpPr>
            <p:spPr bwMode="auto">
              <a:xfrm>
                <a:off x="4272" y="1536"/>
                <a:ext cx="480" cy="0"/>
              </a:xfrm>
              <a:prstGeom prst="line">
                <a:avLst/>
              </a:prstGeom>
              <a:noFill/>
              <a:ln w="9525">
                <a:solidFill>
                  <a:schemeClr val="tx1"/>
                </a:solidFill>
                <a:miter lim="800000"/>
                <a:headEnd/>
                <a:tailEnd/>
              </a:ln>
              <a:effectLst/>
            </p:spPr>
            <p:txBody>
              <a:bodyPr wrap="none"/>
              <a:lstStyle/>
              <a:p>
                <a:endParaRPr lang="en-US"/>
              </a:p>
            </p:txBody>
          </p:sp>
        </p:grpSp>
        <p:sp>
          <p:nvSpPr>
            <p:cNvPr id="7227" name="Line 59"/>
            <p:cNvSpPr>
              <a:spLocks noChangeShapeType="1"/>
            </p:cNvSpPr>
            <p:nvPr/>
          </p:nvSpPr>
          <p:spPr bwMode="auto">
            <a:xfrm>
              <a:off x="4512" y="1392"/>
              <a:ext cx="240" cy="0"/>
            </a:xfrm>
            <a:prstGeom prst="line">
              <a:avLst/>
            </a:prstGeom>
            <a:noFill/>
            <a:ln w="9525">
              <a:solidFill>
                <a:schemeClr val="tx1"/>
              </a:solidFill>
              <a:miter lim="800000"/>
              <a:headEnd/>
              <a:tailEnd/>
            </a:ln>
            <a:effectLst/>
          </p:spPr>
          <p:txBody>
            <a:bodyPr wrap="none"/>
            <a:lstStyle/>
            <a:p>
              <a:endParaRPr lang="en-US"/>
            </a:p>
          </p:txBody>
        </p:sp>
        <p:sp>
          <p:nvSpPr>
            <p:cNvPr id="7228" name="Line 60"/>
            <p:cNvSpPr>
              <a:spLocks noChangeShapeType="1"/>
            </p:cNvSpPr>
            <p:nvPr/>
          </p:nvSpPr>
          <p:spPr bwMode="auto">
            <a:xfrm>
              <a:off x="4320" y="1536"/>
              <a:ext cx="0" cy="96"/>
            </a:xfrm>
            <a:prstGeom prst="line">
              <a:avLst/>
            </a:prstGeom>
            <a:noFill/>
            <a:ln w="9525">
              <a:solidFill>
                <a:schemeClr val="tx1"/>
              </a:solidFill>
              <a:miter lim="800000"/>
              <a:headEnd/>
              <a:tailEnd/>
            </a:ln>
            <a:effectLst/>
          </p:spPr>
          <p:txBody>
            <a:bodyPr wrap="none"/>
            <a:lstStyle/>
            <a:p>
              <a:endParaRPr lang="en-US"/>
            </a:p>
          </p:txBody>
        </p:sp>
        <p:sp>
          <p:nvSpPr>
            <p:cNvPr id="7229" name="Line 61"/>
            <p:cNvSpPr>
              <a:spLocks noChangeShapeType="1"/>
            </p:cNvSpPr>
            <p:nvPr/>
          </p:nvSpPr>
          <p:spPr bwMode="auto">
            <a:xfrm>
              <a:off x="4992" y="1536"/>
              <a:ext cx="0" cy="96"/>
            </a:xfrm>
            <a:prstGeom prst="line">
              <a:avLst/>
            </a:prstGeom>
            <a:noFill/>
            <a:ln w="9525">
              <a:solidFill>
                <a:schemeClr val="tx1"/>
              </a:solidFill>
              <a:miter lim="800000"/>
              <a:headEnd/>
              <a:tailEnd/>
            </a:ln>
            <a:effectLst/>
          </p:spPr>
          <p:txBody>
            <a:bodyPr wrap="none"/>
            <a:lstStyle/>
            <a:p>
              <a:endParaRPr lang="en-US"/>
            </a:p>
          </p:txBody>
        </p:sp>
        <p:sp>
          <p:nvSpPr>
            <p:cNvPr id="7230" name="Line 62"/>
            <p:cNvSpPr>
              <a:spLocks noChangeShapeType="1"/>
            </p:cNvSpPr>
            <p:nvPr/>
          </p:nvSpPr>
          <p:spPr bwMode="auto">
            <a:xfrm>
              <a:off x="4512" y="1440"/>
              <a:ext cx="240" cy="192"/>
            </a:xfrm>
            <a:prstGeom prst="line">
              <a:avLst/>
            </a:prstGeom>
            <a:noFill/>
            <a:ln w="9525">
              <a:solidFill>
                <a:schemeClr val="tx1"/>
              </a:solidFill>
              <a:miter lim="800000"/>
              <a:headEnd/>
              <a:tailEnd/>
            </a:ln>
            <a:effectLst/>
          </p:spPr>
          <p:txBody>
            <a:bodyPr wrap="none"/>
            <a:lstStyle/>
            <a:p>
              <a:endParaRPr lang="en-US"/>
            </a:p>
          </p:txBody>
        </p:sp>
      </p:grpSp>
      <p:sp>
        <p:nvSpPr>
          <p:cNvPr id="7231" name="AutoShape 63"/>
          <p:cNvSpPr>
            <a:spLocks noChangeArrowheads="1"/>
          </p:cNvSpPr>
          <p:nvPr/>
        </p:nvSpPr>
        <p:spPr bwMode="auto">
          <a:xfrm>
            <a:off x="6629400" y="3505200"/>
            <a:ext cx="1752600" cy="1295400"/>
          </a:xfrm>
          <a:prstGeom prst="flowChartDocument">
            <a:avLst/>
          </a:prstGeom>
          <a:solidFill>
            <a:srgbClr val="FFFFCC"/>
          </a:solidFill>
          <a:ln w="9525">
            <a:solidFill>
              <a:schemeClr val="tx1"/>
            </a:solidFill>
            <a:miter lim="800000"/>
            <a:headEnd/>
            <a:tailEnd/>
          </a:ln>
          <a:effectLst/>
        </p:spPr>
        <p:txBody>
          <a:bodyPr wrap="none" anchor="ctr"/>
          <a:lstStyle/>
          <a:p>
            <a:pPr algn="ctr"/>
            <a:r>
              <a:rPr lang="en-US"/>
              <a:t>Architecture </a:t>
            </a:r>
          </a:p>
          <a:p>
            <a:pPr algn="ctr"/>
            <a:r>
              <a:rPr lang="en-US"/>
              <a:t>document</a:t>
            </a:r>
          </a:p>
        </p:txBody>
      </p:sp>
      <p:grpSp>
        <p:nvGrpSpPr>
          <p:cNvPr id="14" name="Group 68"/>
          <p:cNvGrpSpPr>
            <a:grpSpLocks/>
          </p:cNvGrpSpPr>
          <p:nvPr/>
        </p:nvGrpSpPr>
        <p:grpSpPr bwMode="auto">
          <a:xfrm>
            <a:off x="5486400" y="5486400"/>
            <a:ext cx="533400" cy="609600"/>
            <a:chOff x="3456" y="3456"/>
            <a:chExt cx="336" cy="384"/>
          </a:xfrm>
        </p:grpSpPr>
        <p:sp>
          <p:nvSpPr>
            <p:cNvPr id="7232" name="Rectangle 64"/>
            <p:cNvSpPr>
              <a:spLocks noChangeArrowheads="1"/>
            </p:cNvSpPr>
            <p:nvPr/>
          </p:nvSpPr>
          <p:spPr bwMode="auto">
            <a:xfrm>
              <a:off x="3456" y="3456"/>
              <a:ext cx="336" cy="384"/>
            </a:xfrm>
            <a:prstGeom prst="rect">
              <a:avLst/>
            </a:prstGeom>
            <a:solidFill>
              <a:srgbClr val="FFFFCC"/>
            </a:solidFill>
            <a:ln w="9525">
              <a:solidFill>
                <a:schemeClr val="tx1"/>
              </a:solidFill>
              <a:miter lim="800000"/>
              <a:headEnd/>
              <a:tailEnd/>
            </a:ln>
            <a:effectLst/>
          </p:spPr>
          <p:txBody>
            <a:bodyPr wrap="none" anchor="ctr"/>
            <a:lstStyle/>
            <a:p>
              <a:endParaRPr lang="en-US"/>
            </a:p>
          </p:txBody>
        </p:sp>
        <p:sp>
          <p:nvSpPr>
            <p:cNvPr id="7233" name="Line 65"/>
            <p:cNvSpPr>
              <a:spLocks noChangeShapeType="1"/>
            </p:cNvSpPr>
            <p:nvPr/>
          </p:nvSpPr>
          <p:spPr bwMode="auto">
            <a:xfrm>
              <a:off x="3456" y="3600"/>
              <a:ext cx="336" cy="0"/>
            </a:xfrm>
            <a:prstGeom prst="line">
              <a:avLst/>
            </a:prstGeom>
            <a:noFill/>
            <a:ln w="9525">
              <a:solidFill>
                <a:schemeClr val="tx1"/>
              </a:solidFill>
              <a:miter lim="800000"/>
              <a:headEnd/>
              <a:tailEnd/>
            </a:ln>
            <a:effectLst/>
          </p:spPr>
          <p:txBody>
            <a:bodyPr wrap="none"/>
            <a:lstStyle/>
            <a:p>
              <a:endParaRPr lang="en-US"/>
            </a:p>
          </p:txBody>
        </p:sp>
        <p:sp>
          <p:nvSpPr>
            <p:cNvPr id="7234" name="Line 66"/>
            <p:cNvSpPr>
              <a:spLocks noChangeShapeType="1"/>
            </p:cNvSpPr>
            <p:nvPr/>
          </p:nvSpPr>
          <p:spPr bwMode="auto">
            <a:xfrm>
              <a:off x="3552" y="3456"/>
              <a:ext cx="0" cy="384"/>
            </a:xfrm>
            <a:prstGeom prst="line">
              <a:avLst/>
            </a:prstGeom>
            <a:noFill/>
            <a:ln w="9525">
              <a:solidFill>
                <a:schemeClr val="tx1"/>
              </a:solidFill>
              <a:miter lim="800000"/>
              <a:headEnd/>
              <a:tailEnd/>
            </a:ln>
            <a:effectLst/>
          </p:spPr>
          <p:txBody>
            <a:bodyPr wrap="none"/>
            <a:lstStyle/>
            <a:p>
              <a:endParaRPr lang="en-US"/>
            </a:p>
          </p:txBody>
        </p:sp>
        <p:sp>
          <p:nvSpPr>
            <p:cNvPr id="7235" name="Line 67"/>
            <p:cNvSpPr>
              <a:spLocks noChangeShapeType="1"/>
            </p:cNvSpPr>
            <p:nvPr/>
          </p:nvSpPr>
          <p:spPr bwMode="auto">
            <a:xfrm>
              <a:off x="3696" y="3456"/>
              <a:ext cx="0" cy="384"/>
            </a:xfrm>
            <a:prstGeom prst="line">
              <a:avLst/>
            </a:prstGeom>
            <a:noFill/>
            <a:ln w="9525">
              <a:solidFill>
                <a:schemeClr val="tx1"/>
              </a:solidFill>
              <a:miter lim="800000"/>
              <a:headEnd/>
              <a:tailEnd/>
            </a:ln>
            <a:effectLst/>
          </p:spPr>
          <p:txBody>
            <a:bodyPr wrap="none"/>
            <a:lstStyle/>
            <a:p>
              <a:endParaRPr lang="en-US"/>
            </a:p>
          </p:txBody>
        </p:sp>
      </p:grpSp>
      <p:grpSp>
        <p:nvGrpSpPr>
          <p:cNvPr id="15" name="Group 69"/>
          <p:cNvGrpSpPr>
            <a:grpSpLocks/>
          </p:cNvGrpSpPr>
          <p:nvPr/>
        </p:nvGrpSpPr>
        <p:grpSpPr bwMode="auto">
          <a:xfrm>
            <a:off x="6019800" y="4724400"/>
            <a:ext cx="533400" cy="609600"/>
            <a:chOff x="3456" y="3456"/>
            <a:chExt cx="336" cy="384"/>
          </a:xfrm>
        </p:grpSpPr>
        <p:sp>
          <p:nvSpPr>
            <p:cNvPr id="7238" name="Rectangle 70"/>
            <p:cNvSpPr>
              <a:spLocks noChangeArrowheads="1"/>
            </p:cNvSpPr>
            <p:nvPr/>
          </p:nvSpPr>
          <p:spPr bwMode="auto">
            <a:xfrm>
              <a:off x="3456" y="3456"/>
              <a:ext cx="336" cy="384"/>
            </a:xfrm>
            <a:prstGeom prst="rect">
              <a:avLst/>
            </a:prstGeom>
            <a:solidFill>
              <a:srgbClr val="FFFFCC"/>
            </a:solidFill>
            <a:ln w="9525">
              <a:solidFill>
                <a:schemeClr val="tx1"/>
              </a:solidFill>
              <a:miter lim="800000"/>
              <a:headEnd/>
              <a:tailEnd/>
            </a:ln>
            <a:effectLst/>
          </p:spPr>
          <p:txBody>
            <a:bodyPr wrap="none" anchor="ctr"/>
            <a:lstStyle/>
            <a:p>
              <a:endParaRPr lang="en-US"/>
            </a:p>
          </p:txBody>
        </p:sp>
        <p:sp>
          <p:nvSpPr>
            <p:cNvPr id="7239" name="Line 71"/>
            <p:cNvSpPr>
              <a:spLocks noChangeShapeType="1"/>
            </p:cNvSpPr>
            <p:nvPr/>
          </p:nvSpPr>
          <p:spPr bwMode="auto">
            <a:xfrm>
              <a:off x="3456" y="3600"/>
              <a:ext cx="336" cy="0"/>
            </a:xfrm>
            <a:prstGeom prst="line">
              <a:avLst/>
            </a:prstGeom>
            <a:noFill/>
            <a:ln w="9525">
              <a:solidFill>
                <a:schemeClr val="tx1"/>
              </a:solidFill>
              <a:miter lim="800000"/>
              <a:headEnd/>
              <a:tailEnd/>
            </a:ln>
            <a:effectLst/>
          </p:spPr>
          <p:txBody>
            <a:bodyPr wrap="none"/>
            <a:lstStyle/>
            <a:p>
              <a:endParaRPr lang="en-US"/>
            </a:p>
          </p:txBody>
        </p:sp>
        <p:sp>
          <p:nvSpPr>
            <p:cNvPr id="7240" name="Line 72"/>
            <p:cNvSpPr>
              <a:spLocks noChangeShapeType="1"/>
            </p:cNvSpPr>
            <p:nvPr/>
          </p:nvSpPr>
          <p:spPr bwMode="auto">
            <a:xfrm>
              <a:off x="3552" y="3456"/>
              <a:ext cx="0" cy="384"/>
            </a:xfrm>
            <a:prstGeom prst="line">
              <a:avLst/>
            </a:prstGeom>
            <a:noFill/>
            <a:ln w="9525">
              <a:solidFill>
                <a:schemeClr val="tx1"/>
              </a:solidFill>
              <a:miter lim="800000"/>
              <a:headEnd/>
              <a:tailEnd/>
            </a:ln>
            <a:effectLst/>
          </p:spPr>
          <p:txBody>
            <a:bodyPr wrap="none"/>
            <a:lstStyle/>
            <a:p>
              <a:endParaRPr lang="en-US"/>
            </a:p>
          </p:txBody>
        </p:sp>
        <p:sp>
          <p:nvSpPr>
            <p:cNvPr id="7241" name="Line 73"/>
            <p:cNvSpPr>
              <a:spLocks noChangeShapeType="1"/>
            </p:cNvSpPr>
            <p:nvPr/>
          </p:nvSpPr>
          <p:spPr bwMode="auto">
            <a:xfrm>
              <a:off x="3696" y="3456"/>
              <a:ext cx="0" cy="384"/>
            </a:xfrm>
            <a:prstGeom prst="line">
              <a:avLst/>
            </a:prstGeom>
            <a:noFill/>
            <a:ln w="9525">
              <a:solidFill>
                <a:schemeClr val="tx1"/>
              </a:solidFill>
              <a:miter lim="800000"/>
              <a:headEnd/>
              <a:tailEnd/>
            </a:ln>
            <a:effectLst/>
          </p:spPr>
          <p:txBody>
            <a:bodyPr wrap="none"/>
            <a:lstStyle/>
            <a:p>
              <a:endParaRPr lang="en-US"/>
            </a:p>
          </p:txBody>
        </p:sp>
      </p:grpSp>
      <p:grpSp>
        <p:nvGrpSpPr>
          <p:cNvPr id="16" name="Group 74"/>
          <p:cNvGrpSpPr>
            <a:grpSpLocks/>
          </p:cNvGrpSpPr>
          <p:nvPr/>
        </p:nvGrpSpPr>
        <p:grpSpPr bwMode="auto">
          <a:xfrm>
            <a:off x="6477000" y="5486400"/>
            <a:ext cx="533400" cy="609600"/>
            <a:chOff x="3456" y="3456"/>
            <a:chExt cx="336" cy="384"/>
          </a:xfrm>
        </p:grpSpPr>
        <p:sp>
          <p:nvSpPr>
            <p:cNvPr id="7243" name="Rectangle 75"/>
            <p:cNvSpPr>
              <a:spLocks noChangeArrowheads="1"/>
            </p:cNvSpPr>
            <p:nvPr/>
          </p:nvSpPr>
          <p:spPr bwMode="auto">
            <a:xfrm>
              <a:off x="3456" y="3456"/>
              <a:ext cx="336" cy="384"/>
            </a:xfrm>
            <a:prstGeom prst="rect">
              <a:avLst/>
            </a:prstGeom>
            <a:solidFill>
              <a:srgbClr val="FFFFCC"/>
            </a:solidFill>
            <a:ln w="9525">
              <a:solidFill>
                <a:schemeClr val="tx1"/>
              </a:solidFill>
              <a:miter lim="800000"/>
              <a:headEnd/>
              <a:tailEnd/>
            </a:ln>
            <a:effectLst/>
          </p:spPr>
          <p:txBody>
            <a:bodyPr wrap="none" anchor="ctr"/>
            <a:lstStyle/>
            <a:p>
              <a:endParaRPr lang="en-US"/>
            </a:p>
          </p:txBody>
        </p:sp>
        <p:sp>
          <p:nvSpPr>
            <p:cNvPr id="7244" name="Line 76"/>
            <p:cNvSpPr>
              <a:spLocks noChangeShapeType="1"/>
            </p:cNvSpPr>
            <p:nvPr/>
          </p:nvSpPr>
          <p:spPr bwMode="auto">
            <a:xfrm>
              <a:off x="3456" y="3600"/>
              <a:ext cx="336" cy="0"/>
            </a:xfrm>
            <a:prstGeom prst="line">
              <a:avLst/>
            </a:prstGeom>
            <a:noFill/>
            <a:ln w="9525">
              <a:solidFill>
                <a:schemeClr val="tx1"/>
              </a:solidFill>
              <a:miter lim="800000"/>
              <a:headEnd/>
              <a:tailEnd/>
            </a:ln>
            <a:effectLst/>
          </p:spPr>
          <p:txBody>
            <a:bodyPr wrap="none"/>
            <a:lstStyle/>
            <a:p>
              <a:endParaRPr lang="en-US"/>
            </a:p>
          </p:txBody>
        </p:sp>
        <p:sp>
          <p:nvSpPr>
            <p:cNvPr id="7245" name="Line 77"/>
            <p:cNvSpPr>
              <a:spLocks noChangeShapeType="1"/>
            </p:cNvSpPr>
            <p:nvPr/>
          </p:nvSpPr>
          <p:spPr bwMode="auto">
            <a:xfrm>
              <a:off x="3552" y="3456"/>
              <a:ext cx="0" cy="384"/>
            </a:xfrm>
            <a:prstGeom prst="line">
              <a:avLst/>
            </a:prstGeom>
            <a:noFill/>
            <a:ln w="9525">
              <a:solidFill>
                <a:schemeClr val="tx1"/>
              </a:solidFill>
              <a:miter lim="800000"/>
              <a:headEnd/>
              <a:tailEnd/>
            </a:ln>
            <a:effectLst/>
          </p:spPr>
          <p:txBody>
            <a:bodyPr wrap="none"/>
            <a:lstStyle/>
            <a:p>
              <a:endParaRPr lang="en-US"/>
            </a:p>
          </p:txBody>
        </p:sp>
        <p:sp>
          <p:nvSpPr>
            <p:cNvPr id="7246" name="Line 78"/>
            <p:cNvSpPr>
              <a:spLocks noChangeShapeType="1"/>
            </p:cNvSpPr>
            <p:nvPr/>
          </p:nvSpPr>
          <p:spPr bwMode="auto">
            <a:xfrm>
              <a:off x="3696" y="3456"/>
              <a:ext cx="0" cy="384"/>
            </a:xfrm>
            <a:prstGeom prst="line">
              <a:avLst/>
            </a:prstGeom>
            <a:noFill/>
            <a:ln w="9525">
              <a:solidFill>
                <a:schemeClr val="tx1"/>
              </a:solidFill>
              <a:miter lim="800000"/>
              <a:headEnd/>
              <a:tailEnd/>
            </a:ln>
            <a:effectLst/>
          </p:spPr>
          <p:txBody>
            <a:bodyPr wrap="none"/>
            <a:lstStyle/>
            <a:p>
              <a:endParaRPr lang="en-US"/>
            </a:p>
          </p:txBody>
        </p:sp>
      </p:grpSp>
      <p:sp>
        <p:nvSpPr>
          <p:cNvPr id="7249" name="Line 81"/>
          <p:cNvSpPr>
            <a:spLocks noChangeShapeType="1"/>
          </p:cNvSpPr>
          <p:nvPr/>
        </p:nvSpPr>
        <p:spPr bwMode="auto">
          <a:xfrm flipV="1">
            <a:off x="5715000" y="5105400"/>
            <a:ext cx="304800" cy="381000"/>
          </a:xfrm>
          <a:prstGeom prst="line">
            <a:avLst/>
          </a:prstGeom>
          <a:noFill/>
          <a:ln w="9525">
            <a:solidFill>
              <a:schemeClr val="tx1"/>
            </a:solidFill>
            <a:miter lim="800000"/>
            <a:headEnd/>
            <a:tailEnd/>
          </a:ln>
          <a:effectLst/>
        </p:spPr>
        <p:txBody>
          <a:bodyPr wrap="none"/>
          <a:lstStyle/>
          <a:p>
            <a:endParaRPr lang="en-US"/>
          </a:p>
        </p:txBody>
      </p:sp>
      <p:sp>
        <p:nvSpPr>
          <p:cNvPr id="7250" name="Line 82"/>
          <p:cNvSpPr>
            <a:spLocks noChangeShapeType="1"/>
          </p:cNvSpPr>
          <p:nvPr/>
        </p:nvSpPr>
        <p:spPr bwMode="auto">
          <a:xfrm>
            <a:off x="6553200" y="4953000"/>
            <a:ext cx="381000" cy="533400"/>
          </a:xfrm>
          <a:prstGeom prst="line">
            <a:avLst/>
          </a:prstGeom>
          <a:noFill/>
          <a:ln w="9525">
            <a:solidFill>
              <a:schemeClr val="tx1"/>
            </a:solidFill>
            <a:miter lim="800000"/>
            <a:headEnd/>
            <a:tailEnd/>
          </a:ln>
          <a:effectLst/>
        </p:spPr>
        <p:txBody>
          <a:bodyPr wrap="none"/>
          <a:lstStyle/>
          <a:p>
            <a:endParaRPr lang="en-US"/>
          </a:p>
        </p:txBody>
      </p:sp>
      <p:sp>
        <p:nvSpPr>
          <p:cNvPr id="7251" name="Text Box 83"/>
          <p:cNvSpPr txBox="1">
            <a:spLocks noChangeArrowheads="1"/>
          </p:cNvSpPr>
          <p:nvPr/>
        </p:nvSpPr>
        <p:spPr bwMode="auto">
          <a:xfrm>
            <a:off x="7010400" y="5410200"/>
            <a:ext cx="1727200" cy="457200"/>
          </a:xfrm>
          <a:prstGeom prst="rect">
            <a:avLst/>
          </a:prstGeom>
          <a:noFill/>
          <a:ln w="9525">
            <a:noFill/>
            <a:miter lim="800000"/>
            <a:headEnd/>
            <a:tailEnd/>
          </a:ln>
          <a:effectLst/>
        </p:spPr>
        <p:txBody>
          <a:bodyPr wrap="none">
            <a:spAutoFit/>
          </a:bodyPr>
          <a:lstStyle/>
          <a:p>
            <a:r>
              <a:rPr lang="en-US"/>
              <a:t>Data model</a:t>
            </a:r>
          </a:p>
        </p:txBody>
      </p:sp>
      <p:sp>
        <p:nvSpPr>
          <p:cNvPr id="7252" name="Text Box 84"/>
          <p:cNvSpPr txBox="1">
            <a:spLocks noChangeArrowheads="1"/>
          </p:cNvSpPr>
          <p:nvPr/>
        </p:nvSpPr>
        <p:spPr bwMode="auto">
          <a:xfrm>
            <a:off x="6172200" y="2895600"/>
            <a:ext cx="2009775" cy="457200"/>
          </a:xfrm>
          <a:prstGeom prst="rect">
            <a:avLst/>
          </a:prstGeom>
          <a:noFill/>
          <a:ln w="9525">
            <a:noFill/>
            <a:miter lim="800000"/>
            <a:headEnd/>
            <a:tailEnd/>
          </a:ln>
          <a:effectLst/>
        </p:spPr>
        <p:txBody>
          <a:bodyPr wrap="none">
            <a:spAutoFit/>
          </a:bodyPr>
          <a:lstStyle/>
          <a:p>
            <a:r>
              <a:rPr lang="en-US"/>
              <a:t>Design model</a:t>
            </a:r>
          </a:p>
        </p:txBody>
      </p:sp>
      <p:sp>
        <p:nvSpPr>
          <p:cNvPr id="7255" name="Line 87"/>
          <p:cNvSpPr>
            <a:spLocks noChangeShapeType="1"/>
          </p:cNvSpPr>
          <p:nvPr/>
        </p:nvSpPr>
        <p:spPr bwMode="auto">
          <a:xfrm flipV="1">
            <a:off x="2286000" y="4038600"/>
            <a:ext cx="609600" cy="990600"/>
          </a:xfrm>
          <a:prstGeom prst="line">
            <a:avLst/>
          </a:prstGeom>
          <a:noFill/>
          <a:ln w="9525">
            <a:solidFill>
              <a:schemeClr val="tx1"/>
            </a:solidFill>
            <a:miter lim="800000"/>
            <a:headEnd/>
            <a:tailEnd type="triangle" w="med" len="med"/>
          </a:ln>
          <a:effectLst/>
        </p:spPr>
        <p:txBody>
          <a:bodyPr wrap="none"/>
          <a:lstStyle/>
          <a:p>
            <a:endParaRPr lang="en-US"/>
          </a:p>
        </p:txBody>
      </p:sp>
      <p:sp>
        <p:nvSpPr>
          <p:cNvPr id="7257" name="Line 89"/>
          <p:cNvSpPr>
            <a:spLocks noChangeShapeType="1"/>
          </p:cNvSpPr>
          <p:nvPr/>
        </p:nvSpPr>
        <p:spPr bwMode="auto">
          <a:xfrm flipV="1">
            <a:off x="1752600" y="3733800"/>
            <a:ext cx="990600" cy="304800"/>
          </a:xfrm>
          <a:prstGeom prst="line">
            <a:avLst/>
          </a:prstGeom>
          <a:noFill/>
          <a:ln w="9525">
            <a:solidFill>
              <a:schemeClr val="tx1"/>
            </a:solidFill>
            <a:miter lim="800000"/>
            <a:headEnd/>
            <a:tailEnd type="triangle" w="med" len="med"/>
          </a:ln>
          <a:effectLst/>
        </p:spPr>
        <p:txBody>
          <a:bodyPr wrap="none"/>
          <a:lstStyle/>
          <a:p>
            <a:endParaRPr lang="en-US"/>
          </a:p>
        </p:txBody>
      </p:sp>
      <p:sp>
        <p:nvSpPr>
          <p:cNvPr id="7258" name="Text Box 90"/>
          <p:cNvSpPr txBox="1">
            <a:spLocks noChangeArrowheads="1"/>
          </p:cNvSpPr>
          <p:nvPr/>
        </p:nvSpPr>
        <p:spPr bwMode="auto">
          <a:xfrm>
            <a:off x="533400" y="2895600"/>
            <a:ext cx="2305050" cy="457200"/>
          </a:xfrm>
          <a:prstGeom prst="rect">
            <a:avLst/>
          </a:prstGeom>
          <a:noFill/>
          <a:ln w="9525">
            <a:noFill/>
            <a:miter lim="800000"/>
            <a:headEnd/>
            <a:tailEnd/>
          </a:ln>
          <a:effectLst/>
        </p:spPr>
        <p:txBody>
          <a:bodyPr wrap="none">
            <a:spAutoFit/>
          </a:bodyPr>
          <a:lstStyle/>
          <a:p>
            <a:r>
              <a:rPr lang="en-US"/>
              <a:t>Use-case model</a:t>
            </a:r>
          </a:p>
        </p:txBody>
      </p:sp>
      <p:sp>
        <p:nvSpPr>
          <p:cNvPr id="7259" name="Line 91"/>
          <p:cNvSpPr>
            <a:spLocks noChangeShapeType="1"/>
          </p:cNvSpPr>
          <p:nvPr/>
        </p:nvSpPr>
        <p:spPr bwMode="auto">
          <a:xfrm>
            <a:off x="1752600" y="3276600"/>
            <a:ext cx="914400" cy="228600"/>
          </a:xfrm>
          <a:prstGeom prst="line">
            <a:avLst/>
          </a:prstGeom>
          <a:noFill/>
          <a:ln w="9525">
            <a:solidFill>
              <a:schemeClr val="tx1"/>
            </a:solidFill>
            <a:miter lim="800000"/>
            <a:headEnd/>
            <a:tailEnd type="triangle" w="med" len="med"/>
          </a:ln>
          <a:effectLst/>
        </p:spPr>
        <p:txBody>
          <a:bodyPr wrap="none"/>
          <a:lstStyle/>
          <a:p>
            <a:endParaRPr lang="en-US"/>
          </a:p>
        </p:txBody>
      </p:sp>
      <p:sp>
        <p:nvSpPr>
          <p:cNvPr id="7260" name="Line 92"/>
          <p:cNvSpPr>
            <a:spLocks noChangeShapeType="1"/>
          </p:cNvSpPr>
          <p:nvPr/>
        </p:nvSpPr>
        <p:spPr bwMode="auto">
          <a:xfrm flipV="1">
            <a:off x="5562600" y="3048000"/>
            <a:ext cx="609600" cy="228600"/>
          </a:xfrm>
          <a:prstGeom prst="line">
            <a:avLst/>
          </a:prstGeom>
          <a:noFill/>
          <a:ln w="9525">
            <a:solidFill>
              <a:schemeClr val="tx1"/>
            </a:solidFill>
            <a:miter lim="800000"/>
            <a:headEnd/>
            <a:tailEnd type="triangle" w="med" len="med"/>
          </a:ln>
          <a:effectLst/>
        </p:spPr>
        <p:txBody>
          <a:bodyPr wrap="none"/>
          <a:lstStyle/>
          <a:p>
            <a:endParaRPr lang="en-US"/>
          </a:p>
        </p:txBody>
      </p:sp>
      <p:sp>
        <p:nvSpPr>
          <p:cNvPr id="7261" name="Line 93"/>
          <p:cNvSpPr>
            <a:spLocks noChangeShapeType="1"/>
          </p:cNvSpPr>
          <p:nvPr/>
        </p:nvSpPr>
        <p:spPr bwMode="auto">
          <a:xfrm>
            <a:off x="5791200" y="3733800"/>
            <a:ext cx="762000" cy="152400"/>
          </a:xfrm>
          <a:prstGeom prst="line">
            <a:avLst/>
          </a:prstGeom>
          <a:noFill/>
          <a:ln w="9525">
            <a:solidFill>
              <a:schemeClr val="tx1"/>
            </a:solidFill>
            <a:miter lim="800000"/>
            <a:headEnd/>
            <a:tailEnd type="triangle" w="med" len="med"/>
          </a:ln>
          <a:effectLst/>
        </p:spPr>
        <p:txBody>
          <a:bodyPr wrap="none"/>
          <a:lstStyle/>
          <a:p>
            <a:endParaRPr lang="en-US"/>
          </a:p>
        </p:txBody>
      </p:sp>
      <p:sp>
        <p:nvSpPr>
          <p:cNvPr id="7262" name="Line 94"/>
          <p:cNvSpPr>
            <a:spLocks noChangeShapeType="1"/>
          </p:cNvSpPr>
          <p:nvPr/>
        </p:nvSpPr>
        <p:spPr bwMode="auto">
          <a:xfrm>
            <a:off x="5638800" y="3886200"/>
            <a:ext cx="381000" cy="762000"/>
          </a:xfrm>
          <a:prstGeom prst="line">
            <a:avLst/>
          </a:prstGeom>
          <a:noFill/>
          <a:ln w="9525">
            <a:solidFill>
              <a:schemeClr val="tx1"/>
            </a:solidFill>
            <a:miter lim="800000"/>
            <a:headEnd/>
            <a:tailEnd type="triangle" w="med" len="med"/>
          </a:ln>
          <a:effectLst/>
        </p:spPr>
        <p:txBody>
          <a:bodyPr wrap="none"/>
          <a:lstStyle/>
          <a:p>
            <a:endParaRPr lang="en-US"/>
          </a:p>
        </p:txBody>
      </p:sp>
      <p:sp>
        <p:nvSpPr>
          <p:cNvPr id="77" name="Rectangle 2"/>
          <p:cNvSpPr txBox="1">
            <a:spLocks noChangeArrowheads="1"/>
          </p:cNvSpPr>
          <p:nvPr/>
        </p:nvSpPr>
        <p:spPr bwMode="auto">
          <a:xfrm>
            <a:off x="1143000" y="609600"/>
            <a:ext cx="6773862"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chemeClr val="tx2"/>
                </a:solidFill>
                <a:effectLst/>
                <a:uLnTx/>
                <a:uFillTx/>
                <a:latin typeface="+mj-lt"/>
                <a:ea typeface="+mj-ea"/>
                <a:cs typeface="+mj-cs"/>
              </a:rPr>
              <a:t>An Overview of Object-Oriented Analysis and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endParaRPr lang="en-US" dirty="0"/>
          </a:p>
        </p:txBody>
      </p:sp>
      <p:sp>
        <p:nvSpPr>
          <p:cNvPr id="5" name="Slide Number Placeholder 5"/>
          <p:cNvSpPr>
            <a:spLocks noGrp="1"/>
          </p:cNvSpPr>
          <p:nvPr>
            <p:ph type="sldNum" sz="quarter" idx="12"/>
          </p:nvPr>
        </p:nvSpPr>
        <p:spPr/>
        <p:txBody>
          <a:bodyPr/>
          <a:lstStyle/>
          <a:p>
            <a:fld id="{5418EBDA-2CF9-4322-A75A-DE285A7B8A6E}" type="slidenum">
              <a:rPr lang="en-US"/>
              <a:pPr/>
              <a:t>6</a:t>
            </a:fld>
            <a:endParaRPr lang="en-US"/>
          </a:p>
        </p:txBody>
      </p:sp>
      <p:sp>
        <p:nvSpPr>
          <p:cNvPr id="8195" name="Rectangle 3"/>
          <p:cNvSpPr>
            <a:spLocks noGrp="1" noChangeArrowheads="1"/>
          </p:cNvSpPr>
          <p:nvPr>
            <p:ph type="body" idx="1"/>
          </p:nvPr>
        </p:nvSpPr>
        <p:spPr>
          <a:xfrm>
            <a:off x="838200" y="1828800"/>
            <a:ext cx="7467600" cy="4227513"/>
          </a:xfrm>
        </p:spPr>
        <p:txBody>
          <a:bodyPr/>
          <a:lstStyle/>
          <a:p>
            <a:pPr>
              <a:lnSpc>
                <a:spcPct val="90000"/>
              </a:lnSpc>
            </a:pPr>
            <a:r>
              <a:rPr lang="en-US" sz="2700" dirty="0">
                <a:solidFill>
                  <a:srgbClr val="00B050"/>
                </a:solidFill>
              </a:rPr>
              <a:t>Analysis</a:t>
            </a:r>
            <a:r>
              <a:rPr lang="en-US" sz="2700" dirty="0"/>
              <a:t> versus </a:t>
            </a:r>
            <a:r>
              <a:rPr lang="en-US" sz="2700" dirty="0">
                <a:solidFill>
                  <a:srgbClr val="0070C0"/>
                </a:solidFill>
              </a:rPr>
              <a:t>Design</a:t>
            </a:r>
          </a:p>
          <a:p>
            <a:r>
              <a:rPr lang="en-US" sz="2700" dirty="0">
                <a:solidFill>
                  <a:srgbClr val="00B050"/>
                </a:solidFill>
              </a:rPr>
              <a:t>Analysis</a:t>
            </a:r>
            <a:r>
              <a:rPr lang="en-US" sz="2700" dirty="0"/>
              <a:t> :</a:t>
            </a:r>
          </a:p>
          <a:p>
            <a:pPr lvl="1"/>
            <a:r>
              <a:rPr lang="en-US" sz="2700" dirty="0"/>
              <a:t>Focus on understanding the problem</a:t>
            </a:r>
          </a:p>
          <a:p>
            <a:pPr lvl="1"/>
            <a:r>
              <a:rPr lang="en-US" sz="2700" dirty="0"/>
              <a:t>Idealized design</a:t>
            </a:r>
          </a:p>
          <a:p>
            <a:pPr lvl="1"/>
            <a:r>
              <a:rPr lang="en-US" sz="2700" dirty="0"/>
              <a:t>Behavior</a:t>
            </a:r>
          </a:p>
          <a:p>
            <a:pPr lvl="1"/>
            <a:r>
              <a:rPr lang="en-US" sz="2700" dirty="0"/>
              <a:t>System structure</a:t>
            </a:r>
          </a:p>
          <a:p>
            <a:pPr lvl="1"/>
            <a:r>
              <a:rPr lang="en-US" sz="2700" dirty="0"/>
              <a:t>Functional requirements</a:t>
            </a:r>
          </a:p>
          <a:p>
            <a:pPr lvl="1"/>
            <a:r>
              <a:rPr lang="en-US" sz="2700" dirty="0"/>
              <a:t>A small model</a:t>
            </a:r>
          </a:p>
          <a:p>
            <a:endParaRPr lang="en-US" sz="2700" dirty="0"/>
          </a:p>
        </p:txBody>
      </p:sp>
      <p:sp>
        <p:nvSpPr>
          <p:cNvPr id="7" name="Rectangle 2"/>
          <p:cNvSpPr>
            <a:spLocks noGrp="1" noChangeArrowheads="1"/>
          </p:cNvSpPr>
          <p:nvPr>
            <p:ph type="title"/>
          </p:nvPr>
        </p:nvSpPr>
        <p:spPr/>
        <p:txBody>
          <a:bodyPr/>
          <a:lstStyle/>
          <a:p>
            <a:r>
              <a:rPr lang="en-US" sz="3600" dirty="0"/>
              <a:t>An Overview of Object-Oriented Analysis and Design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D064F6A1-528E-470B-92DE-B6A50A95F7E4}" type="slidenum">
              <a:rPr lang="en-US"/>
              <a:pPr/>
              <a:t>7</a:t>
            </a:fld>
            <a:endParaRPr lang="en-US"/>
          </a:p>
        </p:txBody>
      </p:sp>
      <p:sp>
        <p:nvSpPr>
          <p:cNvPr id="9219" name="Rectangle 3"/>
          <p:cNvSpPr>
            <a:spLocks noGrp="1" noChangeArrowheads="1"/>
          </p:cNvSpPr>
          <p:nvPr>
            <p:ph type="body" idx="1"/>
          </p:nvPr>
        </p:nvSpPr>
        <p:spPr>
          <a:xfrm>
            <a:off x="990600" y="2017713"/>
            <a:ext cx="7964488" cy="4114800"/>
          </a:xfrm>
        </p:spPr>
        <p:txBody>
          <a:bodyPr/>
          <a:lstStyle/>
          <a:p>
            <a:pPr>
              <a:lnSpc>
                <a:spcPct val="90000"/>
              </a:lnSpc>
            </a:pPr>
            <a:r>
              <a:rPr lang="en-US" sz="2700" dirty="0">
                <a:solidFill>
                  <a:srgbClr val="00B050"/>
                </a:solidFill>
              </a:rPr>
              <a:t>Analysis</a:t>
            </a:r>
            <a:r>
              <a:rPr lang="en-US" sz="2700" dirty="0"/>
              <a:t> </a:t>
            </a:r>
            <a:r>
              <a:rPr lang="en-US" sz="2700" dirty="0">
                <a:solidFill>
                  <a:srgbClr val="FF0000"/>
                </a:solidFill>
              </a:rPr>
              <a:t>versus</a:t>
            </a:r>
            <a:r>
              <a:rPr lang="en-US" sz="2700" dirty="0"/>
              <a:t> </a:t>
            </a:r>
            <a:r>
              <a:rPr lang="en-US" sz="2700" dirty="0">
                <a:solidFill>
                  <a:srgbClr val="0070C0"/>
                </a:solidFill>
              </a:rPr>
              <a:t>Design</a:t>
            </a:r>
          </a:p>
          <a:p>
            <a:pPr>
              <a:lnSpc>
                <a:spcPct val="90000"/>
              </a:lnSpc>
            </a:pPr>
            <a:r>
              <a:rPr lang="en-US" sz="2700" dirty="0">
                <a:solidFill>
                  <a:srgbClr val="0070C0"/>
                </a:solidFill>
              </a:rPr>
              <a:t>Design</a:t>
            </a:r>
            <a:r>
              <a:rPr lang="en-US" sz="2700" dirty="0"/>
              <a:t> :</a:t>
            </a:r>
          </a:p>
          <a:p>
            <a:pPr lvl="1">
              <a:lnSpc>
                <a:spcPct val="90000"/>
              </a:lnSpc>
            </a:pPr>
            <a:r>
              <a:rPr lang="en-US" sz="2700" dirty="0"/>
              <a:t>Focus on understanding the solution</a:t>
            </a:r>
          </a:p>
          <a:p>
            <a:pPr lvl="1">
              <a:lnSpc>
                <a:spcPct val="90000"/>
              </a:lnSpc>
            </a:pPr>
            <a:r>
              <a:rPr lang="en-US" sz="2700" dirty="0"/>
              <a:t>Operations and attributes</a:t>
            </a:r>
          </a:p>
          <a:p>
            <a:pPr lvl="1">
              <a:lnSpc>
                <a:spcPct val="90000"/>
              </a:lnSpc>
            </a:pPr>
            <a:r>
              <a:rPr lang="en-US" sz="2700" dirty="0"/>
              <a:t>Performance</a:t>
            </a:r>
          </a:p>
          <a:p>
            <a:pPr lvl="1">
              <a:lnSpc>
                <a:spcPct val="90000"/>
              </a:lnSpc>
            </a:pPr>
            <a:r>
              <a:rPr lang="en-US" sz="2700" dirty="0"/>
              <a:t>Close to real code</a:t>
            </a:r>
          </a:p>
          <a:p>
            <a:pPr lvl="1">
              <a:lnSpc>
                <a:spcPct val="90000"/>
              </a:lnSpc>
            </a:pPr>
            <a:r>
              <a:rPr lang="en-US" sz="2700" dirty="0"/>
              <a:t>Object lifecycles</a:t>
            </a:r>
          </a:p>
          <a:p>
            <a:pPr lvl="1">
              <a:lnSpc>
                <a:spcPct val="90000"/>
              </a:lnSpc>
            </a:pPr>
            <a:r>
              <a:rPr lang="en-US" sz="2700" dirty="0"/>
              <a:t>Non-functional requirements</a:t>
            </a:r>
          </a:p>
          <a:p>
            <a:pPr lvl="1">
              <a:lnSpc>
                <a:spcPct val="90000"/>
              </a:lnSpc>
            </a:pPr>
            <a:r>
              <a:rPr lang="en-US" sz="2700" dirty="0"/>
              <a:t>A large model</a:t>
            </a:r>
          </a:p>
          <a:p>
            <a:pPr lvl="1">
              <a:lnSpc>
                <a:spcPct val="90000"/>
              </a:lnSpc>
            </a:pPr>
            <a:endParaRPr lang="en-US" sz="2700" dirty="0"/>
          </a:p>
        </p:txBody>
      </p:sp>
      <p:sp>
        <p:nvSpPr>
          <p:cNvPr id="7" name="Rectangle 2"/>
          <p:cNvSpPr>
            <a:spLocks noGrp="1" noChangeArrowheads="1"/>
          </p:cNvSpPr>
          <p:nvPr>
            <p:ph type="title"/>
          </p:nvPr>
        </p:nvSpPr>
        <p:spPr/>
        <p:txBody>
          <a:bodyPr/>
          <a:lstStyle/>
          <a:p>
            <a:r>
              <a:rPr lang="en-US" sz="3600" dirty="0"/>
              <a:t>An Overview of Object-Oriented Analysis and Design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a:xfrm>
            <a:off x="2133600" y="6248400"/>
            <a:ext cx="4572000" cy="457200"/>
          </a:xfrm>
        </p:spPr>
        <p:txBody>
          <a:bodyPr/>
          <a:lstStyle/>
          <a:p>
            <a:r>
              <a:rPr lang="en-US" sz="1200"/>
              <a:t>Chapter 6-Object-oriented design</a:t>
            </a:r>
            <a:endParaRPr lang="en-US" sz="1200" dirty="0"/>
          </a:p>
        </p:txBody>
      </p:sp>
      <p:sp>
        <p:nvSpPr>
          <p:cNvPr id="5" name="Slide Number Placeholder 5"/>
          <p:cNvSpPr>
            <a:spLocks noGrp="1"/>
          </p:cNvSpPr>
          <p:nvPr>
            <p:ph type="sldNum" sz="quarter" idx="12"/>
          </p:nvPr>
        </p:nvSpPr>
        <p:spPr/>
        <p:txBody>
          <a:bodyPr/>
          <a:lstStyle/>
          <a:p>
            <a:fld id="{34F06C11-104A-484A-B020-84AC706270D5}" type="slidenum">
              <a:rPr lang="en-US"/>
              <a:pPr/>
              <a:t>8</a:t>
            </a:fld>
            <a:endParaRPr lang="en-US" dirty="0"/>
          </a:p>
        </p:txBody>
      </p:sp>
      <p:sp>
        <p:nvSpPr>
          <p:cNvPr id="5123" name="Rectangle 3"/>
          <p:cNvSpPr>
            <a:spLocks noGrp="1" noChangeArrowheads="1"/>
          </p:cNvSpPr>
          <p:nvPr>
            <p:ph type="body" idx="1"/>
          </p:nvPr>
        </p:nvSpPr>
        <p:spPr>
          <a:xfrm>
            <a:off x="762000" y="1981200"/>
            <a:ext cx="7772400" cy="4114800"/>
          </a:xfrm>
        </p:spPr>
        <p:txBody>
          <a:bodyPr/>
          <a:lstStyle/>
          <a:p>
            <a:pPr>
              <a:lnSpc>
                <a:spcPct val="90000"/>
              </a:lnSpc>
            </a:pPr>
            <a:r>
              <a:rPr lang="en-US" sz="2400" dirty="0"/>
              <a:t>Design is about </a:t>
            </a:r>
            <a:r>
              <a:rPr lang="en-US" sz="2400" dirty="0">
                <a:solidFill>
                  <a:srgbClr val="FF0000"/>
                </a:solidFill>
              </a:rPr>
              <a:t>producing a solution </a:t>
            </a:r>
            <a:r>
              <a:rPr lang="en-US" sz="2400" dirty="0"/>
              <a:t>that meets the requirements that have been specified during analysis</a:t>
            </a:r>
          </a:p>
          <a:p>
            <a:pPr>
              <a:lnSpc>
                <a:spcPct val="90000"/>
              </a:lnSpc>
            </a:pPr>
            <a:r>
              <a:rPr lang="en-US" sz="2400" dirty="0"/>
              <a:t>The goal </a:t>
            </a:r>
            <a:r>
              <a:rPr lang="en-US" sz="2400" dirty="0">
                <a:sym typeface="Wingdings" pitchFamily="2" charset="2"/>
              </a:rPr>
              <a:t> to design the classes that we need to implement the system</a:t>
            </a:r>
          </a:p>
          <a:p>
            <a:pPr>
              <a:lnSpc>
                <a:spcPct val="90000"/>
              </a:lnSpc>
            </a:pPr>
            <a:r>
              <a:rPr lang="en-US" sz="2400" dirty="0">
                <a:sym typeface="Wingdings" pitchFamily="2" charset="2"/>
              </a:rPr>
              <a:t>Objects discovered during analysis serve as the </a:t>
            </a:r>
            <a:r>
              <a:rPr lang="en-US" sz="2400" dirty="0">
                <a:solidFill>
                  <a:srgbClr val="FF0000"/>
                </a:solidFill>
                <a:sym typeface="Wingdings" pitchFamily="2" charset="2"/>
              </a:rPr>
              <a:t>framework for design</a:t>
            </a:r>
          </a:p>
          <a:p>
            <a:pPr>
              <a:lnSpc>
                <a:spcPct val="90000"/>
              </a:lnSpc>
            </a:pPr>
            <a:r>
              <a:rPr lang="en-US" sz="2400" dirty="0">
                <a:solidFill>
                  <a:srgbClr val="FF0000"/>
                </a:solidFill>
                <a:sym typeface="Wingdings" pitchFamily="2" charset="2"/>
              </a:rPr>
              <a:t>OOD</a:t>
            </a:r>
            <a:r>
              <a:rPr lang="en-US" sz="2400" dirty="0">
                <a:sym typeface="Wingdings" pitchFamily="2" charset="2"/>
              </a:rPr>
              <a:t> is an iterative process</a:t>
            </a:r>
          </a:p>
          <a:p>
            <a:pPr>
              <a:lnSpc>
                <a:spcPct val="90000"/>
              </a:lnSpc>
            </a:pPr>
            <a:r>
              <a:rPr lang="en-US" sz="2400" dirty="0">
                <a:sym typeface="Wingdings" pitchFamily="2" charset="2"/>
              </a:rPr>
              <a:t>In OO development, the </a:t>
            </a:r>
            <a:r>
              <a:rPr lang="en-US" sz="2400" dirty="0">
                <a:solidFill>
                  <a:srgbClr val="FF0000"/>
                </a:solidFill>
                <a:sym typeface="Wingdings" pitchFamily="2" charset="2"/>
              </a:rPr>
              <a:t>UML</a:t>
            </a:r>
            <a:r>
              <a:rPr lang="en-US" sz="2400" dirty="0">
                <a:sym typeface="Wingdings" pitchFamily="2" charset="2"/>
              </a:rPr>
              <a:t> </a:t>
            </a:r>
            <a:r>
              <a:rPr lang="en-US" sz="2400" dirty="0"/>
              <a:t>defines the standard modeling artifacts</a:t>
            </a:r>
          </a:p>
        </p:txBody>
      </p:sp>
      <p:sp>
        <p:nvSpPr>
          <p:cNvPr id="7" name="Rectangle 2"/>
          <p:cNvSpPr>
            <a:spLocks noGrp="1" noChangeArrowheads="1"/>
          </p:cNvSpPr>
          <p:nvPr>
            <p:ph type="title"/>
          </p:nvPr>
        </p:nvSpPr>
        <p:spPr/>
        <p:txBody>
          <a:bodyPr/>
          <a:lstStyle/>
          <a:p>
            <a:r>
              <a:rPr lang="en-US" sz="3600" dirty="0"/>
              <a:t>An Overview of Object-Oriented Analysis and Design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Introduction to the </a:t>
            </a:r>
            <a:br>
              <a:rPr lang="en-US" sz="3600" dirty="0"/>
            </a:br>
            <a:r>
              <a:rPr lang="en-US" sz="3600" dirty="0"/>
              <a:t>Unified Modeling Language</a:t>
            </a:r>
          </a:p>
        </p:txBody>
      </p:sp>
      <p:sp>
        <p:nvSpPr>
          <p:cNvPr id="4" name="Footer Placeholder 3"/>
          <p:cNvSpPr>
            <a:spLocks noGrp="1"/>
          </p:cNvSpPr>
          <p:nvPr>
            <p:ph type="ftr" sz="quarter" idx="11"/>
          </p:nvPr>
        </p:nvSpPr>
        <p:spPr/>
        <p:txBody>
          <a:bodyPr/>
          <a:lstStyle/>
          <a:p>
            <a:r>
              <a:rPr lang="en-US"/>
              <a:t>Chapter 6-Object-oriented design</a:t>
            </a:r>
          </a:p>
        </p:txBody>
      </p:sp>
      <p:sp>
        <p:nvSpPr>
          <p:cNvPr id="5" name="Slide Number Placeholder 4"/>
          <p:cNvSpPr>
            <a:spLocks noGrp="1"/>
          </p:cNvSpPr>
          <p:nvPr>
            <p:ph type="sldNum" sz="quarter" idx="12"/>
          </p:nvPr>
        </p:nvSpPr>
        <p:spPr/>
        <p:txBody>
          <a:bodyPr/>
          <a:lstStyle/>
          <a:p>
            <a:fld id="{20317CA6-3557-4F90-84AF-53D5354FC7C6}" type="slidenum">
              <a:rPr lang="en-US" smtClean="0"/>
              <a:pPr/>
              <a:t>9</a:t>
            </a:fld>
            <a:endParaRPr lang="en-US"/>
          </a:p>
        </p:txBody>
      </p:sp>
      <p:graphicFrame>
        <p:nvGraphicFramePr>
          <p:cNvPr id="2050" name="Object 2"/>
          <p:cNvGraphicFramePr>
            <a:graphicFrameLocks/>
          </p:cNvGraphicFramePr>
          <p:nvPr/>
        </p:nvGraphicFramePr>
        <p:xfrm>
          <a:off x="3429000" y="3352800"/>
          <a:ext cx="1828800" cy="1166813"/>
        </p:xfrm>
        <a:graphic>
          <a:graphicData uri="http://schemas.openxmlformats.org/presentationml/2006/ole">
            <mc:AlternateContent xmlns:mc="http://schemas.openxmlformats.org/markup-compatibility/2006">
              <mc:Choice xmlns:v="urn:schemas-microsoft-com:vml" Requires="v">
                <p:oleObj spid="_x0000_s2056" name="Bitmap Image" r:id="rId3" imgW="2666880" imgH="2133360" progId="PBrush">
                  <p:embed/>
                </p:oleObj>
              </mc:Choice>
              <mc:Fallback>
                <p:oleObj name="Bitmap Image" r:id="rId3" imgW="2666880" imgH="2133360" progId="PBrush">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3352800"/>
                        <a:ext cx="1828800" cy="116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Oval Callout 6"/>
          <p:cNvSpPr/>
          <p:nvPr/>
        </p:nvSpPr>
        <p:spPr bwMode="auto">
          <a:xfrm>
            <a:off x="457200" y="1905000"/>
            <a:ext cx="3352800" cy="1371600"/>
          </a:xfrm>
          <a:prstGeom prst="wedgeEllipseCallout">
            <a:avLst>
              <a:gd name="adj1" fmla="val 51174"/>
              <a:gd name="adj2" fmla="val 61502"/>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sz="1600" dirty="0"/>
              <a:t>A modeling language </a:t>
            </a:r>
          </a:p>
          <a:p>
            <a:r>
              <a:rPr lang="en-US" sz="1600" dirty="0"/>
              <a:t>for specifying, visualizing, </a:t>
            </a:r>
          </a:p>
          <a:p>
            <a:r>
              <a:rPr lang="en-US" sz="1600" dirty="0"/>
              <a:t>constructing, and </a:t>
            </a:r>
          </a:p>
          <a:p>
            <a:r>
              <a:rPr lang="en-US" sz="1600" dirty="0"/>
              <a:t>documenting </a:t>
            </a:r>
          </a:p>
          <a:p>
            <a:endParaRPr lang="en-US" sz="1400" dirty="0"/>
          </a:p>
        </p:txBody>
      </p:sp>
      <p:sp>
        <p:nvSpPr>
          <p:cNvPr id="8" name="Oval Callout 7"/>
          <p:cNvSpPr/>
          <p:nvPr/>
        </p:nvSpPr>
        <p:spPr bwMode="auto">
          <a:xfrm>
            <a:off x="3810000" y="1828800"/>
            <a:ext cx="2133600" cy="990600"/>
          </a:xfrm>
          <a:prstGeom prst="wedgeEllipseCallout">
            <a:avLst>
              <a:gd name="adj1" fmla="val -23719"/>
              <a:gd name="adj2" fmla="val 91160"/>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sz="1600" dirty="0"/>
              <a:t>Used to derive or </a:t>
            </a:r>
          </a:p>
          <a:p>
            <a:r>
              <a:rPr lang="en-US" sz="1600" dirty="0"/>
              <a:t>evolve a system </a:t>
            </a:r>
          </a:p>
          <a:p>
            <a:endParaRPr lang="en-US" sz="1600" dirty="0"/>
          </a:p>
        </p:txBody>
      </p:sp>
      <p:sp>
        <p:nvSpPr>
          <p:cNvPr id="9" name="Oval Callout 8"/>
          <p:cNvSpPr/>
          <p:nvPr/>
        </p:nvSpPr>
        <p:spPr bwMode="auto">
          <a:xfrm>
            <a:off x="6172200" y="1752600"/>
            <a:ext cx="2133600" cy="1371600"/>
          </a:xfrm>
          <a:prstGeom prst="wedgeEllipseCallout">
            <a:avLst>
              <a:gd name="adj1" fmla="val -106306"/>
              <a:gd name="adj2" fmla="val 80186"/>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sz="1600" dirty="0"/>
              <a:t>Means to capture</a:t>
            </a:r>
          </a:p>
          <a:p>
            <a:r>
              <a:rPr lang="en-US" sz="1600" dirty="0"/>
              <a:t>and communicate </a:t>
            </a:r>
          </a:p>
          <a:p>
            <a:r>
              <a:rPr lang="en-US" sz="1600" dirty="0"/>
              <a:t>a knowledge </a:t>
            </a:r>
          </a:p>
          <a:p>
            <a:r>
              <a:rPr lang="en-US" sz="1600" dirty="0"/>
              <a:t>about a system </a:t>
            </a:r>
          </a:p>
        </p:txBody>
      </p:sp>
      <p:sp>
        <p:nvSpPr>
          <p:cNvPr id="10" name="Oval Callout 9"/>
          <p:cNvSpPr/>
          <p:nvPr/>
        </p:nvSpPr>
        <p:spPr bwMode="auto">
          <a:xfrm>
            <a:off x="6400800" y="3276600"/>
            <a:ext cx="2133600" cy="1371600"/>
          </a:xfrm>
          <a:prstGeom prst="wedgeEllipseCallout">
            <a:avLst>
              <a:gd name="adj1" fmla="val -106862"/>
              <a:gd name="adj2" fmla="val -1814"/>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sz="1600" dirty="0"/>
              <a:t>Focuses on </a:t>
            </a:r>
          </a:p>
          <a:p>
            <a:r>
              <a:rPr lang="en-US" sz="1600" dirty="0"/>
              <a:t>understanding</a:t>
            </a:r>
          </a:p>
          <a:p>
            <a:r>
              <a:rPr lang="en-US" sz="1600" dirty="0"/>
              <a:t>a subject via </a:t>
            </a:r>
          </a:p>
          <a:p>
            <a:r>
              <a:rPr lang="en-US" sz="1600" dirty="0"/>
              <a:t>creating a model </a:t>
            </a:r>
          </a:p>
        </p:txBody>
      </p:sp>
      <p:sp>
        <p:nvSpPr>
          <p:cNvPr id="11" name="Oval Callout 10"/>
          <p:cNvSpPr/>
          <p:nvPr/>
        </p:nvSpPr>
        <p:spPr bwMode="auto">
          <a:xfrm>
            <a:off x="5562600" y="4800600"/>
            <a:ext cx="2667000" cy="1219200"/>
          </a:xfrm>
          <a:prstGeom prst="wedgeEllipseCallout">
            <a:avLst>
              <a:gd name="adj1" fmla="val -60148"/>
              <a:gd name="adj2" fmla="val -89247"/>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sz="1600" dirty="0"/>
              <a:t>It unifies the language </a:t>
            </a:r>
          </a:p>
          <a:p>
            <a:r>
              <a:rPr lang="en-US" sz="1600" dirty="0"/>
              <a:t>of communication </a:t>
            </a:r>
          </a:p>
          <a:p>
            <a:r>
              <a:rPr lang="en-US" sz="1600" dirty="0"/>
              <a:t>about a system </a:t>
            </a:r>
          </a:p>
        </p:txBody>
      </p:sp>
      <p:sp>
        <p:nvSpPr>
          <p:cNvPr id="12" name="Oval Callout 11"/>
          <p:cNvSpPr/>
          <p:nvPr/>
        </p:nvSpPr>
        <p:spPr bwMode="auto">
          <a:xfrm>
            <a:off x="3276600" y="5257800"/>
            <a:ext cx="2209800" cy="838200"/>
          </a:xfrm>
          <a:prstGeom prst="wedgeEllipseCallout">
            <a:avLst>
              <a:gd name="adj1" fmla="val 8434"/>
              <a:gd name="adj2" fmla="val -133511"/>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sz="1600" dirty="0"/>
              <a:t>Uses visualization </a:t>
            </a:r>
          </a:p>
        </p:txBody>
      </p:sp>
      <p:sp>
        <p:nvSpPr>
          <p:cNvPr id="13" name="Oval Callout 12"/>
          <p:cNvSpPr/>
          <p:nvPr/>
        </p:nvSpPr>
        <p:spPr bwMode="auto">
          <a:xfrm>
            <a:off x="838200" y="4724400"/>
            <a:ext cx="2362200" cy="1143000"/>
          </a:xfrm>
          <a:prstGeom prst="wedgeEllipseCallout">
            <a:avLst>
              <a:gd name="adj1" fmla="val 77493"/>
              <a:gd name="adj2" fmla="val -77947"/>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sz="1600" dirty="0"/>
              <a:t>Can be used as a </a:t>
            </a:r>
          </a:p>
          <a:p>
            <a:r>
              <a:rPr lang="en-US" sz="1600" dirty="0"/>
              <a:t>'blueprint' of a </a:t>
            </a:r>
          </a:p>
          <a:p>
            <a:r>
              <a:rPr lang="en-US" sz="1600" dirty="0"/>
              <a:t>system </a:t>
            </a:r>
          </a:p>
        </p:txBody>
      </p:sp>
      <p:sp>
        <p:nvSpPr>
          <p:cNvPr id="14" name="Oval Callout 13"/>
          <p:cNvSpPr/>
          <p:nvPr/>
        </p:nvSpPr>
        <p:spPr bwMode="auto">
          <a:xfrm>
            <a:off x="381000" y="3352800"/>
            <a:ext cx="2667000" cy="1143000"/>
          </a:xfrm>
          <a:prstGeom prst="wedgeEllipseCallout">
            <a:avLst>
              <a:gd name="adj1" fmla="val 64652"/>
              <a:gd name="adj2" fmla="val -8347"/>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sz="1600" dirty="0"/>
              <a:t>Can be used </a:t>
            </a:r>
          </a:p>
          <a:p>
            <a:r>
              <a:rPr lang="en-US" sz="1600" dirty="0"/>
              <a:t>through out the </a:t>
            </a:r>
          </a:p>
          <a:p>
            <a:r>
              <a:rPr lang="en-US" sz="1600" dirty="0"/>
              <a:t>lifecycle of the system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the </a:t>
            </a:r>
            <a:br>
              <a:rPr lang="en-US" dirty="0"/>
            </a:br>
            <a:r>
              <a:rPr lang="en-US" dirty="0"/>
              <a:t>Unified Modeling Language</a:t>
            </a:r>
          </a:p>
        </p:txBody>
      </p:sp>
      <p:sp>
        <p:nvSpPr>
          <p:cNvPr id="5" name="Slide Number Placeholder 4"/>
          <p:cNvSpPr>
            <a:spLocks noGrp="1"/>
          </p:cNvSpPr>
          <p:nvPr>
            <p:ph type="sldNum" sz="quarter" idx="12"/>
          </p:nvPr>
        </p:nvSpPr>
        <p:spPr/>
        <p:txBody>
          <a:bodyPr/>
          <a:lstStyle/>
          <a:p>
            <a:fld id="{20317CA6-3557-4F90-84AF-53D5354FC7C6}" type="slidenum">
              <a:rPr lang="en-US" smtClean="0"/>
              <a:pPr/>
              <a:t>10</a:t>
            </a:fld>
            <a:endParaRPr lang="en-US"/>
          </a:p>
        </p:txBody>
      </p:sp>
      <p:sp>
        <p:nvSpPr>
          <p:cNvPr id="9" name="Oval Callout 8"/>
          <p:cNvSpPr/>
          <p:nvPr/>
        </p:nvSpPr>
        <p:spPr bwMode="auto">
          <a:xfrm>
            <a:off x="152400" y="1828800"/>
            <a:ext cx="4038600" cy="2971800"/>
          </a:xfrm>
          <a:prstGeom prst="wedgeEllipseCallout">
            <a:avLst>
              <a:gd name="adj1" fmla="val 68425"/>
              <a:gd name="adj2" fmla="val -30687"/>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ahoma" pitchFamily="34" charset="0"/>
              </a:rPr>
              <a:t>UML is </a:t>
            </a:r>
            <a:r>
              <a:rPr kumimoji="0" lang="en-US" sz="2400" b="0" i="0" u="none" strike="noStrike" cap="none" normalizeH="0" baseline="0" dirty="0">
                <a:ln>
                  <a:noFill/>
                </a:ln>
                <a:solidFill>
                  <a:srgbClr val="FF0000"/>
                </a:solidFill>
                <a:effectLst/>
                <a:latin typeface="Tahoma" pitchFamily="34" charset="0"/>
              </a:rPr>
              <a:t>NOT</a:t>
            </a:r>
          </a:p>
          <a:p>
            <a:pPr marL="0" marR="0" indent="0" algn="l" defTabSz="914400" rtl="0" eaLnBrk="1" fontAlgn="base" latinLnBrk="0" hangingPunct="1">
              <a:lnSpc>
                <a:spcPct val="100000"/>
              </a:lnSpc>
              <a:spcBef>
                <a:spcPct val="0"/>
              </a:spcBef>
              <a:spcAft>
                <a:spcPct val="0"/>
              </a:spcAft>
              <a:buClrTx/>
              <a:buSzTx/>
              <a:buFont typeface="Arial" pitchFamily="34" charset="0"/>
              <a:buChar char="•"/>
              <a:tabLst/>
            </a:pPr>
            <a:r>
              <a:rPr lang="en-US" dirty="0"/>
              <a:t>a visual programming </a:t>
            </a:r>
          </a:p>
          <a:p>
            <a:pPr marL="0" marR="0" indent="0" algn="l" defTabSz="914400" rtl="0" eaLnBrk="1" fontAlgn="base" latinLnBrk="0" hangingPunct="1">
              <a:lnSpc>
                <a:spcPct val="100000"/>
              </a:lnSpc>
              <a:spcBef>
                <a:spcPct val="0"/>
              </a:spcBef>
              <a:spcAft>
                <a:spcPct val="0"/>
              </a:spcAft>
              <a:buClrTx/>
              <a:buSzTx/>
              <a:tabLst/>
            </a:pPr>
            <a:r>
              <a:rPr lang="en-US" dirty="0"/>
              <a:t>language</a:t>
            </a:r>
          </a:p>
          <a:p>
            <a:pPr marL="0" marR="0" indent="0" algn="l" defTabSz="914400" rtl="0" eaLnBrk="1" fontAlgn="base" latinLnBrk="0" hangingPunct="1">
              <a:lnSpc>
                <a:spcPct val="100000"/>
              </a:lnSpc>
              <a:spcBef>
                <a:spcPct val="0"/>
              </a:spcBef>
              <a:spcAft>
                <a:spcPct val="0"/>
              </a:spcAft>
              <a:buClrTx/>
              <a:buSzTx/>
              <a:buFont typeface="Arial" pitchFamily="34" charset="0"/>
              <a:buChar char="•"/>
              <a:tabLst/>
            </a:pPr>
            <a:r>
              <a:rPr lang="en-US" dirty="0"/>
              <a:t>a tool or repository </a:t>
            </a:r>
          </a:p>
          <a:p>
            <a:pPr marL="0" marR="0" indent="0" algn="l" defTabSz="914400" rtl="0" eaLnBrk="1" fontAlgn="base" latinLnBrk="0" hangingPunct="1">
              <a:lnSpc>
                <a:spcPct val="100000"/>
              </a:lnSpc>
              <a:spcBef>
                <a:spcPct val="0"/>
              </a:spcBef>
              <a:spcAft>
                <a:spcPct val="0"/>
              </a:spcAft>
              <a:buClrTx/>
              <a:buSzTx/>
              <a:tabLst/>
            </a:pPr>
            <a:r>
              <a:rPr lang="en-US" dirty="0"/>
              <a:t>specification</a:t>
            </a:r>
          </a:p>
          <a:p>
            <a:pPr marL="0" marR="0" indent="0" algn="l" defTabSz="914400" rtl="0" eaLnBrk="1" fontAlgn="base" latinLnBrk="0" hangingPunct="1">
              <a:lnSpc>
                <a:spcPct val="100000"/>
              </a:lnSpc>
              <a:spcBef>
                <a:spcPct val="0"/>
              </a:spcBef>
              <a:spcAft>
                <a:spcPct val="0"/>
              </a:spcAft>
              <a:buClrTx/>
              <a:buSzTx/>
              <a:buFont typeface="Arial" pitchFamily="34" charset="0"/>
              <a:buChar char="•"/>
              <a:tabLst/>
            </a:pPr>
            <a:r>
              <a:rPr lang="en-US" dirty="0"/>
              <a:t>a process</a:t>
            </a:r>
          </a:p>
          <a:p>
            <a:pPr marL="0" marR="0" indent="0" algn="l" defTabSz="914400" rtl="0" eaLnBrk="1" fontAlgn="base" latinLnBrk="0" hangingPunct="1">
              <a:lnSpc>
                <a:spcPct val="100000"/>
              </a:lnSpc>
              <a:spcBef>
                <a:spcPct val="0"/>
              </a:spcBef>
              <a:spcAft>
                <a:spcPct val="0"/>
              </a:spcAft>
              <a:buClrTx/>
              <a:buSzTx/>
              <a:buFont typeface="Arial" pitchFamily="34" charset="0"/>
              <a:buChar char="•"/>
              <a:tabLst/>
            </a:pPr>
            <a:endParaRPr lang="en-US" dirty="0"/>
          </a:p>
          <a:p>
            <a:pPr marL="0" marR="0" indent="0" algn="l" defTabSz="914400" rtl="0" eaLnBrk="1" fontAlgn="base" latinLnBrk="0" hangingPunct="1">
              <a:lnSpc>
                <a:spcPct val="100000"/>
              </a:lnSpc>
              <a:spcBef>
                <a:spcPct val="0"/>
              </a:spcBef>
              <a:spcAft>
                <a:spcPct val="0"/>
              </a:spcAft>
              <a:buClrTx/>
              <a:buSzTx/>
              <a:buFont typeface="Arial" pitchFamily="34" charset="0"/>
              <a:buChar char="•"/>
              <a:tabLst/>
            </a:pPr>
            <a:endParaRPr lang="en-US" dirty="0"/>
          </a:p>
          <a:p>
            <a:pPr marL="0" marR="0" indent="0" algn="l" defTabSz="914400" rtl="0" eaLnBrk="1" fontAlgn="base" latinLnBrk="0" hangingPunct="1">
              <a:lnSpc>
                <a:spcPct val="100000"/>
              </a:lnSpc>
              <a:spcBef>
                <a:spcPct val="0"/>
              </a:spcBef>
              <a:spcAft>
                <a:spcPct val="0"/>
              </a:spcAft>
              <a:buClrTx/>
              <a:buSzTx/>
              <a:buFont typeface="Arial" pitchFamily="34" charset="0"/>
              <a:buChar char="•"/>
              <a:tabLst/>
            </a:pPr>
            <a:endParaRPr kumimoji="0" lang="en-US" sz="2400" b="0" i="0" u="none" strike="noStrike" cap="none" normalizeH="0" baseline="0" dirty="0">
              <a:ln>
                <a:noFill/>
              </a:ln>
              <a:solidFill>
                <a:schemeClr val="tx1"/>
              </a:solidFill>
              <a:effectLst/>
              <a:latin typeface="Tahoma" pitchFamily="34" charset="0"/>
            </a:endParaRPr>
          </a:p>
        </p:txBody>
      </p:sp>
      <p:sp>
        <p:nvSpPr>
          <p:cNvPr id="10" name="Oval Callout 9"/>
          <p:cNvSpPr/>
          <p:nvPr/>
        </p:nvSpPr>
        <p:spPr bwMode="auto">
          <a:xfrm>
            <a:off x="4114800" y="3581400"/>
            <a:ext cx="4648200" cy="2514600"/>
          </a:xfrm>
          <a:prstGeom prst="wedgeEllipseCallout">
            <a:avLst>
              <a:gd name="adj1" fmla="val -7313"/>
              <a:gd name="adj2" fmla="val -81125"/>
            </a:avLst>
          </a:prstGeom>
          <a:solidFill>
            <a:schemeClr val="accent2">
              <a:lumMod val="40000"/>
              <a:lumOff val="6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ahoma" pitchFamily="34" charset="0"/>
              </a:rPr>
              <a:t>UML </a:t>
            </a:r>
            <a:r>
              <a:rPr kumimoji="0" lang="en-US" sz="2400" b="0" i="0" u="none" strike="noStrike" cap="none" normalizeH="0" baseline="0" dirty="0">
                <a:ln>
                  <a:noFill/>
                </a:ln>
                <a:solidFill>
                  <a:srgbClr val="FF0000"/>
                </a:solidFill>
                <a:effectLst/>
                <a:latin typeface="Tahoma" pitchFamily="34" charset="0"/>
              </a:rPr>
              <a:t>IS</a:t>
            </a:r>
          </a:p>
          <a:p>
            <a:pPr marL="0" marR="0" indent="0" algn="l" defTabSz="914400" rtl="0" eaLnBrk="1" fontAlgn="base" latinLnBrk="0" hangingPunct="1">
              <a:lnSpc>
                <a:spcPct val="100000"/>
              </a:lnSpc>
              <a:spcBef>
                <a:spcPct val="0"/>
              </a:spcBef>
              <a:spcAft>
                <a:spcPct val="0"/>
              </a:spcAft>
              <a:buClrTx/>
              <a:buSzTx/>
              <a:buFont typeface="Arial" pitchFamily="34" charset="0"/>
              <a:buChar char="•"/>
              <a:tabLst/>
            </a:pPr>
            <a:r>
              <a:rPr lang="en-US" dirty="0"/>
              <a:t>a </a:t>
            </a:r>
            <a:r>
              <a:rPr lang="en-US" dirty="0">
                <a:solidFill>
                  <a:srgbClr val="FF0000"/>
                </a:solidFill>
              </a:rPr>
              <a:t>visual modeling</a:t>
            </a:r>
            <a:r>
              <a:rPr lang="en-US" dirty="0"/>
              <a:t> language</a:t>
            </a:r>
          </a:p>
          <a:p>
            <a:pPr marL="0" marR="0" indent="0" algn="l" defTabSz="914400" rtl="0" eaLnBrk="1" fontAlgn="base" latinLnBrk="0" hangingPunct="1">
              <a:lnSpc>
                <a:spcPct val="100000"/>
              </a:lnSpc>
              <a:spcBef>
                <a:spcPct val="0"/>
              </a:spcBef>
              <a:spcAft>
                <a:spcPct val="0"/>
              </a:spcAft>
              <a:buClrTx/>
              <a:buSzTx/>
              <a:buFont typeface="Arial" pitchFamily="34" charset="0"/>
              <a:buChar char="•"/>
              <a:tabLst/>
            </a:pPr>
            <a:r>
              <a:rPr lang="en-US" dirty="0"/>
              <a:t>a </a:t>
            </a:r>
            <a:r>
              <a:rPr lang="en-US" dirty="0">
                <a:solidFill>
                  <a:srgbClr val="FF0000"/>
                </a:solidFill>
              </a:rPr>
              <a:t>modeling language </a:t>
            </a:r>
          </a:p>
          <a:p>
            <a:pPr marL="0" marR="0" indent="0" algn="l" defTabSz="914400" rtl="0" eaLnBrk="1" fontAlgn="base" latinLnBrk="0" hangingPunct="1">
              <a:lnSpc>
                <a:spcPct val="100000"/>
              </a:lnSpc>
              <a:spcBef>
                <a:spcPct val="0"/>
              </a:spcBef>
              <a:spcAft>
                <a:spcPct val="0"/>
              </a:spcAft>
              <a:buClrTx/>
              <a:buSzTx/>
              <a:tabLst/>
            </a:pPr>
            <a:r>
              <a:rPr lang="en-US" dirty="0"/>
              <a:t>specification</a:t>
            </a:r>
          </a:p>
          <a:p>
            <a:pPr marL="0" marR="0" indent="0" algn="l" defTabSz="914400" rtl="0" eaLnBrk="1" fontAlgn="base" latinLnBrk="0" hangingPunct="1">
              <a:lnSpc>
                <a:spcPct val="100000"/>
              </a:lnSpc>
              <a:spcBef>
                <a:spcPct val="0"/>
              </a:spcBef>
              <a:spcAft>
                <a:spcPct val="0"/>
              </a:spcAft>
              <a:buClrTx/>
              <a:buSzTx/>
              <a:buFont typeface="Arial" pitchFamily="34" charset="0"/>
              <a:buChar char="•"/>
              <a:tabLst/>
            </a:pPr>
            <a:r>
              <a:rPr lang="en-US" dirty="0"/>
              <a:t>enable processes</a:t>
            </a:r>
          </a:p>
          <a:p>
            <a:pPr marL="0" marR="0" indent="0" algn="l" defTabSz="914400" rtl="0" eaLnBrk="1" fontAlgn="base" latinLnBrk="0" hangingPunct="1">
              <a:lnSpc>
                <a:spcPct val="100000"/>
              </a:lnSpc>
              <a:spcBef>
                <a:spcPct val="0"/>
              </a:spcBef>
              <a:spcAft>
                <a:spcPct val="0"/>
              </a:spcAft>
              <a:buClrTx/>
              <a:buSzTx/>
              <a:buFont typeface="Arial" pitchFamily="34" charset="0"/>
              <a:buChar char="•"/>
              <a:tabLst/>
            </a:pPr>
            <a:endParaRPr lang="en-US" dirty="0"/>
          </a:p>
          <a:p>
            <a:pPr marL="0" marR="0" indent="0" algn="l" defTabSz="914400" rtl="0" eaLnBrk="1" fontAlgn="base" latinLnBrk="0" hangingPunct="1">
              <a:lnSpc>
                <a:spcPct val="100000"/>
              </a:lnSpc>
              <a:spcBef>
                <a:spcPct val="0"/>
              </a:spcBef>
              <a:spcAft>
                <a:spcPct val="0"/>
              </a:spcAft>
              <a:buClrTx/>
              <a:buSzTx/>
              <a:buFont typeface="Arial" pitchFamily="34" charset="0"/>
              <a:buChar char="•"/>
              <a:tabLst/>
            </a:pPr>
            <a:endParaRPr lang="en-US" dirty="0"/>
          </a:p>
          <a:p>
            <a:pPr marL="0" marR="0" indent="0" algn="l" defTabSz="914400" rtl="0" eaLnBrk="1" fontAlgn="base" latinLnBrk="0" hangingPunct="1">
              <a:lnSpc>
                <a:spcPct val="100000"/>
              </a:lnSpc>
              <a:spcBef>
                <a:spcPct val="0"/>
              </a:spcBef>
              <a:spcAft>
                <a:spcPct val="0"/>
              </a:spcAft>
              <a:buClrTx/>
              <a:buSzTx/>
              <a:buFont typeface="Arial" pitchFamily="34" charset="0"/>
              <a:buChar char="•"/>
              <a:tabLst/>
            </a:pPr>
            <a:endParaRPr kumimoji="0" lang="en-US" sz="2400" b="0" i="0" u="none" strike="noStrike" cap="none" normalizeH="0" baseline="0" dirty="0">
              <a:ln>
                <a:noFill/>
              </a:ln>
              <a:solidFill>
                <a:schemeClr val="tx1"/>
              </a:solidFill>
              <a:effectLst/>
              <a:latin typeface="Tahoma" pitchFamily="34" charset="0"/>
            </a:endParaRPr>
          </a:p>
        </p:txBody>
      </p:sp>
      <p:pic>
        <p:nvPicPr>
          <p:cNvPr id="3075" name="Picture 3" descr="C:\Documents and Settings\Administrator\Local Settings\Temporary Internet Files\Content.IE5\5NTM8IKV\MC900440454[1].wmf"/>
          <p:cNvPicPr>
            <a:picLocks noChangeAspect="1" noChangeArrowheads="1"/>
          </p:cNvPicPr>
          <p:nvPr/>
        </p:nvPicPr>
        <p:blipFill>
          <a:blip r:embed="rId2" cstate="print"/>
          <a:srcRect/>
          <a:stretch>
            <a:fillRect/>
          </a:stretch>
        </p:blipFill>
        <p:spPr bwMode="auto">
          <a:xfrm>
            <a:off x="4572000" y="1676400"/>
            <a:ext cx="1600200" cy="1828800"/>
          </a:xfrm>
          <a:prstGeom prst="rect">
            <a:avLst/>
          </a:prstGeom>
          <a:noFill/>
        </p:spPr>
      </p:pic>
      <p:sp>
        <p:nvSpPr>
          <p:cNvPr id="7" name="Footer Placeholder 6"/>
          <p:cNvSpPr>
            <a:spLocks noGrp="1"/>
          </p:cNvSpPr>
          <p:nvPr>
            <p:ph type="ftr" sz="quarter" idx="11"/>
          </p:nvPr>
        </p:nvSpPr>
        <p:spPr/>
        <p:txBody>
          <a:bodyPr/>
          <a:lstStyle/>
          <a:p>
            <a:r>
              <a:rPr lang="en-US"/>
              <a:t>Chapter 6-Object-oriented design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00FA7F9E-B495-4A42-B1AF-EF58A5342229}" type="slidenum">
              <a:rPr lang="en-US"/>
              <a:pPr/>
              <a:t>11</a:t>
            </a:fld>
            <a:endParaRPr lang="en-US"/>
          </a:p>
        </p:txBody>
      </p:sp>
      <p:sp>
        <p:nvSpPr>
          <p:cNvPr id="13314" name="Rectangle 2"/>
          <p:cNvSpPr>
            <a:spLocks noGrp="1" noChangeArrowheads="1"/>
          </p:cNvSpPr>
          <p:nvPr>
            <p:ph type="title"/>
          </p:nvPr>
        </p:nvSpPr>
        <p:spPr>
          <a:xfrm>
            <a:off x="1150939" y="617538"/>
            <a:ext cx="7154862" cy="1143000"/>
          </a:xfrm>
        </p:spPr>
        <p:txBody>
          <a:bodyPr/>
          <a:lstStyle/>
          <a:p>
            <a:r>
              <a:rPr lang="en-US" dirty="0"/>
              <a:t>Types of UML Diagrams</a:t>
            </a:r>
          </a:p>
        </p:txBody>
      </p:sp>
      <p:sp>
        <p:nvSpPr>
          <p:cNvPr id="13315" name="Rectangle 3"/>
          <p:cNvSpPr>
            <a:spLocks noGrp="1" noChangeArrowheads="1"/>
          </p:cNvSpPr>
          <p:nvPr>
            <p:ph type="body" idx="1"/>
          </p:nvPr>
        </p:nvSpPr>
        <p:spPr>
          <a:xfrm>
            <a:off x="381000" y="1981200"/>
            <a:ext cx="8229600" cy="4419600"/>
          </a:xfrm>
        </p:spPr>
        <p:txBody>
          <a:bodyPr/>
          <a:lstStyle/>
          <a:p>
            <a:pPr>
              <a:lnSpc>
                <a:spcPct val="90000"/>
              </a:lnSpc>
            </a:pPr>
            <a:r>
              <a:rPr lang="en-US" sz="2000" dirty="0"/>
              <a:t>Each UML diagram is designed to let customers and developers view a software system from a different perspective and in varying degrees of abstraction. UML diagrams include :</a:t>
            </a:r>
          </a:p>
          <a:p>
            <a:pPr lvl="1">
              <a:lnSpc>
                <a:spcPct val="90000"/>
              </a:lnSpc>
            </a:pPr>
            <a:r>
              <a:rPr lang="en-US" sz="2000" i="1" dirty="0"/>
              <a:t>User model view= </a:t>
            </a:r>
            <a:r>
              <a:rPr lang="en-US" sz="2000" i="1" dirty="0">
                <a:solidFill>
                  <a:srgbClr val="FF0000"/>
                </a:solidFill>
              </a:rPr>
              <a:t>Use-case </a:t>
            </a:r>
            <a:r>
              <a:rPr lang="en-US" sz="2000" i="1" dirty="0" err="1">
                <a:solidFill>
                  <a:srgbClr val="FF0000"/>
                </a:solidFill>
              </a:rPr>
              <a:t>diagram</a:t>
            </a:r>
            <a:r>
              <a:rPr lang="en-US" sz="2000" i="1" dirty="0" err="1">
                <a:sym typeface="Wingdings" pitchFamily="2" charset="2"/>
              </a:rPr>
              <a:t></a:t>
            </a:r>
            <a:r>
              <a:rPr lang="en-US" sz="2000" i="1" dirty="0" err="1"/>
              <a:t>functionality</a:t>
            </a:r>
            <a:r>
              <a:rPr lang="en-US" sz="2000" i="1" dirty="0"/>
              <a:t> of a system </a:t>
            </a:r>
          </a:p>
          <a:p>
            <a:pPr lvl="1">
              <a:lnSpc>
                <a:spcPct val="90000"/>
              </a:lnSpc>
            </a:pPr>
            <a:r>
              <a:rPr lang="en-US" sz="2000" i="1" dirty="0"/>
              <a:t>Structural model view= </a:t>
            </a:r>
            <a:r>
              <a:rPr lang="en-US" sz="2000" i="1" dirty="0">
                <a:solidFill>
                  <a:srgbClr val="FF0000"/>
                </a:solidFill>
              </a:rPr>
              <a:t>Class diagram</a:t>
            </a:r>
            <a:r>
              <a:rPr lang="en-US" sz="2000" i="1" dirty="0">
                <a:solidFill>
                  <a:srgbClr val="FF0000"/>
                </a:solidFill>
                <a:sym typeface="Wingdings" pitchFamily="2" charset="2"/>
              </a:rPr>
              <a:t> </a:t>
            </a:r>
            <a:r>
              <a:rPr lang="en-US" sz="2000" i="1" dirty="0">
                <a:sym typeface="Wingdings" pitchFamily="2" charset="2"/>
              </a:rPr>
              <a:t>static structure of a system</a:t>
            </a:r>
          </a:p>
          <a:p>
            <a:pPr lvl="1">
              <a:lnSpc>
                <a:spcPct val="90000"/>
              </a:lnSpc>
            </a:pPr>
            <a:r>
              <a:rPr lang="en-US" sz="2000" i="1" dirty="0"/>
              <a:t>Behavioral model view =</a:t>
            </a:r>
          </a:p>
          <a:p>
            <a:pPr lvl="2">
              <a:lnSpc>
                <a:spcPct val="90000"/>
              </a:lnSpc>
            </a:pPr>
            <a:r>
              <a:rPr lang="en-US" sz="2000" i="1" dirty="0">
                <a:solidFill>
                  <a:srgbClr val="FF0000"/>
                </a:solidFill>
              </a:rPr>
              <a:t>Sequence diagram </a:t>
            </a:r>
            <a:r>
              <a:rPr lang="en-US" sz="2000" i="1" dirty="0">
                <a:sym typeface="Wingdings" pitchFamily="2" charset="2"/>
              </a:rPr>
              <a:t></a:t>
            </a:r>
            <a:r>
              <a:rPr lang="en-US" sz="2000" i="1" dirty="0"/>
              <a:t> interaction among elements of a system in a time sequence</a:t>
            </a:r>
          </a:p>
          <a:p>
            <a:pPr lvl="2">
              <a:lnSpc>
                <a:spcPct val="90000"/>
              </a:lnSpc>
            </a:pPr>
            <a:r>
              <a:rPr lang="en-US" sz="2000" i="1" dirty="0">
                <a:solidFill>
                  <a:srgbClr val="FF0000"/>
                </a:solidFill>
              </a:rPr>
              <a:t>Collaboration diagram </a:t>
            </a:r>
            <a:r>
              <a:rPr lang="en-US" sz="2000" i="1" dirty="0">
                <a:sym typeface="Wingdings" pitchFamily="2" charset="2"/>
              </a:rPr>
              <a:t></a:t>
            </a:r>
            <a:r>
              <a:rPr lang="en-US" sz="2000" i="1" dirty="0"/>
              <a:t> interaction among elements and their relations </a:t>
            </a:r>
            <a:r>
              <a:rPr lang="en-US" sz="2000" i="1" dirty="0" err="1"/>
              <a:t>organised</a:t>
            </a:r>
            <a:r>
              <a:rPr lang="en-US" sz="2000" i="1" dirty="0"/>
              <a:t> in time and space</a:t>
            </a:r>
          </a:p>
          <a:p>
            <a:pPr lvl="2">
              <a:lnSpc>
                <a:spcPct val="90000"/>
              </a:lnSpc>
            </a:pPr>
            <a:r>
              <a:rPr lang="en-US" sz="2000" i="1" dirty="0">
                <a:solidFill>
                  <a:srgbClr val="FF0000"/>
                </a:solidFill>
              </a:rPr>
              <a:t>State </a:t>
            </a:r>
            <a:r>
              <a:rPr lang="en-US" sz="2000" i="1" dirty="0" err="1">
                <a:solidFill>
                  <a:srgbClr val="FF0000"/>
                </a:solidFill>
              </a:rPr>
              <a:t>diagram</a:t>
            </a:r>
            <a:r>
              <a:rPr lang="en-US" sz="2000" i="1" dirty="0" err="1">
                <a:sym typeface="Wingdings" pitchFamily="2" charset="2"/>
              </a:rPr>
              <a:t>the</a:t>
            </a:r>
            <a:r>
              <a:rPr lang="en-US" sz="2000" i="1" dirty="0">
                <a:sym typeface="Wingdings" pitchFamily="2" charset="2"/>
              </a:rPr>
              <a:t> status condition and responses of the elements of a system</a:t>
            </a:r>
          </a:p>
          <a:p>
            <a:pPr lvl="2">
              <a:lnSpc>
                <a:spcPct val="90000"/>
              </a:lnSpc>
            </a:pPr>
            <a:r>
              <a:rPr lang="en-US" sz="2000" i="1" dirty="0">
                <a:solidFill>
                  <a:srgbClr val="FF0000"/>
                </a:solidFill>
                <a:sym typeface="Wingdings" pitchFamily="2" charset="2"/>
              </a:rPr>
              <a:t>Activity </a:t>
            </a:r>
            <a:r>
              <a:rPr lang="en-US" sz="2000" i="1" dirty="0" err="1">
                <a:solidFill>
                  <a:srgbClr val="FF0000"/>
                </a:solidFill>
                <a:sym typeface="Wingdings" pitchFamily="2" charset="2"/>
              </a:rPr>
              <a:t>diagram</a:t>
            </a:r>
            <a:r>
              <a:rPr lang="en-US" sz="2000" i="1" dirty="0" err="1">
                <a:sym typeface="Wingdings" pitchFamily="2" charset="2"/>
              </a:rPr>
              <a:t>the</a:t>
            </a:r>
            <a:r>
              <a:rPr lang="en-US" sz="2000" i="1" dirty="0">
                <a:sym typeface="Wingdings" pitchFamily="2" charset="2"/>
              </a:rPr>
              <a:t> activities of the system</a:t>
            </a:r>
            <a:endParaRPr lang="en-US" dirty="0"/>
          </a:p>
          <a:p>
            <a:pPr lvl="1">
              <a:lnSpc>
                <a:spcPct val="90000"/>
              </a:lnSpc>
              <a:buNone/>
            </a:pPr>
            <a:endParaRPr lang="en-US" sz="2000" i="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UML Diagrams</a:t>
            </a:r>
          </a:p>
        </p:txBody>
      </p:sp>
      <p:sp>
        <p:nvSpPr>
          <p:cNvPr id="3" name="Content Placeholder 2"/>
          <p:cNvSpPr>
            <a:spLocks noGrp="1"/>
          </p:cNvSpPr>
          <p:nvPr>
            <p:ph idx="1"/>
          </p:nvPr>
        </p:nvSpPr>
        <p:spPr>
          <a:xfrm>
            <a:off x="609600" y="2133600"/>
            <a:ext cx="8040688" cy="4114800"/>
          </a:xfrm>
        </p:spPr>
        <p:txBody>
          <a:bodyPr/>
          <a:lstStyle/>
          <a:p>
            <a:pPr lvl="1">
              <a:lnSpc>
                <a:spcPct val="90000"/>
              </a:lnSpc>
            </a:pPr>
            <a:r>
              <a:rPr lang="en-US" sz="2400" i="1" dirty="0"/>
              <a:t>Implementation model view= </a:t>
            </a:r>
            <a:r>
              <a:rPr lang="en-US" sz="2400" i="1" dirty="0">
                <a:solidFill>
                  <a:srgbClr val="FF0000"/>
                </a:solidFill>
              </a:rPr>
              <a:t>Component diagram </a:t>
            </a:r>
            <a:r>
              <a:rPr lang="en-US" sz="2400" i="1" dirty="0">
                <a:sym typeface="Wingdings" pitchFamily="2" charset="2"/>
              </a:rPr>
              <a:t>the organization of the elements realizing the system </a:t>
            </a:r>
          </a:p>
          <a:p>
            <a:pPr lvl="1">
              <a:lnSpc>
                <a:spcPct val="90000"/>
              </a:lnSpc>
              <a:buNone/>
            </a:pPr>
            <a:endParaRPr lang="en-US" sz="2400" i="1" dirty="0">
              <a:sym typeface="Wingdings" pitchFamily="2" charset="2"/>
            </a:endParaRPr>
          </a:p>
          <a:p>
            <a:pPr lvl="1">
              <a:lnSpc>
                <a:spcPct val="90000"/>
              </a:lnSpc>
            </a:pPr>
            <a:r>
              <a:rPr lang="en-US" sz="2400" i="1" dirty="0">
                <a:sym typeface="Wingdings" pitchFamily="2" charset="2"/>
              </a:rPr>
              <a:t>Environment model view= </a:t>
            </a:r>
            <a:r>
              <a:rPr lang="en-US" sz="2400" i="1" dirty="0">
                <a:solidFill>
                  <a:srgbClr val="FF0000"/>
                </a:solidFill>
                <a:sym typeface="Wingdings" pitchFamily="2" charset="2"/>
              </a:rPr>
              <a:t>Deployment diagram </a:t>
            </a:r>
            <a:r>
              <a:rPr lang="en-US" sz="2400" i="1" dirty="0">
                <a:sym typeface="Wingdings" pitchFamily="2" charset="2"/>
              </a:rPr>
              <a:t> configuration of environment elements and the mapping of elements realizing the system into them</a:t>
            </a:r>
          </a:p>
          <a:p>
            <a:pPr lvl="1">
              <a:lnSpc>
                <a:spcPct val="90000"/>
              </a:lnSpc>
            </a:pPr>
            <a:endParaRPr lang="en-US" sz="2400" i="1" dirty="0">
              <a:sym typeface="Wingdings" pitchFamily="2" charset="2"/>
            </a:endParaRPr>
          </a:p>
          <a:p>
            <a:pPr lvl="1">
              <a:lnSpc>
                <a:spcPct val="90000"/>
              </a:lnSpc>
            </a:pPr>
            <a:r>
              <a:rPr lang="en-US" sz="2400" dirty="0"/>
              <a:t>Other views can be defined as needed </a:t>
            </a:r>
          </a:p>
          <a:p>
            <a:pPr lvl="1">
              <a:lnSpc>
                <a:spcPct val="90000"/>
              </a:lnSpc>
            </a:pPr>
            <a:endParaRPr lang="en-US" sz="2000" i="1" dirty="0"/>
          </a:p>
        </p:txBody>
      </p:sp>
      <p:sp>
        <p:nvSpPr>
          <p:cNvPr id="4" name="Footer Placeholder 3"/>
          <p:cNvSpPr>
            <a:spLocks noGrp="1"/>
          </p:cNvSpPr>
          <p:nvPr>
            <p:ph type="ftr" sz="quarter" idx="11"/>
          </p:nvPr>
        </p:nvSpPr>
        <p:spPr/>
        <p:txBody>
          <a:bodyPr/>
          <a:lstStyle/>
          <a:p>
            <a:r>
              <a:rPr lang="en-US"/>
              <a:t>Chapter 6-Object-oriented design</a:t>
            </a:r>
          </a:p>
        </p:txBody>
      </p:sp>
      <p:sp>
        <p:nvSpPr>
          <p:cNvPr id="5" name="Slide Number Placeholder 4"/>
          <p:cNvSpPr>
            <a:spLocks noGrp="1"/>
          </p:cNvSpPr>
          <p:nvPr>
            <p:ph type="sldNum" sz="quarter" idx="12"/>
          </p:nvPr>
        </p:nvSpPr>
        <p:spPr/>
        <p:txBody>
          <a:bodyPr/>
          <a:lstStyle/>
          <a:p>
            <a:fld id="{20317CA6-3557-4F90-84AF-53D5354FC7C6}"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BC3E51DA-5C77-4556-8B76-F23852F1B88E}" type="slidenum">
              <a:rPr lang="en-US"/>
              <a:pPr/>
              <a:t>13</a:t>
            </a:fld>
            <a:endParaRPr lang="en-US"/>
          </a:p>
        </p:txBody>
      </p:sp>
      <p:sp>
        <p:nvSpPr>
          <p:cNvPr id="17410" name="Rectangle 2"/>
          <p:cNvSpPr>
            <a:spLocks noGrp="1" noChangeArrowheads="1"/>
          </p:cNvSpPr>
          <p:nvPr>
            <p:ph type="title"/>
          </p:nvPr>
        </p:nvSpPr>
        <p:spPr/>
        <p:txBody>
          <a:bodyPr/>
          <a:lstStyle/>
          <a:p>
            <a:r>
              <a:rPr lang="en-US" dirty="0"/>
              <a:t>Object-Oriented Analysis</a:t>
            </a:r>
          </a:p>
        </p:txBody>
      </p:sp>
      <p:sp>
        <p:nvSpPr>
          <p:cNvPr id="17411" name="Rectangle 3"/>
          <p:cNvSpPr>
            <a:spLocks noGrp="1" noChangeArrowheads="1"/>
          </p:cNvSpPr>
          <p:nvPr>
            <p:ph type="body" idx="1"/>
          </p:nvPr>
        </p:nvSpPr>
        <p:spPr/>
        <p:txBody>
          <a:bodyPr/>
          <a:lstStyle/>
          <a:p>
            <a:r>
              <a:rPr lang="en-US" sz="2800"/>
              <a:t>OOA process :-</a:t>
            </a:r>
          </a:p>
          <a:p>
            <a:pPr lvl="1"/>
            <a:r>
              <a:rPr lang="en-US" sz="2400"/>
              <a:t>1. Identify the actors</a:t>
            </a:r>
          </a:p>
          <a:p>
            <a:pPr lvl="1"/>
            <a:r>
              <a:rPr lang="en-US" sz="2400"/>
              <a:t>2. Develop a simple business process model using UML activity diagram</a:t>
            </a:r>
          </a:p>
          <a:p>
            <a:pPr lvl="1"/>
            <a:r>
              <a:rPr lang="en-US" sz="2400"/>
              <a:t>3. Develop the use-cases</a:t>
            </a:r>
          </a:p>
          <a:p>
            <a:pPr lvl="1"/>
            <a:r>
              <a:rPr lang="en-US" sz="2400"/>
              <a:t>4. Prepare interaction diagrams</a:t>
            </a:r>
          </a:p>
          <a:p>
            <a:pPr lvl="1"/>
            <a:r>
              <a:rPr lang="en-US" sz="2400"/>
              <a:t>5. Classification –develop a static UML class diagram</a:t>
            </a:r>
          </a:p>
          <a:p>
            <a:pPr lvl="1"/>
            <a:r>
              <a:rPr lang="en-US" sz="2400"/>
              <a:t>6. Iterate and refine</a:t>
            </a:r>
          </a:p>
          <a:p>
            <a:pPr lvl="1"/>
            <a:endParaRPr 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5"/>
          <p:cNvSpPr>
            <a:spLocks noGrp="1" noChangeArrowheads="1"/>
          </p:cNvSpPr>
          <p:nvPr>
            <p:ph type="ftr" sz="quarter" idx="3"/>
          </p:nvPr>
        </p:nvSpPr>
        <p:spPr/>
        <p:txBody>
          <a:bodyPr/>
          <a:lstStyle/>
          <a:p>
            <a:r>
              <a:rPr lang="en-US"/>
              <a:t>Chapter 6-Object-oriented design</a:t>
            </a:r>
          </a:p>
        </p:txBody>
      </p:sp>
      <p:sp>
        <p:nvSpPr>
          <p:cNvPr id="4" name="Rectangle 16"/>
          <p:cNvSpPr>
            <a:spLocks noGrp="1" noChangeArrowheads="1"/>
          </p:cNvSpPr>
          <p:nvPr>
            <p:ph type="sldNum" sz="quarter" idx="4"/>
          </p:nvPr>
        </p:nvSpPr>
        <p:spPr/>
        <p:txBody>
          <a:bodyPr/>
          <a:lstStyle/>
          <a:p>
            <a:fld id="{5B42ED6E-735C-494F-B48B-544B18717A4C}" type="slidenum">
              <a:rPr lang="en-US"/>
              <a:pPr/>
              <a:t>14</a:t>
            </a:fld>
            <a:endParaRPr lang="en-US"/>
          </a:p>
        </p:txBody>
      </p:sp>
      <p:sp>
        <p:nvSpPr>
          <p:cNvPr id="18434" name="Rectangle 2"/>
          <p:cNvSpPr>
            <a:spLocks noGrp="1" noChangeArrowheads="1"/>
          </p:cNvSpPr>
          <p:nvPr>
            <p:ph type="ctrTitle"/>
          </p:nvPr>
        </p:nvSpPr>
        <p:spPr/>
        <p:txBody>
          <a:bodyPr/>
          <a:lstStyle/>
          <a:p>
            <a:r>
              <a:rPr lang="en-US" dirty="0"/>
              <a:t>User Model View</a:t>
            </a:r>
          </a:p>
        </p:txBody>
      </p:sp>
      <p:sp>
        <p:nvSpPr>
          <p:cNvPr id="5" name="Rectangle 4"/>
          <p:cNvSpPr/>
          <p:nvPr/>
        </p:nvSpPr>
        <p:spPr>
          <a:xfrm>
            <a:off x="1295400" y="3429000"/>
            <a:ext cx="6172200" cy="523220"/>
          </a:xfrm>
          <a:prstGeom prst="rect">
            <a:avLst/>
          </a:prstGeom>
        </p:spPr>
        <p:txBody>
          <a:bodyPr wrap="square">
            <a:spAutoFit/>
          </a:bodyPr>
          <a:lstStyle/>
          <a:p>
            <a:r>
              <a:rPr lang="en-US" sz="2800" i="1" dirty="0"/>
              <a:t>Use Case Model / </a:t>
            </a:r>
            <a:r>
              <a:rPr lang="en-US" sz="2800" i="1" dirty="0">
                <a:solidFill>
                  <a:srgbClr val="FF0000"/>
                </a:solidFill>
              </a:rPr>
              <a:t>Use Case Diagram</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4"/>
          <p:cNvSpPr>
            <a:spLocks noGrp="1"/>
          </p:cNvSpPr>
          <p:nvPr>
            <p:ph type="ftr" sz="quarter" idx="11"/>
          </p:nvPr>
        </p:nvSpPr>
        <p:spPr/>
        <p:txBody>
          <a:bodyPr/>
          <a:lstStyle/>
          <a:p>
            <a:r>
              <a:rPr lang="en-US"/>
              <a:t>Chapter 6-Object-oriented design</a:t>
            </a:r>
          </a:p>
        </p:txBody>
      </p:sp>
      <p:sp>
        <p:nvSpPr>
          <p:cNvPr id="15" name="Slide Number Placeholder 5"/>
          <p:cNvSpPr>
            <a:spLocks noGrp="1"/>
          </p:cNvSpPr>
          <p:nvPr>
            <p:ph type="sldNum" sz="quarter" idx="12"/>
          </p:nvPr>
        </p:nvSpPr>
        <p:spPr/>
        <p:txBody>
          <a:bodyPr/>
          <a:lstStyle/>
          <a:p>
            <a:fld id="{8BEEEA6F-3053-4F51-923F-5159C6404273}" type="slidenum">
              <a:rPr lang="en-US"/>
              <a:pPr/>
              <a:t>15</a:t>
            </a:fld>
            <a:endParaRPr lang="en-US"/>
          </a:p>
        </p:txBody>
      </p:sp>
      <p:sp>
        <p:nvSpPr>
          <p:cNvPr id="24578" name="Rectangle 2"/>
          <p:cNvSpPr>
            <a:spLocks noGrp="1" noChangeArrowheads="1"/>
          </p:cNvSpPr>
          <p:nvPr>
            <p:ph type="title"/>
          </p:nvPr>
        </p:nvSpPr>
        <p:spPr/>
        <p:txBody>
          <a:bodyPr/>
          <a:lstStyle/>
          <a:p>
            <a:r>
              <a:rPr lang="en-US" sz="4000"/>
              <a:t>Concepts in Use-Case Modeling</a:t>
            </a:r>
          </a:p>
        </p:txBody>
      </p:sp>
      <p:sp>
        <p:nvSpPr>
          <p:cNvPr id="24579" name="Rectangle 3"/>
          <p:cNvSpPr>
            <a:spLocks noGrp="1" noChangeArrowheads="1"/>
          </p:cNvSpPr>
          <p:nvPr>
            <p:ph type="body" idx="1"/>
          </p:nvPr>
        </p:nvSpPr>
        <p:spPr/>
        <p:txBody>
          <a:bodyPr/>
          <a:lstStyle/>
          <a:p>
            <a:r>
              <a:rPr lang="en-US"/>
              <a:t>A Use-Case model is representation of the system’s intended functions(use-cases) and its environment(actors)</a:t>
            </a:r>
          </a:p>
          <a:p>
            <a:r>
              <a:rPr lang="en-US"/>
              <a:t>Major concepts in use-case modeling :</a:t>
            </a:r>
          </a:p>
        </p:txBody>
      </p:sp>
      <p:grpSp>
        <p:nvGrpSpPr>
          <p:cNvPr id="2" name="Group 4"/>
          <p:cNvGrpSpPr>
            <a:grpSpLocks/>
          </p:cNvGrpSpPr>
          <p:nvPr/>
        </p:nvGrpSpPr>
        <p:grpSpPr bwMode="auto">
          <a:xfrm>
            <a:off x="2743200" y="4267200"/>
            <a:ext cx="457200" cy="1295400"/>
            <a:chOff x="1488" y="1920"/>
            <a:chExt cx="288" cy="816"/>
          </a:xfrm>
        </p:grpSpPr>
        <p:sp>
          <p:nvSpPr>
            <p:cNvPr id="24581" name="Oval 5"/>
            <p:cNvSpPr>
              <a:spLocks noChangeArrowheads="1"/>
            </p:cNvSpPr>
            <p:nvPr/>
          </p:nvSpPr>
          <p:spPr bwMode="auto">
            <a:xfrm>
              <a:off x="1488" y="1920"/>
              <a:ext cx="288" cy="288"/>
            </a:xfrm>
            <a:prstGeom prst="ellipse">
              <a:avLst/>
            </a:prstGeom>
            <a:noFill/>
            <a:ln w="28575">
              <a:solidFill>
                <a:schemeClr val="tx1"/>
              </a:solidFill>
              <a:miter lim="800000"/>
              <a:headEnd/>
              <a:tailEnd/>
            </a:ln>
            <a:effectLst/>
          </p:spPr>
          <p:txBody>
            <a:bodyPr wrap="none" anchor="ctr"/>
            <a:lstStyle/>
            <a:p>
              <a:endParaRPr lang="en-US"/>
            </a:p>
          </p:txBody>
        </p:sp>
        <p:sp>
          <p:nvSpPr>
            <p:cNvPr id="24582" name="Line 6"/>
            <p:cNvSpPr>
              <a:spLocks noChangeShapeType="1"/>
            </p:cNvSpPr>
            <p:nvPr/>
          </p:nvSpPr>
          <p:spPr bwMode="auto">
            <a:xfrm>
              <a:off x="1632" y="2208"/>
              <a:ext cx="0" cy="288"/>
            </a:xfrm>
            <a:prstGeom prst="line">
              <a:avLst/>
            </a:prstGeom>
            <a:noFill/>
            <a:ln w="28575">
              <a:solidFill>
                <a:schemeClr val="tx1"/>
              </a:solidFill>
              <a:miter lim="800000"/>
              <a:headEnd/>
              <a:tailEnd/>
            </a:ln>
            <a:effectLst/>
          </p:spPr>
          <p:txBody>
            <a:bodyPr wrap="none"/>
            <a:lstStyle/>
            <a:p>
              <a:endParaRPr lang="en-US"/>
            </a:p>
          </p:txBody>
        </p:sp>
        <p:sp>
          <p:nvSpPr>
            <p:cNvPr id="24583" name="Line 7"/>
            <p:cNvSpPr>
              <a:spLocks noChangeShapeType="1"/>
            </p:cNvSpPr>
            <p:nvPr/>
          </p:nvSpPr>
          <p:spPr bwMode="auto">
            <a:xfrm>
              <a:off x="1488" y="2304"/>
              <a:ext cx="288" cy="0"/>
            </a:xfrm>
            <a:prstGeom prst="line">
              <a:avLst/>
            </a:prstGeom>
            <a:noFill/>
            <a:ln w="28575">
              <a:solidFill>
                <a:schemeClr val="tx1"/>
              </a:solidFill>
              <a:miter lim="800000"/>
              <a:headEnd/>
              <a:tailEnd/>
            </a:ln>
            <a:effectLst/>
          </p:spPr>
          <p:txBody>
            <a:bodyPr wrap="none"/>
            <a:lstStyle/>
            <a:p>
              <a:endParaRPr lang="en-US"/>
            </a:p>
          </p:txBody>
        </p:sp>
        <p:sp>
          <p:nvSpPr>
            <p:cNvPr id="24584" name="Line 8"/>
            <p:cNvSpPr>
              <a:spLocks noChangeShapeType="1"/>
            </p:cNvSpPr>
            <p:nvPr/>
          </p:nvSpPr>
          <p:spPr bwMode="auto">
            <a:xfrm flipH="1">
              <a:off x="1488" y="2496"/>
              <a:ext cx="144" cy="240"/>
            </a:xfrm>
            <a:prstGeom prst="line">
              <a:avLst/>
            </a:prstGeom>
            <a:noFill/>
            <a:ln w="28575">
              <a:solidFill>
                <a:schemeClr val="tx1"/>
              </a:solidFill>
              <a:miter lim="800000"/>
              <a:headEnd/>
              <a:tailEnd/>
            </a:ln>
            <a:effectLst/>
          </p:spPr>
          <p:txBody>
            <a:bodyPr wrap="none"/>
            <a:lstStyle/>
            <a:p>
              <a:endParaRPr lang="en-US"/>
            </a:p>
          </p:txBody>
        </p:sp>
        <p:sp>
          <p:nvSpPr>
            <p:cNvPr id="24585" name="Line 9"/>
            <p:cNvSpPr>
              <a:spLocks noChangeShapeType="1"/>
            </p:cNvSpPr>
            <p:nvPr/>
          </p:nvSpPr>
          <p:spPr bwMode="auto">
            <a:xfrm>
              <a:off x="1632" y="2496"/>
              <a:ext cx="144" cy="240"/>
            </a:xfrm>
            <a:prstGeom prst="line">
              <a:avLst/>
            </a:prstGeom>
            <a:noFill/>
            <a:ln w="28575">
              <a:solidFill>
                <a:schemeClr val="tx1"/>
              </a:solidFill>
              <a:miter lim="800000"/>
              <a:headEnd/>
              <a:tailEnd/>
            </a:ln>
            <a:effectLst/>
          </p:spPr>
          <p:txBody>
            <a:bodyPr wrap="none"/>
            <a:lstStyle/>
            <a:p>
              <a:endParaRPr lang="en-US"/>
            </a:p>
          </p:txBody>
        </p:sp>
      </p:grpSp>
      <p:sp>
        <p:nvSpPr>
          <p:cNvPr id="24586" name="Oval 10"/>
          <p:cNvSpPr>
            <a:spLocks noChangeArrowheads="1"/>
          </p:cNvSpPr>
          <p:nvPr/>
        </p:nvSpPr>
        <p:spPr bwMode="auto">
          <a:xfrm>
            <a:off x="4114800" y="4724400"/>
            <a:ext cx="1371600" cy="609600"/>
          </a:xfrm>
          <a:prstGeom prst="ellipse">
            <a:avLst/>
          </a:prstGeom>
          <a:noFill/>
          <a:ln w="28575">
            <a:solidFill>
              <a:schemeClr val="tx1"/>
            </a:solidFill>
            <a:miter lim="800000"/>
            <a:headEnd/>
            <a:tailEnd/>
          </a:ln>
          <a:effectLst/>
        </p:spPr>
        <p:txBody>
          <a:bodyPr wrap="none" anchor="ctr"/>
          <a:lstStyle/>
          <a:p>
            <a:endParaRPr lang="en-US"/>
          </a:p>
        </p:txBody>
      </p:sp>
      <p:sp>
        <p:nvSpPr>
          <p:cNvPr id="24587" name="Text Box 11"/>
          <p:cNvSpPr txBox="1">
            <a:spLocks noChangeArrowheads="1"/>
          </p:cNvSpPr>
          <p:nvPr/>
        </p:nvSpPr>
        <p:spPr bwMode="auto">
          <a:xfrm>
            <a:off x="2514600" y="5562600"/>
            <a:ext cx="1349375" cy="457200"/>
          </a:xfrm>
          <a:prstGeom prst="rect">
            <a:avLst/>
          </a:prstGeom>
          <a:noFill/>
          <a:ln w="9525">
            <a:noFill/>
            <a:miter lim="800000"/>
            <a:headEnd/>
            <a:tailEnd/>
          </a:ln>
          <a:effectLst/>
        </p:spPr>
        <p:txBody>
          <a:bodyPr>
            <a:spAutoFit/>
          </a:bodyPr>
          <a:lstStyle/>
          <a:p>
            <a:pPr>
              <a:spcBef>
                <a:spcPct val="50000"/>
              </a:spcBef>
            </a:pPr>
            <a:r>
              <a:rPr lang="en-US"/>
              <a:t>Actor</a:t>
            </a:r>
          </a:p>
        </p:txBody>
      </p:sp>
      <p:sp>
        <p:nvSpPr>
          <p:cNvPr id="24588" name="Text Box 12"/>
          <p:cNvSpPr txBox="1">
            <a:spLocks noChangeArrowheads="1"/>
          </p:cNvSpPr>
          <p:nvPr/>
        </p:nvSpPr>
        <p:spPr bwMode="auto">
          <a:xfrm>
            <a:off x="4191000" y="5486400"/>
            <a:ext cx="1600200" cy="457200"/>
          </a:xfrm>
          <a:prstGeom prst="rect">
            <a:avLst/>
          </a:prstGeom>
          <a:noFill/>
          <a:ln w="9525">
            <a:noFill/>
            <a:miter lim="800000"/>
            <a:headEnd/>
            <a:tailEnd/>
          </a:ln>
          <a:effectLst/>
        </p:spPr>
        <p:txBody>
          <a:bodyPr>
            <a:spAutoFit/>
          </a:bodyPr>
          <a:lstStyle/>
          <a:p>
            <a:pPr>
              <a:spcBef>
                <a:spcPct val="50000"/>
              </a:spcBef>
            </a:pPr>
            <a:r>
              <a:rPr lang="en-US"/>
              <a:t>Use-case</a:t>
            </a:r>
          </a:p>
        </p:txBody>
      </p:sp>
      <p:sp>
        <p:nvSpPr>
          <p:cNvPr id="24589" name="Line 13"/>
          <p:cNvSpPr>
            <a:spLocks noChangeShapeType="1"/>
          </p:cNvSpPr>
          <p:nvPr/>
        </p:nvSpPr>
        <p:spPr bwMode="auto">
          <a:xfrm>
            <a:off x="3200400" y="5105400"/>
            <a:ext cx="914400" cy="0"/>
          </a:xfrm>
          <a:prstGeom prst="line">
            <a:avLst/>
          </a:prstGeom>
          <a:noFill/>
          <a:ln w="28575">
            <a:solidFill>
              <a:schemeClr val="tx1"/>
            </a:solidFill>
            <a:miter lim="800000"/>
            <a:headEnd/>
            <a:tailEnd type="triangle" w="med" len="med"/>
          </a:ln>
          <a:effectLst/>
        </p:spPr>
        <p:txBody>
          <a:bodyPr wrap="none"/>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CEF9BEAC-7D6C-41CD-9481-0AF0494A7F00}" type="slidenum">
              <a:rPr lang="en-US"/>
              <a:pPr/>
              <a:t>16</a:t>
            </a:fld>
            <a:endParaRPr lang="en-US"/>
          </a:p>
        </p:txBody>
      </p:sp>
      <p:sp>
        <p:nvSpPr>
          <p:cNvPr id="25602" name="Rectangle 2"/>
          <p:cNvSpPr>
            <a:spLocks noGrp="1" noChangeArrowheads="1"/>
          </p:cNvSpPr>
          <p:nvPr>
            <p:ph type="title"/>
          </p:nvPr>
        </p:nvSpPr>
        <p:spPr/>
        <p:txBody>
          <a:bodyPr/>
          <a:lstStyle/>
          <a:p>
            <a:r>
              <a:rPr lang="en-US" sz="4000"/>
              <a:t>Concepts in Use-Case Modeling</a:t>
            </a:r>
          </a:p>
        </p:txBody>
      </p:sp>
      <p:sp>
        <p:nvSpPr>
          <p:cNvPr id="25603" name="Rectangle 3"/>
          <p:cNvSpPr>
            <a:spLocks noGrp="1" noChangeArrowheads="1"/>
          </p:cNvSpPr>
          <p:nvPr>
            <p:ph type="body" idx="1"/>
          </p:nvPr>
        </p:nvSpPr>
        <p:spPr>
          <a:xfrm>
            <a:off x="1182688" y="2017713"/>
            <a:ext cx="7772400" cy="4002087"/>
          </a:xfrm>
        </p:spPr>
        <p:txBody>
          <a:bodyPr/>
          <a:lstStyle/>
          <a:p>
            <a:r>
              <a:rPr lang="en-US" sz="2800" dirty="0"/>
              <a:t>An </a:t>
            </a:r>
            <a:r>
              <a:rPr lang="en-US" sz="2800" dirty="0">
                <a:solidFill>
                  <a:srgbClr val="FF0000"/>
                </a:solidFill>
              </a:rPr>
              <a:t>actor</a:t>
            </a:r>
            <a:r>
              <a:rPr lang="en-US" sz="2800" dirty="0"/>
              <a:t> represents anything that interacts with the system</a:t>
            </a:r>
          </a:p>
          <a:p>
            <a:r>
              <a:rPr lang="en-US" sz="2800" dirty="0"/>
              <a:t>A </a:t>
            </a:r>
            <a:r>
              <a:rPr lang="en-US" sz="2800" dirty="0">
                <a:solidFill>
                  <a:srgbClr val="FF0000"/>
                </a:solidFill>
              </a:rPr>
              <a:t>use-case </a:t>
            </a:r>
            <a:r>
              <a:rPr lang="en-US" sz="2800" dirty="0"/>
              <a:t>is a sequence of actions a system performs that yields an observable result of value to a particular actor</a:t>
            </a:r>
          </a:p>
          <a:p>
            <a:r>
              <a:rPr lang="en-US" sz="2800" dirty="0"/>
              <a:t>Primary </a:t>
            </a:r>
            <a:r>
              <a:rPr lang="en-US" sz="2800" dirty="0">
                <a:solidFill>
                  <a:srgbClr val="FF0000"/>
                </a:solidFill>
              </a:rPr>
              <a:t>purpose</a:t>
            </a:r>
            <a:r>
              <a:rPr lang="en-US" sz="2800" dirty="0"/>
              <a:t> </a:t>
            </a:r>
            <a:r>
              <a:rPr lang="en-US" sz="2800" dirty="0">
                <a:sym typeface="Wingdings" pitchFamily="2" charset="2"/>
              </a:rPr>
              <a:t> is to communicate the system’s functionality and behavior to the customer /end user</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4"/>
          <p:cNvSpPr>
            <a:spLocks noGrp="1"/>
          </p:cNvSpPr>
          <p:nvPr>
            <p:ph type="ftr" sz="quarter" idx="11"/>
          </p:nvPr>
        </p:nvSpPr>
        <p:spPr/>
        <p:txBody>
          <a:bodyPr/>
          <a:lstStyle/>
          <a:p>
            <a:r>
              <a:rPr lang="en-US"/>
              <a:t>Chapter 6-Object-oriented design</a:t>
            </a:r>
          </a:p>
        </p:txBody>
      </p:sp>
      <p:sp>
        <p:nvSpPr>
          <p:cNvPr id="12" name="Slide Number Placeholder 5"/>
          <p:cNvSpPr>
            <a:spLocks noGrp="1"/>
          </p:cNvSpPr>
          <p:nvPr>
            <p:ph type="sldNum" sz="quarter" idx="12"/>
          </p:nvPr>
        </p:nvSpPr>
        <p:spPr/>
        <p:txBody>
          <a:bodyPr/>
          <a:lstStyle/>
          <a:p>
            <a:fld id="{46849754-BDC1-4EC7-8809-76DC616EAE62}" type="slidenum">
              <a:rPr lang="en-US"/>
              <a:pPr/>
              <a:t>17</a:t>
            </a:fld>
            <a:endParaRPr lang="en-US"/>
          </a:p>
        </p:txBody>
      </p:sp>
      <p:sp>
        <p:nvSpPr>
          <p:cNvPr id="26626" name="Rectangle 2"/>
          <p:cNvSpPr>
            <a:spLocks noGrp="1" noChangeArrowheads="1"/>
          </p:cNvSpPr>
          <p:nvPr>
            <p:ph type="title"/>
          </p:nvPr>
        </p:nvSpPr>
        <p:spPr/>
        <p:txBody>
          <a:bodyPr/>
          <a:lstStyle/>
          <a:p>
            <a:r>
              <a:rPr lang="en-US"/>
              <a:t>UML notation</a:t>
            </a:r>
          </a:p>
        </p:txBody>
      </p:sp>
      <p:sp>
        <p:nvSpPr>
          <p:cNvPr id="26627" name="Rectangle 3"/>
          <p:cNvSpPr>
            <a:spLocks noGrp="1" noChangeArrowheads="1"/>
          </p:cNvSpPr>
          <p:nvPr>
            <p:ph type="body" idx="1"/>
          </p:nvPr>
        </p:nvSpPr>
        <p:spPr/>
        <p:txBody>
          <a:bodyPr/>
          <a:lstStyle/>
          <a:p>
            <a:r>
              <a:rPr lang="en-US"/>
              <a:t>UML notation for an actor and a use case</a:t>
            </a:r>
          </a:p>
          <a:p>
            <a:endParaRPr lang="en-US"/>
          </a:p>
        </p:txBody>
      </p:sp>
      <p:grpSp>
        <p:nvGrpSpPr>
          <p:cNvPr id="2" name="Group 4"/>
          <p:cNvGrpSpPr>
            <a:grpSpLocks/>
          </p:cNvGrpSpPr>
          <p:nvPr/>
        </p:nvGrpSpPr>
        <p:grpSpPr bwMode="auto">
          <a:xfrm>
            <a:off x="2209800" y="3200400"/>
            <a:ext cx="1447800" cy="1981200"/>
            <a:chOff x="1872" y="2064"/>
            <a:chExt cx="864" cy="1200"/>
          </a:xfrm>
        </p:grpSpPr>
        <p:sp>
          <p:nvSpPr>
            <p:cNvPr id="26629" name="Oval 5"/>
            <p:cNvSpPr>
              <a:spLocks noChangeArrowheads="1"/>
            </p:cNvSpPr>
            <p:nvPr/>
          </p:nvSpPr>
          <p:spPr bwMode="auto">
            <a:xfrm>
              <a:off x="2016" y="2064"/>
              <a:ext cx="432" cy="384"/>
            </a:xfrm>
            <a:prstGeom prst="ellipse">
              <a:avLst/>
            </a:prstGeom>
            <a:noFill/>
            <a:ln w="28575">
              <a:solidFill>
                <a:schemeClr val="tx1"/>
              </a:solidFill>
              <a:miter lim="800000"/>
              <a:headEnd/>
              <a:tailEnd/>
            </a:ln>
            <a:effectLst/>
          </p:spPr>
          <p:txBody>
            <a:bodyPr wrap="none" anchor="ctr"/>
            <a:lstStyle/>
            <a:p>
              <a:endParaRPr lang="en-US"/>
            </a:p>
          </p:txBody>
        </p:sp>
        <p:sp>
          <p:nvSpPr>
            <p:cNvPr id="26630" name="Line 6"/>
            <p:cNvSpPr>
              <a:spLocks noChangeShapeType="1"/>
            </p:cNvSpPr>
            <p:nvPr/>
          </p:nvSpPr>
          <p:spPr bwMode="auto">
            <a:xfrm>
              <a:off x="2256" y="2448"/>
              <a:ext cx="0" cy="528"/>
            </a:xfrm>
            <a:prstGeom prst="line">
              <a:avLst/>
            </a:prstGeom>
            <a:noFill/>
            <a:ln w="28575">
              <a:solidFill>
                <a:schemeClr val="tx1"/>
              </a:solidFill>
              <a:miter lim="800000"/>
              <a:headEnd/>
              <a:tailEnd/>
            </a:ln>
            <a:effectLst/>
          </p:spPr>
          <p:txBody>
            <a:bodyPr wrap="none"/>
            <a:lstStyle/>
            <a:p>
              <a:endParaRPr lang="en-US"/>
            </a:p>
          </p:txBody>
        </p:sp>
        <p:sp>
          <p:nvSpPr>
            <p:cNvPr id="26631" name="Line 7"/>
            <p:cNvSpPr>
              <a:spLocks noChangeShapeType="1"/>
            </p:cNvSpPr>
            <p:nvPr/>
          </p:nvSpPr>
          <p:spPr bwMode="auto">
            <a:xfrm>
              <a:off x="2016" y="2640"/>
              <a:ext cx="480" cy="0"/>
            </a:xfrm>
            <a:prstGeom prst="line">
              <a:avLst/>
            </a:prstGeom>
            <a:noFill/>
            <a:ln w="28575">
              <a:solidFill>
                <a:schemeClr val="tx1"/>
              </a:solidFill>
              <a:miter lim="800000"/>
              <a:headEnd/>
              <a:tailEnd/>
            </a:ln>
            <a:effectLst/>
          </p:spPr>
          <p:txBody>
            <a:bodyPr wrap="none"/>
            <a:lstStyle/>
            <a:p>
              <a:endParaRPr lang="en-US"/>
            </a:p>
          </p:txBody>
        </p:sp>
        <p:sp>
          <p:nvSpPr>
            <p:cNvPr id="26632" name="Line 8"/>
            <p:cNvSpPr>
              <a:spLocks noChangeShapeType="1"/>
            </p:cNvSpPr>
            <p:nvPr/>
          </p:nvSpPr>
          <p:spPr bwMode="auto">
            <a:xfrm flipH="1">
              <a:off x="1872" y="2976"/>
              <a:ext cx="384" cy="288"/>
            </a:xfrm>
            <a:prstGeom prst="line">
              <a:avLst/>
            </a:prstGeom>
            <a:noFill/>
            <a:ln w="28575">
              <a:solidFill>
                <a:schemeClr val="tx1"/>
              </a:solidFill>
              <a:miter lim="800000"/>
              <a:headEnd/>
              <a:tailEnd/>
            </a:ln>
            <a:effectLst/>
          </p:spPr>
          <p:txBody>
            <a:bodyPr wrap="none"/>
            <a:lstStyle/>
            <a:p>
              <a:endParaRPr lang="en-US"/>
            </a:p>
          </p:txBody>
        </p:sp>
        <p:sp>
          <p:nvSpPr>
            <p:cNvPr id="26633" name="Line 9"/>
            <p:cNvSpPr>
              <a:spLocks noChangeShapeType="1"/>
            </p:cNvSpPr>
            <p:nvPr/>
          </p:nvSpPr>
          <p:spPr bwMode="auto">
            <a:xfrm>
              <a:off x="2256" y="2976"/>
              <a:ext cx="480" cy="288"/>
            </a:xfrm>
            <a:prstGeom prst="line">
              <a:avLst/>
            </a:prstGeom>
            <a:noFill/>
            <a:ln w="28575">
              <a:solidFill>
                <a:schemeClr val="tx1"/>
              </a:solidFill>
              <a:miter lim="800000"/>
              <a:headEnd/>
              <a:tailEnd/>
            </a:ln>
            <a:effectLst/>
          </p:spPr>
          <p:txBody>
            <a:bodyPr wrap="none"/>
            <a:lstStyle/>
            <a:p>
              <a:endParaRPr lang="en-US"/>
            </a:p>
          </p:txBody>
        </p:sp>
      </p:grpSp>
      <p:sp>
        <p:nvSpPr>
          <p:cNvPr id="26634" name="Oval 10"/>
          <p:cNvSpPr>
            <a:spLocks noChangeArrowheads="1"/>
          </p:cNvSpPr>
          <p:nvPr/>
        </p:nvSpPr>
        <p:spPr bwMode="auto">
          <a:xfrm>
            <a:off x="4572000" y="3733800"/>
            <a:ext cx="1828800" cy="838200"/>
          </a:xfrm>
          <a:prstGeom prst="ellipse">
            <a:avLst/>
          </a:prstGeom>
          <a:noFill/>
          <a:ln w="28575">
            <a:solidFill>
              <a:schemeClr val="tx1"/>
            </a:solidFill>
            <a:miter lim="800000"/>
            <a:headEnd/>
            <a:tailEnd/>
          </a:ln>
          <a:effectLst/>
        </p:spPr>
        <p:txBody>
          <a:bodyPr wrap="none" anchor="ct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94F51EE3-7C4D-4E7B-8C04-461903FE041B}" type="slidenum">
              <a:rPr lang="en-US"/>
              <a:pPr/>
              <a:t>18</a:t>
            </a:fld>
            <a:endParaRPr lang="en-US"/>
          </a:p>
        </p:txBody>
      </p:sp>
      <p:sp>
        <p:nvSpPr>
          <p:cNvPr id="27650" name="Rectangle 2"/>
          <p:cNvSpPr>
            <a:spLocks noGrp="1" noChangeArrowheads="1"/>
          </p:cNvSpPr>
          <p:nvPr>
            <p:ph type="title"/>
          </p:nvPr>
        </p:nvSpPr>
        <p:spPr/>
        <p:txBody>
          <a:bodyPr/>
          <a:lstStyle/>
          <a:p>
            <a:r>
              <a:rPr lang="en-US"/>
              <a:t>Identify Actors</a:t>
            </a:r>
          </a:p>
        </p:txBody>
      </p:sp>
      <p:sp>
        <p:nvSpPr>
          <p:cNvPr id="27651" name="Rectangle 3"/>
          <p:cNvSpPr>
            <a:spLocks noGrp="1" noChangeArrowheads="1"/>
          </p:cNvSpPr>
          <p:nvPr>
            <p:ph type="body" idx="1"/>
          </p:nvPr>
        </p:nvSpPr>
        <p:spPr/>
        <p:txBody>
          <a:bodyPr/>
          <a:lstStyle/>
          <a:p>
            <a:r>
              <a:rPr lang="en-US" sz="2800" dirty="0"/>
              <a:t>Actors are </a:t>
            </a:r>
            <a:r>
              <a:rPr lang="en-US" sz="2800" dirty="0">
                <a:solidFill>
                  <a:srgbClr val="FF0000"/>
                </a:solidFill>
              </a:rPr>
              <a:t>not part </a:t>
            </a:r>
            <a:r>
              <a:rPr lang="en-US" sz="2800" dirty="0"/>
              <a:t>of the system, they represent </a:t>
            </a:r>
            <a:r>
              <a:rPr lang="en-US" sz="2800" dirty="0">
                <a:solidFill>
                  <a:srgbClr val="FF0000"/>
                </a:solidFill>
              </a:rPr>
              <a:t>roles a user </a:t>
            </a:r>
            <a:r>
              <a:rPr lang="en-US" sz="2800" dirty="0"/>
              <a:t>of the system can play</a:t>
            </a:r>
          </a:p>
          <a:p>
            <a:pPr lvl="1"/>
            <a:r>
              <a:rPr lang="en-US" sz="2400" dirty="0"/>
              <a:t>User may play more than one role</a:t>
            </a:r>
          </a:p>
          <a:p>
            <a:r>
              <a:rPr lang="en-US" sz="2800" dirty="0"/>
              <a:t>May </a:t>
            </a:r>
            <a:r>
              <a:rPr lang="en-US" sz="2800" dirty="0">
                <a:solidFill>
                  <a:srgbClr val="FF0000"/>
                </a:solidFill>
              </a:rPr>
              <a:t>actively interchange </a:t>
            </a:r>
            <a:r>
              <a:rPr lang="en-US" sz="2800" dirty="0"/>
              <a:t>information with the system</a:t>
            </a:r>
          </a:p>
          <a:p>
            <a:r>
              <a:rPr lang="en-US" sz="2800" dirty="0"/>
              <a:t>May be a passive recipient of information</a:t>
            </a:r>
          </a:p>
          <a:p>
            <a:r>
              <a:rPr lang="en-US" sz="2800" dirty="0"/>
              <a:t>Can represent a human, machine, or another system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ooter Placeholder 4"/>
          <p:cNvSpPr>
            <a:spLocks noGrp="1"/>
          </p:cNvSpPr>
          <p:nvPr>
            <p:ph type="ftr" sz="quarter" idx="11"/>
          </p:nvPr>
        </p:nvSpPr>
        <p:spPr/>
        <p:txBody>
          <a:bodyPr/>
          <a:lstStyle/>
          <a:p>
            <a:r>
              <a:rPr lang="en-US"/>
              <a:t>Chapter 6-Object-oriented design</a:t>
            </a:r>
          </a:p>
        </p:txBody>
      </p:sp>
      <p:sp>
        <p:nvSpPr>
          <p:cNvPr id="28" name="Slide Number Placeholder 5"/>
          <p:cNvSpPr>
            <a:spLocks noGrp="1"/>
          </p:cNvSpPr>
          <p:nvPr>
            <p:ph type="sldNum" sz="quarter" idx="12"/>
          </p:nvPr>
        </p:nvSpPr>
        <p:spPr/>
        <p:txBody>
          <a:bodyPr/>
          <a:lstStyle/>
          <a:p>
            <a:fld id="{631A5691-C07B-4E1B-B844-29DD854E12E2}" type="slidenum">
              <a:rPr lang="en-US"/>
              <a:pPr/>
              <a:t>19</a:t>
            </a:fld>
            <a:endParaRPr lang="en-US"/>
          </a:p>
        </p:txBody>
      </p:sp>
      <p:sp>
        <p:nvSpPr>
          <p:cNvPr id="28674" name="Rectangle 2"/>
          <p:cNvSpPr>
            <a:spLocks noGrp="1" noChangeArrowheads="1"/>
          </p:cNvSpPr>
          <p:nvPr>
            <p:ph type="title"/>
          </p:nvPr>
        </p:nvSpPr>
        <p:spPr/>
        <p:txBody>
          <a:bodyPr/>
          <a:lstStyle/>
          <a:p>
            <a:r>
              <a:rPr lang="en-US"/>
              <a:t>Identify Actors</a:t>
            </a:r>
          </a:p>
        </p:txBody>
      </p:sp>
      <p:sp>
        <p:nvSpPr>
          <p:cNvPr id="28675" name="Rectangle 3"/>
          <p:cNvSpPr>
            <a:spLocks noGrp="1" noChangeArrowheads="1"/>
          </p:cNvSpPr>
          <p:nvPr>
            <p:ph type="body" idx="1"/>
          </p:nvPr>
        </p:nvSpPr>
        <p:spPr/>
        <p:txBody>
          <a:bodyPr/>
          <a:lstStyle/>
          <a:p>
            <a:r>
              <a:rPr lang="en-US"/>
              <a:t>Difference between users and actors :</a:t>
            </a:r>
          </a:p>
        </p:txBody>
      </p:sp>
      <p:sp>
        <p:nvSpPr>
          <p:cNvPr id="28676" name="Text Box 4"/>
          <p:cNvSpPr txBox="1">
            <a:spLocks noChangeArrowheads="1"/>
          </p:cNvSpPr>
          <p:nvPr/>
        </p:nvSpPr>
        <p:spPr bwMode="auto">
          <a:xfrm>
            <a:off x="1066800" y="3124200"/>
            <a:ext cx="792163" cy="396875"/>
          </a:xfrm>
          <a:prstGeom prst="rect">
            <a:avLst/>
          </a:prstGeom>
          <a:noFill/>
          <a:ln w="9525">
            <a:noFill/>
            <a:miter lim="800000"/>
            <a:headEnd/>
            <a:tailEnd/>
          </a:ln>
          <a:effectLst/>
        </p:spPr>
        <p:txBody>
          <a:bodyPr wrap="none">
            <a:spAutoFit/>
          </a:bodyPr>
          <a:lstStyle/>
          <a:p>
            <a:r>
              <a:rPr lang="en-US" sz="2000"/>
              <a:t>USER</a:t>
            </a:r>
          </a:p>
        </p:txBody>
      </p:sp>
      <p:sp>
        <p:nvSpPr>
          <p:cNvPr id="28677" name="Text Box 5"/>
          <p:cNvSpPr txBox="1">
            <a:spLocks noChangeArrowheads="1"/>
          </p:cNvSpPr>
          <p:nvPr/>
        </p:nvSpPr>
        <p:spPr bwMode="auto">
          <a:xfrm>
            <a:off x="3810000" y="3124200"/>
            <a:ext cx="973138" cy="396875"/>
          </a:xfrm>
          <a:prstGeom prst="rect">
            <a:avLst/>
          </a:prstGeom>
          <a:noFill/>
          <a:ln w="9525">
            <a:noFill/>
            <a:miter lim="800000"/>
            <a:headEnd/>
            <a:tailEnd/>
          </a:ln>
          <a:effectLst/>
        </p:spPr>
        <p:txBody>
          <a:bodyPr wrap="none">
            <a:spAutoFit/>
          </a:bodyPr>
          <a:lstStyle/>
          <a:p>
            <a:r>
              <a:rPr lang="en-US" sz="2000"/>
              <a:t>ACTOR</a:t>
            </a:r>
          </a:p>
        </p:txBody>
      </p:sp>
      <p:sp>
        <p:nvSpPr>
          <p:cNvPr id="28678" name="Text Box 6"/>
          <p:cNvSpPr txBox="1">
            <a:spLocks noChangeArrowheads="1"/>
          </p:cNvSpPr>
          <p:nvPr/>
        </p:nvSpPr>
        <p:spPr bwMode="auto">
          <a:xfrm>
            <a:off x="6934200" y="3124200"/>
            <a:ext cx="1316038" cy="396875"/>
          </a:xfrm>
          <a:prstGeom prst="rect">
            <a:avLst/>
          </a:prstGeom>
          <a:noFill/>
          <a:ln w="9525">
            <a:noFill/>
            <a:miter lim="800000"/>
            <a:headEnd/>
            <a:tailEnd/>
          </a:ln>
          <a:effectLst/>
        </p:spPr>
        <p:txBody>
          <a:bodyPr wrap="none">
            <a:spAutoFit/>
          </a:bodyPr>
          <a:lstStyle/>
          <a:p>
            <a:r>
              <a:rPr lang="en-US" sz="2000"/>
              <a:t>USE-CASE</a:t>
            </a:r>
          </a:p>
        </p:txBody>
      </p:sp>
      <p:sp>
        <p:nvSpPr>
          <p:cNvPr id="28679" name="Line 7"/>
          <p:cNvSpPr>
            <a:spLocks noChangeShapeType="1"/>
          </p:cNvSpPr>
          <p:nvPr/>
        </p:nvSpPr>
        <p:spPr bwMode="auto">
          <a:xfrm>
            <a:off x="1066800" y="3505200"/>
            <a:ext cx="7162800" cy="0"/>
          </a:xfrm>
          <a:prstGeom prst="line">
            <a:avLst/>
          </a:prstGeom>
          <a:noFill/>
          <a:ln w="9525">
            <a:solidFill>
              <a:schemeClr val="tx1"/>
            </a:solidFill>
            <a:miter lim="800000"/>
            <a:headEnd/>
            <a:tailEnd/>
          </a:ln>
          <a:effectLst/>
        </p:spPr>
        <p:txBody>
          <a:bodyPr wrap="none"/>
          <a:lstStyle/>
          <a:p>
            <a:endParaRPr lang="en-US"/>
          </a:p>
        </p:txBody>
      </p:sp>
      <p:sp>
        <p:nvSpPr>
          <p:cNvPr id="28680" name="Text Box 8"/>
          <p:cNvSpPr txBox="1">
            <a:spLocks noChangeArrowheads="1"/>
          </p:cNvSpPr>
          <p:nvPr/>
        </p:nvSpPr>
        <p:spPr bwMode="auto">
          <a:xfrm>
            <a:off x="1143000" y="4572000"/>
            <a:ext cx="677943" cy="461665"/>
          </a:xfrm>
          <a:prstGeom prst="rect">
            <a:avLst/>
          </a:prstGeom>
          <a:noFill/>
          <a:ln w="9525">
            <a:solidFill>
              <a:schemeClr val="folHlink"/>
            </a:solidFill>
            <a:miter lim="800000"/>
            <a:headEnd/>
            <a:tailEnd/>
          </a:ln>
          <a:effectLst/>
        </p:spPr>
        <p:txBody>
          <a:bodyPr wrap="none">
            <a:spAutoFit/>
          </a:bodyPr>
          <a:lstStyle/>
          <a:p>
            <a:r>
              <a:rPr lang="en-US" dirty="0"/>
              <a:t>Yati</a:t>
            </a:r>
          </a:p>
        </p:txBody>
      </p:sp>
      <p:sp>
        <p:nvSpPr>
          <p:cNvPr id="28681" name="Text Box 9"/>
          <p:cNvSpPr txBox="1">
            <a:spLocks noChangeArrowheads="1"/>
          </p:cNvSpPr>
          <p:nvPr/>
        </p:nvSpPr>
        <p:spPr bwMode="auto">
          <a:xfrm>
            <a:off x="1143000" y="5410200"/>
            <a:ext cx="725199" cy="461665"/>
          </a:xfrm>
          <a:prstGeom prst="rect">
            <a:avLst/>
          </a:prstGeom>
          <a:noFill/>
          <a:ln w="9525">
            <a:solidFill>
              <a:schemeClr val="folHlink"/>
            </a:solidFill>
            <a:miter lim="800000"/>
            <a:headEnd/>
            <a:tailEnd/>
          </a:ln>
          <a:effectLst/>
        </p:spPr>
        <p:txBody>
          <a:bodyPr wrap="none">
            <a:spAutoFit/>
          </a:bodyPr>
          <a:lstStyle/>
          <a:p>
            <a:r>
              <a:rPr lang="en-US" dirty="0"/>
              <a:t>Mila</a:t>
            </a:r>
          </a:p>
        </p:txBody>
      </p:sp>
      <p:sp>
        <p:nvSpPr>
          <p:cNvPr id="28682" name="Text Box 10"/>
          <p:cNvSpPr txBox="1">
            <a:spLocks noChangeArrowheads="1"/>
          </p:cNvSpPr>
          <p:nvPr/>
        </p:nvSpPr>
        <p:spPr bwMode="auto">
          <a:xfrm>
            <a:off x="1143000" y="3733800"/>
            <a:ext cx="805157" cy="461665"/>
          </a:xfrm>
          <a:prstGeom prst="rect">
            <a:avLst/>
          </a:prstGeom>
          <a:noFill/>
          <a:ln w="9525">
            <a:solidFill>
              <a:schemeClr val="folHlink"/>
            </a:solidFill>
            <a:miter lim="800000"/>
            <a:headEnd/>
            <a:tailEnd/>
          </a:ln>
          <a:effectLst/>
        </p:spPr>
        <p:txBody>
          <a:bodyPr wrap="none">
            <a:spAutoFit/>
          </a:bodyPr>
          <a:lstStyle/>
          <a:p>
            <a:r>
              <a:rPr lang="en-US" dirty="0"/>
              <a:t>Sufri</a:t>
            </a:r>
          </a:p>
        </p:txBody>
      </p:sp>
      <p:sp>
        <p:nvSpPr>
          <p:cNvPr id="28683" name="Text Box 11"/>
          <p:cNvSpPr txBox="1">
            <a:spLocks noChangeArrowheads="1"/>
          </p:cNvSpPr>
          <p:nvPr/>
        </p:nvSpPr>
        <p:spPr bwMode="auto">
          <a:xfrm>
            <a:off x="3886200" y="3733800"/>
            <a:ext cx="1303338" cy="466725"/>
          </a:xfrm>
          <a:prstGeom prst="rect">
            <a:avLst/>
          </a:prstGeom>
          <a:noFill/>
          <a:ln w="9525">
            <a:solidFill>
              <a:schemeClr val="folHlink"/>
            </a:solidFill>
            <a:miter lim="800000"/>
            <a:headEnd/>
            <a:tailEnd/>
          </a:ln>
          <a:effectLst/>
        </p:spPr>
        <p:txBody>
          <a:bodyPr wrap="none">
            <a:spAutoFit/>
          </a:bodyPr>
          <a:lstStyle/>
          <a:p>
            <a:r>
              <a:rPr lang="en-US"/>
              <a:t>member</a:t>
            </a:r>
          </a:p>
        </p:txBody>
      </p:sp>
      <p:sp>
        <p:nvSpPr>
          <p:cNvPr id="28684" name="Text Box 12"/>
          <p:cNvSpPr txBox="1">
            <a:spLocks noChangeArrowheads="1"/>
          </p:cNvSpPr>
          <p:nvPr/>
        </p:nvSpPr>
        <p:spPr bwMode="auto">
          <a:xfrm>
            <a:off x="3886200" y="4648200"/>
            <a:ext cx="1485900" cy="466725"/>
          </a:xfrm>
          <a:prstGeom prst="rect">
            <a:avLst/>
          </a:prstGeom>
          <a:noFill/>
          <a:ln w="9525">
            <a:solidFill>
              <a:schemeClr val="folHlink"/>
            </a:solidFill>
            <a:miter lim="800000"/>
            <a:headEnd/>
            <a:tailEnd/>
          </a:ln>
          <a:effectLst/>
        </p:spPr>
        <p:txBody>
          <a:bodyPr wrap="none">
            <a:spAutoFit/>
          </a:bodyPr>
          <a:lstStyle/>
          <a:p>
            <a:r>
              <a:rPr lang="en-US"/>
              <a:t>employee</a:t>
            </a:r>
          </a:p>
        </p:txBody>
      </p:sp>
      <p:sp>
        <p:nvSpPr>
          <p:cNvPr id="28685" name="Text Box 13"/>
          <p:cNvSpPr txBox="1">
            <a:spLocks noChangeArrowheads="1"/>
          </p:cNvSpPr>
          <p:nvPr/>
        </p:nvSpPr>
        <p:spPr bwMode="auto">
          <a:xfrm>
            <a:off x="3886200" y="5486400"/>
            <a:ext cx="1452563" cy="466725"/>
          </a:xfrm>
          <a:prstGeom prst="rect">
            <a:avLst/>
          </a:prstGeom>
          <a:noFill/>
          <a:ln w="9525">
            <a:solidFill>
              <a:schemeClr val="folHlink"/>
            </a:solidFill>
            <a:miter lim="800000"/>
            <a:headEnd/>
            <a:tailEnd/>
          </a:ln>
          <a:effectLst/>
        </p:spPr>
        <p:txBody>
          <a:bodyPr wrap="none">
            <a:spAutoFit/>
          </a:bodyPr>
          <a:lstStyle/>
          <a:p>
            <a:r>
              <a:rPr lang="en-US"/>
              <a:t>volunteer</a:t>
            </a:r>
          </a:p>
        </p:txBody>
      </p:sp>
      <p:sp>
        <p:nvSpPr>
          <p:cNvPr id="28686" name="Text Box 14"/>
          <p:cNvSpPr txBox="1">
            <a:spLocks noChangeArrowheads="1"/>
          </p:cNvSpPr>
          <p:nvPr/>
        </p:nvSpPr>
        <p:spPr bwMode="auto">
          <a:xfrm>
            <a:off x="6781800" y="3810000"/>
            <a:ext cx="1895475" cy="466725"/>
          </a:xfrm>
          <a:prstGeom prst="rect">
            <a:avLst/>
          </a:prstGeom>
          <a:noFill/>
          <a:ln w="9525">
            <a:solidFill>
              <a:schemeClr val="folHlink"/>
            </a:solidFill>
            <a:miter lim="800000"/>
            <a:headEnd/>
            <a:tailEnd/>
          </a:ln>
          <a:effectLst/>
        </p:spPr>
        <p:txBody>
          <a:bodyPr wrap="none">
            <a:spAutoFit/>
          </a:bodyPr>
          <a:lstStyle/>
          <a:p>
            <a:r>
              <a:rPr lang="en-US"/>
              <a:t>Borrow book</a:t>
            </a:r>
          </a:p>
        </p:txBody>
      </p:sp>
      <p:sp>
        <p:nvSpPr>
          <p:cNvPr id="28687" name="Text Box 15"/>
          <p:cNvSpPr txBox="1">
            <a:spLocks noChangeArrowheads="1"/>
          </p:cNvSpPr>
          <p:nvPr/>
        </p:nvSpPr>
        <p:spPr bwMode="auto">
          <a:xfrm>
            <a:off x="6781800" y="4648200"/>
            <a:ext cx="1839913" cy="466725"/>
          </a:xfrm>
          <a:prstGeom prst="rect">
            <a:avLst/>
          </a:prstGeom>
          <a:noFill/>
          <a:ln w="9525">
            <a:solidFill>
              <a:schemeClr val="folHlink"/>
            </a:solidFill>
            <a:miter lim="800000"/>
            <a:headEnd/>
            <a:tailEnd/>
          </a:ln>
          <a:effectLst/>
        </p:spPr>
        <p:txBody>
          <a:bodyPr wrap="none">
            <a:spAutoFit/>
          </a:bodyPr>
          <a:lstStyle/>
          <a:p>
            <a:r>
              <a:rPr lang="en-US"/>
              <a:t>Order books</a:t>
            </a:r>
          </a:p>
        </p:txBody>
      </p:sp>
      <p:sp>
        <p:nvSpPr>
          <p:cNvPr id="28688" name="Text Box 16"/>
          <p:cNvSpPr txBox="1">
            <a:spLocks noChangeArrowheads="1"/>
          </p:cNvSpPr>
          <p:nvPr/>
        </p:nvSpPr>
        <p:spPr bwMode="auto">
          <a:xfrm>
            <a:off x="6781800" y="5486400"/>
            <a:ext cx="1552575" cy="466725"/>
          </a:xfrm>
          <a:prstGeom prst="rect">
            <a:avLst/>
          </a:prstGeom>
          <a:noFill/>
          <a:ln w="9525">
            <a:solidFill>
              <a:schemeClr val="folHlink"/>
            </a:solidFill>
            <a:miter lim="800000"/>
            <a:headEnd/>
            <a:tailEnd/>
          </a:ln>
          <a:effectLst/>
        </p:spPr>
        <p:txBody>
          <a:bodyPr wrap="none">
            <a:spAutoFit/>
          </a:bodyPr>
          <a:lstStyle/>
          <a:p>
            <a:r>
              <a:rPr lang="en-US"/>
              <a:t>Check IDs</a:t>
            </a:r>
          </a:p>
        </p:txBody>
      </p:sp>
      <p:sp>
        <p:nvSpPr>
          <p:cNvPr id="28689" name="Line 17"/>
          <p:cNvSpPr>
            <a:spLocks noChangeShapeType="1"/>
          </p:cNvSpPr>
          <p:nvPr/>
        </p:nvSpPr>
        <p:spPr bwMode="auto">
          <a:xfrm>
            <a:off x="2057400" y="3962400"/>
            <a:ext cx="1752600" cy="0"/>
          </a:xfrm>
          <a:prstGeom prst="line">
            <a:avLst/>
          </a:prstGeom>
          <a:noFill/>
          <a:ln w="28575">
            <a:solidFill>
              <a:schemeClr val="folHlink"/>
            </a:solidFill>
            <a:miter lim="800000"/>
            <a:headEnd/>
            <a:tailEnd type="triangle" w="med" len="med"/>
          </a:ln>
          <a:effectLst/>
        </p:spPr>
        <p:txBody>
          <a:bodyPr wrap="none"/>
          <a:lstStyle/>
          <a:p>
            <a:endParaRPr lang="en-US"/>
          </a:p>
        </p:txBody>
      </p:sp>
      <p:sp>
        <p:nvSpPr>
          <p:cNvPr id="28690" name="Line 18"/>
          <p:cNvSpPr>
            <a:spLocks noChangeShapeType="1"/>
          </p:cNvSpPr>
          <p:nvPr/>
        </p:nvSpPr>
        <p:spPr bwMode="auto">
          <a:xfrm>
            <a:off x="5181600" y="3962400"/>
            <a:ext cx="1524000" cy="0"/>
          </a:xfrm>
          <a:prstGeom prst="line">
            <a:avLst/>
          </a:prstGeom>
          <a:noFill/>
          <a:ln w="28575">
            <a:solidFill>
              <a:schemeClr val="folHlink"/>
            </a:solidFill>
            <a:miter lim="800000"/>
            <a:headEnd/>
            <a:tailEnd type="triangle" w="med" len="med"/>
          </a:ln>
          <a:effectLst/>
        </p:spPr>
        <p:txBody>
          <a:bodyPr wrap="none"/>
          <a:lstStyle/>
          <a:p>
            <a:endParaRPr lang="en-US"/>
          </a:p>
        </p:txBody>
      </p:sp>
      <p:sp>
        <p:nvSpPr>
          <p:cNvPr id="28691" name="Line 19"/>
          <p:cNvSpPr>
            <a:spLocks noChangeShapeType="1"/>
          </p:cNvSpPr>
          <p:nvPr/>
        </p:nvSpPr>
        <p:spPr bwMode="auto">
          <a:xfrm>
            <a:off x="1981200" y="4876800"/>
            <a:ext cx="1981200" cy="838200"/>
          </a:xfrm>
          <a:prstGeom prst="line">
            <a:avLst/>
          </a:prstGeom>
          <a:noFill/>
          <a:ln w="28575">
            <a:solidFill>
              <a:schemeClr val="folHlink"/>
            </a:solidFill>
            <a:miter lim="800000"/>
            <a:headEnd/>
            <a:tailEnd type="triangle" w="med" len="med"/>
          </a:ln>
          <a:effectLst/>
        </p:spPr>
        <p:txBody>
          <a:bodyPr wrap="none"/>
          <a:lstStyle/>
          <a:p>
            <a:endParaRPr lang="en-US"/>
          </a:p>
        </p:txBody>
      </p:sp>
      <p:sp>
        <p:nvSpPr>
          <p:cNvPr id="28692" name="Line 20"/>
          <p:cNvSpPr>
            <a:spLocks noChangeShapeType="1"/>
          </p:cNvSpPr>
          <p:nvPr/>
        </p:nvSpPr>
        <p:spPr bwMode="auto">
          <a:xfrm flipV="1">
            <a:off x="2209800" y="4038600"/>
            <a:ext cx="1676400" cy="1524000"/>
          </a:xfrm>
          <a:prstGeom prst="line">
            <a:avLst/>
          </a:prstGeom>
          <a:noFill/>
          <a:ln w="28575">
            <a:solidFill>
              <a:schemeClr val="folHlink"/>
            </a:solidFill>
            <a:miter lim="800000"/>
            <a:headEnd/>
            <a:tailEnd type="triangle" w="med" len="med"/>
          </a:ln>
          <a:effectLst/>
        </p:spPr>
        <p:txBody>
          <a:bodyPr wrap="none"/>
          <a:lstStyle/>
          <a:p>
            <a:endParaRPr lang="en-US"/>
          </a:p>
        </p:txBody>
      </p:sp>
      <p:sp>
        <p:nvSpPr>
          <p:cNvPr id="28693" name="Line 21"/>
          <p:cNvSpPr>
            <a:spLocks noChangeShapeType="1"/>
          </p:cNvSpPr>
          <p:nvPr/>
        </p:nvSpPr>
        <p:spPr bwMode="auto">
          <a:xfrm>
            <a:off x="2057400" y="4038600"/>
            <a:ext cx="1828800" cy="762000"/>
          </a:xfrm>
          <a:prstGeom prst="line">
            <a:avLst/>
          </a:prstGeom>
          <a:noFill/>
          <a:ln w="28575">
            <a:solidFill>
              <a:schemeClr val="folHlink"/>
            </a:solidFill>
            <a:miter lim="800000"/>
            <a:headEnd/>
            <a:tailEnd type="triangle" w="med" len="med"/>
          </a:ln>
          <a:effectLst/>
        </p:spPr>
        <p:txBody>
          <a:bodyPr wrap="none"/>
          <a:lstStyle/>
          <a:p>
            <a:endParaRPr lang="en-US"/>
          </a:p>
        </p:txBody>
      </p:sp>
      <p:sp>
        <p:nvSpPr>
          <p:cNvPr id="28694" name="Line 22"/>
          <p:cNvSpPr>
            <a:spLocks noChangeShapeType="1"/>
          </p:cNvSpPr>
          <p:nvPr/>
        </p:nvSpPr>
        <p:spPr bwMode="auto">
          <a:xfrm>
            <a:off x="1981200" y="4876800"/>
            <a:ext cx="1905000" cy="0"/>
          </a:xfrm>
          <a:prstGeom prst="line">
            <a:avLst/>
          </a:prstGeom>
          <a:noFill/>
          <a:ln w="28575">
            <a:solidFill>
              <a:schemeClr val="folHlink"/>
            </a:solidFill>
            <a:miter lim="800000"/>
            <a:headEnd/>
            <a:tailEnd type="triangle" w="med" len="med"/>
          </a:ln>
          <a:effectLst/>
        </p:spPr>
        <p:txBody>
          <a:bodyPr wrap="none"/>
          <a:lstStyle/>
          <a:p>
            <a:endParaRPr lang="en-US"/>
          </a:p>
        </p:txBody>
      </p:sp>
      <p:sp>
        <p:nvSpPr>
          <p:cNvPr id="28695" name="Line 23"/>
          <p:cNvSpPr>
            <a:spLocks noChangeShapeType="1"/>
          </p:cNvSpPr>
          <p:nvPr/>
        </p:nvSpPr>
        <p:spPr bwMode="auto">
          <a:xfrm>
            <a:off x="5410200" y="4876800"/>
            <a:ext cx="1371600" cy="0"/>
          </a:xfrm>
          <a:prstGeom prst="line">
            <a:avLst/>
          </a:prstGeom>
          <a:noFill/>
          <a:ln w="28575">
            <a:solidFill>
              <a:schemeClr val="folHlink"/>
            </a:solidFill>
            <a:miter lim="800000"/>
            <a:headEnd/>
            <a:tailEnd type="triangle" w="med" len="med"/>
          </a:ln>
          <a:effectLst/>
        </p:spPr>
        <p:txBody>
          <a:bodyPr wrap="none"/>
          <a:lstStyle/>
          <a:p>
            <a:endParaRPr lang="en-US"/>
          </a:p>
        </p:txBody>
      </p:sp>
      <p:sp>
        <p:nvSpPr>
          <p:cNvPr id="28696" name="Line 24"/>
          <p:cNvSpPr>
            <a:spLocks noChangeShapeType="1"/>
          </p:cNvSpPr>
          <p:nvPr/>
        </p:nvSpPr>
        <p:spPr bwMode="auto">
          <a:xfrm>
            <a:off x="5334000" y="5791200"/>
            <a:ext cx="1447800" cy="0"/>
          </a:xfrm>
          <a:prstGeom prst="line">
            <a:avLst/>
          </a:prstGeom>
          <a:noFill/>
          <a:ln w="28575">
            <a:solidFill>
              <a:schemeClr val="folHlink"/>
            </a:solidFill>
            <a:miter lim="800000"/>
            <a:headEnd/>
            <a:tailEnd type="triangle" w="med" len="med"/>
          </a:ln>
          <a:effectLst/>
        </p:spPr>
        <p:txBody>
          <a:bodyPr wrap="none"/>
          <a:lstStyle/>
          <a:p>
            <a:endParaRPr lang="en-US"/>
          </a:p>
        </p:txBody>
      </p:sp>
      <p:sp>
        <p:nvSpPr>
          <p:cNvPr id="28697" name="Text Box 25"/>
          <p:cNvSpPr txBox="1">
            <a:spLocks noChangeArrowheads="1"/>
          </p:cNvSpPr>
          <p:nvPr/>
        </p:nvSpPr>
        <p:spPr bwMode="auto">
          <a:xfrm>
            <a:off x="2286000" y="2819400"/>
            <a:ext cx="1344613" cy="701675"/>
          </a:xfrm>
          <a:prstGeom prst="rect">
            <a:avLst/>
          </a:prstGeom>
          <a:noFill/>
          <a:ln w="9525">
            <a:noFill/>
            <a:miter lim="800000"/>
            <a:headEnd/>
            <a:tailEnd/>
          </a:ln>
          <a:effectLst/>
        </p:spPr>
        <p:txBody>
          <a:bodyPr wrap="none">
            <a:spAutoFit/>
          </a:bodyPr>
          <a:lstStyle/>
          <a:p>
            <a:r>
              <a:rPr lang="en-US" sz="2000" i="1">
                <a:solidFill>
                  <a:schemeClr val="folHlink"/>
                </a:solidFill>
              </a:rPr>
              <a:t>Can play </a:t>
            </a:r>
          </a:p>
          <a:p>
            <a:r>
              <a:rPr lang="en-US" sz="2000" i="1">
                <a:solidFill>
                  <a:schemeClr val="folHlink"/>
                </a:solidFill>
              </a:rPr>
              <a:t>the role of</a:t>
            </a:r>
          </a:p>
        </p:txBody>
      </p:sp>
      <p:sp>
        <p:nvSpPr>
          <p:cNvPr id="28698" name="Text Box 26"/>
          <p:cNvSpPr txBox="1">
            <a:spLocks noChangeArrowheads="1"/>
          </p:cNvSpPr>
          <p:nvPr/>
        </p:nvSpPr>
        <p:spPr bwMode="auto">
          <a:xfrm>
            <a:off x="5334000" y="3048000"/>
            <a:ext cx="1185863" cy="396875"/>
          </a:xfrm>
          <a:prstGeom prst="rect">
            <a:avLst/>
          </a:prstGeom>
          <a:noFill/>
          <a:ln w="9525">
            <a:noFill/>
            <a:miter lim="800000"/>
            <a:headEnd/>
            <a:tailEnd/>
          </a:ln>
          <a:effectLst/>
        </p:spPr>
        <p:txBody>
          <a:bodyPr wrap="none">
            <a:spAutoFit/>
          </a:bodyPr>
          <a:lstStyle/>
          <a:p>
            <a:r>
              <a:rPr lang="en-US" sz="2000" i="1">
                <a:solidFill>
                  <a:schemeClr val="folHlink"/>
                </a:solidFill>
              </a:rPr>
              <a:t>performs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3E97093A-0C11-40EC-BF67-EECD1AB0F032}" type="slidenum">
              <a:rPr lang="en-US"/>
              <a:pPr/>
              <a:t>20</a:t>
            </a:fld>
            <a:endParaRPr lang="en-US"/>
          </a:p>
        </p:txBody>
      </p:sp>
      <p:sp>
        <p:nvSpPr>
          <p:cNvPr id="29698" name="Rectangle 2"/>
          <p:cNvSpPr>
            <a:spLocks noGrp="1" noChangeArrowheads="1"/>
          </p:cNvSpPr>
          <p:nvPr>
            <p:ph type="title"/>
          </p:nvPr>
        </p:nvSpPr>
        <p:spPr/>
        <p:txBody>
          <a:bodyPr/>
          <a:lstStyle/>
          <a:p>
            <a:r>
              <a:rPr lang="en-US" dirty="0"/>
              <a:t>Identify Actors</a:t>
            </a:r>
          </a:p>
        </p:txBody>
      </p:sp>
      <p:sp>
        <p:nvSpPr>
          <p:cNvPr id="29699" name="Rectangle 3"/>
          <p:cNvSpPr>
            <a:spLocks noGrp="1" noChangeArrowheads="1"/>
          </p:cNvSpPr>
          <p:nvPr>
            <p:ph type="body" idx="1"/>
          </p:nvPr>
        </p:nvSpPr>
        <p:spPr>
          <a:xfrm>
            <a:off x="609600" y="2017713"/>
            <a:ext cx="8345488" cy="4114800"/>
          </a:xfrm>
        </p:spPr>
        <p:txBody>
          <a:bodyPr/>
          <a:lstStyle/>
          <a:p>
            <a:r>
              <a:rPr lang="en-US" sz="2000" dirty="0"/>
              <a:t>Who is interested in a certain requirement?</a:t>
            </a:r>
          </a:p>
          <a:p>
            <a:r>
              <a:rPr lang="en-US" sz="2000" dirty="0"/>
              <a:t>Where in the organization is the system used?</a:t>
            </a:r>
          </a:p>
          <a:p>
            <a:r>
              <a:rPr lang="en-US" sz="2000" dirty="0"/>
              <a:t>Who will supply the system with this information, use this information, remove this information</a:t>
            </a:r>
          </a:p>
          <a:p>
            <a:r>
              <a:rPr lang="en-US" sz="2000" dirty="0"/>
              <a:t>Who will use this function?</a:t>
            </a:r>
          </a:p>
          <a:p>
            <a:r>
              <a:rPr lang="en-US" sz="2000" dirty="0"/>
              <a:t>Who will support and maintain the system?</a:t>
            </a:r>
          </a:p>
          <a:p>
            <a:r>
              <a:rPr lang="en-US" sz="2000" dirty="0"/>
              <a:t>Does the system use an external resource?</a:t>
            </a:r>
          </a:p>
          <a:p>
            <a:r>
              <a:rPr lang="en-US" sz="2000" dirty="0"/>
              <a:t>What actors do the use-cases needed?</a:t>
            </a:r>
          </a:p>
          <a:p>
            <a:r>
              <a:rPr lang="en-US" sz="2000" dirty="0"/>
              <a:t>Does one person play several different roles? </a:t>
            </a:r>
          </a:p>
          <a:p>
            <a:r>
              <a:rPr lang="en-US" sz="2000" dirty="0"/>
              <a:t>Do several people play the same role?</a:t>
            </a:r>
          </a:p>
          <a:p>
            <a:pPr>
              <a:buNone/>
            </a:pP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4"/>
          <p:cNvSpPr>
            <a:spLocks noGrp="1"/>
          </p:cNvSpPr>
          <p:nvPr>
            <p:ph type="ftr" sz="quarter" idx="11"/>
          </p:nvPr>
        </p:nvSpPr>
        <p:spPr/>
        <p:txBody>
          <a:bodyPr/>
          <a:lstStyle/>
          <a:p>
            <a:r>
              <a:rPr lang="en-US"/>
              <a:t>Chapter 6-Object-oriented design</a:t>
            </a:r>
          </a:p>
        </p:txBody>
      </p:sp>
      <p:sp>
        <p:nvSpPr>
          <p:cNvPr id="16" name="Slide Number Placeholder 5"/>
          <p:cNvSpPr>
            <a:spLocks noGrp="1"/>
          </p:cNvSpPr>
          <p:nvPr>
            <p:ph type="sldNum" sz="quarter" idx="12"/>
          </p:nvPr>
        </p:nvSpPr>
        <p:spPr/>
        <p:txBody>
          <a:bodyPr/>
          <a:lstStyle/>
          <a:p>
            <a:fld id="{939F5C98-8638-4B07-9EB8-DB552946AEF8}" type="slidenum">
              <a:rPr lang="en-US"/>
              <a:pPr/>
              <a:t>21</a:t>
            </a:fld>
            <a:endParaRPr lang="en-US"/>
          </a:p>
        </p:txBody>
      </p:sp>
      <p:sp>
        <p:nvSpPr>
          <p:cNvPr id="31746" name="Rectangle 2"/>
          <p:cNvSpPr>
            <a:spLocks noGrp="1" noChangeArrowheads="1"/>
          </p:cNvSpPr>
          <p:nvPr>
            <p:ph type="title"/>
          </p:nvPr>
        </p:nvSpPr>
        <p:spPr/>
        <p:txBody>
          <a:bodyPr/>
          <a:lstStyle/>
          <a:p>
            <a:r>
              <a:rPr lang="en-US"/>
              <a:t>Description of an Actor</a:t>
            </a:r>
          </a:p>
        </p:txBody>
      </p:sp>
      <p:sp>
        <p:nvSpPr>
          <p:cNvPr id="31747" name="Rectangle 3"/>
          <p:cNvSpPr>
            <a:spLocks noGrp="1" noChangeArrowheads="1"/>
          </p:cNvSpPr>
          <p:nvPr>
            <p:ph type="body" idx="1"/>
          </p:nvPr>
        </p:nvSpPr>
        <p:spPr>
          <a:xfrm>
            <a:off x="685800" y="1905000"/>
            <a:ext cx="8229600" cy="3352800"/>
          </a:xfrm>
        </p:spPr>
        <p:txBody>
          <a:bodyPr/>
          <a:lstStyle/>
          <a:p>
            <a:r>
              <a:rPr lang="en-US" sz="2400"/>
              <a:t>Text</a:t>
            </a:r>
          </a:p>
          <a:p>
            <a:pPr lvl="1"/>
            <a:r>
              <a:rPr lang="en-US" sz="2400"/>
              <a:t>Name</a:t>
            </a:r>
          </a:p>
          <a:p>
            <a:pPr lvl="1"/>
            <a:r>
              <a:rPr lang="en-US" sz="2400"/>
              <a:t>Brief description</a:t>
            </a:r>
          </a:p>
          <a:p>
            <a:pPr lvl="1"/>
            <a:r>
              <a:rPr lang="en-US" sz="2400"/>
              <a:t>Relationships with use cases</a:t>
            </a:r>
          </a:p>
          <a:p>
            <a:r>
              <a:rPr lang="en-US" sz="2400"/>
              <a:t>Example</a:t>
            </a:r>
          </a:p>
          <a:p>
            <a:pPr lvl="1"/>
            <a:r>
              <a:rPr lang="en-US" sz="2400"/>
              <a:t>Student</a:t>
            </a:r>
          </a:p>
          <a:p>
            <a:pPr lvl="1"/>
            <a:r>
              <a:rPr lang="en-US" sz="2400"/>
              <a:t>A person who signs up for a course</a:t>
            </a:r>
          </a:p>
          <a:p>
            <a:pPr lvl="1">
              <a:buFont typeface="Wingdings" pitchFamily="2" charset="2"/>
              <a:buNone/>
            </a:pPr>
            <a:endParaRPr lang="en-US" sz="2400"/>
          </a:p>
        </p:txBody>
      </p:sp>
      <p:sp>
        <p:nvSpPr>
          <p:cNvPr id="31748" name="Text Box 4"/>
          <p:cNvSpPr txBox="1">
            <a:spLocks noChangeArrowheads="1"/>
          </p:cNvSpPr>
          <p:nvPr/>
        </p:nvSpPr>
        <p:spPr bwMode="auto">
          <a:xfrm>
            <a:off x="7010400" y="2819400"/>
            <a:ext cx="1752600" cy="701675"/>
          </a:xfrm>
          <a:prstGeom prst="rect">
            <a:avLst/>
          </a:prstGeom>
          <a:noFill/>
          <a:ln w="9525">
            <a:noFill/>
            <a:miter lim="800000"/>
            <a:headEnd/>
            <a:tailEnd/>
          </a:ln>
          <a:effectLst/>
        </p:spPr>
        <p:txBody>
          <a:bodyPr>
            <a:spAutoFit/>
          </a:bodyPr>
          <a:lstStyle/>
          <a:p>
            <a:pPr>
              <a:spcBef>
                <a:spcPct val="50000"/>
              </a:spcBef>
            </a:pPr>
            <a:r>
              <a:rPr lang="en-US" sz="2000">
                <a:solidFill>
                  <a:schemeClr val="folHlink"/>
                </a:solidFill>
              </a:rPr>
              <a:t>Register for Courses</a:t>
            </a:r>
          </a:p>
        </p:txBody>
      </p:sp>
      <p:grpSp>
        <p:nvGrpSpPr>
          <p:cNvPr id="2" name="Group 5"/>
          <p:cNvGrpSpPr>
            <a:grpSpLocks/>
          </p:cNvGrpSpPr>
          <p:nvPr/>
        </p:nvGrpSpPr>
        <p:grpSpPr bwMode="auto">
          <a:xfrm>
            <a:off x="5334000" y="2044700"/>
            <a:ext cx="3048000" cy="1247775"/>
            <a:chOff x="3360" y="1288"/>
            <a:chExt cx="1920" cy="786"/>
          </a:xfrm>
        </p:grpSpPr>
        <p:grpSp>
          <p:nvGrpSpPr>
            <p:cNvPr id="3" name="Group 6"/>
            <p:cNvGrpSpPr>
              <a:grpSpLocks/>
            </p:cNvGrpSpPr>
            <p:nvPr/>
          </p:nvGrpSpPr>
          <p:grpSpPr bwMode="auto">
            <a:xfrm>
              <a:off x="3504" y="1288"/>
              <a:ext cx="288" cy="384"/>
              <a:chOff x="1488" y="1920"/>
              <a:chExt cx="288" cy="816"/>
            </a:xfrm>
          </p:grpSpPr>
          <p:sp>
            <p:nvSpPr>
              <p:cNvPr id="31751" name="Oval 7"/>
              <p:cNvSpPr>
                <a:spLocks noChangeArrowheads="1"/>
              </p:cNvSpPr>
              <p:nvPr/>
            </p:nvSpPr>
            <p:spPr bwMode="auto">
              <a:xfrm>
                <a:off x="1488" y="1920"/>
                <a:ext cx="288" cy="288"/>
              </a:xfrm>
              <a:prstGeom prst="ellipse">
                <a:avLst/>
              </a:prstGeom>
              <a:noFill/>
              <a:ln w="28575">
                <a:solidFill>
                  <a:schemeClr val="tx1"/>
                </a:solidFill>
                <a:miter lim="800000"/>
                <a:headEnd/>
                <a:tailEnd/>
              </a:ln>
              <a:effectLst/>
            </p:spPr>
            <p:txBody>
              <a:bodyPr wrap="none" anchor="ctr"/>
              <a:lstStyle/>
              <a:p>
                <a:endParaRPr lang="en-US"/>
              </a:p>
            </p:txBody>
          </p:sp>
          <p:sp>
            <p:nvSpPr>
              <p:cNvPr id="31752" name="Line 8"/>
              <p:cNvSpPr>
                <a:spLocks noChangeShapeType="1"/>
              </p:cNvSpPr>
              <p:nvPr/>
            </p:nvSpPr>
            <p:spPr bwMode="auto">
              <a:xfrm>
                <a:off x="1632" y="2208"/>
                <a:ext cx="0" cy="288"/>
              </a:xfrm>
              <a:prstGeom prst="line">
                <a:avLst/>
              </a:prstGeom>
              <a:noFill/>
              <a:ln w="28575">
                <a:solidFill>
                  <a:schemeClr val="tx1"/>
                </a:solidFill>
                <a:miter lim="800000"/>
                <a:headEnd/>
                <a:tailEnd/>
              </a:ln>
              <a:effectLst/>
            </p:spPr>
            <p:txBody>
              <a:bodyPr wrap="none"/>
              <a:lstStyle/>
              <a:p>
                <a:endParaRPr lang="en-US"/>
              </a:p>
            </p:txBody>
          </p:sp>
          <p:sp>
            <p:nvSpPr>
              <p:cNvPr id="31753" name="Line 9"/>
              <p:cNvSpPr>
                <a:spLocks noChangeShapeType="1"/>
              </p:cNvSpPr>
              <p:nvPr/>
            </p:nvSpPr>
            <p:spPr bwMode="auto">
              <a:xfrm>
                <a:off x="1488" y="2304"/>
                <a:ext cx="288" cy="0"/>
              </a:xfrm>
              <a:prstGeom prst="line">
                <a:avLst/>
              </a:prstGeom>
              <a:noFill/>
              <a:ln w="28575">
                <a:solidFill>
                  <a:schemeClr val="tx1"/>
                </a:solidFill>
                <a:miter lim="800000"/>
                <a:headEnd/>
                <a:tailEnd/>
              </a:ln>
              <a:effectLst/>
            </p:spPr>
            <p:txBody>
              <a:bodyPr wrap="none"/>
              <a:lstStyle/>
              <a:p>
                <a:endParaRPr lang="en-US"/>
              </a:p>
            </p:txBody>
          </p:sp>
          <p:sp>
            <p:nvSpPr>
              <p:cNvPr id="31754" name="Line 10"/>
              <p:cNvSpPr>
                <a:spLocks noChangeShapeType="1"/>
              </p:cNvSpPr>
              <p:nvPr/>
            </p:nvSpPr>
            <p:spPr bwMode="auto">
              <a:xfrm flipH="1">
                <a:off x="1488" y="2496"/>
                <a:ext cx="144" cy="240"/>
              </a:xfrm>
              <a:prstGeom prst="line">
                <a:avLst/>
              </a:prstGeom>
              <a:noFill/>
              <a:ln w="28575">
                <a:solidFill>
                  <a:schemeClr val="tx1"/>
                </a:solidFill>
                <a:miter lim="800000"/>
                <a:headEnd/>
                <a:tailEnd/>
              </a:ln>
              <a:effectLst/>
            </p:spPr>
            <p:txBody>
              <a:bodyPr wrap="none"/>
              <a:lstStyle/>
              <a:p>
                <a:endParaRPr lang="en-US"/>
              </a:p>
            </p:txBody>
          </p:sp>
          <p:sp>
            <p:nvSpPr>
              <p:cNvPr id="31755" name="Line 11"/>
              <p:cNvSpPr>
                <a:spLocks noChangeShapeType="1"/>
              </p:cNvSpPr>
              <p:nvPr/>
            </p:nvSpPr>
            <p:spPr bwMode="auto">
              <a:xfrm>
                <a:off x="1632" y="2496"/>
                <a:ext cx="144" cy="240"/>
              </a:xfrm>
              <a:prstGeom prst="line">
                <a:avLst/>
              </a:prstGeom>
              <a:noFill/>
              <a:ln w="28575">
                <a:solidFill>
                  <a:schemeClr val="tx1"/>
                </a:solidFill>
                <a:miter lim="800000"/>
                <a:headEnd/>
                <a:tailEnd/>
              </a:ln>
              <a:effectLst/>
            </p:spPr>
            <p:txBody>
              <a:bodyPr wrap="none"/>
              <a:lstStyle/>
              <a:p>
                <a:endParaRPr lang="en-US"/>
              </a:p>
            </p:txBody>
          </p:sp>
        </p:grpSp>
        <p:sp>
          <p:nvSpPr>
            <p:cNvPr id="31756" name="Oval 12"/>
            <p:cNvSpPr>
              <a:spLocks noChangeArrowheads="1"/>
            </p:cNvSpPr>
            <p:nvPr/>
          </p:nvSpPr>
          <p:spPr bwMode="auto">
            <a:xfrm>
              <a:off x="4464" y="1392"/>
              <a:ext cx="816" cy="288"/>
            </a:xfrm>
            <a:prstGeom prst="ellipse">
              <a:avLst/>
            </a:prstGeom>
            <a:noFill/>
            <a:ln w="28575">
              <a:solidFill>
                <a:schemeClr val="tx1"/>
              </a:solidFill>
              <a:miter lim="800000"/>
              <a:headEnd/>
              <a:tailEnd/>
            </a:ln>
            <a:effectLst/>
          </p:spPr>
          <p:txBody>
            <a:bodyPr wrap="none" anchor="ctr"/>
            <a:lstStyle/>
            <a:p>
              <a:endParaRPr lang="en-US"/>
            </a:p>
          </p:txBody>
        </p:sp>
        <p:sp>
          <p:nvSpPr>
            <p:cNvPr id="31757" name="Text Box 13"/>
            <p:cNvSpPr txBox="1">
              <a:spLocks noChangeArrowheads="1"/>
            </p:cNvSpPr>
            <p:nvPr/>
          </p:nvSpPr>
          <p:spPr bwMode="auto">
            <a:xfrm>
              <a:off x="3360" y="1824"/>
              <a:ext cx="850" cy="250"/>
            </a:xfrm>
            <a:prstGeom prst="rect">
              <a:avLst/>
            </a:prstGeom>
            <a:noFill/>
            <a:ln w="9525">
              <a:noFill/>
              <a:miter lim="800000"/>
              <a:headEnd/>
              <a:tailEnd/>
            </a:ln>
            <a:effectLst/>
          </p:spPr>
          <p:txBody>
            <a:bodyPr>
              <a:spAutoFit/>
            </a:bodyPr>
            <a:lstStyle/>
            <a:p>
              <a:pPr>
                <a:spcBef>
                  <a:spcPct val="50000"/>
                </a:spcBef>
              </a:pPr>
              <a:r>
                <a:rPr lang="en-US" sz="2000">
                  <a:solidFill>
                    <a:schemeClr val="folHlink"/>
                  </a:solidFill>
                </a:rPr>
                <a:t>Student</a:t>
              </a:r>
            </a:p>
          </p:txBody>
        </p:sp>
        <p:sp>
          <p:nvSpPr>
            <p:cNvPr id="31758" name="Line 14"/>
            <p:cNvSpPr>
              <a:spLocks noChangeShapeType="1"/>
            </p:cNvSpPr>
            <p:nvPr/>
          </p:nvSpPr>
          <p:spPr bwMode="auto">
            <a:xfrm flipV="1">
              <a:off x="3792" y="1536"/>
              <a:ext cx="672" cy="0"/>
            </a:xfrm>
            <a:prstGeom prst="line">
              <a:avLst/>
            </a:prstGeom>
            <a:noFill/>
            <a:ln w="28575">
              <a:solidFill>
                <a:schemeClr val="tx1"/>
              </a:solidFill>
              <a:miter lim="800000"/>
              <a:headEnd/>
              <a:tailEnd type="triangle" w="med" len="med"/>
            </a:ln>
            <a:effectLst/>
          </p:spPr>
          <p:txBody>
            <a:bodyPr wrap="none"/>
            <a:lstStyle/>
            <a:p>
              <a:endParaRPr lang="en-US"/>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4"/>
          <p:cNvSpPr>
            <a:spLocks noGrp="1"/>
          </p:cNvSpPr>
          <p:nvPr>
            <p:ph type="ftr" sz="quarter" idx="11"/>
          </p:nvPr>
        </p:nvSpPr>
        <p:spPr/>
        <p:txBody>
          <a:bodyPr/>
          <a:lstStyle/>
          <a:p>
            <a:r>
              <a:rPr lang="en-US"/>
              <a:t>Chapter 6-Object-oriented design</a:t>
            </a:r>
          </a:p>
        </p:txBody>
      </p:sp>
      <p:sp>
        <p:nvSpPr>
          <p:cNvPr id="16" name="Slide Number Placeholder 5"/>
          <p:cNvSpPr>
            <a:spLocks noGrp="1"/>
          </p:cNvSpPr>
          <p:nvPr>
            <p:ph type="sldNum" sz="quarter" idx="12"/>
          </p:nvPr>
        </p:nvSpPr>
        <p:spPr/>
        <p:txBody>
          <a:bodyPr/>
          <a:lstStyle/>
          <a:p>
            <a:fld id="{05C8D7B3-53B8-4805-AA80-A7D8E70F32FA}" type="slidenum">
              <a:rPr lang="en-US"/>
              <a:pPr/>
              <a:t>22</a:t>
            </a:fld>
            <a:endParaRPr lang="en-US"/>
          </a:p>
        </p:txBody>
      </p:sp>
      <p:sp>
        <p:nvSpPr>
          <p:cNvPr id="32770" name="Rectangle 2"/>
          <p:cNvSpPr>
            <a:spLocks noGrp="1" noChangeArrowheads="1"/>
          </p:cNvSpPr>
          <p:nvPr>
            <p:ph type="title"/>
          </p:nvPr>
        </p:nvSpPr>
        <p:spPr/>
        <p:txBody>
          <a:bodyPr/>
          <a:lstStyle/>
          <a:p>
            <a:r>
              <a:rPr lang="en-US"/>
              <a:t>Identify Use-Cases</a:t>
            </a:r>
          </a:p>
        </p:txBody>
      </p:sp>
      <p:sp>
        <p:nvSpPr>
          <p:cNvPr id="32771" name="Rectangle 3"/>
          <p:cNvSpPr>
            <a:spLocks noGrp="1" noChangeArrowheads="1"/>
          </p:cNvSpPr>
          <p:nvPr>
            <p:ph type="body" idx="1"/>
          </p:nvPr>
        </p:nvSpPr>
        <p:spPr>
          <a:xfrm>
            <a:off x="990600" y="1981200"/>
            <a:ext cx="7772400" cy="4114800"/>
          </a:xfrm>
        </p:spPr>
        <p:txBody>
          <a:bodyPr/>
          <a:lstStyle/>
          <a:p>
            <a:r>
              <a:rPr lang="en-US" sz="2800" dirty="0"/>
              <a:t>A </a:t>
            </a:r>
            <a:r>
              <a:rPr lang="en-US" sz="2800" dirty="0">
                <a:solidFill>
                  <a:srgbClr val="FF0000"/>
                </a:solidFill>
              </a:rPr>
              <a:t>use-case</a:t>
            </a:r>
            <a:r>
              <a:rPr lang="en-US" sz="2800" dirty="0"/>
              <a:t> represent a dialogue between actors and the system</a:t>
            </a:r>
          </a:p>
          <a:p>
            <a:r>
              <a:rPr lang="en-US" sz="2800" dirty="0"/>
              <a:t>Is initiated by an actor to invoke a certain functionality in the system</a:t>
            </a:r>
          </a:p>
          <a:p>
            <a:r>
              <a:rPr lang="en-US" sz="2800" dirty="0"/>
              <a:t>Is a complete and meaningful flow of events</a:t>
            </a:r>
          </a:p>
        </p:txBody>
      </p:sp>
      <p:grpSp>
        <p:nvGrpSpPr>
          <p:cNvPr id="2" name="Group 4"/>
          <p:cNvGrpSpPr>
            <a:grpSpLocks/>
          </p:cNvGrpSpPr>
          <p:nvPr/>
        </p:nvGrpSpPr>
        <p:grpSpPr bwMode="auto">
          <a:xfrm>
            <a:off x="3124200" y="4419600"/>
            <a:ext cx="2971800" cy="1400175"/>
            <a:chOff x="3360" y="1288"/>
            <a:chExt cx="1920" cy="747"/>
          </a:xfrm>
        </p:grpSpPr>
        <p:grpSp>
          <p:nvGrpSpPr>
            <p:cNvPr id="3" name="Group 5"/>
            <p:cNvGrpSpPr>
              <a:grpSpLocks/>
            </p:cNvGrpSpPr>
            <p:nvPr/>
          </p:nvGrpSpPr>
          <p:grpSpPr bwMode="auto">
            <a:xfrm>
              <a:off x="3504" y="1288"/>
              <a:ext cx="288" cy="384"/>
              <a:chOff x="1488" y="1920"/>
              <a:chExt cx="288" cy="816"/>
            </a:xfrm>
          </p:grpSpPr>
          <p:sp>
            <p:nvSpPr>
              <p:cNvPr id="32774" name="Oval 6"/>
              <p:cNvSpPr>
                <a:spLocks noChangeArrowheads="1"/>
              </p:cNvSpPr>
              <p:nvPr/>
            </p:nvSpPr>
            <p:spPr bwMode="auto">
              <a:xfrm>
                <a:off x="1488" y="1920"/>
                <a:ext cx="288" cy="288"/>
              </a:xfrm>
              <a:prstGeom prst="ellipse">
                <a:avLst/>
              </a:prstGeom>
              <a:noFill/>
              <a:ln w="28575">
                <a:solidFill>
                  <a:schemeClr val="tx1"/>
                </a:solidFill>
                <a:miter lim="800000"/>
                <a:headEnd/>
                <a:tailEnd/>
              </a:ln>
              <a:effectLst/>
            </p:spPr>
            <p:txBody>
              <a:bodyPr wrap="none" anchor="ctr"/>
              <a:lstStyle/>
              <a:p>
                <a:endParaRPr lang="en-US"/>
              </a:p>
            </p:txBody>
          </p:sp>
          <p:sp>
            <p:nvSpPr>
              <p:cNvPr id="32775" name="Line 7"/>
              <p:cNvSpPr>
                <a:spLocks noChangeShapeType="1"/>
              </p:cNvSpPr>
              <p:nvPr/>
            </p:nvSpPr>
            <p:spPr bwMode="auto">
              <a:xfrm>
                <a:off x="1632" y="2208"/>
                <a:ext cx="0" cy="288"/>
              </a:xfrm>
              <a:prstGeom prst="line">
                <a:avLst/>
              </a:prstGeom>
              <a:noFill/>
              <a:ln w="28575">
                <a:solidFill>
                  <a:schemeClr val="tx1"/>
                </a:solidFill>
                <a:miter lim="800000"/>
                <a:headEnd/>
                <a:tailEnd/>
              </a:ln>
              <a:effectLst/>
            </p:spPr>
            <p:txBody>
              <a:bodyPr wrap="none"/>
              <a:lstStyle/>
              <a:p>
                <a:endParaRPr lang="en-US"/>
              </a:p>
            </p:txBody>
          </p:sp>
          <p:sp>
            <p:nvSpPr>
              <p:cNvPr id="32776" name="Line 8"/>
              <p:cNvSpPr>
                <a:spLocks noChangeShapeType="1"/>
              </p:cNvSpPr>
              <p:nvPr/>
            </p:nvSpPr>
            <p:spPr bwMode="auto">
              <a:xfrm>
                <a:off x="1488" y="2304"/>
                <a:ext cx="288" cy="0"/>
              </a:xfrm>
              <a:prstGeom prst="line">
                <a:avLst/>
              </a:prstGeom>
              <a:noFill/>
              <a:ln w="28575">
                <a:solidFill>
                  <a:schemeClr val="tx1"/>
                </a:solidFill>
                <a:miter lim="800000"/>
                <a:headEnd/>
                <a:tailEnd/>
              </a:ln>
              <a:effectLst/>
            </p:spPr>
            <p:txBody>
              <a:bodyPr wrap="none"/>
              <a:lstStyle/>
              <a:p>
                <a:endParaRPr lang="en-US"/>
              </a:p>
            </p:txBody>
          </p:sp>
          <p:sp>
            <p:nvSpPr>
              <p:cNvPr id="32777" name="Line 9"/>
              <p:cNvSpPr>
                <a:spLocks noChangeShapeType="1"/>
              </p:cNvSpPr>
              <p:nvPr/>
            </p:nvSpPr>
            <p:spPr bwMode="auto">
              <a:xfrm flipH="1">
                <a:off x="1488" y="2496"/>
                <a:ext cx="144" cy="240"/>
              </a:xfrm>
              <a:prstGeom prst="line">
                <a:avLst/>
              </a:prstGeom>
              <a:noFill/>
              <a:ln w="28575">
                <a:solidFill>
                  <a:schemeClr val="tx1"/>
                </a:solidFill>
                <a:miter lim="800000"/>
                <a:headEnd/>
                <a:tailEnd/>
              </a:ln>
              <a:effectLst/>
            </p:spPr>
            <p:txBody>
              <a:bodyPr wrap="none"/>
              <a:lstStyle/>
              <a:p>
                <a:endParaRPr lang="en-US"/>
              </a:p>
            </p:txBody>
          </p:sp>
          <p:sp>
            <p:nvSpPr>
              <p:cNvPr id="32778" name="Line 10"/>
              <p:cNvSpPr>
                <a:spLocks noChangeShapeType="1"/>
              </p:cNvSpPr>
              <p:nvPr/>
            </p:nvSpPr>
            <p:spPr bwMode="auto">
              <a:xfrm>
                <a:off x="1632" y="2496"/>
                <a:ext cx="144" cy="240"/>
              </a:xfrm>
              <a:prstGeom prst="line">
                <a:avLst/>
              </a:prstGeom>
              <a:noFill/>
              <a:ln w="28575">
                <a:solidFill>
                  <a:schemeClr val="tx1"/>
                </a:solidFill>
                <a:miter lim="800000"/>
                <a:headEnd/>
                <a:tailEnd/>
              </a:ln>
              <a:effectLst/>
            </p:spPr>
            <p:txBody>
              <a:bodyPr wrap="none"/>
              <a:lstStyle/>
              <a:p>
                <a:endParaRPr lang="en-US"/>
              </a:p>
            </p:txBody>
          </p:sp>
        </p:grpSp>
        <p:sp>
          <p:nvSpPr>
            <p:cNvPr id="32779" name="Oval 11"/>
            <p:cNvSpPr>
              <a:spLocks noChangeArrowheads="1"/>
            </p:cNvSpPr>
            <p:nvPr/>
          </p:nvSpPr>
          <p:spPr bwMode="auto">
            <a:xfrm>
              <a:off x="4464" y="1392"/>
              <a:ext cx="816" cy="288"/>
            </a:xfrm>
            <a:prstGeom prst="ellipse">
              <a:avLst/>
            </a:prstGeom>
            <a:noFill/>
            <a:ln w="28575">
              <a:solidFill>
                <a:schemeClr val="tx1"/>
              </a:solidFill>
              <a:miter lim="800000"/>
              <a:headEnd/>
              <a:tailEnd/>
            </a:ln>
            <a:effectLst/>
          </p:spPr>
          <p:txBody>
            <a:bodyPr wrap="none" anchor="ctr"/>
            <a:lstStyle/>
            <a:p>
              <a:endParaRPr lang="en-US"/>
            </a:p>
          </p:txBody>
        </p:sp>
        <p:sp>
          <p:nvSpPr>
            <p:cNvPr id="32780" name="Text Box 12"/>
            <p:cNvSpPr txBox="1">
              <a:spLocks noChangeArrowheads="1"/>
            </p:cNvSpPr>
            <p:nvPr/>
          </p:nvSpPr>
          <p:spPr bwMode="auto">
            <a:xfrm>
              <a:off x="3360" y="1824"/>
              <a:ext cx="850" cy="211"/>
            </a:xfrm>
            <a:prstGeom prst="rect">
              <a:avLst/>
            </a:prstGeom>
            <a:noFill/>
            <a:ln w="9525">
              <a:noFill/>
              <a:miter lim="800000"/>
              <a:headEnd/>
              <a:tailEnd/>
            </a:ln>
            <a:effectLst/>
          </p:spPr>
          <p:txBody>
            <a:bodyPr>
              <a:spAutoFit/>
            </a:bodyPr>
            <a:lstStyle/>
            <a:p>
              <a:pPr>
                <a:spcBef>
                  <a:spcPct val="50000"/>
                </a:spcBef>
              </a:pPr>
              <a:r>
                <a:rPr lang="en-US" sz="2000">
                  <a:solidFill>
                    <a:schemeClr val="folHlink"/>
                  </a:solidFill>
                </a:rPr>
                <a:t>Student</a:t>
              </a:r>
            </a:p>
          </p:txBody>
        </p:sp>
        <p:sp>
          <p:nvSpPr>
            <p:cNvPr id="32781" name="Line 13"/>
            <p:cNvSpPr>
              <a:spLocks noChangeShapeType="1"/>
            </p:cNvSpPr>
            <p:nvPr/>
          </p:nvSpPr>
          <p:spPr bwMode="auto">
            <a:xfrm flipV="1">
              <a:off x="3792" y="1536"/>
              <a:ext cx="672" cy="0"/>
            </a:xfrm>
            <a:prstGeom prst="line">
              <a:avLst/>
            </a:prstGeom>
            <a:noFill/>
            <a:ln w="28575">
              <a:solidFill>
                <a:schemeClr val="tx1"/>
              </a:solidFill>
              <a:miter lim="800000"/>
              <a:headEnd/>
              <a:tailEnd type="triangle" w="med" len="med"/>
            </a:ln>
            <a:effectLst/>
          </p:spPr>
          <p:txBody>
            <a:bodyPr wrap="none"/>
            <a:lstStyle/>
            <a:p>
              <a:endParaRPr lang="en-US"/>
            </a:p>
          </p:txBody>
        </p:sp>
      </p:grpSp>
      <p:sp>
        <p:nvSpPr>
          <p:cNvPr id="32782" name="Text Box 14"/>
          <p:cNvSpPr txBox="1">
            <a:spLocks noChangeArrowheads="1"/>
          </p:cNvSpPr>
          <p:nvPr/>
        </p:nvSpPr>
        <p:spPr bwMode="auto">
          <a:xfrm>
            <a:off x="4800600" y="5410200"/>
            <a:ext cx="2667000" cy="396875"/>
          </a:xfrm>
          <a:prstGeom prst="rect">
            <a:avLst/>
          </a:prstGeom>
          <a:noFill/>
          <a:ln w="9525">
            <a:noFill/>
            <a:miter lim="800000"/>
            <a:headEnd/>
            <a:tailEnd/>
          </a:ln>
          <a:effectLst/>
        </p:spPr>
        <p:txBody>
          <a:bodyPr>
            <a:spAutoFit/>
          </a:bodyPr>
          <a:lstStyle/>
          <a:p>
            <a:pPr>
              <a:spcBef>
                <a:spcPct val="50000"/>
              </a:spcBef>
            </a:pPr>
            <a:r>
              <a:rPr lang="en-US" sz="2000">
                <a:solidFill>
                  <a:schemeClr val="folHlink"/>
                </a:solidFill>
              </a:rPr>
              <a:t>Register for Courses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A95809DE-996E-43C7-9FB6-D80576284E0F}" type="slidenum">
              <a:rPr lang="en-US"/>
              <a:pPr/>
              <a:t>23</a:t>
            </a:fld>
            <a:endParaRPr lang="en-US"/>
          </a:p>
        </p:txBody>
      </p:sp>
      <p:sp>
        <p:nvSpPr>
          <p:cNvPr id="33794" name="Rectangle 2"/>
          <p:cNvSpPr>
            <a:spLocks noGrp="1" noChangeArrowheads="1"/>
          </p:cNvSpPr>
          <p:nvPr>
            <p:ph type="title"/>
          </p:nvPr>
        </p:nvSpPr>
        <p:spPr/>
        <p:txBody>
          <a:bodyPr/>
          <a:lstStyle/>
          <a:p>
            <a:r>
              <a:rPr lang="en-US"/>
              <a:t>Identify Use-Cases</a:t>
            </a:r>
          </a:p>
        </p:txBody>
      </p:sp>
      <p:sp>
        <p:nvSpPr>
          <p:cNvPr id="33795" name="Rectangle 3"/>
          <p:cNvSpPr>
            <a:spLocks noGrp="1" noChangeArrowheads="1"/>
          </p:cNvSpPr>
          <p:nvPr>
            <p:ph type="body" idx="1"/>
          </p:nvPr>
        </p:nvSpPr>
        <p:spPr/>
        <p:txBody>
          <a:bodyPr/>
          <a:lstStyle/>
          <a:p>
            <a:r>
              <a:rPr lang="en-US" sz="2800" dirty="0"/>
              <a:t>For each actor, find the tasks and functions that the actor should be able to perform </a:t>
            </a:r>
            <a:r>
              <a:rPr lang="en-US" sz="2800" dirty="0">
                <a:solidFill>
                  <a:srgbClr val="FF0000"/>
                </a:solidFill>
              </a:rPr>
              <a:t>OR </a:t>
            </a:r>
            <a:r>
              <a:rPr lang="en-US" sz="2800" dirty="0"/>
              <a:t>that the system needs the actor to perform.</a:t>
            </a:r>
          </a:p>
          <a:p>
            <a:r>
              <a:rPr lang="en-US" sz="2800" dirty="0"/>
              <a:t>The use case should represent a course of event that leads to a clear goal</a:t>
            </a:r>
          </a:p>
          <a:p>
            <a:r>
              <a:rPr lang="en-US" sz="2800" dirty="0"/>
              <a:t>Name the use-cases</a:t>
            </a:r>
          </a:p>
          <a:p>
            <a:r>
              <a:rPr lang="en-US" sz="2800" dirty="0"/>
              <a:t>Describe the use-cases briefly by applying terms which the user is familiar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F9D6B38D-41E9-4E50-B496-914ABDE7DE88}" type="slidenum">
              <a:rPr lang="en-US"/>
              <a:pPr/>
              <a:t>24</a:t>
            </a:fld>
            <a:endParaRPr lang="en-US"/>
          </a:p>
        </p:txBody>
      </p:sp>
      <p:sp>
        <p:nvSpPr>
          <p:cNvPr id="34818" name="Rectangle 2"/>
          <p:cNvSpPr>
            <a:spLocks noGrp="1" noChangeArrowheads="1"/>
          </p:cNvSpPr>
          <p:nvPr>
            <p:ph type="title"/>
          </p:nvPr>
        </p:nvSpPr>
        <p:spPr/>
        <p:txBody>
          <a:bodyPr/>
          <a:lstStyle/>
          <a:p>
            <a:r>
              <a:rPr lang="en-US"/>
              <a:t>Description of a Use-Case</a:t>
            </a:r>
          </a:p>
        </p:txBody>
      </p:sp>
      <p:sp>
        <p:nvSpPr>
          <p:cNvPr id="34819" name="Rectangle 3"/>
          <p:cNvSpPr>
            <a:spLocks noGrp="1" noChangeArrowheads="1"/>
          </p:cNvSpPr>
          <p:nvPr>
            <p:ph type="body" idx="1"/>
          </p:nvPr>
        </p:nvSpPr>
        <p:spPr>
          <a:xfrm>
            <a:off x="838200" y="1981200"/>
            <a:ext cx="7924800" cy="4114800"/>
          </a:xfrm>
        </p:spPr>
        <p:txBody>
          <a:bodyPr/>
          <a:lstStyle/>
          <a:p>
            <a:pPr>
              <a:lnSpc>
                <a:spcPct val="90000"/>
              </a:lnSpc>
            </a:pPr>
            <a:r>
              <a:rPr lang="en-US" sz="2800" dirty="0"/>
              <a:t>Text description of a use case</a:t>
            </a:r>
          </a:p>
          <a:p>
            <a:pPr lvl="1">
              <a:lnSpc>
                <a:spcPct val="90000"/>
              </a:lnSpc>
            </a:pPr>
            <a:r>
              <a:rPr lang="en-US" sz="2400" dirty="0"/>
              <a:t>Name</a:t>
            </a:r>
          </a:p>
          <a:p>
            <a:pPr lvl="1">
              <a:lnSpc>
                <a:spcPct val="90000"/>
              </a:lnSpc>
            </a:pPr>
            <a:r>
              <a:rPr lang="en-US" sz="2400" dirty="0"/>
              <a:t>Brief description</a:t>
            </a:r>
          </a:p>
          <a:p>
            <a:pPr lvl="1">
              <a:lnSpc>
                <a:spcPct val="90000"/>
              </a:lnSpc>
            </a:pPr>
            <a:r>
              <a:rPr lang="en-US" sz="2400" dirty="0"/>
              <a:t>Relationships with actors</a:t>
            </a:r>
          </a:p>
          <a:p>
            <a:pPr>
              <a:lnSpc>
                <a:spcPct val="90000"/>
              </a:lnSpc>
            </a:pPr>
            <a:r>
              <a:rPr lang="en-US" sz="2800" dirty="0"/>
              <a:t>Example</a:t>
            </a:r>
          </a:p>
          <a:p>
            <a:pPr lvl="1">
              <a:lnSpc>
                <a:spcPct val="90000"/>
              </a:lnSpc>
            </a:pPr>
            <a:r>
              <a:rPr lang="en-US" sz="2400" dirty="0"/>
              <a:t>Register for courses</a:t>
            </a:r>
          </a:p>
          <a:p>
            <a:pPr lvl="1">
              <a:lnSpc>
                <a:spcPct val="90000"/>
              </a:lnSpc>
            </a:pPr>
            <a:r>
              <a:rPr lang="en-US" sz="2400" dirty="0"/>
              <a:t>This use case is initiated by a student. It provides the capability for the student to create, delete, modify and/or review a course schedule for a given semester</a:t>
            </a:r>
          </a:p>
          <a:p>
            <a:pPr>
              <a:lnSpc>
                <a:spcPct val="90000"/>
              </a:lnSpc>
            </a:pP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2FB8DECA-5A65-49EE-A59B-546A482888C4}" type="slidenum">
              <a:rPr lang="en-US"/>
              <a:pPr/>
              <a:t>25</a:t>
            </a:fld>
            <a:endParaRPr lang="en-US"/>
          </a:p>
        </p:txBody>
      </p:sp>
      <p:sp>
        <p:nvSpPr>
          <p:cNvPr id="36866" name="Rectangle 2"/>
          <p:cNvSpPr>
            <a:spLocks noGrp="1" noChangeArrowheads="1"/>
          </p:cNvSpPr>
          <p:nvPr>
            <p:ph type="title"/>
          </p:nvPr>
        </p:nvSpPr>
        <p:spPr/>
        <p:txBody>
          <a:bodyPr/>
          <a:lstStyle/>
          <a:p>
            <a:r>
              <a:rPr lang="en-US"/>
              <a:t>Association relationships</a:t>
            </a:r>
          </a:p>
        </p:txBody>
      </p:sp>
      <p:sp>
        <p:nvSpPr>
          <p:cNvPr id="36867" name="Rectangle 3"/>
          <p:cNvSpPr>
            <a:spLocks noGrp="1" noChangeArrowheads="1"/>
          </p:cNvSpPr>
          <p:nvPr>
            <p:ph type="body" idx="1"/>
          </p:nvPr>
        </p:nvSpPr>
        <p:spPr>
          <a:xfrm>
            <a:off x="914400" y="1828800"/>
            <a:ext cx="8040688" cy="4227513"/>
          </a:xfrm>
        </p:spPr>
        <p:txBody>
          <a:bodyPr/>
          <a:lstStyle/>
          <a:p>
            <a:pPr>
              <a:lnSpc>
                <a:spcPct val="90000"/>
              </a:lnSpc>
            </a:pPr>
            <a:r>
              <a:rPr lang="en-US" sz="2800" dirty="0"/>
              <a:t>Exist between an actor and a use case, and between use cases</a:t>
            </a:r>
          </a:p>
          <a:p>
            <a:pPr>
              <a:lnSpc>
                <a:spcPct val="90000"/>
              </a:lnSpc>
            </a:pPr>
            <a:r>
              <a:rPr lang="en-US" sz="2800" dirty="0"/>
              <a:t>A line drawn from an actor to a use case represent an association </a:t>
            </a:r>
          </a:p>
          <a:p>
            <a:pPr>
              <a:lnSpc>
                <a:spcPct val="90000"/>
              </a:lnSpc>
            </a:pPr>
            <a:r>
              <a:rPr lang="en-US" sz="2800" dirty="0"/>
              <a:t>At times a use-case </a:t>
            </a:r>
            <a:r>
              <a:rPr lang="en-US" sz="2800" i="1" dirty="0">
                <a:solidFill>
                  <a:srgbClr val="FF0000"/>
                </a:solidFill>
              </a:rPr>
              <a:t>includes</a:t>
            </a:r>
            <a:r>
              <a:rPr lang="en-US" sz="2800" dirty="0"/>
              <a:t> the functionality, </a:t>
            </a:r>
            <a:r>
              <a:rPr lang="en-US" sz="2800" i="1" dirty="0">
                <a:solidFill>
                  <a:srgbClr val="FF0000"/>
                </a:solidFill>
              </a:rPr>
              <a:t>extends</a:t>
            </a:r>
            <a:r>
              <a:rPr lang="en-US" sz="2800" dirty="0"/>
              <a:t> the functionality, or </a:t>
            </a:r>
            <a:r>
              <a:rPr lang="en-US" sz="2800" i="1" dirty="0">
                <a:solidFill>
                  <a:srgbClr val="FF0000"/>
                </a:solidFill>
              </a:rPr>
              <a:t>generalizes</a:t>
            </a:r>
            <a:r>
              <a:rPr lang="en-US" sz="2800" dirty="0"/>
              <a:t> the functionality of another use-case on the diagram</a:t>
            </a:r>
          </a:p>
          <a:p>
            <a:pPr lvl="1">
              <a:lnSpc>
                <a:spcPct val="90000"/>
              </a:lnSpc>
            </a:pPr>
            <a:r>
              <a:rPr lang="en-US" sz="2400" i="1" dirty="0"/>
              <a:t>This is shown using include(uses) , extend, and generalization relationships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Chapter 6-Object-oriented design</a:t>
            </a:r>
          </a:p>
        </p:txBody>
      </p:sp>
      <p:sp>
        <p:nvSpPr>
          <p:cNvPr id="7" name="Slide Number Placeholder 5"/>
          <p:cNvSpPr>
            <a:spLocks noGrp="1"/>
          </p:cNvSpPr>
          <p:nvPr>
            <p:ph type="sldNum" sz="quarter" idx="12"/>
          </p:nvPr>
        </p:nvSpPr>
        <p:spPr/>
        <p:txBody>
          <a:bodyPr/>
          <a:lstStyle/>
          <a:p>
            <a:fld id="{F1182526-AC51-4E85-A7A3-9F462AD52E40}" type="slidenum">
              <a:rPr lang="en-US"/>
              <a:pPr/>
              <a:t>26</a:t>
            </a:fld>
            <a:endParaRPr lang="en-US"/>
          </a:p>
        </p:txBody>
      </p:sp>
      <p:sp>
        <p:nvSpPr>
          <p:cNvPr id="37890" name="Rectangle 2"/>
          <p:cNvSpPr>
            <a:spLocks noGrp="1" noChangeArrowheads="1"/>
          </p:cNvSpPr>
          <p:nvPr>
            <p:ph type="title"/>
          </p:nvPr>
        </p:nvSpPr>
        <p:spPr/>
        <p:txBody>
          <a:bodyPr/>
          <a:lstStyle/>
          <a:p>
            <a:r>
              <a:rPr lang="en-US"/>
              <a:t>Association relationships</a:t>
            </a:r>
          </a:p>
        </p:txBody>
      </p:sp>
      <p:sp>
        <p:nvSpPr>
          <p:cNvPr id="37891" name="Rectangle 3"/>
          <p:cNvSpPr>
            <a:spLocks noGrp="1" noChangeArrowheads="1"/>
          </p:cNvSpPr>
          <p:nvPr>
            <p:ph type="body" idx="1"/>
          </p:nvPr>
        </p:nvSpPr>
        <p:spPr/>
        <p:txBody>
          <a:bodyPr/>
          <a:lstStyle/>
          <a:p>
            <a:r>
              <a:rPr lang="en-US"/>
              <a:t>In the UML, an association relationship is represented by a solid line with or without an arrow</a:t>
            </a:r>
          </a:p>
          <a:p>
            <a:r>
              <a:rPr lang="en-US"/>
              <a:t>The most general relationship and indicate communication only</a:t>
            </a:r>
          </a:p>
        </p:txBody>
      </p:sp>
      <p:sp>
        <p:nvSpPr>
          <p:cNvPr id="37892" name="Line 4"/>
          <p:cNvSpPr>
            <a:spLocks noChangeShapeType="1"/>
          </p:cNvSpPr>
          <p:nvPr/>
        </p:nvSpPr>
        <p:spPr bwMode="auto">
          <a:xfrm>
            <a:off x="3429000" y="5029200"/>
            <a:ext cx="2362200" cy="0"/>
          </a:xfrm>
          <a:prstGeom prst="line">
            <a:avLst/>
          </a:prstGeom>
          <a:noFill/>
          <a:ln w="28575">
            <a:solidFill>
              <a:schemeClr val="tx1"/>
            </a:solidFill>
            <a:miter lim="800000"/>
            <a:headEnd/>
            <a:tailEnd/>
          </a:ln>
          <a:effectLst/>
        </p:spPr>
        <p:txBody>
          <a:bodyPr wrap="none"/>
          <a:lstStyle/>
          <a:p>
            <a:endParaRPr lang="en-US"/>
          </a:p>
        </p:txBody>
      </p:sp>
      <p:sp>
        <p:nvSpPr>
          <p:cNvPr id="37893" name="Line 5"/>
          <p:cNvSpPr>
            <a:spLocks noChangeShapeType="1"/>
          </p:cNvSpPr>
          <p:nvPr/>
        </p:nvSpPr>
        <p:spPr bwMode="auto">
          <a:xfrm>
            <a:off x="3429000" y="5410200"/>
            <a:ext cx="2362200" cy="0"/>
          </a:xfrm>
          <a:prstGeom prst="line">
            <a:avLst/>
          </a:prstGeom>
          <a:noFill/>
          <a:ln w="28575">
            <a:solidFill>
              <a:schemeClr val="tx1"/>
            </a:solidFill>
            <a:miter lim="800000"/>
            <a:headEnd/>
            <a:tailEnd type="triangle" w="med" len="med"/>
          </a:ln>
          <a:effectLst/>
        </p:spPr>
        <p:txBody>
          <a:bodyPr wrap="none"/>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ooter Placeholder 4"/>
          <p:cNvSpPr>
            <a:spLocks noGrp="1"/>
          </p:cNvSpPr>
          <p:nvPr>
            <p:ph type="ftr" sz="quarter" idx="11"/>
          </p:nvPr>
        </p:nvSpPr>
        <p:spPr/>
        <p:txBody>
          <a:bodyPr/>
          <a:lstStyle/>
          <a:p>
            <a:r>
              <a:rPr lang="en-US"/>
              <a:t>Chapter 6-Object-oriented design</a:t>
            </a:r>
          </a:p>
        </p:txBody>
      </p:sp>
      <p:sp>
        <p:nvSpPr>
          <p:cNvPr id="34" name="Slide Number Placeholder 5"/>
          <p:cNvSpPr>
            <a:spLocks noGrp="1"/>
          </p:cNvSpPr>
          <p:nvPr>
            <p:ph type="sldNum" sz="quarter" idx="12"/>
          </p:nvPr>
        </p:nvSpPr>
        <p:spPr/>
        <p:txBody>
          <a:bodyPr/>
          <a:lstStyle/>
          <a:p>
            <a:fld id="{064DC58D-5EF5-44EF-95D8-427A3CF61F75}" type="slidenum">
              <a:rPr lang="en-US"/>
              <a:pPr/>
              <a:t>27</a:t>
            </a:fld>
            <a:endParaRPr lang="en-US"/>
          </a:p>
        </p:txBody>
      </p:sp>
      <p:sp>
        <p:nvSpPr>
          <p:cNvPr id="38914" name="Rectangle 2"/>
          <p:cNvSpPr>
            <a:spLocks noGrp="1" noChangeArrowheads="1"/>
          </p:cNvSpPr>
          <p:nvPr>
            <p:ph type="title"/>
          </p:nvPr>
        </p:nvSpPr>
        <p:spPr/>
        <p:txBody>
          <a:bodyPr/>
          <a:lstStyle/>
          <a:p>
            <a:r>
              <a:rPr lang="en-US"/>
              <a:t>Association relationships</a:t>
            </a:r>
          </a:p>
        </p:txBody>
      </p:sp>
      <p:grpSp>
        <p:nvGrpSpPr>
          <p:cNvPr id="2" name="Group 3"/>
          <p:cNvGrpSpPr>
            <a:grpSpLocks/>
          </p:cNvGrpSpPr>
          <p:nvPr/>
        </p:nvGrpSpPr>
        <p:grpSpPr bwMode="auto">
          <a:xfrm>
            <a:off x="1600200" y="2667000"/>
            <a:ext cx="446088" cy="1066800"/>
            <a:chOff x="1488" y="1920"/>
            <a:chExt cx="288" cy="816"/>
          </a:xfrm>
        </p:grpSpPr>
        <p:sp>
          <p:nvSpPr>
            <p:cNvPr id="38916" name="Oval 4"/>
            <p:cNvSpPr>
              <a:spLocks noChangeArrowheads="1"/>
            </p:cNvSpPr>
            <p:nvPr/>
          </p:nvSpPr>
          <p:spPr bwMode="auto">
            <a:xfrm>
              <a:off x="1488" y="1920"/>
              <a:ext cx="288" cy="288"/>
            </a:xfrm>
            <a:prstGeom prst="ellipse">
              <a:avLst/>
            </a:prstGeom>
            <a:noFill/>
            <a:ln w="28575">
              <a:solidFill>
                <a:schemeClr val="tx1"/>
              </a:solidFill>
              <a:miter lim="800000"/>
              <a:headEnd/>
              <a:tailEnd/>
            </a:ln>
            <a:effectLst/>
          </p:spPr>
          <p:txBody>
            <a:bodyPr wrap="none" anchor="ctr"/>
            <a:lstStyle/>
            <a:p>
              <a:endParaRPr lang="en-US"/>
            </a:p>
          </p:txBody>
        </p:sp>
        <p:sp>
          <p:nvSpPr>
            <p:cNvPr id="38917" name="Line 5"/>
            <p:cNvSpPr>
              <a:spLocks noChangeShapeType="1"/>
            </p:cNvSpPr>
            <p:nvPr/>
          </p:nvSpPr>
          <p:spPr bwMode="auto">
            <a:xfrm>
              <a:off x="1632" y="2208"/>
              <a:ext cx="0" cy="288"/>
            </a:xfrm>
            <a:prstGeom prst="line">
              <a:avLst/>
            </a:prstGeom>
            <a:noFill/>
            <a:ln w="28575">
              <a:solidFill>
                <a:schemeClr val="tx1"/>
              </a:solidFill>
              <a:miter lim="800000"/>
              <a:headEnd/>
              <a:tailEnd/>
            </a:ln>
            <a:effectLst/>
          </p:spPr>
          <p:txBody>
            <a:bodyPr wrap="none"/>
            <a:lstStyle/>
            <a:p>
              <a:endParaRPr lang="en-US"/>
            </a:p>
          </p:txBody>
        </p:sp>
        <p:sp>
          <p:nvSpPr>
            <p:cNvPr id="38918" name="Line 6"/>
            <p:cNvSpPr>
              <a:spLocks noChangeShapeType="1"/>
            </p:cNvSpPr>
            <p:nvPr/>
          </p:nvSpPr>
          <p:spPr bwMode="auto">
            <a:xfrm>
              <a:off x="1488" y="2304"/>
              <a:ext cx="288" cy="0"/>
            </a:xfrm>
            <a:prstGeom prst="line">
              <a:avLst/>
            </a:prstGeom>
            <a:noFill/>
            <a:ln w="28575">
              <a:solidFill>
                <a:schemeClr val="tx1"/>
              </a:solidFill>
              <a:miter lim="800000"/>
              <a:headEnd/>
              <a:tailEnd/>
            </a:ln>
            <a:effectLst/>
          </p:spPr>
          <p:txBody>
            <a:bodyPr wrap="none"/>
            <a:lstStyle/>
            <a:p>
              <a:endParaRPr lang="en-US"/>
            </a:p>
          </p:txBody>
        </p:sp>
        <p:sp>
          <p:nvSpPr>
            <p:cNvPr id="38919" name="Line 7"/>
            <p:cNvSpPr>
              <a:spLocks noChangeShapeType="1"/>
            </p:cNvSpPr>
            <p:nvPr/>
          </p:nvSpPr>
          <p:spPr bwMode="auto">
            <a:xfrm flipH="1">
              <a:off x="1488" y="2496"/>
              <a:ext cx="144" cy="240"/>
            </a:xfrm>
            <a:prstGeom prst="line">
              <a:avLst/>
            </a:prstGeom>
            <a:noFill/>
            <a:ln w="28575">
              <a:solidFill>
                <a:schemeClr val="tx1"/>
              </a:solidFill>
              <a:miter lim="800000"/>
              <a:headEnd/>
              <a:tailEnd/>
            </a:ln>
            <a:effectLst/>
          </p:spPr>
          <p:txBody>
            <a:bodyPr wrap="none"/>
            <a:lstStyle/>
            <a:p>
              <a:endParaRPr lang="en-US"/>
            </a:p>
          </p:txBody>
        </p:sp>
        <p:sp>
          <p:nvSpPr>
            <p:cNvPr id="38920" name="Line 8"/>
            <p:cNvSpPr>
              <a:spLocks noChangeShapeType="1"/>
            </p:cNvSpPr>
            <p:nvPr/>
          </p:nvSpPr>
          <p:spPr bwMode="auto">
            <a:xfrm>
              <a:off x="1632" y="2496"/>
              <a:ext cx="144" cy="240"/>
            </a:xfrm>
            <a:prstGeom prst="line">
              <a:avLst/>
            </a:prstGeom>
            <a:noFill/>
            <a:ln w="28575">
              <a:solidFill>
                <a:schemeClr val="tx1"/>
              </a:solidFill>
              <a:miter lim="800000"/>
              <a:headEnd/>
              <a:tailEnd/>
            </a:ln>
            <a:effectLst/>
          </p:spPr>
          <p:txBody>
            <a:bodyPr wrap="none"/>
            <a:lstStyle/>
            <a:p>
              <a:endParaRPr lang="en-US"/>
            </a:p>
          </p:txBody>
        </p:sp>
      </p:grpSp>
      <p:sp>
        <p:nvSpPr>
          <p:cNvPr id="38921" name="Oval 9"/>
          <p:cNvSpPr>
            <a:spLocks noChangeArrowheads="1"/>
          </p:cNvSpPr>
          <p:nvPr/>
        </p:nvSpPr>
        <p:spPr bwMode="auto">
          <a:xfrm>
            <a:off x="6172200" y="2286000"/>
            <a:ext cx="1263650" cy="539750"/>
          </a:xfrm>
          <a:prstGeom prst="ellipse">
            <a:avLst/>
          </a:prstGeom>
          <a:noFill/>
          <a:ln w="28575">
            <a:solidFill>
              <a:schemeClr val="tx1"/>
            </a:solidFill>
            <a:miter lim="800000"/>
            <a:headEnd/>
            <a:tailEnd/>
          </a:ln>
          <a:effectLst/>
        </p:spPr>
        <p:txBody>
          <a:bodyPr wrap="none" anchor="ctr"/>
          <a:lstStyle/>
          <a:p>
            <a:endParaRPr lang="en-US"/>
          </a:p>
        </p:txBody>
      </p:sp>
      <p:sp>
        <p:nvSpPr>
          <p:cNvPr id="38922" name="Line 10"/>
          <p:cNvSpPr>
            <a:spLocks noChangeShapeType="1"/>
          </p:cNvSpPr>
          <p:nvPr/>
        </p:nvSpPr>
        <p:spPr bwMode="auto">
          <a:xfrm flipV="1">
            <a:off x="2286000" y="2590800"/>
            <a:ext cx="1371600" cy="457200"/>
          </a:xfrm>
          <a:prstGeom prst="line">
            <a:avLst/>
          </a:prstGeom>
          <a:noFill/>
          <a:ln w="28575">
            <a:solidFill>
              <a:schemeClr val="tx1"/>
            </a:solidFill>
            <a:miter lim="800000"/>
            <a:headEnd/>
            <a:tailEnd type="triangle" w="med" len="med"/>
          </a:ln>
          <a:effectLst/>
        </p:spPr>
        <p:txBody>
          <a:bodyPr wrap="none"/>
          <a:lstStyle/>
          <a:p>
            <a:endParaRPr lang="en-US"/>
          </a:p>
        </p:txBody>
      </p:sp>
      <p:sp>
        <p:nvSpPr>
          <p:cNvPr id="38923" name="Oval 11"/>
          <p:cNvSpPr>
            <a:spLocks noChangeArrowheads="1"/>
          </p:cNvSpPr>
          <p:nvPr/>
        </p:nvSpPr>
        <p:spPr bwMode="auto">
          <a:xfrm>
            <a:off x="3657600" y="2286000"/>
            <a:ext cx="1263650" cy="539750"/>
          </a:xfrm>
          <a:prstGeom prst="ellipse">
            <a:avLst/>
          </a:prstGeom>
          <a:noFill/>
          <a:ln w="28575">
            <a:solidFill>
              <a:schemeClr val="tx1"/>
            </a:solidFill>
            <a:miter lim="800000"/>
            <a:headEnd/>
            <a:tailEnd/>
          </a:ln>
          <a:effectLst/>
        </p:spPr>
        <p:txBody>
          <a:bodyPr wrap="none" anchor="ctr"/>
          <a:lstStyle/>
          <a:p>
            <a:endParaRPr lang="en-US"/>
          </a:p>
        </p:txBody>
      </p:sp>
      <p:sp>
        <p:nvSpPr>
          <p:cNvPr id="38924" name="Oval 12"/>
          <p:cNvSpPr>
            <a:spLocks noChangeArrowheads="1"/>
          </p:cNvSpPr>
          <p:nvPr/>
        </p:nvSpPr>
        <p:spPr bwMode="auto">
          <a:xfrm>
            <a:off x="3657600" y="3200400"/>
            <a:ext cx="1263650" cy="539750"/>
          </a:xfrm>
          <a:prstGeom prst="ellipse">
            <a:avLst/>
          </a:prstGeom>
          <a:noFill/>
          <a:ln w="28575">
            <a:solidFill>
              <a:schemeClr val="tx1"/>
            </a:solidFill>
            <a:miter lim="800000"/>
            <a:headEnd/>
            <a:tailEnd/>
          </a:ln>
          <a:effectLst/>
        </p:spPr>
        <p:txBody>
          <a:bodyPr wrap="none" anchor="ctr"/>
          <a:lstStyle/>
          <a:p>
            <a:endParaRPr lang="en-US"/>
          </a:p>
        </p:txBody>
      </p:sp>
      <p:sp>
        <p:nvSpPr>
          <p:cNvPr id="38925" name="Oval 13"/>
          <p:cNvSpPr>
            <a:spLocks noChangeArrowheads="1"/>
          </p:cNvSpPr>
          <p:nvPr/>
        </p:nvSpPr>
        <p:spPr bwMode="auto">
          <a:xfrm>
            <a:off x="6477000" y="3276600"/>
            <a:ext cx="1263650" cy="539750"/>
          </a:xfrm>
          <a:prstGeom prst="ellipse">
            <a:avLst/>
          </a:prstGeom>
          <a:noFill/>
          <a:ln w="28575">
            <a:solidFill>
              <a:schemeClr val="tx1"/>
            </a:solidFill>
            <a:miter lim="800000"/>
            <a:headEnd/>
            <a:tailEnd/>
          </a:ln>
          <a:effectLst/>
        </p:spPr>
        <p:txBody>
          <a:bodyPr wrap="none" anchor="ctr"/>
          <a:lstStyle/>
          <a:p>
            <a:endParaRPr lang="en-US"/>
          </a:p>
        </p:txBody>
      </p:sp>
      <p:sp>
        <p:nvSpPr>
          <p:cNvPr id="38926" name="Line 14"/>
          <p:cNvSpPr>
            <a:spLocks noChangeShapeType="1"/>
          </p:cNvSpPr>
          <p:nvPr/>
        </p:nvSpPr>
        <p:spPr bwMode="auto">
          <a:xfrm>
            <a:off x="2133600" y="3505200"/>
            <a:ext cx="1524000" cy="0"/>
          </a:xfrm>
          <a:prstGeom prst="line">
            <a:avLst/>
          </a:prstGeom>
          <a:noFill/>
          <a:ln w="28575">
            <a:solidFill>
              <a:schemeClr val="tx1"/>
            </a:solidFill>
            <a:miter lim="800000"/>
            <a:headEnd/>
            <a:tailEnd type="triangle" w="med" len="med"/>
          </a:ln>
          <a:effectLst/>
        </p:spPr>
        <p:txBody>
          <a:bodyPr wrap="none"/>
          <a:lstStyle/>
          <a:p>
            <a:endParaRPr lang="en-US"/>
          </a:p>
        </p:txBody>
      </p:sp>
      <p:sp>
        <p:nvSpPr>
          <p:cNvPr id="38927" name="Line 15"/>
          <p:cNvSpPr>
            <a:spLocks noChangeShapeType="1"/>
          </p:cNvSpPr>
          <p:nvPr/>
        </p:nvSpPr>
        <p:spPr bwMode="auto">
          <a:xfrm flipV="1">
            <a:off x="4953000" y="3505200"/>
            <a:ext cx="1524000" cy="0"/>
          </a:xfrm>
          <a:prstGeom prst="line">
            <a:avLst/>
          </a:prstGeom>
          <a:noFill/>
          <a:ln w="28575">
            <a:solidFill>
              <a:schemeClr val="tx1"/>
            </a:solidFill>
            <a:miter lim="800000"/>
            <a:headEnd/>
            <a:tailEnd type="triangle" w="med" len="med"/>
          </a:ln>
          <a:effectLst/>
        </p:spPr>
        <p:txBody>
          <a:bodyPr wrap="none"/>
          <a:lstStyle/>
          <a:p>
            <a:endParaRPr lang="en-US"/>
          </a:p>
        </p:txBody>
      </p:sp>
      <p:sp>
        <p:nvSpPr>
          <p:cNvPr id="38928" name="Line 16"/>
          <p:cNvSpPr>
            <a:spLocks noChangeShapeType="1"/>
          </p:cNvSpPr>
          <p:nvPr/>
        </p:nvSpPr>
        <p:spPr bwMode="auto">
          <a:xfrm flipV="1">
            <a:off x="4953000" y="2590800"/>
            <a:ext cx="1219200" cy="0"/>
          </a:xfrm>
          <a:prstGeom prst="line">
            <a:avLst/>
          </a:prstGeom>
          <a:noFill/>
          <a:ln w="28575">
            <a:solidFill>
              <a:schemeClr val="tx1"/>
            </a:solidFill>
            <a:miter lim="800000"/>
            <a:headEnd type="triangle" w="med" len="med"/>
            <a:tailEnd/>
          </a:ln>
          <a:effectLst/>
        </p:spPr>
        <p:txBody>
          <a:bodyPr wrap="none"/>
          <a:lstStyle/>
          <a:p>
            <a:endParaRPr lang="en-US"/>
          </a:p>
        </p:txBody>
      </p:sp>
      <p:sp>
        <p:nvSpPr>
          <p:cNvPr id="38929" name="Text Box 17"/>
          <p:cNvSpPr txBox="1">
            <a:spLocks noChangeArrowheads="1"/>
          </p:cNvSpPr>
          <p:nvPr/>
        </p:nvSpPr>
        <p:spPr bwMode="auto">
          <a:xfrm>
            <a:off x="4724400" y="2971800"/>
            <a:ext cx="2022475" cy="457200"/>
          </a:xfrm>
          <a:prstGeom prst="rect">
            <a:avLst/>
          </a:prstGeom>
          <a:noFill/>
          <a:ln w="9525">
            <a:noFill/>
            <a:miter lim="800000"/>
            <a:headEnd/>
            <a:tailEnd/>
          </a:ln>
          <a:effectLst/>
        </p:spPr>
        <p:txBody>
          <a:bodyPr wrap="none">
            <a:spAutoFit/>
          </a:bodyPr>
          <a:lstStyle/>
          <a:p>
            <a:r>
              <a:rPr lang="en-US"/>
              <a:t>&lt;&lt;include&gt;&gt;</a:t>
            </a:r>
          </a:p>
        </p:txBody>
      </p:sp>
      <p:sp>
        <p:nvSpPr>
          <p:cNvPr id="38930" name="Text Box 18"/>
          <p:cNvSpPr txBox="1">
            <a:spLocks noChangeArrowheads="1"/>
          </p:cNvSpPr>
          <p:nvPr/>
        </p:nvSpPr>
        <p:spPr bwMode="auto">
          <a:xfrm>
            <a:off x="4572000" y="1981200"/>
            <a:ext cx="2362200" cy="457200"/>
          </a:xfrm>
          <a:prstGeom prst="rect">
            <a:avLst/>
          </a:prstGeom>
          <a:noFill/>
          <a:ln w="9525">
            <a:noFill/>
            <a:miter lim="800000"/>
            <a:headEnd/>
            <a:tailEnd/>
          </a:ln>
          <a:effectLst/>
        </p:spPr>
        <p:txBody>
          <a:bodyPr>
            <a:spAutoFit/>
          </a:bodyPr>
          <a:lstStyle/>
          <a:p>
            <a:pPr>
              <a:spcBef>
                <a:spcPct val="50000"/>
              </a:spcBef>
            </a:pPr>
            <a:r>
              <a:rPr lang="en-US"/>
              <a:t>&lt;&lt;extend&gt;&gt;</a:t>
            </a:r>
          </a:p>
        </p:txBody>
      </p:sp>
      <p:sp>
        <p:nvSpPr>
          <p:cNvPr id="38931" name="Oval 19"/>
          <p:cNvSpPr>
            <a:spLocks noChangeArrowheads="1"/>
          </p:cNvSpPr>
          <p:nvPr/>
        </p:nvSpPr>
        <p:spPr bwMode="auto">
          <a:xfrm>
            <a:off x="2819400" y="5105400"/>
            <a:ext cx="1263650" cy="539750"/>
          </a:xfrm>
          <a:prstGeom prst="ellipse">
            <a:avLst/>
          </a:prstGeom>
          <a:noFill/>
          <a:ln w="28575">
            <a:solidFill>
              <a:schemeClr val="tx1"/>
            </a:solidFill>
            <a:miter lim="800000"/>
            <a:headEnd/>
            <a:tailEnd/>
          </a:ln>
          <a:effectLst/>
        </p:spPr>
        <p:txBody>
          <a:bodyPr wrap="none" anchor="ctr"/>
          <a:lstStyle/>
          <a:p>
            <a:endParaRPr lang="en-US"/>
          </a:p>
        </p:txBody>
      </p:sp>
      <p:sp>
        <p:nvSpPr>
          <p:cNvPr id="38932" name="Oval 20"/>
          <p:cNvSpPr>
            <a:spLocks noChangeArrowheads="1"/>
          </p:cNvSpPr>
          <p:nvPr/>
        </p:nvSpPr>
        <p:spPr bwMode="auto">
          <a:xfrm>
            <a:off x="3733800" y="4038600"/>
            <a:ext cx="1263650" cy="539750"/>
          </a:xfrm>
          <a:prstGeom prst="ellipse">
            <a:avLst/>
          </a:prstGeom>
          <a:noFill/>
          <a:ln w="28575">
            <a:solidFill>
              <a:schemeClr val="tx1"/>
            </a:solidFill>
            <a:miter lim="800000"/>
            <a:headEnd/>
            <a:tailEnd/>
          </a:ln>
          <a:effectLst/>
        </p:spPr>
        <p:txBody>
          <a:bodyPr wrap="none" anchor="ctr"/>
          <a:lstStyle/>
          <a:p>
            <a:endParaRPr lang="en-US"/>
          </a:p>
        </p:txBody>
      </p:sp>
      <p:sp>
        <p:nvSpPr>
          <p:cNvPr id="38933" name="Oval 21"/>
          <p:cNvSpPr>
            <a:spLocks noChangeArrowheads="1"/>
          </p:cNvSpPr>
          <p:nvPr/>
        </p:nvSpPr>
        <p:spPr bwMode="auto">
          <a:xfrm>
            <a:off x="4572000" y="5029200"/>
            <a:ext cx="1263650" cy="539750"/>
          </a:xfrm>
          <a:prstGeom prst="ellipse">
            <a:avLst/>
          </a:prstGeom>
          <a:noFill/>
          <a:ln w="28575">
            <a:solidFill>
              <a:schemeClr val="tx1"/>
            </a:solidFill>
            <a:miter lim="800000"/>
            <a:headEnd/>
            <a:tailEnd/>
          </a:ln>
          <a:effectLst/>
        </p:spPr>
        <p:txBody>
          <a:bodyPr wrap="none" anchor="ctr"/>
          <a:lstStyle/>
          <a:p>
            <a:endParaRPr lang="en-US"/>
          </a:p>
        </p:txBody>
      </p:sp>
      <p:grpSp>
        <p:nvGrpSpPr>
          <p:cNvPr id="3" name="Group 22"/>
          <p:cNvGrpSpPr>
            <a:grpSpLocks/>
          </p:cNvGrpSpPr>
          <p:nvPr/>
        </p:nvGrpSpPr>
        <p:grpSpPr bwMode="auto">
          <a:xfrm rot="2031009">
            <a:off x="3729038" y="4560888"/>
            <a:ext cx="304800" cy="609600"/>
            <a:chOff x="768" y="3360"/>
            <a:chExt cx="192" cy="336"/>
          </a:xfrm>
        </p:grpSpPr>
        <p:sp>
          <p:nvSpPr>
            <p:cNvPr id="38935" name="AutoShape 23"/>
            <p:cNvSpPr>
              <a:spLocks noChangeArrowheads="1"/>
            </p:cNvSpPr>
            <p:nvPr/>
          </p:nvSpPr>
          <p:spPr bwMode="auto">
            <a:xfrm>
              <a:off x="768" y="3360"/>
              <a:ext cx="192" cy="144"/>
            </a:xfrm>
            <a:prstGeom prst="flowChartExtract">
              <a:avLst/>
            </a:prstGeom>
            <a:noFill/>
            <a:ln w="19050">
              <a:solidFill>
                <a:schemeClr val="tx1"/>
              </a:solidFill>
              <a:miter lim="800000"/>
              <a:headEnd/>
              <a:tailEnd/>
            </a:ln>
            <a:effectLst/>
          </p:spPr>
          <p:txBody>
            <a:bodyPr wrap="none" anchor="ctr"/>
            <a:lstStyle/>
            <a:p>
              <a:endParaRPr lang="en-US"/>
            </a:p>
          </p:txBody>
        </p:sp>
        <p:sp>
          <p:nvSpPr>
            <p:cNvPr id="38936" name="Line 24"/>
            <p:cNvSpPr>
              <a:spLocks noChangeShapeType="1"/>
            </p:cNvSpPr>
            <p:nvPr/>
          </p:nvSpPr>
          <p:spPr bwMode="auto">
            <a:xfrm flipV="1">
              <a:off x="864" y="3504"/>
              <a:ext cx="0" cy="192"/>
            </a:xfrm>
            <a:prstGeom prst="line">
              <a:avLst/>
            </a:prstGeom>
            <a:noFill/>
            <a:ln w="19050">
              <a:solidFill>
                <a:schemeClr val="tx1"/>
              </a:solidFill>
              <a:miter lim="800000"/>
              <a:headEnd/>
              <a:tailEnd/>
            </a:ln>
            <a:effectLst/>
          </p:spPr>
          <p:txBody>
            <a:bodyPr wrap="none"/>
            <a:lstStyle/>
            <a:p>
              <a:endParaRPr lang="en-US"/>
            </a:p>
          </p:txBody>
        </p:sp>
      </p:grpSp>
      <p:grpSp>
        <p:nvGrpSpPr>
          <p:cNvPr id="4" name="Group 25"/>
          <p:cNvGrpSpPr>
            <a:grpSpLocks/>
          </p:cNvGrpSpPr>
          <p:nvPr/>
        </p:nvGrpSpPr>
        <p:grpSpPr bwMode="auto">
          <a:xfrm rot="-1695156">
            <a:off x="4800600" y="4495800"/>
            <a:ext cx="304800" cy="609600"/>
            <a:chOff x="768" y="3360"/>
            <a:chExt cx="192" cy="336"/>
          </a:xfrm>
        </p:grpSpPr>
        <p:sp>
          <p:nvSpPr>
            <p:cNvPr id="38938" name="AutoShape 26"/>
            <p:cNvSpPr>
              <a:spLocks noChangeArrowheads="1"/>
            </p:cNvSpPr>
            <p:nvPr/>
          </p:nvSpPr>
          <p:spPr bwMode="auto">
            <a:xfrm>
              <a:off x="768" y="3360"/>
              <a:ext cx="192" cy="144"/>
            </a:xfrm>
            <a:prstGeom prst="flowChartExtract">
              <a:avLst/>
            </a:prstGeom>
            <a:noFill/>
            <a:ln w="19050">
              <a:solidFill>
                <a:schemeClr val="tx1"/>
              </a:solidFill>
              <a:miter lim="800000"/>
              <a:headEnd/>
              <a:tailEnd/>
            </a:ln>
            <a:effectLst/>
          </p:spPr>
          <p:txBody>
            <a:bodyPr wrap="none" anchor="ctr"/>
            <a:lstStyle/>
            <a:p>
              <a:endParaRPr lang="en-US"/>
            </a:p>
          </p:txBody>
        </p:sp>
        <p:sp>
          <p:nvSpPr>
            <p:cNvPr id="38939" name="Line 27"/>
            <p:cNvSpPr>
              <a:spLocks noChangeShapeType="1"/>
            </p:cNvSpPr>
            <p:nvPr/>
          </p:nvSpPr>
          <p:spPr bwMode="auto">
            <a:xfrm flipV="1">
              <a:off x="864" y="3504"/>
              <a:ext cx="0" cy="192"/>
            </a:xfrm>
            <a:prstGeom prst="line">
              <a:avLst/>
            </a:prstGeom>
            <a:noFill/>
            <a:ln w="19050">
              <a:solidFill>
                <a:schemeClr val="tx1"/>
              </a:solidFill>
              <a:miter lim="800000"/>
              <a:headEnd/>
              <a:tailEnd/>
            </a:ln>
            <a:effectLst/>
          </p:spPr>
          <p:txBody>
            <a:bodyPr wrap="none"/>
            <a:lstStyle/>
            <a:p>
              <a:endParaRPr lang="en-US"/>
            </a:p>
          </p:txBody>
        </p:sp>
      </p:grpSp>
      <p:sp>
        <p:nvSpPr>
          <p:cNvPr id="38940" name="Line 28"/>
          <p:cNvSpPr>
            <a:spLocks noChangeShapeType="1"/>
          </p:cNvSpPr>
          <p:nvPr/>
        </p:nvSpPr>
        <p:spPr bwMode="auto">
          <a:xfrm>
            <a:off x="2209800" y="3733800"/>
            <a:ext cx="1524000" cy="533400"/>
          </a:xfrm>
          <a:prstGeom prst="line">
            <a:avLst/>
          </a:prstGeom>
          <a:noFill/>
          <a:ln w="28575">
            <a:solidFill>
              <a:schemeClr val="tx1"/>
            </a:solidFill>
            <a:miter lim="800000"/>
            <a:headEnd/>
            <a:tailEnd type="triangle" w="med" len="med"/>
          </a:ln>
          <a:effectLst/>
        </p:spPr>
        <p:txBody>
          <a:bodyPr wrap="none"/>
          <a:lstStyle/>
          <a:p>
            <a:endParaRPr lang="en-US"/>
          </a:p>
        </p:txBody>
      </p:sp>
      <p:sp>
        <p:nvSpPr>
          <p:cNvPr id="38941" name="Text Box 29"/>
          <p:cNvSpPr txBox="1">
            <a:spLocks noChangeArrowheads="1"/>
          </p:cNvSpPr>
          <p:nvPr/>
        </p:nvSpPr>
        <p:spPr bwMode="auto">
          <a:xfrm>
            <a:off x="6019800" y="4343400"/>
            <a:ext cx="2054225" cy="457200"/>
          </a:xfrm>
          <a:prstGeom prst="rect">
            <a:avLst/>
          </a:prstGeom>
          <a:noFill/>
          <a:ln w="9525">
            <a:noFill/>
            <a:miter lim="800000"/>
            <a:headEnd/>
            <a:tailEnd/>
          </a:ln>
          <a:effectLst/>
        </p:spPr>
        <p:txBody>
          <a:bodyPr wrap="none">
            <a:spAutoFit/>
          </a:bodyPr>
          <a:lstStyle/>
          <a:p>
            <a:r>
              <a:rPr lang="en-US"/>
              <a:t>generalization</a:t>
            </a:r>
          </a:p>
        </p:txBody>
      </p:sp>
      <p:sp>
        <p:nvSpPr>
          <p:cNvPr id="38942" name="Line 30"/>
          <p:cNvSpPr>
            <a:spLocks noChangeShapeType="1"/>
          </p:cNvSpPr>
          <p:nvPr/>
        </p:nvSpPr>
        <p:spPr bwMode="auto">
          <a:xfrm>
            <a:off x="5105400" y="4572000"/>
            <a:ext cx="762000" cy="0"/>
          </a:xfrm>
          <a:prstGeom prst="line">
            <a:avLst/>
          </a:prstGeom>
          <a:noFill/>
          <a:ln w="28575">
            <a:solidFill>
              <a:schemeClr val="tx1"/>
            </a:solidFill>
            <a:prstDash val="sysDot"/>
            <a:miter lim="800000"/>
            <a:headEnd/>
            <a:tailEnd type="triangle" w="med" len="med"/>
          </a:ln>
          <a:effectLst/>
        </p:spPr>
        <p:txBody>
          <a:bodyPr wrap="none"/>
          <a:lstStyle/>
          <a:p>
            <a:endParaRPr lang="en-US"/>
          </a:p>
        </p:txBody>
      </p:sp>
      <p:sp>
        <p:nvSpPr>
          <p:cNvPr id="38943" name="Text Box 31"/>
          <p:cNvSpPr txBox="1">
            <a:spLocks noChangeArrowheads="1"/>
          </p:cNvSpPr>
          <p:nvPr/>
        </p:nvSpPr>
        <p:spPr bwMode="auto">
          <a:xfrm>
            <a:off x="1143000" y="4267200"/>
            <a:ext cx="1974850" cy="457200"/>
          </a:xfrm>
          <a:prstGeom prst="rect">
            <a:avLst/>
          </a:prstGeom>
          <a:noFill/>
          <a:ln w="9525">
            <a:noFill/>
            <a:miter lim="800000"/>
            <a:headEnd/>
            <a:tailEnd/>
          </a:ln>
          <a:effectLst/>
        </p:spPr>
        <p:txBody>
          <a:bodyPr wrap="none">
            <a:spAutoFit/>
          </a:bodyPr>
          <a:lstStyle/>
          <a:p>
            <a:r>
              <a:rPr lang="en-US"/>
              <a:t>communicate</a:t>
            </a:r>
          </a:p>
        </p:txBody>
      </p:sp>
      <p:sp>
        <p:nvSpPr>
          <p:cNvPr id="38944" name="Line 32"/>
          <p:cNvSpPr>
            <a:spLocks noChangeShapeType="1"/>
          </p:cNvSpPr>
          <p:nvPr/>
        </p:nvSpPr>
        <p:spPr bwMode="auto">
          <a:xfrm flipH="1">
            <a:off x="2209800" y="3962400"/>
            <a:ext cx="457200" cy="381000"/>
          </a:xfrm>
          <a:prstGeom prst="line">
            <a:avLst/>
          </a:prstGeom>
          <a:noFill/>
          <a:ln w="19050">
            <a:solidFill>
              <a:schemeClr val="tx1"/>
            </a:solidFill>
            <a:prstDash val="sysDot"/>
            <a:miter lim="800000"/>
            <a:headEnd/>
            <a:tailEnd type="triangle" w="med" len="med"/>
          </a:ln>
          <a:effectLst/>
        </p:spPr>
        <p:txBody>
          <a:bodyPr wrap="none"/>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a:ln/>
        </p:spPr>
        <p:txBody>
          <a:bodyPr lIns="90840" tIns="44623" rIns="90840" bIns="44623"/>
          <a:lstStyle/>
          <a:p>
            <a:r>
              <a:rPr lang="en-US" dirty="0"/>
              <a:t>Extend relationship</a:t>
            </a:r>
          </a:p>
        </p:txBody>
      </p:sp>
      <p:sp>
        <p:nvSpPr>
          <p:cNvPr id="41987" name="Rectangle 3"/>
          <p:cNvSpPr>
            <a:spLocks noGrp="1" noChangeArrowheads="1"/>
          </p:cNvSpPr>
          <p:nvPr>
            <p:ph sz="quarter" idx="1"/>
          </p:nvPr>
        </p:nvSpPr>
        <p:spPr>
          <a:xfrm>
            <a:off x="457200" y="2057399"/>
            <a:ext cx="8229600" cy="4191001"/>
          </a:xfrm>
          <a:noFill/>
          <a:ln/>
        </p:spPr>
        <p:txBody>
          <a:bodyPr lIns="90840" tIns="44623" rIns="90840" bIns="44623"/>
          <a:lstStyle/>
          <a:p>
            <a:r>
              <a:rPr lang="en-US" i="1" dirty="0">
                <a:solidFill>
                  <a:srgbClr val="FF0000"/>
                </a:solidFill>
              </a:rPr>
              <a:t>Extend relationship </a:t>
            </a:r>
            <a:r>
              <a:rPr lang="en-US" dirty="0"/>
              <a:t>is an association between two use cases where one adds new behaviors or actions to the other.</a:t>
            </a:r>
          </a:p>
          <a:p>
            <a:pPr lvl="1"/>
            <a:r>
              <a:rPr lang="en-US" sz="2200" dirty="0"/>
              <a:t>Extends a use case by adding new behavior or actions.</a:t>
            </a:r>
          </a:p>
          <a:p>
            <a:pPr lvl="1"/>
            <a:r>
              <a:rPr lang="en-US" sz="2200" dirty="0"/>
              <a:t>Specialized use case extends the general use case.</a:t>
            </a:r>
          </a:p>
          <a:p>
            <a:endParaRPr lang="en-US" sz="2200" dirty="0"/>
          </a:p>
          <a:p>
            <a:endParaRPr lang="en-US" dirty="0"/>
          </a:p>
          <a:p>
            <a:endParaRPr lang="en-US" dirty="0"/>
          </a:p>
          <a:p>
            <a:endParaRPr lang="en-US" dirty="0"/>
          </a:p>
          <a:p>
            <a:endParaRPr lang="en-US" dirty="0"/>
          </a:p>
          <a:p>
            <a:pPr>
              <a:buNone/>
            </a:pPr>
            <a:endParaRPr lang="en-US" dirty="0"/>
          </a:p>
        </p:txBody>
      </p:sp>
      <p:sp>
        <p:nvSpPr>
          <p:cNvPr id="4" name="Slide Number Placeholder 3"/>
          <p:cNvSpPr>
            <a:spLocks noGrp="1"/>
          </p:cNvSpPr>
          <p:nvPr>
            <p:ph type="sldNum" sz="quarter" idx="12"/>
          </p:nvPr>
        </p:nvSpPr>
        <p:spPr>
          <a:xfrm>
            <a:off x="612648" y="6356350"/>
            <a:ext cx="1981200" cy="365760"/>
          </a:xfrm>
        </p:spPr>
        <p:txBody>
          <a:bodyPr/>
          <a:lstStyle/>
          <a:p>
            <a:fld id="{EC83099C-5FA5-B04A-B819-64718E2A253A}" type="slidenum">
              <a:rPr lang="en-US" smtClean="0"/>
              <a:pPr/>
              <a:t>28</a:t>
            </a:fld>
            <a:endParaRPr lang="en-US" dirty="0"/>
          </a:p>
        </p:txBody>
      </p:sp>
      <p:sp>
        <p:nvSpPr>
          <p:cNvPr id="5" name="Footer Placeholder 4"/>
          <p:cNvSpPr>
            <a:spLocks noGrp="1"/>
          </p:cNvSpPr>
          <p:nvPr>
            <p:ph type="ftr" sz="quarter" idx="11"/>
          </p:nvPr>
        </p:nvSpPr>
        <p:spPr/>
        <p:txBody>
          <a:bodyPr/>
          <a:lstStyle/>
          <a:p>
            <a:r>
              <a:rPr lang="en-US"/>
              <a:t>Chapter 6-Object-oriented design</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Include relationship</a:t>
            </a:r>
          </a:p>
        </p:txBody>
      </p:sp>
      <p:sp>
        <p:nvSpPr>
          <p:cNvPr id="3" name="Content Placeholder 2"/>
          <p:cNvSpPr>
            <a:spLocks noGrp="1"/>
          </p:cNvSpPr>
          <p:nvPr>
            <p:ph idx="1"/>
          </p:nvPr>
        </p:nvSpPr>
        <p:spPr/>
        <p:txBody>
          <a:bodyPr/>
          <a:lstStyle/>
          <a:p>
            <a:r>
              <a:rPr lang="en-US" i="1" dirty="0">
                <a:solidFill>
                  <a:srgbClr val="FF0000"/>
                </a:solidFill>
              </a:rPr>
              <a:t>Include relationship </a:t>
            </a:r>
            <a:r>
              <a:rPr lang="en-US" dirty="0"/>
              <a:t>is an association between two use cases where one use case uses the functionality contained in the other.</a:t>
            </a:r>
          </a:p>
          <a:p>
            <a:pPr lvl="1"/>
            <a:r>
              <a:rPr lang="en-US" sz="2200" dirty="0"/>
              <a:t>Indicates a use case that is used (invoked) by another use case.</a:t>
            </a:r>
          </a:p>
          <a:p>
            <a:pPr lvl="1"/>
            <a:r>
              <a:rPr lang="en-US" sz="2200" dirty="0"/>
              <a:t>Links to general purpose functions, used by many other use cases.</a:t>
            </a:r>
            <a:endParaRPr lang="en-US" dirty="0"/>
          </a:p>
        </p:txBody>
      </p:sp>
      <p:sp>
        <p:nvSpPr>
          <p:cNvPr id="4" name="Footer Placeholder 3"/>
          <p:cNvSpPr>
            <a:spLocks noGrp="1"/>
          </p:cNvSpPr>
          <p:nvPr>
            <p:ph type="ftr" sz="quarter" idx="11"/>
          </p:nvPr>
        </p:nvSpPr>
        <p:spPr/>
        <p:txBody>
          <a:bodyPr/>
          <a:lstStyle/>
          <a:p>
            <a:r>
              <a:rPr lang="en-US"/>
              <a:t>Chapter 6-Object-oriented design</a:t>
            </a:r>
          </a:p>
        </p:txBody>
      </p:sp>
      <p:sp>
        <p:nvSpPr>
          <p:cNvPr id="5" name="Slide Number Placeholder 4"/>
          <p:cNvSpPr>
            <a:spLocks noGrp="1"/>
          </p:cNvSpPr>
          <p:nvPr>
            <p:ph type="sldNum" sz="quarter" idx="12"/>
          </p:nvPr>
        </p:nvSpPr>
        <p:spPr/>
        <p:txBody>
          <a:bodyPr/>
          <a:lstStyle/>
          <a:p>
            <a:fld id="{20317CA6-3557-4F90-84AF-53D5354FC7C6}"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4"/>
          <p:cNvSpPr>
            <a:spLocks noGrp="1"/>
          </p:cNvSpPr>
          <p:nvPr>
            <p:ph type="ftr" sz="quarter" idx="11"/>
          </p:nvPr>
        </p:nvSpPr>
        <p:spPr/>
        <p:txBody>
          <a:bodyPr/>
          <a:lstStyle/>
          <a:p>
            <a:r>
              <a:rPr lang="en-US"/>
              <a:t>Chapter 6-Object-oriented design</a:t>
            </a:r>
          </a:p>
        </p:txBody>
      </p:sp>
      <p:sp>
        <p:nvSpPr>
          <p:cNvPr id="19" name="Slide Number Placeholder 5"/>
          <p:cNvSpPr>
            <a:spLocks noGrp="1"/>
          </p:cNvSpPr>
          <p:nvPr>
            <p:ph type="sldNum" sz="quarter" idx="12"/>
          </p:nvPr>
        </p:nvSpPr>
        <p:spPr/>
        <p:txBody>
          <a:bodyPr/>
          <a:lstStyle/>
          <a:p>
            <a:fld id="{A8500DD9-A50F-4110-B279-F75AF3485BF3}" type="slidenum">
              <a:rPr lang="en-US"/>
              <a:pPr/>
              <a:t>30</a:t>
            </a:fld>
            <a:endParaRPr lang="en-US"/>
          </a:p>
        </p:txBody>
      </p:sp>
      <p:sp>
        <p:nvSpPr>
          <p:cNvPr id="44034" name="Rectangle 2"/>
          <p:cNvSpPr>
            <a:spLocks noGrp="1" noChangeArrowheads="1"/>
          </p:cNvSpPr>
          <p:nvPr>
            <p:ph type="title"/>
          </p:nvPr>
        </p:nvSpPr>
        <p:spPr/>
        <p:txBody>
          <a:bodyPr/>
          <a:lstStyle/>
          <a:p>
            <a:r>
              <a:rPr lang="en-US"/>
              <a:t>Generalization association</a:t>
            </a:r>
          </a:p>
        </p:txBody>
      </p:sp>
      <p:sp>
        <p:nvSpPr>
          <p:cNvPr id="44035" name="Rectangle 3"/>
          <p:cNvSpPr>
            <a:spLocks noGrp="1" noChangeArrowheads="1"/>
          </p:cNvSpPr>
          <p:nvPr>
            <p:ph type="body" idx="1"/>
          </p:nvPr>
        </p:nvSpPr>
        <p:spPr>
          <a:xfrm>
            <a:off x="685800" y="1828800"/>
            <a:ext cx="8269288" cy="4227513"/>
          </a:xfrm>
        </p:spPr>
        <p:txBody>
          <a:bodyPr/>
          <a:lstStyle/>
          <a:p>
            <a:r>
              <a:rPr lang="en-US" sz="2400" dirty="0"/>
              <a:t>Represents a specialized use-case to a more generalized one</a:t>
            </a:r>
          </a:p>
          <a:p>
            <a:r>
              <a:rPr lang="en-US" sz="2400" dirty="0"/>
              <a:t>More </a:t>
            </a:r>
            <a:r>
              <a:rPr lang="en-US" sz="2400" dirty="0">
                <a:solidFill>
                  <a:srgbClr val="FF0000"/>
                </a:solidFill>
              </a:rPr>
              <a:t>general use-case </a:t>
            </a:r>
            <a:r>
              <a:rPr lang="en-US" sz="2400" dirty="0"/>
              <a:t>being </a:t>
            </a:r>
            <a:r>
              <a:rPr lang="en-US" sz="2400" u="sng" dirty="0">
                <a:solidFill>
                  <a:srgbClr val="FF0000"/>
                </a:solidFill>
              </a:rPr>
              <a:t>higher</a:t>
            </a:r>
            <a:r>
              <a:rPr lang="en-US" sz="2400" dirty="0"/>
              <a:t> than the </a:t>
            </a:r>
            <a:r>
              <a:rPr lang="en-US" sz="2400" dirty="0">
                <a:solidFill>
                  <a:srgbClr val="FF0000"/>
                </a:solidFill>
              </a:rPr>
              <a:t>lower use-cases</a:t>
            </a:r>
          </a:p>
          <a:p>
            <a:r>
              <a:rPr lang="en-US" sz="2400" dirty="0"/>
              <a:t>A relationship from child to a parent use case</a:t>
            </a:r>
          </a:p>
          <a:p>
            <a:r>
              <a:rPr lang="en-US" sz="2400" dirty="0"/>
              <a:t>Arrow is drawn from the specialized use-case to the general (base) use-case</a:t>
            </a:r>
          </a:p>
        </p:txBody>
      </p:sp>
      <p:sp>
        <p:nvSpPr>
          <p:cNvPr id="44036" name="Oval 4"/>
          <p:cNvSpPr>
            <a:spLocks noChangeArrowheads="1"/>
          </p:cNvSpPr>
          <p:nvPr/>
        </p:nvSpPr>
        <p:spPr bwMode="auto">
          <a:xfrm>
            <a:off x="4343400" y="4800600"/>
            <a:ext cx="1524000" cy="609600"/>
          </a:xfrm>
          <a:prstGeom prst="ellipse">
            <a:avLst/>
          </a:prstGeom>
          <a:noFill/>
          <a:ln w="19050">
            <a:solidFill>
              <a:schemeClr val="folHlink"/>
            </a:solidFill>
            <a:miter lim="800000"/>
            <a:headEnd/>
            <a:tailEnd/>
          </a:ln>
          <a:effectLst/>
        </p:spPr>
        <p:txBody>
          <a:bodyPr wrap="none" anchor="ctr"/>
          <a:lstStyle/>
          <a:p>
            <a:endParaRPr lang="en-US"/>
          </a:p>
        </p:txBody>
      </p:sp>
      <p:sp>
        <p:nvSpPr>
          <p:cNvPr id="44037" name="Text Box 5"/>
          <p:cNvSpPr txBox="1">
            <a:spLocks noChangeArrowheads="1"/>
          </p:cNvSpPr>
          <p:nvPr/>
        </p:nvSpPr>
        <p:spPr bwMode="auto">
          <a:xfrm>
            <a:off x="4556125" y="4910138"/>
            <a:ext cx="1054100" cy="457200"/>
          </a:xfrm>
          <a:prstGeom prst="rect">
            <a:avLst/>
          </a:prstGeom>
          <a:noFill/>
          <a:ln w="9525">
            <a:noFill/>
            <a:miter lim="800000"/>
            <a:headEnd/>
            <a:tailEnd/>
          </a:ln>
          <a:effectLst/>
        </p:spPr>
        <p:txBody>
          <a:bodyPr wrap="none">
            <a:spAutoFit/>
          </a:bodyPr>
          <a:lstStyle/>
          <a:p>
            <a:r>
              <a:rPr lang="en-US" dirty="0"/>
              <a:t>parent</a:t>
            </a:r>
          </a:p>
        </p:txBody>
      </p:sp>
      <p:grpSp>
        <p:nvGrpSpPr>
          <p:cNvPr id="2" name="Group 6"/>
          <p:cNvGrpSpPr>
            <a:grpSpLocks/>
          </p:cNvGrpSpPr>
          <p:nvPr/>
        </p:nvGrpSpPr>
        <p:grpSpPr bwMode="auto">
          <a:xfrm>
            <a:off x="5715000" y="5638800"/>
            <a:ext cx="1524000" cy="609600"/>
            <a:chOff x="2976" y="3120"/>
            <a:chExt cx="960" cy="384"/>
          </a:xfrm>
        </p:grpSpPr>
        <p:sp>
          <p:nvSpPr>
            <p:cNvPr id="44039" name="Oval 7"/>
            <p:cNvSpPr>
              <a:spLocks noChangeArrowheads="1"/>
            </p:cNvSpPr>
            <p:nvPr/>
          </p:nvSpPr>
          <p:spPr bwMode="auto">
            <a:xfrm>
              <a:off x="2976" y="3120"/>
              <a:ext cx="960" cy="384"/>
            </a:xfrm>
            <a:prstGeom prst="ellipse">
              <a:avLst/>
            </a:prstGeom>
            <a:noFill/>
            <a:ln w="19050">
              <a:solidFill>
                <a:schemeClr val="tx1"/>
              </a:solidFill>
              <a:miter lim="800000"/>
              <a:headEnd/>
              <a:tailEnd/>
            </a:ln>
            <a:effectLst/>
          </p:spPr>
          <p:txBody>
            <a:bodyPr wrap="none" anchor="ctr"/>
            <a:lstStyle/>
            <a:p>
              <a:endParaRPr lang="en-US"/>
            </a:p>
          </p:txBody>
        </p:sp>
        <p:sp>
          <p:nvSpPr>
            <p:cNvPr id="44040" name="Text Box 8"/>
            <p:cNvSpPr txBox="1">
              <a:spLocks noChangeArrowheads="1"/>
            </p:cNvSpPr>
            <p:nvPr/>
          </p:nvSpPr>
          <p:spPr bwMode="auto">
            <a:xfrm>
              <a:off x="3110" y="3141"/>
              <a:ext cx="697" cy="288"/>
            </a:xfrm>
            <a:prstGeom prst="rect">
              <a:avLst/>
            </a:prstGeom>
            <a:noFill/>
            <a:ln w="9525">
              <a:noFill/>
              <a:miter lim="800000"/>
              <a:headEnd/>
              <a:tailEnd/>
            </a:ln>
            <a:effectLst/>
          </p:spPr>
          <p:txBody>
            <a:bodyPr wrap="none">
              <a:spAutoFit/>
            </a:bodyPr>
            <a:lstStyle/>
            <a:p>
              <a:r>
                <a:rPr lang="en-US"/>
                <a:t>Child 2</a:t>
              </a:r>
            </a:p>
          </p:txBody>
        </p:sp>
      </p:grpSp>
      <p:grpSp>
        <p:nvGrpSpPr>
          <p:cNvPr id="3" name="Group 9"/>
          <p:cNvGrpSpPr>
            <a:grpSpLocks/>
          </p:cNvGrpSpPr>
          <p:nvPr/>
        </p:nvGrpSpPr>
        <p:grpSpPr bwMode="auto">
          <a:xfrm>
            <a:off x="2514600" y="5486400"/>
            <a:ext cx="1524000" cy="609600"/>
            <a:chOff x="2976" y="3120"/>
            <a:chExt cx="960" cy="384"/>
          </a:xfrm>
        </p:grpSpPr>
        <p:sp>
          <p:nvSpPr>
            <p:cNvPr id="44042" name="Oval 10"/>
            <p:cNvSpPr>
              <a:spLocks noChangeArrowheads="1"/>
            </p:cNvSpPr>
            <p:nvPr/>
          </p:nvSpPr>
          <p:spPr bwMode="auto">
            <a:xfrm>
              <a:off x="2976" y="3120"/>
              <a:ext cx="960" cy="384"/>
            </a:xfrm>
            <a:prstGeom prst="ellipse">
              <a:avLst/>
            </a:prstGeom>
            <a:noFill/>
            <a:ln w="19050">
              <a:solidFill>
                <a:schemeClr val="tx1"/>
              </a:solidFill>
              <a:miter lim="800000"/>
              <a:headEnd/>
              <a:tailEnd/>
            </a:ln>
            <a:effectLst/>
          </p:spPr>
          <p:txBody>
            <a:bodyPr wrap="none" anchor="ctr"/>
            <a:lstStyle/>
            <a:p>
              <a:endParaRPr lang="en-US"/>
            </a:p>
          </p:txBody>
        </p:sp>
        <p:sp>
          <p:nvSpPr>
            <p:cNvPr id="44043" name="Text Box 11"/>
            <p:cNvSpPr txBox="1">
              <a:spLocks noChangeArrowheads="1"/>
            </p:cNvSpPr>
            <p:nvPr/>
          </p:nvSpPr>
          <p:spPr bwMode="auto">
            <a:xfrm>
              <a:off x="3110" y="3141"/>
              <a:ext cx="697" cy="288"/>
            </a:xfrm>
            <a:prstGeom prst="rect">
              <a:avLst/>
            </a:prstGeom>
            <a:noFill/>
            <a:ln w="9525">
              <a:noFill/>
              <a:miter lim="800000"/>
              <a:headEnd/>
              <a:tailEnd/>
            </a:ln>
            <a:effectLst/>
          </p:spPr>
          <p:txBody>
            <a:bodyPr wrap="none">
              <a:spAutoFit/>
            </a:bodyPr>
            <a:lstStyle/>
            <a:p>
              <a:r>
                <a:rPr lang="en-US"/>
                <a:t>Child 1</a:t>
              </a:r>
            </a:p>
          </p:txBody>
        </p:sp>
      </p:grpSp>
      <p:grpSp>
        <p:nvGrpSpPr>
          <p:cNvPr id="4" name="Group 12"/>
          <p:cNvGrpSpPr>
            <a:grpSpLocks/>
          </p:cNvGrpSpPr>
          <p:nvPr/>
        </p:nvGrpSpPr>
        <p:grpSpPr bwMode="auto">
          <a:xfrm rot="3307152">
            <a:off x="3946525" y="5172075"/>
            <a:ext cx="304800" cy="571500"/>
            <a:chOff x="768" y="3360"/>
            <a:chExt cx="192" cy="336"/>
          </a:xfrm>
        </p:grpSpPr>
        <p:sp>
          <p:nvSpPr>
            <p:cNvPr id="44045" name="AutoShape 13"/>
            <p:cNvSpPr>
              <a:spLocks noChangeArrowheads="1"/>
            </p:cNvSpPr>
            <p:nvPr/>
          </p:nvSpPr>
          <p:spPr bwMode="auto">
            <a:xfrm>
              <a:off x="768" y="3360"/>
              <a:ext cx="192" cy="144"/>
            </a:xfrm>
            <a:prstGeom prst="flowChartExtract">
              <a:avLst/>
            </a:prstGeom>
            <a:noFill/>
            <a:ln w="9525">
              <a:solidFill>
                <a:schemeClr val="tx1"/>
              </a:solidFill>
              <a:miter lim="800000"/>
              <a:headEnd/>
              <a:tailEnd/>
            </a:ln>
            <a:effectLst/>
          </p:spPr>
          <p:txBody>
            <a:bodyPr wrap="none" anchor="ctr"/>
            <a:lstStyle/>
            <a:p>
              <a:endParaRPr lang="en-US"/>
            </a:p>
          </p:txBody>
        </p:sp>
        <p:sp>
          <p:nvSpPr>
            <p:cNvPr id="44046" name="Line 14"/>
            <p:cNvSpPr>
              <a:spLocks noChangeShapeType="1"/>
            </p:cNvSpPr>
            <p:nvPr/>
          </p:nvSpPr>
          <p:spPr bwMode="auto">
            <a:xfrm flipV="1">
              <a:off x="864" y="3504"/>
              <a:ext cx="0" cy="192"/>
            </a:xfrm>
            <a:prstGeom prst="line">
              <a:avLst/>
            </a:prstGeom>
            <a:noFill/>
            <a:ln w="9525">
              <a:solidFill>
                <a:schemeClr val="tx1"/>
              </a:solidFill>
              <a:miter lim="800000"/>
              <a:headEnd/>
              <a:tailEnd/>
            </a:ln>
            <a:effectLst/>
          </p:spPr>
          <p:txBody>
            <a:bodyPr wrap="none"/>
            <a:lstStyle/>
            <a:p>
              <a:endParaRPr lang="en-US"/>
            </a:p>
          </p:txBody>
        </p:sp>
      </p:grpSp>
      <p:grpSp>
        <p:nvGrpSpPr>
          <p:cNvPr id="5" name="Group 15"/>
          <p:cNvGrpSpPr>
            <a:grpSpLocks/>
          </p:cNvGrpSpPr>
          <p:nvPr/>
        </p:nvGrpSpPr>
        <p:grpSpPr bwMode="auto">
          <a:xfrm rot="-3959303">
            <a:off x="5895720" y="5095320"/>
            <a:ext cx="304800" cy="760413"/>
            <a:chOff x="768" y="3360"/>
            <a:chExt cx="192" cy="336"/>
          </a:xfrm>
        </p:grpSpPr>
        <p:sp>
          <p:nvSpPr>
            <p:cNvPr id="44048" name="AutoShape 16"/>
            <p:cNvSpPr>
              <a:spLocks noChangeArrowheads="1"/>
            </p:cNvSpPr>
            <p:nvPr/>
          </p:nvSpPr>
          <p:spPr bwMode="auto">
            <a:xfrm>
              <a:off x="768" y="3360"/>
              <a:ext cx="192" cy="144"/>
            </a:xfrm>
            <a:prstGeom prst="flowChartExtract">
              <a:avLst/>
            </a:prstGeom>
            <a:noFill/>
            <a:ln w="9525">
              <a:solidFill>
                <a:schemeClr val="tx1"/>
              </a:solidFill>
              <a:miter lim="800000"/>
              <a:headEnd/>
              <a:tailEnd/>
            </a:ln>
            <a:effectLst/>
          </p:spPr>
          <p:txBody>
            <a:bodyPr wrap="none" anchor="ctr"/>
            <a:lstStyle/>
            <a:p>
              <a:endParaRPr lang="en-US"/>
            </a:p>
          </p:txBody>
        </p:sp>
        <p:sp>
          <p:nvSpPr>
            <p:cNvPr id="44049" name="Line 17"/>
            <p:cNvSpPr>
              <a:spLocks noChangeShapeType="1"/>
            </p:cNvSpPr>
            <p:nvPr/>
          </p:nvSpPr>
          <p:spPr bwMode="auto">
            <a:xfrm flipV="1">
              <a:off x="864" y="3504"/>
              <a:ext cx="0" cy="192"/>
            </a:xfrm>
            <a:prstGeom prst="line">
              <a:avLst/>
            </a:prstGeom>
            <a:noFill/>
            <a:ln w="9525">
              <a:solidFill>
                <a:schemeClr val="tx1"/>
              </a:solidFill>
              <a:miter lim="800000"/>
              <a:headEnd/>
              <a:tailEnd/>
            </a:ln>
            <a:effectLst/>
          </p:spPr>
          <p:txBody>
            <a:bodyPr wrap="none"/>
            <a:lstStyle/>
            <a:p>
              <a:endParaRPr lang="en-US"/>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0BC35FC5-3137-4A91-A7A5-2AA93499203F}" type="slidenum">
              <a:rPr lang="en-US"/>
              <a:pPr/>
              <a:t>31</a:t>
            </a:fld>
            <a:endParaRPr lang="en-US"/>
          </a:p>
        </p:txBody>
      </p:sp>
      <p:sp>
        <p:nvSpPr>
          <p:cNvPr id="45058" name="Rectangle 2"/>
          <p:cNvSpPr>
            <a:spLocks noGrp="1" noChangeArrowheads="1"/>
          </p:cNvSpPr>
          <p:nvPr>
            <p:ph type="title"/>
          </p:nvPr>
        </p:nvSpPr>
        <p:spPr/>
        <p:txBody>
          <a:bodyPr/>
          <a:lstStyle/>
          <a:p>
            <a:r>
              <a:rPr lang="en-US"/>
              <a:t>Benefits of a use-case model</a:t>
            </a:r>
          </a:p>
        </p:txBody>
      </p:sp>
      <p:sp>
        <p:nvSpPr>
          <p:cNvPr id="45059" name="Rectangle 3"/>
          <p:cNvSpPr>
            <a:spLocks noGrp="1" noChangeArrowheads="1"/>
          </p:cNvSpPr>
          <p:nvPr>
            <p:ph type="body" idx="1"/>
          </p:nvPr>
        </p:nvSpPr>
        <p:spPr/>
        <p:txBody>
          <a:bodyPr/>
          <a:lstStyle/>
          <a:p>
            <a:pPr>
              <a:lnSpc>
                <a:spcPct val="90000"/>
              </a:lnSpc>
            </a:pPr>
            <a:r>
              <a:rPr lang="en-US" sz="2800"/>
              <a:t>To communicate with the end users and domain experts</a:t>
            </a:r>
          </a:p>
          <a:p>
            <a:pPr>
              <a:lnSpc>
                <a:spcPct val="90000"/>
              </a:lnSpc>
            </a:pPr>
            <a:r>
              <a:rPr lang="en-US" sz="2800"/>
              <a:t>To identify :</a:t>
            </a:r>
          </a:p>
          <a:p>
            <a:pPr lvl="1">
              <a:lnSpc>
                <a:spcPct val="90000"/>
              </a:lnSpc>
            </a:pPr>
            <a:r>
              <a:rPr lang="en-US" sz="2400"/>
              <a:t>Who will interact with the system and what the system should do</a:t>
            </a:r>
          </a:p>
          <a:p>
            <a:pPr lvl="1">
              <a:lnSpc>
                <a:spcPct val="90000"/>
              </a:lnSpc>
            </a:pPr>
            <a:r>
              <a:rPr lang="en-US" sz="2400"/>
              <a:t>What interfaces the system should have</a:t>
            </a:r>
          </a:p>
          <a:p>
            <a:pPr>
              <a:lnSpc>
                <a:spcPct val="90000"/>
              </a:lnSpc>
            </a:pPr>
            <a:r>
              <a:rPr lang="en-US" sz="2800"/>
              <a:t>To verify :</a:t>
            </a:r>
          </a:p>
          <a:p>
            <a:pPr lvl="1">
              <a:lnSpc>
                <a:spcPct val="90000"/>
              </a:lnSpc>
            </a:pPr>
            <a:r>
              <a:rPr lang="en-US" sz="2400"/>
              <a:t>All requirements are captured</a:t>
            </a:r>
          </a:p>
          <a:p>
            <a:pPr lvl="1">
              <a:lnSpc>
                <a:spcPct val="90000"/>
              </a:lnSpc>
            </a:pPr>
            <a:r>
              <a:rPr lang="en-US" sz="2400"/>
              <a:t>That developers have understood the requirements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a:ln/>
        </p:spPr>
        <p:txBody>
          <a:bodyPr lIns="90840" tIns="44623" rIns="90840" bIns="44623"/>
          <a:lstStyle/>
          <a:p>
            <a:r>
              <a:rPr lang="en-US" dirty="0" err="1"/>
              <a:t>Example:Use</a:t>
            </a:r>
            <a:r>
              <a:rPr lang="en-US" dirty="0"/>
              <a:t> Case Diagram</a:t>
            </a:r>
          </a:p>
        </p:txBody>
      </p:sp>
      <p:pic>
        <p:nvPicPr>
          <p:cNvPr id="2050" name="Picture 8" descr="Noname.gif"/>
          <p:cNvPicPr>
            <a:picLocks noChangeAspect="1"/>
          </p:cNvPicPr>
          <p:nvPr/>
        </p:nvPicPr>
        <p:blipFill>
          <a:blip r:embed="rId3" cstate="print"/>
          <a:srcRect/>
          <a:stretch>
            <a:fillRect/>
          </a:stretch>
        </p:blipFill>
        <p:spPr bwMode="auto">
          <a:xfrm>
            <a:off x="685800" y="1981200"/>
            <a:ext cx="7867650" cy="4180115"/>
          </a:xfrm>
          <a:prstGeom prst="rect">
            <a:avLst/>
          </a:prstGeom>
          <a:noFill/>
          <a:ln w="9525">
            <a:noFill/>
            <a:miter lim="800000"/>
            <a:headEnd/>
            <a:tailEnd/>
          </a:ln>
        </p:spPr>
      </p:pic>
      <p:sp>
        <p:nvSpPr>
          <p:cNvPr id="2051" name="Rectangle 3"/>
          <p:cNvSpPr>
            <a:spLocks noChangeArrowheads="1"/>
          </p:cNvSpPr>
          <p:nvPr/>
        </p:nvSpPr>
        <p:spPr bwMode="auto">
          <a:xfrm>
            <a:off x="1447800" y="6019800"/>
            <a:ext cx="657893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A use case diagram for a university registration system</a:t>
            </a:r>
            <a:endParaRPr kumimoji="0" lang="en-US" sz="1800" b="0" i="0" u="none" strike="noStrike" cap="none" normalizeH="0" baseline="0" dirty="0">
              <a:ln>
                <a:noFill/>
              </a:ln>
              <a:solidFill>
                <a:schemeClr val="tx1"/>
              </a:solidFill>
              <a:effectLst/>
              <a:latin typeface="Arial" pitchFamily="34" charset="0"/>
            </a:endParaRPr>
          </a:p>
        </p:txBody>
      </p:sp>
      <p:sp>
        <p:nvSpPr>
          <p:cNvPr id="7" name="Slide Number Placeholder 3"/>
          <p:cNvSpPr>
            <a:spLocks noGrp="1"/>
          </p:cNvSpPr>
          <p:nvPr>
            <p:ph type="sldNum" sz="quarter" idx="12"/>
          </p:nvPr>
        </p:nvSpPr>
        <p:spPr>
          <a:xfrm>
            <a:off x="612648" y="6356350"/>
            <a:ext cx="1981200" cy="365760"/>
          </a:xfrm>
        </p:spPr>
        <p:txBody>
          <a:bodyPr/>
          <a:lstStyle/>
          <a:p>
            <a:pPr algn="l"/>
            <a:fld id="{EC83099C-5FA5-B04A-B819-64718E2A253A}" type="slidenum">
              <a:rPr lang="en-US" smtClean="0"/>
              <a:pPr algn="l"/>
              <a:t>32</a:t>
            </a:fld>
            <a:endParaRPr lang="en-US" dirty="0"/>
          </a:p>
        </p:txBody>
      </p:sp>
      <p:sp>
        <p:nvSpPr>
          <p:cNvPr id="6" name="Footer Placeholder 5"/>
          <p:cNvSpPr>
            <a:spLocks noGrp="1"/>
          </p:cNvSpPr>
          <p:nvPr>
            <p:ph type="ftr" sz="quarter" idx="11"/>
          </p:nvPr>
        </p:nvSpPr>
        <p:spPr/>
        <p:txBody>
          <a:bodyPr/>
          <a:lstStyle/>
          <a:p>
            <a:r>
              <a:rPr lang="en-US"/>
              <a:t>Chapter 6-Object-oriented design</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37216A88-3685-49AC-B6F0-05AF5AFCA464}" type="slidenum">
              <a:rPr lang="en-US"/>
              <a:pPr/>
              <a:t>33</a:t>
            </a:fld>
            <a:endParaRPr lang="en-US"/>
          </a:p>
        </p:txBody>
      </p:sp>
      <p:sp>
        <p:nvSpPr>
          <p:cNvPr id="50178" name="Rectangle 2"/>
          <p:cNvSpPr>
            <a:spLocks noGrp="1" noChangeArrowheads="1"/>
          </p:cNvSpPr>
          <p:nvPr>
            <p:ph type="title"/>
          </p:nvPr>
        </p:nvSpPr>
        <p:spPr/>
        <p:txBody>
          <a:bodyPr/>
          <a:lstStyle/>
          <a:p>
            <a:r>
              <a:rPr lang="en-US"/>
              <a:t>Use Case Flow of Events</a:t>
            </a:r>
          </a:p>
        </p:txBody>
      </p:sp>
      <p:sp>
        <p:nvSpPr>
          <p:cNvPr id="50179" name="Rectangle 3"/>
          <p:cNvSpPr>
            <a:spLocks noGrp="1" noChangeArrowheads="1"/>
          </p:cNvSpPr>
          <p:nvPr>
            <p:ph type="body" idx="1"/>
          </p:nvPr>
        </p:nvSpPr>
        <p:spPr>
          <a:xfrm>
            <a:off x="838200" y="1981200"/>
            <a:ext cx="7772400" cy="4114800"/>
          </a:xfrm>
        </p:spPr>
        <p:txBody>
          <a:bodyPr/>
          <a:lstStyle/>
          <a:p>
            <a:pPr>
              <a:lnSpc>
                <a:spcPct val="90000"/>
              </a:lnSpc>
            </a:pPr>
            <a:r>
              <a:rPr lang="en-US" dirty="0"/>
              <a:t>Each use case has to be described in a </a:t>
            </a:r>
            <a:r>
              <a:rPr lang="en-US" dirty="0">
                <a:solidFill>
                  <a:srgbClr val="FF0000"/>
                </a:solidFill>
              </a:rPr>
              <a:t>flow of events document</a:t>
            </a:r>
          </a:p>
          <a:p>
            <a:pPr>
              <a:lnSpc>
                <a:spcPct val="90000"/>
              </a:lnSpc>
            </a:pPr>
            <a:r>
              <a:rPr lang="en-US" dirty="0"/>
              <a:t>Is a </a:t>
            </a:r>
            <a:r>
              <a:rPr lang="en-US" dirty="0">
                <a:solidFill>
                  <a:srgbClr val="FF0000"/>
                </a:solidFill>
              </a:rPr>
              <a:t>textual document </a:t>
            </a:r>
            <a:r>
              <a:rPr lang="en-US" dirty="0"/>
              <a:t>defines what the system has to do when actor activates a use case (part of the use case specification)</a:t>
            </a:r>
          </a:p>
          <a:p>
            <a:pPr>
              <a:lnSpc>
                <a:spcPct val="90000"/>
              </a:lnSpc>
            </a:pPr>
            <a:r>
              <a:rPr lang="en-US" dirty="0"/>
              <a:t>The structure of a use case document can vary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8A6A7F1A-D451-4993-8831-DF55C7C0955B}" type="slidenum">
              <a:rPr lang="en-US"/>
              <a:pPr/>
              <a:t>34</a:t>
            </a:fld>
            <a:endParaRPr lang="en-US"/>
          </a:p>
        </p:txBody>
      </p:sp>
      <p:sp>
        <p:nvSpPr>
          <p:cNvPr id="51202" name="Rectangle 2"/>
          <p:cNvSpPr>
            <a:spLocks noGrp="1" noChangeArrowheads="1"/>
          </p:cNvSpPr>
          <p:nvPr>
            <p:ph type="title"/>
          </p:nvPr>
        </p:nvSpPr>
        <p:spPr/>
        <p:txBody>
          <a:bodyPr/>
          <a:lstStyle/>
          <a:p>
            <a:r>
              <a:rPr lang="en-US"/>
              <a:t>Use Case Flow of Events</a:t>
            </a:r>
          </a:p>
        </p:txBody>
      </p:sp>
      <p:sp>
        <p:nvSpPr>
          <p:cNvPr id="51203" name="Rectangle 3"/>
          <p:cNvSpPr>
            <a:spLocks noGrp="1" noChangeArrowheads="1"/>
          </p:cNvSpPr>
          <p:nvPr>
            <p:ph type="body" idx="1"/>
          </p:nvPr>
        </p:nvSpPr>
        <p:spPr>
          <a:xfrm>
            <a:off x="838200" y="1981200"/>
            <a:ext cx="7772400" cy="4114800"/>
          </a:xfrm>
        </p:spPr>
        <p:txBody>
          <a:bodyPr/>
          <a:lstStyle/>
          <a:p>
            <a:r>
              <a:rPr lang="en-US" sz="2400"/>
              <a:t>Each use case :</a:t>
            </a:r>
          </a:p>
          <a:p>
            <a:pPr lvl="1"/>
            <a:r>
              <a:rPr lang="en-US" sz="2400"/>
              <a:t>Has one normal, basic, sequence of transactions</a:t>
            </a:r>
          </a:p>
          <a:p>
            <a:pPr lvl="1"/>
            <a:r>
              <a:rPr lang="en-US" sz="2400"/>
              <a:t>May have several alternative sequences of transactions</a:t>
            </a:r>
          </a:p>
          <a:p>
            <a:pPr lvl="1"/>
            <a:r>
              <a:rPr lang="en-US" sz="2400"/>
              <a:t>Usually has several exceptional sequences of transactions handling erroneous situations</a:t>
            </a:r>
          </a:p>
          <a:p>
            <a:pPr lvl="1"/>
            <a:r>
              <a:rPr lang="en-US" sz="2400"/>
              <a:t>May also have well defined pre-post conditions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5DBE7AB9-A22B-4EFC-8379-948E8420CBC0}" type="slidenum">
              <a:rPr lang="en-US"/>
              <a:pPr/>
              <a:t>35</a:t>
            </a:fld>
            <a:endParaRPr lang="en-US"/>
          </a:p>
        </p:txBody>
      </p:sp>
      <p:sp>
        <p:nvSpPr>
          <p:cNvPr id="52226" name="Rectangle 2"/>
          <p:cNvSpPr>
            <a:spLocks noGrp="1" noChangeArrowheads="1"/>
          </p:cNvSpPr>
          <p:nvPr>
            <p:ph type="title"/>
          </p:nvPr>
        </p:nvSpPr>
        <p:spPr/>
        <p:txBody>
          <a:bodyPr/>
          <a:lstStyle/>
          <a:p>
            <a:r>
              <a:rPr lang="en-US"/>
              <a:t>Use Case Flow of Events</a:t>
            </a:r>
          </a:p>
        </p:txBody>
      </p:sp>
      <p:sp>
        <p:nvSpPr>
          <p:cNvPr id="52227" name="Rectangle 3"/>
          <p:cNvSpPr>
            <a:spLocks noGrp="1" noChangeArrowheads="1"/>
          </p:cNvSpPr>
          <p:nvPr>
            <p:ph type="body" idx="1"/>
          </p:nvPr>
        </p:nvSpPr>
        <p:spPr/>
        <p:txBody>
          <a:bodyPr/>
          <a:lstStyle/>
          <a:p>
            <a:pPr>
              <a:lnSpc>
                <a:spcPct val="90000"/>
              </a:lnSpc>
            </a:pPr>
            <a:r>
              <a:rPr lang="en-US" sz="2800"/>
              <a:t>Describe only the events that belong to the use case, and not what happens in other use cases</a:t>
            </a:r>
          </a:p>
          <a:p>
            <a:pPr>
              <a:lnSpc>
                <a:spcPct val="90000"/>
              </a:lnSpc>
            </a:pPr>
            <a:r>
              <a:rPr lang="en-US" sz="2800"/>
              <a:t>Should include :</a:t>
            </a:r>
          </a:p>
          <a:p>
            <a:pPr lvl="1">
              <a:lnSpc>
                <a:spcPct val="90000"/>
              </a:lnSpc>
            </a:pPr>
            <a:r>
              <a:rPr lang="en-US" sz="2400"/>
              <a:t>How and when the use case starts and ends</a:t>
            </a:r>
          </a:p>
          <a:p>
            <a:pPr lvl="1">
              <a:lnSpc>
                <a:spcPct val="90000"/>
              </a:lnSpc>
            </a:pPr>
            <a:r>
              <a:rPr lang="en-US" sz="2400"/>
              <a:t>When the use case interacts with the actors</a:t>
            </a:r>
          </a:p>
          <a:p>
            <a:pPr lvl="1">
              <a:lnSpc>
                <a:spcPct val="90000"/>
              </a:lnSpc>
            </a:pPr>
            <a:r>
              <a:rPr lang="en-US" sz="2400"/>
              <a:t>What information is exchanged between an actor and the use case</a:t>
            </a:r>
          </a:p>
          <a:p>
            <a:pPr lvl="1">
              <a:lnSpc>
                <a:spcPct val="90000"/>
              </a:lnSpc>
            </a:pPr>
            <a:r>
              <a:rPr lang="en-US" sz="2400"/>
              <a:t>Basic flow of events</a:t>
            </a:r>
          </a:p>
          <a:p>
            <a:pPr lvl="1">
              <a:lnSpc>
                <a:spcPct val="90000"/>
              </a:lnSpc>
            </a:pPr>
            <a:r>
              <a:rPr lang="en-US" sz="2400"/>
              <a:t>Any alternate flow of events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1143000"/>
            <a:ext cx="7793037" cy="617538"/>
          </a:xfrm>
        </p:spPr>
        <p:txBody>
          <a:bodyPr/>
          <a:lstStyle/>
          <a:p>
            <a:r>
              <a:rPr lang="en-US" sz="2000" dirty="0"/>
              <a:t>In-Class Exercise: Draw a </a:t>
            </a:r>
            <a:r>
              <a:rPr lang="en-US" sz="2000" b="1" dirty="0"/>
              <a:t>Use-Case Diagram </a:t>
            </a:r>
            <a:r>
              <a:rPr lang="en-US" sz="2000" dirty="0"/>
              <a:t>for the following  Library System </a:t>
            </a:r>
          </a:p>
        </p:txBody>
      </p:sp>
      <p:sp>
        <p:nvSpPr>
          <p:cNvPr id="3" name="Content Placeholder 2"/>
          <p:cNvSpPr>
            <a:spLocks noGrp="1"/>
          </p:cNvSpPr>
          <p:nvPr>
            <p:ph idx="1"/>
          </p:nvPr>
        </p:nvSpPr>
        <p:spPr>
          <a:xfrm>
            <a:off x="533400" y="2057400"/>
            <a:ext cx="8001000" cy="4114800"/>
          </a:xfrm>
        </p:spPr>
        <p:txBody>
          <a:bodyPr/>
          <a:lstStyle/>
          <a:p>
            <a:pPr algn="just"/>
            <a:r>
              <a:rPr lang="en-US" sz="2000" dirty="0">
                <a:solidFill>
                  <a:srgbClr val="0070C0"/>
                </a:solidFill>
              </a:rPr>
              <a:t>The library stores various items that can be borrowed, including books and journals. Both staff and students can borrow books, but only staff members can borrow journals. When a user borrows a book, their loan details are checked to ensure that they have no overdue books on loan, and have not already borrowed the maximum permitted number of books. Users can check their own loan details at any time. Librarians are permitted to check the loan details of any user. Users also can reserve books that are currently out on loan.</a:t>
            </a:r>
          </a:p>
          <a:p>
            <a:pPr algn="just">
              <a:buNone/>
            </a:pPr>
            <a:r>
              <a:rPr lang="en-US" sz="2000" i="1" dirty="0"/>
              <a:t>Question:</a:t>
            </a:r>
          </a:p>
          <a:p>
            <a:pPr lvl="1"/>
            <a:r>
              <a:rPr lang="en-US" sz="2000" dirty="0"/>
              <a:t>identify actors;</a:t>
            </a:r>
          </a:p>
          <a:p>
            <a:pPr lvl="1"/>
            <a:r>
              <a:rPr lang="en-US" sz="2000" dirty="0"/>
              <a:t>identify use-cases;</a:t>
            </a:r>
          </a:p>
          <a:p>
            <a:pPr lvl="1"/>
            <a:r>
              <a:rPr lang="en-US" sz="2000" dirty="0"/>
              <a:t>draw a use-case diagram for the above description</a:t>
            </a:r>
          </a:p>
          <a:p>
            <a:endParaRPr lang="en-US" dirty="0"/>
          </a:p>
        </p:txBody>
      </p:sp>
      <p:sp>
        <p:nvSpPr>
          <p:cNvPr id="4" name="Footer Placeholder 3"/>
          <p:cNvSpPr>
            <a:spLocks noGrp="1"/>
          </p:cNvSpPr>
          <p:nvPr>
            <p:ph type="ftr" sz="quarter" idx="11"/>
          </p:nvPr>
        </p:nvSpPr>
        <p:spPr/>
        <p:txBody>
          <a:bodyPr/>
          <a:lstStyle/>
          <a:p>
            <a:r>
              <a:rPr lang="en-US"/>
              <a:t>Chapter 6-Object-oriented design</a:t>
            </a:r>
          </a:p>
        </p:txBody>
      </p:sp>
      <p:sp>
        <p:nvSpPr>
          <p:cNvPr id="5" name="Slide Number Placeholder 4"/>
          <p:cNvSpPr>
            <a:spLocks noGrp="1"/>
          </p:cNvSpPr>
          <p:nvPr>
            <p:ph type="sldNum" sz="quarter" idx="12"/>
          </p:nvPr>
        </p:nvSpPr>
        <p:spPr/>
        <p:txBody>
          <a:bodyPr/>
          <a:lstStyle/>
          <a:p>
            <a:fld id="{20317CA6-3557-4F90-84AF-53D5354FC7C6}"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990600" y="617538"/>
            <a:ext cx="7953375" cy="1143000"/>
          </a:xfrm>
        </p:spPr>
        <p:txBody>
          <a:bodyPr/>
          <a:lstStyle/>
          <a:p>
            <a:pPr algn="l"/>
            <a:r>
              <a:rPr lang="en-GB" sz="2000" dirty="0"/>
              <a:t>Homework:</a:t>
            </a:r>
            <a:br>
              <a:rPr lang="en-GB" sz="2000" dirty="0"/>
            </a:br>
            <a:r>
              <a:rPr lang="en-GB" sz="2000" dirty="0"/>
              <a:t>Draw a use case diagram to illustrate the following use cases and the relationships between them</a:t>
            </a:r>
          </a:p>
        </p:txBody>
      </p:sp>
      <p:sp>
        <p:nvSpPr>
          <p:cNvPr id="3075" name="Text Box 3"/>
          <p:cNvSpPr txBox="1">
            <a:spLocks noChangeArrowheads="1"/>
          </p:cNvSpPr>
          <p:nvPr/>
        </p:nvSpPr>
        <p:spPr bwMode="auto">
          <a:xfrm>
            <a:off x="685800" y="1981200"/>
            <a:ext cx="3505200" cy="4154984"/>
          </a:xfrm>
          <a:prstGeom prst="rect">
            <a:avLst/>
          </a:prstGeom>
          <a:noFill/>
          <a:ln w="9525">
            <a:noFill/>
            <a:miter lim="800000"/>
            <a:headEnd/>
            <a:tailEnd/>
          </a:ln>
          <a:effectLst/>
        </p:spPr>
        <p:txBody>
          <a:bodyPr wrap="square">
            <a:spAutoFit/>
          </a:bodyPr>
          <a:lstStyle/>
          <a:p>
            <a:pPr marL="457200" indent="-457200"/>
            <a:r>
              <a:rPr lang="en-GB" sz="1100" dirty="0"/>
              <a:t>Use case: Place an order on the web site</a:t>
            </a:r>
          </a:p>
          <a:p>
            <a:pPr marL="457200" indent="-457200"/>
            <a:r>
              <a:rPr lang="en-GB" sz="1100" dirty="0"/>
              <a:t>Actor(s): Customer, Order Processing, </a:t>
            </a:r>
            <a:r>
              <a:rPr lang="en-GB" sz="1100" dirty="0" err="1"/>
              <a:t>NetPay</a:t>
            </a:r>
            <a:endParaRPr lang="en-GB" sz="1100" dirty="0"/>
          </a:p>
          <a:p>
            <a:pPr marL="457200" indent="-457200"/>
            <a:r>
              <a:rPr lang="en-GB" sz="1100" dirty="0"/>
              <a:t>Usual Flow:</a:t>
            </a:r>
          </a:p>
          <a:p>
            <a:pPr marL="457200" indent="-457200">
              <a:buFontTx/>
              <a:buAutoNum type="arabicPeriod"/>
            </a:pPr>
            <a:r>
              <a:rPr lang="en-GB" sz="1100" dirty="0"/>
              <a:t>The customer chooses to create a new order</a:t>
            </a:r>
          </a:p>
          <a:p>
            <a:pPr marL="457200" indent="-457200">
              <a:buFontTx/>
              <a:buAutoNum type="arabicPeriod"/>
            </a:pPr>
            <a:r>
              <a:rPr lang="en-GB" sz="1100" dirty="0"/>
              <a:t>The customer selects order items from the product catalogue and specifies the amount required</a:t>
            </a:r>
          </a:p>
          <a:p>
            <a:pPr marL="457200" indent="-457200">
              <a:buFontTx/>
              <a:buAutoNum type="arabicPeriod"/>
            </a:pPr>
            <a:r>
              <a:rPr lang="en-GB" sz="1100" dirty="0"/>
              <a:t>The customer asks to preview their order.</a:t>
            </a:r>
          </a:p>
          <a:p>
            <a:pPr marL="457200" indent="-457200">
              <a:buFontTx/>
              <a:buAutoNum type="arabicPeriod"/>
            </a:pPr>
            <a:r>
              <a:rPr lang="en-GB" sz="1100" dirty="0"/>
              <a:t>The system displays the list of order items and the total order price including VAT</a:t>
            </a:r>
          </a:p>
          <a:p>
            <a:pPr marL="457200" indent="-457200">
              <a:buFontTx/>
              <a:buAutoNum type="arabicPeriod"/>
            </a:pPr>
            <a:r>
              <a:rPr lang="en-GB" sz="1100" dirty="0"/>
              <a:t>The customer confirms their order (rather than cancelling it)</a:t>
            </a:r>
          </a:p>
          <a:p>
            <a:pPr marL="457200" indent="-457200">
              <a:buFontTx/>
              <a:buAutoNum type="arabicPeriod"/>
            </a:pPr>
            <a:r>
              <a:rPr lang="en-GB" sz="1100" dirty="0"/>
              <a:t>The system requests credit card information from the customer to pay for their order</a:t>
            </a:r>
          </a:p>
          <a:p>
            <a:pPr marL="457200" indent="-457200">
              <a:buFontTx/>
              <a:buAutoNum type="arabicPeriod"/>
            </a:pPr>
            <a:r>
              <a:rPr lang="en-GB" sz="1100" dirty="0"/>
              <a:t>The customer gives their credit card information</a:t>
            </a:r>
          </a:p>
          <a:p>
            <a:pPr marL="457200" indent="-457200">
              <a:buFontTx/>
              <a:buAutoNum type="arabicPeriod"/>
            </a:pPr>
            <a:r>
              <a:rPr lang="en-GB" sz="1100" dirty="0"/>
              <a:t>The system send their credit card details to </a:t>
            </a:r>
            <a:r>
              <a:rPr lang="en-GB" sz="1100" dirty="0" err="1"/>
              <a:t>NetPay</a:t>
            </a:r>
            <a:r>
              <a:rPr lang="en-GB" sz="1100" dirty="0"/>
              <a:t> for processing</a:t>
            </a:r>
          </a:p>
          <a:p>
            <a:pPr marL="457200" indent="-457200">
              <a:buFontTx/>
              <a:buAutoNum type="arabicPeriod"/>
            </a:pPr>
            <a:r>
              <a:rPr lang="en-GB" sz="1100" dirty="0"/>
              <a:t>If payment is accepted, the system forwards the order to order processing and displays an order confirmation that has a unique reference so both order processing and the customer know which order they are referring to during any enquiries</a:t>
            </a:r>
          </a:p>
        </p:txBody>
      </p:sp>
      <p:sp>
        <p:nvSpPr>
          <p:cNvPr id="3076" name="Text Box 4"/>
          <p:cNvSpPr txBox="1">
            <a:spLocks noChangeArrowheads="1"/>
          </p:cNvSpPr>
          <p:nvPr/>
        </p:nvSpPr>
        <p:spPr bwMode="auto">
          <a:xfrm>
            <a:off x="4724400" y="1828800"/>
            <a:ext cx="4054475" cy="1158875"/>
          </a:xfrm>
          <a:prstGeom prst="rect">
            <a:avLst/>
          </a:prstGeom>
          <a:noFill/>
          <a:ln w="9525">
            <a:noFill/>
            <a:miter lim="800000"/>
            <a:headEnd/>
            <a:tailEnd/>
          </a:ln>
          <a:effectLst/>
        </p:spPr>
        <p:txBody>
          <a:bodyPr>
            <a:spAutoFit/>
          </a:bodyPr>
          <a:lstStyle/>
          <a:p>
            <a:pPr marL="457200" indent="-457200"/>
            <a:r>
              <a:rPr lang="en-GB" sz="1000" dirty="0"/>
              <a:t>Use case: Pay by credit card</a:t>
            </a:r>
          </a:p>
          <a:p>
            <a:pPr marL="457200" indent="-457200"/>
            <a:r>
              <a:rPr lang="en-GB" sz="1000" dirty="0"/>
              <a:t>Actor(s): Customer, </a:t>
            </a:r>
            <a:r>
              <a:rPr lang="en-GB" sz="1000" dirty="0" err="1"/>
              <a:t>NetPay</a:t>
            </a:r>
            <a:endParaRPr lang="en-GB" sz="1000" dirty="0"/>
          </a:p>
          <a:p>
            <a:pPr marL="457200" indent="-457200"/>
            <a:r>
              <a:rPr lang="en-GB" sz="1000" dirty="0"/>
              <a:t>Usual Flow:</a:t>
            </a:r>
          </a:p>
          <a:p>
            <a:pPr marL="457200" indent="-457200">
              <a:buFontTx/>
              <a:buAutoNum type="arabicPeriod"/>
            </a:pPr>
            <a:r>
              <a:rPr lang="en-GB" sz="1000" dirty="0"/>
              <a:t>The system requests credit card information from the customer to pay for their order</a:t>
            </a:r>
          </a:p>
          <a:p>
            <a:pPr marL="457200" indent="-457200">
              <a:buFontTx/>
              <a:buAutoNum type="arabicPeriod"/>
            </a:pPr>
            <a:r>
              <a:rPr lang="en-GB" sz="1000" dirty="0"/>
              <a:t>The customer gives their credit card information</a:t>
            </a:r>
          </a:p>
          <a:p>
            <a:pPr marL="457200" indent="-457200">
              <a:buFontTx/>
              <a:buAutoNum type="arabicPeriod"/>
            </a:pPr>
            <a:r>
              <a:rPr lang="en-GB" sz="1000" dirty="0"/>
              <a:t>The system send their credit card details to </a:t>
            </a:r>
            <a:r>
              <a:rPr lang="en-GB" sz="1000" dirty="0" err="1"/>
              <a:t>NetPay</a:t>
            </a:r>
            <a:r>
              <a:rPr lang="en-GB" sz="1000" dirty="0"/>
              <a:t> for processing</a:t>
            </a:r>
          </a:p>
        </p:txBody>
      </p:sp>
      <p:sp>
        <p:nvSpPr>
          <p:cNvPr id="3077" name="Text Box 5"/>
          <p:cNvSpPr txBox="1">
            <a:spLocks noChangeArrowheads="1"/>
          </p:cNvSpPr>
          <p:nvPr/>
        </p:nvSpPr>
        <p:spPr bwMode="auto">
          <a:xfrm>
            <a:off x="4572000" y="3276600"/>
            <a:ext cx="3505200" cy="3292475"/>
          </a:xfrm>
          <a:prstGeom prst="rect">
            <a:avLst/>
          </a:prstGeom>
          <a:noFill/>
          <a:ln w="9525">
            <a:noFill/>
            <a:miter lim="800000"/>
            <a:headEnd/>
            <a:tailEnd/>
          </a:ln>
          <a:effectLst/>
        </p:spPr>
        <p:txBody>
          <a:bodyPr>
            <a:spAutoFit/>
          </a:bodyPr>
          <a:lstStyle/>
          <a:p>
            <a:pPr marL="457200" indent="-457200"/>
            <a:r>
              <a:rPr lang="en-GB" sz="1000" dirty="0"/>
              <a:t>Use case: Place an order by phone</a:t>
            </a:r>
          </a:p>
          <a:p>
            <a:pPr marL="457200" indent="-457200"/>
            <a:r>
              <a:rPr lang="en-GB" sz="1000" dirty="0"/>
              <a:t>Actor(s): Customer, Sales Clerk, Order Processing, </a:t>
            </a:r>
            <a:r>
              <a:rPr lang="en-GB" sz="1000" dirty="0" err="1"/>
              <a:t>NetPay</a:t>
            </a:r>
            <a:endParaRPr lang="en-GB" sz="1000" dirty="0"/>
          </a:p>
          <a:p>
            <a:pPr marL="457200" indent="-457200"/>
            <a:r>
              <a:rPr lang="en-GB" sz="1000" dirty="0"/>
              <a:t>Usual Flow:</a:t>
            </a:r>
          </a:p>
          <a:p>
            <a:pPr marL="457200" indent="-457200">
              <a:buFontTx/>
              <a:buAutoNum type="arabicPeriod"/>
            </a:pPr>
            <a:r>
              <a:rPr lang="en-GB" sz="1000" dirty="0"/>
              <a:t>The customer calls the sales hotline and selects the “place an order” option</a:t>
            </a:r>
          </a:p>
          <a:p>
            <a:pPr marL="457200" indent="-457200">
              <a:buFontTx/>
              <a:buAutoNum type="arabicPeriod"/>
            </a:pPr>
            <a:r>
              <a:rPr lang="en-GB" sz="1000" dirty="0"/>
              <a:t>The customer selects the “add item” option</a:t>
            </a:r>
          </a:p>
          <a:p>
            <a:pPr marL="457200" indent="-457200">
              <a:buFontTx/>
              <a:buAutoNum type="arabicPeriod"/>
            </a:pPr>
            <a:r>
              <a:rPr lang="en-GB" sz="1000" dirty="0"/>
              <a:t>The system requests the product catalogue number and quantity for the order item</a:t>
            </a:r>
          </a:p>
          <a:p>
            <a:pPr marL="457200" indent="-457200">
              <a:buFontTx/>
              <a:buAutoNum type="arabicPeriod"/>
            </a:pPr>
            <a:r>
              <a:rPr lang="en-GB" sz="1000" dirty="0"/>
              <a:t>The customer enters the product catalogue number and quantity</a:t>
            </a:r>
          </a:p>
          <a:p>
            <a:pPr marL="457200" indent="-457200">
              <a:buFontTx/>
              <a:buAutoNum type="arabicPeriod"/>
            </a:pPr>
            <a:r>
              <a:rPr lang="en-GB" sz="1000" dirty="0"/>
              <a:t>The customer asks to preview their order</a:t>
            </a:r>
          </a:p>
          <a:p>
            <a:pPr marL="457200" indent="-457200">
              <a:buFontTx/>
              <a:buAutoNum type="arabicPeriod"/>
            </a:pPr>
            <a:r>
              <a:rPr lang="en-GB" sz="1000" dirty="0"/>
              <a:t>The system reads back their order giving the total price plus VAT</a:t>
            </a:r>
          </a:p>
          <a:p>
            <a:pPr marL="457200" indent="-457200">
              <a:buFontTx/>
              <a:buAutoNum type="arabicPeriod"/>
            </a:pPr>
            <a:r>
              <a:rPr lang="en-GB" sz="1000" dirty="0"/>
              <a:t>The customer confirms their order (rather than cancelling it)</a:t>
            </a:r>
          </a:p>
          <a:p>
            <a:pPr marL="457200" indent="-457200">
              <a:buFontTx/>
              <a:buAutoNum type="arabicPeriod"/>
            </a:pPr>
            <a:r>
              <a:rPr lang="en-GB" sz="1000" dirty="0"/>
              <a:t>The customer pays by credit card through </a:t>
            </a:r>
            <a:r>
              <a:rPr lang="en-GB" sz="1000" dirty="0" err="1"/>
              <a:t>NetPay</a:t>
            </a:r>
            <a:endParaRPr lang="en-GB" sz="1000" dirty="0"/>
          </a:p>
          <a:p>
            <a:pPr marL="457200" indent="-457200">
              <a:buFontTx/>
              <a:buAutoNum type="arabicPeriod"/>
            </a:pPr>
            <a:r>
              <a:rPr lang="en-GB" sz="1000" dirty="0"/>
              <a:t>If their payment is accepted the system reads out an order confirmation reference</a:t>
            </a:r>
          </a:p>
          <a:p>
            <a:pPr marL="457200" indent="-457200">
              <a:buFontTx/>
              <a:buAutoNum type="arabicPeriod"/>
            </a:pPr>
            <a:r>
              <a:rPr lang="en-GB" sz="1000" dirty="0"/>
              <a:t>The customer hangs up the phone</a:t>
            </a:r>
          </a:p>
          <a:p>
            <a:pPr marL="457200" indent="-457200">
              <a:buFontTx/>
              <a:buAutoNum type="arabicPeriod"/>
            </a:pPr>
            <a:endParaRPr lang="en-GB" sz="1000" dirty="0"/>
          </a:p>
          <a:p>
            <a:pPr marL="457200" indent="-457200">
              <a:buFontTx/>
              <a:buAutoNum type="arabicPeriod"/>
            </a:pPr>
            <a:endParaRPr lang="en-GB"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en-US" dirty="0"/>
              <a:t>Object-Oriented Design</a:t>
            </a:r>
            <a:endParaRPr lang="en-GB" dirty="0"/>
          </a:p>
        </p:txBody>
      </p:sp>
      <p:sp>
        <p:nvSpPr>
          <p:cNvPr id="107523" name="Rectangle 3"/>
          <p:cNvSpPr>
            <a:spLocks noGrp="1" noChangeArrowheads="1"/>
          </p:cNvSpPr>
          <p:nvPr>
            <p:ph type="body" idx="1"/>
          </p:nvPr>
        </p:nvSpPr>
        <p:spPr>
          <a:xfrm>
            <a:off x="609600" y="2017713"/>
            <a:ext cx="8345488" cy="4114800"/>
          </a:xfrm>
        </p:spPr>
        <p:txBody>
          <a:bodyPr/>
          <a:lstStyle/>
          <a:p>
            <a:r>
              <a:rPr lang="en-GB" sz="2800" dirty="0"/>
              <a:t>There are a variety of different object-oriented design processes that depend on the organization using the process.</a:t>
            </a:r>
          </a:p>
          <a:p>
            <a:r>
              <a:rPr lang="en-GB" sz="2800" dirty="0"/>
              <a:t>Common activities in these processes include:</a:t>
            </a:r>
          </a:p>
          <a:p>
            <a:pPr lvl="1"/>
            <a:r>
              <a:rPr lang="en-GB" sz="2000" dirty="0"/>
              <a:t>Define the context and modes of use of the system (</a:t>
            </a:r>
            <a:r>
              <a:rPr lang="en-GB" sz="2000" dirty="0">
                <a:solidFill>
                  <a:srgbClr val="0070C0"/>
                </a:solidFill>
              </a:rPr>
              <a:t>covered in </a:t>
            </a:r>
            <a:r>
              <a:rPr lang="en-GB" sz="2000" dirty="0" err="1">
                <a:solidFill>
                  <a:srgbClr val="0070C0"/>
                </a:solidFill>
              </a:rPr>
              <a:t>Chp</a:t>
            </a:r>
            <a:r>
              <a:rPr lang="en-GB" sz="2000" dirty="0">
                <a:solidFill>
                  <a:srgbClr val="0070C0"/>
                </a:solidFill>
              </a:rPr>
              <a:t> 3</a:t>
            </a:r>
            <a:r>
              <a:rPr lang="en-GB" sz="2000" dirty="0"/>
              <a:t>);</a:t>
            </a:r>
          </a:p>
          <a:p>
            <a:pPr lvl="1"/>
            <a:r>
              <a:rPr lang="en-GB" sz="2000" dirty="0"/>
              <a:t>Design the system architecture (</a:t>
            </a:r>
            <a:r>
              <a:rPr lang="en-GB" sz="2000" dirty="0">
                <a:solidFill>
                  <a:srgbClr val="0070C0"/>
                </a:solidFill>
              </a:rPr>
              <a:t>covered in </a:t>
            </a:r>
            <a:r>
              <a:rPr lang="en-GB" sz="2000" dirty="0" err="1">
                <a:solidFill>
                  <a:srgbClr val="0070C0"/>
                </a:solidFill>
              </a:rPr>
              <a:t>Chp</a:t>
            </a:r>
            <a:r>
              <a:rPr lang="en-GB" sz="2000" dirty="0">
                <a:solidFill>
                  <a:srgbClr val="0070C0"/>
                </a:solidFill>
              </a:rPr>
              <a:t> 4</a:t>
            </a:r>
            <a:r>
              <a:rPr lang="en-GB" sz="2000" dirty="0"/>
              <a:t>);</a:t>
            </a:r>
          </a:p>
          <a:p>
            <a:pPr lvl="1"/>
            <a:r>
              <a:rPr lang="en-GB" sz="2000" dirty="0"/>
              <a:t>Identify the principal system objects;</a:t>
            </a:r>
          </a:p>
          <a:p>
            <a:pPr lvl="1"/>
            <a:r>
              <a:rPr lang="en-GB" sz="2000" dirty="0"/>
              <a:t>Develop design models;</a:t>
            </a:r>
          </a:p>
          <a:p>
            <a:pPr lvl="1"/>
            <a:r>
              <a:rPr lang="en-GB" sz="2000" dirty="0"/>
              <a:t>Specify object interfaces.</a:t>
            </a:r>
          </a:p>
        </p:txBody>
      </p:sp>
      <p:sp>
        <p:nvSpPr>
          <p:cNvPr id="4" name="Slide Number Placeholder 3"/>
          <p:cNvSpPr>
            <a:spLocks noGrp="1"/>
          </p:cNvSpPr>
          <p:nvPr>
            <p:ph type="sldNum" sz="quarter" idx="12"/>
          </p:nvPr>
        </p:nvSpPr>
        <p:spPr/>
        <p:txBody>
          <a:bodyPr/>
          <a:lstStyle/>
          <a:p>
            <a:fld id="{EC83099C-5FA5-B04A-B819-64718E2A253A}" type="slidenum">
              <a:rPr lang="en-US" smtClean="0"/>
              <a:pPr/>
              <a:t>38</a:t>
            </a:fld>
            <a:endParaRPr lang="en-US"/>
          </a:p>
        </p:txBody>
      </p:sp>
      <p:sp>
        <p:nvSpPr>
          <p:cNvPr id="5" name="Footer Placeholder 4"/>
          <p:cNvSpPr>
            <a:spLocks noGrp="1"/>
          </p:cNvSpPr>
          <p:nvPr>
            <p:ph type="ftr" sz="quarter" idx="11"/>
          </p:nvPr>
        </p:nvSpPr>
        <p:spPr/>
        <p:txBody>
          <a:bodyPr/>
          <a:lstStyle/>
          <a:p>
            <a:r>
              <a:rPr lang="en-US"/>
              <a:t>Chapter 6-Object-oriented design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a:ln/>
        </p:spPr>
        <p:txBody>
          <a:bodyPr lIns="90840" tIns="44623" rIns="90840" bIns="44623"/>
          <a:lstStyle/>
          <a:p>
            <a:r>
              <a:rPr lang="en-GB" sz="3600" dirty="0"/>
              <a:t>OBJECT CLASS IDENTIFICATION</a:t>
            </a:r>
          </a:p>
        </p:txBody>
      </p:sp>
      <p:sp>
        <p:nvSpPr>
          <p:cNvPr id="41987" name="Rectangle 3"/>
          <p:cNvSpPr>
            <a:spLocks noGrp="1" noChangeArrowheads="1"/>
          </p:cNvSpPr>
          <p:nvPr>
            <p:ph type="body" idx="1"/>
          </p:nvPr>
        </p:nvSpPr>
        <p:spPr>
          <a:xfrm>
            <a:off x="609600" y="2017713"/>
            <a:ext cx="8345488" cy="4114800"/>
          </a:xfrm>
          <a:noFill/>
          <a:ln/>
        </p:spPr>
        <p:txBody>
          <a:bodyPr lIns="90840" tIns="44623" rIns="90840" bIns="44623"/>
          <a:lstStyle/>
          <a:p>
            <a:r>
              <a:rPr lang="en-GB" sz="2800" dirty="0"/>
              <a:t>Identifying </a:t>
            </a:r>
            <a:r>
              <a:rPr lang="en-GB" sz="2800" dirty="0">
                <a:solidFill>
                  <a:srgbClr val="FF0000"/>
                </a:solidFill>
              </a:rPr>
              <a:t>object classes </a:t>
            </a:r>
            <a:r>
              <a:rPr lang="en-GB" sz="2800" dirty="0"/>
              <a:t>is often a difficult part of object oriented design.</a:t>
            </a:r>
          </a:p>
          <a:p>
            <a:r>
              <a:rPr lang="en-GB" sz="2800" dirty="0"/>
              <a:t>There is no </a:t>
            </a:r>
            <a:r>
              <a:rPr lang="en-GB" sz="2800" dirty="0">
                <a:solidFill>
                  <a:srgbClr val="FF0000"/>
                </a:solidFill>
              </a:rPr>
              <a:t>'magic formula' </a:t>
            </a:r>
            <a:r>
              <a:rPr lang="en-GB" sz="2800" dirty="0"/>
              <a:t>for object identification. It relies on the skill, experience </a:t>
            </a:r>
            <a:br>
              <a:rPr lang="en-GB" sz="2800" dirty="0"/>
            </a:br>
            <a:r>
              <a:rPr lang="en-GB" sz="2800" dirty="0"/>
              <a:t>and domain knowledge of system designers.</a:t>
            </a:r>
          </a:p>
          <a:p>
            <a:r>
              <a:rPr lang="en-GB" sz="2800" dirty="0"/>
              <a:t>Object identification is an </a:t>
            </a:r>
            <a:r>
              <a:rPr lang="en-GB" sz="2800" dirty="0">
                <a:solidFill>
                  <a:srgbClr val="FF0000"/>
                </a:solidFill>
              </a:rPr>
              <a:t>iterative process</a:t>
            </a:r>
            <a:r>
              <a:rPr lang="en-GB" sz="2800" dirty="0"/>
              <a:t>. You are unlikely to get it right first time.</a:t>
            </a:r>
          </a:p>
        </p:txBody>
      </p:sp>
      <p:sp>
        <p:nvSpPr>
          <p:cNvPr id="4" name="Slide Number Placeholder 3"/>
          <p:cNvSpPr>
            <a:spLocks noGrp="1"/>
          </p:cNvSpPr>
          <p:nvPr>
            <p:ph type="sldNum" sz="quarter" idx="12"/>
          </p:nvPr>
        </p:nvSpPr>
        <p:spPr/>
        <p:txBody>
          <a:bodyPr/>
          <a:lstStyle/>
          <a:p>
            <a:fld id="{EC83099C-5FA5-B04A-B819-64718E2A253A}" type="slidenum">
              <a:rPr lang="en-US" smtClean="0"/>
              <a:pPr/>
              <a:t>39</a:t>
            </a:fld>
            <a:endParaRPr lang="en-US"/>
          </a:p>
        </p:txBody>
      </p:sp>
      <p:sp>
        <p:nvSpPr>
          <p:cNvPr id="5" name="Footer Placeholder 4"/>
          <p:cNvSpPr>
            <a:spLocks noGrp="1"/>
          </p:cNvSpPr>
          <p:nvPr>
            <p:ph type="ftr" sz="quarter" idx="11"/>
          </p:nvPr>
        </p:nvSpPr>
        <p:spPr/>
        <p:txBody>
          <a:bodyPr/>
          <a:lstStyle/>
          <a:p>
            <a:r>
              <a:rPr lang="en-US"/>
              <a:t>Chapter 6-Object-oriented design</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a:ln/>
        </p:spPr>
        <p:txBody>
          <a:bodyPr lIns="90840" tIns="44623" rIns="90840" bIns="44623">
            <a:normAutofit/>
          </a:bodyPr>
          <a:lstStyle/>
          <a:p>
            <a:r>
              <a:rPr lang="en-US" dirty="0"/>
              <a:t>What Is an Object?</a:t>
            </a:r>
          </a:p>
        </p:txBody>
      </p:sp>
      <p:sp>
        <p:nvSpPr>
          <p:cNvPr id="5" name="Footer Placeholder 4"/>
          <p:cNvSpPr>
            <a:spLocks noGrp="1"/>
          </p:cNvSpPr>
          <p:nvPr>
            <p:ph type="ftr" sz="quarter" idx="11"/>
          </p:nvPr>
        </p:nvSpPr>
        <p:spPr/>
        <p:txBody>
          <a:bodyPr/>
          <a:lstStyle/>
          <a:p>
            <a:r>
              <a:rPr lang="en-US"/>
              <a:t>Chapter 6-Object-oriented design</a:t>
            </a:r>
            <a:endParaRPr lang="en-US" dirty="0"/>
          </a:p>
        </p:txBody>
      </p:sp>
      <p:sp>
        <p:nvSpPr>
          <p:cNvPr id="4" name="Slide Number Placeholder 3"/>
          <p:cNvSpPr>
            <a:spLocks noGrp="1"/>
          </p:cNvSpPr>
          <p:nvPr>
            <p:ph type="sldNum" sz="quarter" idx="12"/>
          </p:nvPr>
        </p:nvSpPr>
        <p:spPr/>
        <p:txBody>
          <a:bodyPr/>
          <a:lstStyle/>
          <a:p>
            <a:fld id="{EC83099C-5FA5-B04A-B819-64718E2A253A}" type="slidenum">
              <a:rPr lang="en-US" smtClean="0"/>
              <a:pPr/>
              <a:t>40</a:t>
            </a:fld>
            <a:endParaRPr lang="en-US"/>
          </a:p>
        </p:txBody>
      </p:sp>
      <p:sp>
        <p:nvSpPr>
          <p:cNvPr id="41987" name="Rectangle 3"/>
          <p:cNvSpPr>
            <a:spLocks noGrp="1" noChangeArrowheads="1"/>
          </p:cNvSpPr>
          <p:nvPr>
            <p:ph sz="quarter" idx="1"/>
          </p:nvPr>
        </p:nvSpPr>
        <p:spPr>
          <a:xfrm>
            <a:off x="533400" y="2017713"/>
            <a:ext cx="8421688" cy="4114800"/>
          </a:xfrm>
          <a:noFill/>
          <a:ln/>
        </p:spPr>
        <p:txBody>
          <a:bodyPr lIns="90840" tIns="44623" rIns="90840" bIns="44623"/>
          <a:lstStyle/>
          <a:p>
            <a:r>
              <a:rPr lang="en-US" sz="2400" dirty="0"/>
              <a:t>An entity that encapsulates data and behavior</a:t>
            </a:r>
          </a:p>
          <a:p>
            <a:endParaRPr lang="en-US" sz="2400" dirty="0"/>
          </a:p>
          <a:p>
            <a:r>
              <a:rPr lang="en-US" sz="2400" dirty="0"/>
              <a:t>Examples: product, employee, order, line item</a:t>
            </a:r>
          </a:p>
          <a:p>
            <a:endParaRPr lang="en-US" sz="2400" dirty="0"/>
          </a:p>
          <a:p>
            <a:r>
              <a:rPr lang="en-US" sz="2400" b="1" dirty="0"/>
              <a:t>Class</a:t>
            </a:r>
            <a:r>
              <a:rPr lang="en-US" sz="2400" dirty="0"/>
              <a:t> – a set of objects that share the same attributes, operations, relationships, and semantics (abstract)</a:t>
            </a:r>
          </a:p>
          <a:p>
            <a:endParaRPr lang="en-US" sz="2400" dirty="0"/>
          </a:p>
          <a:p>
            <a:r>
              <a:rPr lang="en-US" sz="2400" b="1" dirty="0"/>
              <a:t>Instance</a:t>
            </a:r>
            <a:r>
              <a:rPr lang="en-US" sz="2400" dirty="0"/>
              <a:t> – a single object (concrete)</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143000" y="533400"/>
            <a:ext cx="7231062" cy="1143000"/>
          </a:xfrm>
          <a:noFill/>
          <a:ln/>
        </p:spPr>
        <p:txBody>
          <a:bodyPr lIns="90840" tIns="44623" rIns="90840" bIns="44623">
            <a:normAutofit/>
          </a:bodyPr>
          <a:lstStyle/>
          <a:p>
            <a:r>
              <a:rPr lang="en-US" dirty="0"/>
              <a:t>What Is an Object?</a:t>
            </a:r>
          </a:p>
        </p:txBody>
      </p:sp>
      <p:sp>
        <p:nvSpPr>
          <p:cNvPr id="5" name="Footer Placeholder 4"/>
          <p:cNvSpPr>
            <a:spLocks noGrp="1"/>
          </p:cNvSpPr>
          <p:nvPr>
            <p:ph type="ftr" sz="quarter" idx="11"/>
          </p:nvPr>
        </p:nvSpPr>
        <p:spPr/>
        <p:txBody>
          <a:bodyPr/>
          <a:lstStyle/>
          <a:p>
            <a:r>
              <a:rPr lang="en-US"/>
              <a:t>Chapter 6-Object-oriented design</a:t>
            </a:r>
            <a:endParaRPr lang="en-US" dirty="0"/>
          </a:p>
        </p:txBody>
      </p:sp>
      <p:sp>
        <p:nvSpPr>
          <p:cNvPr id="4" name="Slide Number Placeholder 3"/>
          <p:cNvSpPr>
            <a:spLocks noGrp="1"/>
          </p:cNvSpPr>
          <p:nvPr>
            <p:ph type="sldNum" sz="quarter" idx="12"/>
          </p:nvPr>
        </p:nvSpPr>
        <p:spPr/>
        <p:txBody>
          <a:bodyPr/>
          <a:lstStyle/>
          <a:p>
            <a:fld id="{EC83099C-5FA5-B04A-B819-64718E2A253A}" type="slidenum">
              <a:rPr lang="en-US" smtClean="0"/>
              <a:pPr/>
              <a:t>41</a:t>
            </a:fld>
            <a:endParaRPr lang="en-US"/>
          </a:p>
        </p:txBody>
      </p:sp>
      <p:pic>
        <p:nvPicPr>
          <p:cNvPr id="61442" name="Picture 2" descr="CAP1"/>
          <p:cNvPicPr>
            <a:picLocks noGrp="1" noChangeAspect="1" noChangeArrowheads="1"/>
          </p:cNvPicPr>
          <p:nvPr>
            <p:ph sz="quarter" idx="1"/>
          </p:nvPr>
        </p:nvPicPr>
        <p:blipFill>
          <a:blip r:embed="rId3" cstate="print"/>
          <a:srcRect/>
          <a:stretch>
            <a:fillRect/>
          </a:stretch>
        </p:blipFill>
        <p:spPr bwMode="auto">
          <a:xfrm>
            <a:off x="836676" y="1591294"/>
            <a:ext cx="7321672" cy="4049485"/>
          </a:xfrm>
          <a:prstGeom prst="rect">
            <a:avLst/>
          </a:prstGeom>
          <a:noFill/>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143000" y="609600"/>
            <a:ext cx="6469062" cy="1143000"/>
          </a:xfrm>
          <a:noFill/>
          <a:ln/>
        </p:spPr>
        <p:txBody>
          <a:bodyPr lIns="90840" tIns="44623" rIns="90840" bIns="44623">
            <a:normAutofit/>
          </a:bodyPr>
          <a:lstStyle/>
          <a:p>
            <a:r>
              <a:rPr lang="en-US" dirty="0"/>
              <a:t>What Is an Object?</a:t>
            </a:r>
          </a:p>
        </p:txBody>
      </p:sp>
      <p:sp>
        <p:nvSpPr>
          <p:cNvPr id="5" name="Footer Placeholder 4"/>
          <p:cNvSpPr>
            <a:spLocks noGrp="1"/>
          </p:cNvSpPr>
          <p:nvPr>
            <p:ph type="ftr" sz="quarter" idx="11"/>
          </p:nvPr>
        </p:nvSpPr>
        <p:spPr/>
        <p:txBody>
          <a:bodyPr/>
          <a:lstStyle/>
          <a:p>
            <a:r>
              <a:rPr lang="en-US"/>
              <a:t>Chapter 6-Object-oriented design</a:t>
            </a:r>
            <a:endParaRPr lang="en-US" dirty="0"/>
          </a:p>
        </p:txBody>
      </p:sp>
      <p:sp>
        <p:nvSpPr>
          <p:cNvPr id="4" name="Slide Number Placeholder 3"/>
          <p:cNvSpPr>
            <a:spLocks noGrp="1"/>
          </p:cNvSpPr>
          <p:nvPr>
            <p:ph type="sldNum" sz="quarter" idx="12"/>
          </p:nvPr>
        </p:nvSpPr>
        <p:spPr/>
        <p:txBody>
          <a:bodyPr/>
          <a:lstStyle/>
          <a:p>
            <a:fld id="{EC83099C-5FA5-B04A-B819-64718E2A253A}" type="slidenum">
              <a:rPr lang="en-US" smtClean="0"/>
              <a:pPr/>
              <a:t>42</a:t>
            </a:fld>
            <a:endParaRPr lang="en-US"/>
          </a:p>
        </p:txBody>
      </p:sp>
      <p:pic>
        <p:nvPicPr>
          <p:cNvPr id="62466" name="Picture 2" descr="CAP1"/>
          <p:cNvPicPr>
            <a:picLocks noGrp="1" noChangeAspect="1" noChangeArrowheads="1"/>
          </p:cNvPicPr>
          <p:nvPr>
            <p:ph sz="quarter" idx="1"/>
          </p:nvPr>
        </p:nvPicPr>
        <p:blipFill>
          <a:blip r:embed="rId3" cstate="print"/>
          <a:srcRect/>
          <a:stretch>
            <a:fillRect/>
          </a:stretch>
        </p:blipFill>
        <p:spPr bwMode="auto">
          <a:xfrm>
            <a:off x="609600" y="2057400"/>
            <a:ext cx="7878209" cy="3598224"/>
          </a:xfrm>
          <a:prstGeom prst="rect">
            <a:avLst/>
          </a:prstGeom>
          <a:noFill/>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a:ln/>
        </p:spPr>
        <p:txBody>
          <a:bodyPr lIns="90840" tIns="44623" rIns="90840" bIns="44623">
            <a:normAutofit/>
          </a:bodyPr>
          <a:lstStyle/>
          <a:p>
            <a:r>
              <a:rPr lang="en-US" dirty="0"/>
              <a:t>What Is an Attribute?</a:t>
            </a:r>
          </a:p>
        </p:txBody>
      </p:sp>
      <p:sp>
        <p:nvSpPr>
          <p:cNvPr id="5" name="Footer Placeholder 4"/>
          <p:cNvSpPr>
            <a:spLocks noGrp="1"/>
          </p:cNvSpPr>
          <p:nvPr>
            <p:ph type="ftr" sz="quarter" idx="11"/>
          </p:nvPr>
        </p:nvSpPr>
        <p:spPr/>
        <p:txBody>
          <a:bodyPr/>
          <a:lstStyle/>
          <a:p>
            <a:r>
              <a:rPr lang="en-US"/>
              <a:t>Chapter 6-Object-oriented design</a:t>
            </a:r>
            <a:endParaRPr lang="en-US" dirty="0"/>
          </a:p>
        </p:txBody>
      </p:sp>
      <p:sp>
        <p:nvSpPr>
          <p:cNvPr id="4" name="Slide Number Placeholder 3"/>
          <p:cNvSpPr>
            <a:spLocks noGrp="1"/>
          </p:cNvSpPr>
          <p:nvPr>
            <p:ph type="sldNum" sz="quarter" idx="12"/>
          </p:nvPr>
        </p:nvSpPr>
        <p:spPr/>
        <p:txBody>
          <a:bodyPr/>
          <a:lstStyle/>
          <a:p>
            <a:fld id="{EC83099C-5FA5-B04A-B819-64718E2A253A}" type="slidenum">
              <a:rPr lang="en-US" smtClean="0"/>
              <a:pPr/>
              <a:t>43</a:t>
            </a:fld>
            <a:endParaRPr lang="en-US"/>
          </a:p>
        </p:txBody>
      </p:sp>
      <p:sp>
        <p:nvSpPr>
          <p:cNvPr id="63490" name="Rectangle 2"/>
          <p:cNvSpPr>
            <a:spLocks noGrp="1" noChangeArrowheads="1"/>
          </p:cNvSpPr>
          <p:nvPr>
            <p:ph sz="quarter" idx="1"/>
          </p:nvPr>
        </p:nvSpPr>
        <p:spPr bwMode="auto">
          <a:xfrm>
            <a:off x="762000" y="1905000"/>
            <a:ext cx="7321550" cy="4049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fontScale="77500" lnSpcReduction="20000"/>
          </a:bodyPr>
          <a:lstStyle/>
          <a:p>
            <a:pPr marL="342900" marR="0" lvl="0" indent="-342900" defTabSz="914400" rtl="0" eaLnBrk="0" fontAlgn="base" latinLnBrk="0" hangingPunct="0">
              <a:lnSpc>
                <a:spcPct val="100000"/>
              </a:lnSpc>
              <a:spcBef>
                <a:spcPct val="20000"/>
              </a:spcBef>
              <a:spcAft>
                <a:spcPct val="0"/>
              </a:spcAft>
              <a:buClr>
                <a:schemeClr val="accent2"/>
              </a:buClr>
              <a:buSzPts val="2600"/>
              <a:buFont typeface="Wingdings" pitchFamily="2" charset="2"/>
              <a:buChar char="l"/>
              <a:tabLst/>
            </a:pPr>
            <a:r>
              <a:rPr lang="en-US" sz="2800" dirty="0">
                <a:latin typeface="Arial" pitchFamily="34" charset="0"/>
                <a:cs typeface="Arial" pitchFamily="34" charset="0"/>
              </a:rPr>
              <a:t>A </a:t>
            </a:r>
            <a:r>
              <a:rPr lang="en-US" sz="2800" dirty="0">
                <a:solidFill>
                  <a:srgbClr val="FF0000"/>
                </a:solidFill>
                <a:latin typeface="Arial" pitchFamily="34" charset="0"/>
                <a:cs typeface="Arial" pitchFamily="34" charset="0"/>
              </a:rPr>
              <a:t>named property </a:t>
            </a:r>
            <a:r>
              <a:rPr lang="en-US" sz="2800" dirty="0">
                <a:latin typeface="Arial" pitchFamily="34" charset="0"/>
                <a:cs typeface="Arial" pitchFamily="34" charset="0"/>
              </a:rPr>
              <a:t>of a class that describes a range of values that instances of the attribute may hold</a:t>
            </a:r>
          </a:p>
          <a:p>
            <a:pPr marL="342900" marR="0" lvl="0" indent="-342900" defTabSz="914400" rtl="0" eaLnBrk="0" fontAlgn="base" latinLnBrk="0" hangingPunct="0">
              <a:lnSpc>
                <a:spcPct val="100000"/>
              </a:lnSpc>
              <a:spcBef>
                <a:spcPct val="20000"/>
              </a:spcBef>
              <a:spcAft>
                <a:spcPct val="0"/>
              </a:spcAft>
              <a:buClr>
                <a:schemeClr val="accent2"/>
              </a:buClr>
              <a:buSzPts val="2600"/>
              <a:buNone/>
              <a:tabLst/>
            </a:pPr>
            <a:endParaRPr lang="en-US" sz="2800" dirty="0">
              <a:latin typeface="Arial" pitchFamily="34" charset="0"/>
              <a:cs typeface="Arial" pitchFamily="34" charset="0"/>
            </a:endParaRPr>
          </a:p>
          <a:p>
            <a:pPr marL="342900" marR="0" lvl="0" indent="-342900" defTabSz="914400" rtl="0" eaLnBrk="0" fontAlgn="base" latinLnBrk="0" hangingPunct="0">
              <a:lnSpc>
                <a:spcPct val="100000"/>
              </a:lnSpc>
              <a:spcBef>
                <a:spcPct val="20000"/>
              </a:spcBef>
              <a:spcAft>
                <a:spcPct val="0"/>
              </a:spcAft>
              <a:buClr>
                <a:schemeClr val="accent2"/>
              </a:buClr>
              <a:buSzPts val="2600"/>
              <a:buFont typeface="Wingdings" pitchFamily="2" charset="2"/>
              <a:buChar char="l"/>
              <a:tabLst/>
            </a:pPr>
            <a:r>
              <a:rPr lang="en-US" sz="2800" dirty="0">
                <a:latin typeface="Arial" pitchFamily="34" charset="0"/>
                <a:cs typeface="Arial" pitchFamily="34" charset="0"/>
              </a:rPr>
              <a:t>Types of Attributes</a:t>
            </a:r>
          </a:p>
          <a:p>
            <a:pPr marL="403225" indent="-58738"/>
            <a:r>
              <a:rPr lang="en-US" sz="2800" dirty="0">
                <a:solidFill>
                  <a:srgbClr val="FF0000"/>
                </a:solidFill>
                <a:latin typeface="Arial" pitchFamily="34" charset="0"/>
                <a:cs typeface="Arial" pitchFamily="34" charset="0"/>
              </a:rPr>
              <a:t>Simple attributes </a:t>
            </a:r>
            <a:r>
              <a:rPr lang="en-US" sz="2800" dirty="0">
                <a:latin typeface="Arial" pitchFamily="34" charset="0"/>
                <a:cs typeface="Arial" pitchFamily="34" charset="0"/>
              </a:rPr>
              <a:t>– contain single data item</a:t>
            </a:r>
          </a:p>
          <a:p>
            <a:pPr marL="403225" indent="-58738"/>
            <a:endParaRPr lang="en-US" sz="2800" dirty="0">
              <a:latin typeface="Arial" pitchFamily="34" charset="0"/>
              <a:cs typeface="Arial" pitchFamily="34" charset="0"/>
            </a:endParaRPr>
          </a:p>
          <a:p>
            <a:pPr marL="403225" indent="-58738"/>
            <a:r>
              <a:rPr lang="en-US" sz="2800" dirty="0">
                <a:solidFill>
                  <a:srgbClr val="FF0000"/>
                </a:solidFill>
                <a:latin typeface="Arial" pitchFamily="34" charset="0"/>
                <a:cs typeface="Arial" pitchFamily="34" charset="0"/>
              </a:rPr>
              <a:t>Identifiers</a:t>
            </a:r>
            <a:r>
              <a:rPr lang="en-US" sz="2800" dirty="0">
                <a:latin typeface="Arial" pitchFamily="34" charset="0"/>
                <a:cs typeface="Arial" pitchFamily="34" charset="0"/>
              </a:rPr>
              <a:t> – connect unique key value</a:t>
            </a:r>
          </a:p>
          <a:p>
            <a:pPr marL="403225" indent="-58738"/>
            <a:endParaRPr lang="en-US" sz="2800" dirty="0">
              <a:latin typeface="Arial" pitchFamily="34" charset="0"/>
              <a:cs typeface="Arial" pitchFamily="34" charset="0"/>
            </a:endParaRPr>
          </a:p>
          <a:p>
            <a:pPr marL="403225" indent="-58738"/>
            <a:r>
              <a:rPr lang="en-US" sz="2800" dirty="0" err="1">
                <a:solidFill>
                  <a:srgbClr val="FF0000"/>
                </a:solidFill>
                <a:latin typeface="Arial" pitchFamily="34" charset="0"/>
                <a:cs typeface="Arial" pitchFamily="34" charset="0"/>
              </a:rPr>
              <a:t>Multivalued</a:t>
            </a:r>
            <a:r>
              <a:rPr lang="en-US" sz="2800" dirty="0">
                <a:solidFill>
                  <a:srgbClr val="FF0000"/>
                </a:solidFill>
                <a:latin typeface="Arial" pitchFamily="34" charset="0"/>
                <a:cs typeface="Arial" pitchFamily="34" charset="0"/>
              </a:rPr>
              <a:t> attributes </a:t>
            </a:r>
            <a:r>
              <a:rPr lang="en-US" sz="2800" dirty="0">
                <a:latin typeface="Arial" pitchFamily="34" charset="0"/>
                <a:cs typeface="Arial" pitchFamily="34" charset="0"/>
              </a:rPr>
              <a:t>– contain multiple values simultaneously</a:t>
            </a:r>
          </a:p>
          <a:p>
            <a:pPr marL="403225" indent="-58738"/>
            <a:endParaRPr lang="en-US" sz="2800" dirty="0">
              <a:latin typeface="Arial" pitchFamily="34" charset="0"/>
              <a:cs typeface="Arial" pitchFamily="34" charset="0"/>
            </a:endParaRPr>
          </a:p>
          <a:p>
            <a:pPr marL="403225" indent="-58738"/>
            <a:r>
              <a:rPr lang="en-US" sz="2800" dirty="0">
                <a:solidFill>
                  <a:srgbClr val="FF0000"/>
                </a:solidFill>
                <a:latin typeface="Arial" pitchFamily="34" charset="0"/>
                <a:cs typeface="Arial" pitchFamily="34" charset="0"/>
              </a:rPr>
              <a:t>Composite attributes </a:t>
            </a:r>
            <a:r>
              <a:rPr lang="en-US" sz="2800" dirty="0">
                <a:latin typeface="Arial" pitchFamily="34" charset="0"/>
                <a:cs typeface="Arial" pitchFamily="34" charset="0"/>
              </a:rPr>
              <a:t>– group of related attributes</a:t>
            </a:r>
          </a:p>
          <a:p>
            <a:pPr marL="617220" lvl="1" indent="-342900" eaLnBrk="0" fontAlgn="base" hangingPunct="0">
              <a:spcBef>
                <a:spcPct val="20000"/>
              </a:spcBef>
              <a:spcAft>
                <a:spcPct val="0"/>
              </a:spcAft>
              <a:buSzPts val="2600"/>
              <a:buFont typeface="Wingdings" pitchFamily="2" charset="2"/>
              <a:buChar char="l"/>
            </a:pPr>
            <a:endParaRPr kumimoji="0" lang="en-US" sz="2900" b="0" i="0" u="none" strike="noStrike" cap="none" normalizeH="0" baseline="0" dirty="0">
              <a:ln>
                <a:noFill/>
              </a:ln>
              <a:solidFill>
                <a:schemeClr val="tx1"/>
              </a:solidFill>
              <a:effectLst/>
              <a:latin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Char char="•"/>
              <a:tabLst/>
            </a:pPr>
            <a:endParaRPr kumimoji="0" lang="en-US" sz="3200" b="0" i="0" u="none" strike="noStrike" cap="none" normalizeH="0" baseline="0" dirty="0">
              <a:ln>
                <a:noFill/>
              </a:ln>
              <a:solidFill>
                <a:schemeClr val="tx1"/>
              </a:solidFill>
              <a:effectLst/>
              <a:latin typeface="Arial" pitchFamily="34"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a:ln/>
        </p:spPr>
        <p:txBody>
          <a:bodyPr lIns="90840" tIns="44623" rIns="90840" bIns="44623">
            <a:normAutofit/>
          </a:bodyPr>
          <a:lstStyle/>
          <a:p>
            <a:r>
              <a:rPr lang="en-US" dirty="0"/>
              <a:t>What Is an Operation?</a:t>
            </a:r>
          </a:p>
        </p:txBody>
      </p:sp>
      <p:sp>
        <p:nvSpPr>
          <p:cNvPr id="5" name="Footer Placeholder 4"/>
          <p:cNvSpPr>
            <a:spLocks noGrp="1"/>
          </p:cNvSpPr>
          <p:nvPr>
            <p:ph type="ftr" sz="quarter" idx="11"/>
          </p:nvPr>
        </p:nvSpPr>
        <p:spPr/>
        <p:txBody>
          <a:bodyPr/>
          <a:lstStyle/>
          <a:p>
            <a:r>
              <a:rPr lang="en-US"/>
              <a:t>Chapter 6-Object-oriented design</a:t>
            </a:r>
            <a:endParaRPr lang="en-US" dirty="0"/>
          </a:p>
        </p:txBody>
      </p:sp>
      <p:sp>
        <p:nvSpPr>
          <p:cNvPr id="4" name="Slide Number Placeholder 3"/>
          <p:cNvSpPr>
            <a:spLocks noGrp="1"/>
          </p:cNvSpPr>
          <p:nvPr>
            <p:ph type="sldNum" sz="quarter" idx="12"/>
          </p:nvPr>
        </p:nvSpPr>
        <p:spPr/>
        <p:txBody>
          <a:bodyPr/>
          <a:lstStyle/>
          <a:p>
            <a:fld id="{EC83099C-5FA5-B04A-B819-64718E2A253A}" type="slidenum">
              <a:rPr lang="en-US" smtClean="0"/>
              <a:pPr/>
              <a:t>44</a:t>
            </a:fld>
            <a:endParaRPr lang="en-US"/>
          </a:p>
        </p:txBody>
      </p:sp>
      <p:sp>
        <p:nvSpPr>
          <p:cNvPr id="63490" name="Rectangle 2"/>
          <p:cNvSpPr>
            <a:spLocks noGrp="1" noChangeArrowheads="1"/>
          </p:cNvSpPr>
          <p:nvPr>
            <p:ph sz="quarter" idx="1"/>
          </p:nvPr>
        </p:nvSpPr>
        <p:spPr bwMode="auto">
          <a:xfrm>
            <a:off x="685800" y="2057401"/>
            <a:ext cx="7321550" cy="3505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pPr marL="342900" lvl="0" indent="-342900" eaLnBrk="0" fontAlgn="base" hangingPunct="0">
              <a:spcBef>
                <a:spcPct val="20000"/>
              </a:spcBef>
              <a:spcAft>
                <a:spcPct val="0"/>
              </a:spcAft>
              <a:buClr>
                <a:schemeClr val="accent2"/>
              </a:buClr>
              <a:buSzPts val="2600"/>
              <a:buFont typeface="Wingdings" pitchFamily="2" charset="2"/>
              <a:buChar char="l"/>
            </a:pPr>
            <a:r>
              <a:rPr lang="en-US" sz="2400" dirty="0"/>
              <a:t>Operation implements the </a:t>
            </a:r>
            <a:r>
              <a:rPr lang="en-US" sz="2400" dirty="0">
                <a:solidFill>
                  <a:srgbClr val="FF0000"/>
                </a:solidFill>
              </a:rPr>
              <a:t>behavior of classes</a:t>
            </a:r>
          </a:p>
          <a:p>
            <a:pPr marL="342900" lvl="0" indent="-342900" eaLnBrk="0" fontAlgn="base" hangingPunct="0">
              <a:spcBef>
                <a:spcPct val="20000"/>
              </a:spcBef>
              <a:spcAft>
                <a:spcPct val="0"/>
              </a:spcAft>
              <a:buClr>
                <a:schemeClr val="accent2"/>
              </a:buClr>
              <a:buSzPts val="2600"/>
              <a:buFont typeface="Wingdings" pitchFamily="2" charset="2"/>
              <a:buChar char="l"/>
            </a:pPr>
            <a:r>
              <a:rPr lang="en-US" sz="2400" dirty="0"/>
              <a:t>It represent the process or service that can be requested.  </a:t>
            </a:r>
          </a:p>
          <a:p>
            <a:pPr marL="342900" lvl="0" indent="-342900" eaLnBrk="0" fontAlgn="base" hangingPunct="0">
              <a:spcBef>
                <a:spcPct val="20000"/>
              </a:spcBef>
              <a:spcAft>
                <a:spcPct val="0"/>
              </a:spcAft>
              <a:buClr>
                <a:schemeClr val="accent2"/>
              </a:buClr>
              <a:buSzPts val="2600"/>
              <a:buFont typeface="Wingdings" pitchFamily="2" charset="2"/>
              <a:buChar char="l"/>
            </a:pPr>
            <a:r>
              <a:rPr lang="en-US" sz="2400" dirty="0"/>
              <a:t>In general, the data-driven OOAD methods place less emphasis on defining operations early in the modeling process than do the behavior-driven methods</a:t>
            </a:r>
            <a:endParaRPr lang="en-US" sz="2800" dirty="0">
              <a:latin typeface="Arial" pitchFamily="34" charset="0"/>
              <a:cs typeface="Arial" pitchFamily="34" charset="0"/>
            </a:endParaRPr>
          </a:p>
          <a:p>
            <a:pPr marL="617220" lvl="1" indent="-342900" eaLnBrk="0" fontAlgn="base" hangingPunct="0">
              <a:spcBef>
                <a:spcPct val="20000"/>
              </a:spcBef>
              <a:spcAft>
                <a:spcPct val="0"/>
              </a:spcAft>
              <a:buSzPts val="2600"/>
              <a:buFont typeface="Wingdings" pitchFamily="2" charset="2"/>
              <a:buChar char="l"/>
            </a:pPr>
            <a:endParaRPr kumimoji="0" lang="en-US" sz="2900" b="0" i="0" u="none" strike="noStrike" cap="none" normalizeH="0" baseline="0" dirty="0">
              <a:ln>
                <a:noFill/>
              </a:ln>
              <a:solidFill>
                <a:schemeClr val="tx1"/>
              </a:solidFill>
              <a:effectLst/>
              <a:latin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Char char="•"/>
              <a:tabLst/>
            </a:pPr>
            <a:endParaRPr kumimoji="0" lang="en-US" sz="3200" b="0" i="0" u="none" strike="noStrike" cap="none" normalizeH="0" baseline="0" dirty="0">
              <a:ln>
                <a:noFill/>
              </a:ln>
              <a:solidFill>
                <a:schemeClr val="tx1"/>
              </a:solidFill>
              <a:effectLst/>
              <a:latin typeface="Arial" pitchFamily="34"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066801" y="609600"/>
            <a:ext cx="7467600" cy="1143000"/>
          </a:xfrm>
          <a:noFill/>
          <a:ln/>
        </p:spPr>
        <p:txBody>
          <a:bodyPr lIns="90840" tIns="44623" rIns="90840" bIns="44623"/>
          <a:lstStyle/>
          <a:p>
            <a:r>
              <a:rPr lang="en-GB" sz="3200" dirty="0"/>
              <a:t>Approaches to object class identification</a:t>
            </a:r>
          </a:p>
        </p:txBody>
      </p:sp>
      <p:sp>
        <p:nvSpPr>
          <p:cNvPr id="44035" name="Rectangle 3"/>
          <p:cNvSpPr>
            <a:spLocks noGrp="1" noChangeArrowheads="1"/>
          </p:cNvSpPr>
          <p:nvPr>
            <p:ph type="body" idx="1"/>
          </p:nvPr>
        </p:nvSpPr>
        <p:spPr>
          <a:xfrm>
            <a:off x="457200" y="2017713"/>
            <a:ext cx="8382000" cy="4114800"/>
          </a:xfrm>
          <a:noFill/>
          <a:ln/>
        </p:spPr>
        <p:txBody>
          <a:bodyPr lIns="90840" tIns="44623" rIns="90840" bIns="44623"/>
          <a:lstStyle/>
          <a:p>
            <a:r>
              <a:rPr lang="en-GB" sz="2400" dirty="0"/>
              <a:t>Use a </a:t>
            </a:r>
            <a:r>
              <a:rPr lang="en-GB" sz="2400" dirty="0">
                <a:solidFill>
                  <a:srgbClr val="FF0000"/>
                </a:solidFill>
              </a:rPr>
              <a:t>grammatical approach </a:t>
            </a:r>
            <a:r>
              <a:rPr lang="en-GB" sz="2400" dirty="0"/>
              <a:t>based on a natural language description of the system (used in Hood OOD method).</a:t>
            </a:r>
          </a:p>
          <a:p>
            <a:r>
              <a:rPr lang="en-GB" sz="2400" dirty="0"/>
              <a:t>Base the identification on tangible things in the application domain.</a:t>
            </a:r>
          </a:p>
          <a:p>
            <a:r>
              <a:rPr lang="en-GB" sz="2400" dirty="0"/>
              <a:t>Use a </a:t>
            </a:r>
            <a:r>
              <a:rPr lang="en-GB" sz="2400" dirty="0">
                <a:solidFill>
                  <a:srgbClr val="FF0000"/>
                </a:solidFill>
              </a:rPr>
              <a:t>CRC approach </a:t>
            </a:r>
            <a:r>
              <a:rPr lang="en-GB" sz="2400" dirty="0"/>
              <a:t>based on </a:t>
            </a:r>
            <a:r>
              <a:rPr lang="en-US" sz="2400" dirty="0"/>
              <a:t>identifying classes and their responsibilities and collaborators.</a:t>
            </a:r>
            <a:endParaRPr lang="en-GB" sz="2400" dirty="0"/>
          </a:p>
          <a:p>
            <a:r>
              <a:rPr lang="en-GB" sz="2400" dirty="0"/>
              <a:t>Use a </a:t>
            </a:r>
            <a:r>
              <a:rPr lang="en-GB" sz="2400" dirty="0">
                <a:solidFill>
                  <a:srgbClr val="FF0000"/>
                </a:solidFill>
              </a:rPr>
              <a:t>behavioural approach </a:t>
            </a:r>
            <a:r>
              <a:rPr lang="en-GB" sz="2400" dirty="0"/>
              <a:t>and identify objects based on what participates in what behaviour.</a:t>
            </a:r>
          </a:p>
          <a:p>
            <a:r>
              <a:rPr lang="en-GB" sz="2400" dirty="0"/>
              <a:t>Use a </a:t>
            </a:r>
            <a:r>
              <a:rPr lang="en-GB" sz="2400" dirty="0">
                <a:solidFill>
                  <a:srgbClr val="FF0000"/>
                </a:solidFill>
              </a:rPr>
              <a:t>scenario-based analysis</a:t>
            </a:r>
            <a:r>
              <a:rPr lang="en-GB" sz="2400" dirty="0"/>
              <a:t>.  The objects, attributes and methods in each scenario are identified.</a:t>
            </a:r>
          </a:p>
        </p:txBody>
      </p:sp>
      <p:sp>
        <p:nvSpPr>
          <p:cNvPr id="4" name="Slide Number Placeholder 3"/>
          <p:cNvSpPr>
            <a:spLocks noGrp="1"/>
          </p:cNvSpPr>
          <p:nvPr>
            <p:ph type="sldNum" sz="quarter" idx="12"/>
          </p:nvPr>
        </p:nvSpPr>
        <p:spPr/>
        <p:txBody>
          <a:bodyPr/>
          <a:lstStyle/>
          <a:p>
            <a:fld id="{EC83099C-5FA5-B04A-B819-64718E2A253A}" type="slidenum">
              <a:rPr lang="en-US" smtClean="0"/>
              <a:pPr/>
              <a:t>45</a:t>
            </a:fld>
            <a:endParaRPr lang="en-US"/>
          </a:p>
        </p:txBody>
      </p:sp>
      <p:sp>
        <p:nvSpPr>
          <p:cNvPr id="5" name="Footer Placeholder 4"/>
          <p:cNvSpPr>
            <a:spLocks noGrp="1"/>
          </p:cNvSpPr>
          <p:nvPr>
            <p:ph type="ftr" sz="quarter" idx="11"/>
          </p:nvPr>
        </p:nvSpPr>
        <p:spPr/>
        <p:txBody>
          <a:bodyPr/>
          <a:lstStyle/>
          <a:p>
            <a:r>
              <a:rPr lang="en-US"/>
              <a:t>Chapter 6-Object-oriented design</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noFill/>
          <a:ln/>
        </p:spPr>
        <p:txBody>
          <a:bodyPr lIns="90840" tIns="44623" rIns="90840" bIns="44623"/>
          <a:lstStyle/>
          <a:p>
            <a:r>
              <a:rPr lang="en-GB" sz="3200" dirty="0"/>
              <a:t>Example: Weather station description</a:t>
            </a:r>
          </a:p>
        </p:txBody>
      </p:sp>
      <p:sp>
        <p:nvSpPr>
          <p:cNvPr id="130051" name="Rectangle 3"/>
          <p:cNvSpPr>
            <a:spLocks noChangeArrowheads="1"/>
          </p:cNvSpPr>
          <p:nvPr/>
        </p:nvSpPr>
        <p:spPr bwMode="auto">
          <a:xfrm>
            <a:off x="349250" y="1962150"/>
            <a:ext cx="8353425" cy="4522100"/>
          </a:xfrm>
          <a:prstGeom prst="rect">
            <a:avLst/>
          </a:prstGeom>
          <a:noFill/>
          <a:ln w="12700">
            <a:noFill/>
            <a:miter lim="800000"/>
            <a:headEnd/>
            <a:tailEnd/>
          </a:ln>
          <a:effectLst/>
        </p:spPr>
        <p:txBody>
          <a:bodyPr lIns="90840" tIns="44623" rIns="90840" bIns="44623">
            <a:prstTxWarp prst="textNoShape">
              <a:avLst/>
            </a:prstTxWarp>
            <a:spAutoFit/>
          </a:bodyPr>
          <a:lstStyle/>
          <a:p>
            <a:pPr defTabSz="917575"/>
            <a:r>
              <a:rPr lang="en-GB" sz="2400" dirty="0">
                <a:solidFill>
                  <a:srgbClr val="0070C0"/>
                </a:solidFill>
              </a:rPr>
              <a:t>A </a:t>
            </a:r>
            <a:r>
              <a:rPr lang="en-GB" sz="2400" dirty="0">
                <a:solidFill>
                  <a:srgbClr val="00B050"/>
                </a:solidFill>
              </a:rPr>
              <a:t>weather station </a:t>
            </a:r>
            <a:r>
              <a:rPr lang="en-GB" sz="2400" dirty="0">
                <a:solidFill>
                  <a:srgbClr val="0070C0"/>
                </a:solidFill>
              </a:rPr>
              <a:t>is a package of software controlled instruments which collects data, performs some data processing and transmits this data for further processing. The instruments include air and ground thermometers, an anemometer, a wind vane, a barometer and a rain gauge. Data is collected periodically. </a:t>
            </a:r>
          </a:p>
          <a:p>
            <a:pPr defTabSz="917575"/>
            <a:endParaRPr lang="en-GB" sz="2400" dirty="0">
              <a:solidFill>
                <a:srgbClr val="0070C0"/>
              </a:solidFill>
            </a:endParaRPr>
          </a:p>
          <a:p>
            <a:pPr defTabSz="917575"/>
            <a:r>
              <a:rPr lang="en-GB" sz="2400" dirty="0">
                <a:solidFill>
                  <a:srgbClr val="0070C0"/>
                </a:solidFill>
              </a:rPr>
              <a:t>When a command is issued to transmit the weather data, the weather station processes and summarises the collected data. The summarised data is transmitted to the mapping computer when a request is received.</a:t>
            </a:r>
          </a:p>
          <a:p>
            <a:pPr algn="ctr" defTabSz="917575"/>
            <a:endParaRPr lang="en-GB" dirty="0"/>
          </a:p>
        </p:txBody>
      </p:sp>
      <p:sp>
        <p:nvSpPr>
          <p:cNvPr id="4" name="Slide Number Placeholder 3"/>
          <p:cNvSpPr>
            <a:spLocks noGrp="1"/>
          </p:cNvSpPr>
          <p:nvPr>
            <p:ph type="sldNum" sz="quarter" idx="12"/>
          </p:nvPr>
        </p:nvSpPr>
        <p:spPr/>
        <p:txBody>
          <a:bodyPr/>
          <a:lstStyle/>
          <a:p>
            <a:fld id="{EC83099C-5FA5-B04A-B819-64718E2A253A}" type="slidenum">
              <a:rPr lang="en-US" smtClean="0"/>
              <a:pPr/>
              <a:t>46</a:t>
            </a:fld>
            <a:endParaRPr lang="en-US"/>
          </a:p>
        </p:txBody>
      </p:sp>
      <p:sp>
        <p:nvSpPr>
          <p:cNvPr id="5" name="Footer Placeholder 4"/>
          <p:cNvSpPr>
            <a:spLocks noGrp="1"/>
          </p:cNvSpPr>
          <p:nvPr>
            <p:ph type="ftr" sz="quarter" idx="11"/>
          </p:nvPr>
        </p:nvSpPr>
        <p:spPr/>
        <p:txBody>
          <a:bodyPr/>
          <a:lstStyle/>
          <a:p>
            <a:r>
              <a:rPr lang="en-US"/>
              <a:t>Chapter 6-Object-oriented design</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1150939" y="617538"/>
            <a:ext cx="6240461" cy="1143000"/>
          </a:xfrm>
        </p:spPr>
        <p:txBody>
          <a:bodyPr/>
          <a:lstStyle/>
          <a:p>
            <a:r>
              <a:rPr lang="en-GB" sz="3200" dirty="0"/>
              <a:t>Weather station object classes</a:t>
            </a:r>
          </a:p>
        </p:txBody>
      </p:sp>
      <p:sp>
        <p:nvSpPr>
          <p:cNvPr id="121859" name="Rectangle 3"/>
          <p:cNvSpPr>
            <a:spLocks noGrp="1" noChangeArrowheads="1"/>
          </p:cNvSpPr>
          <p:nvPr>
            <p:ph type="body" idx="1"/>
          </p:nvPr>
        </p:nvSpPr>
        <p:spPr>
          <a:xfrm>
            <a:off x="533400" y="1981200"/>
            <a:ext cx="8001000" cy="4114800"/>
          </a:xfrm>
        </p:spPr>
        <p:txBody>
          <a:bodyPr/>
          <a:lstStyle/>
          <a:p>
            <a:r>
              <a:rPr lang="en-GB" sz="2400" dirty="0"/>
              <a:t>Object class identification in the weather station system may be based </a:t>
            </a:r>
            <a:r>
              <a:rPr lang="en-GB" dirty="0"/>
              <a:t>on the tangible hardware and data in the system:</a:t>
            </a:r>
          </a:p>
          <a:p>
            <a:pPr lvl="1"/>
            <a:r>
              <a:rPr lang="en-GB" sz="2000" dirty="0"/>
              <a:t>Ground thermometer, Anemometer, Barometer</a:t>
            </a:r>
          </a:p>
          <a:p>
            <a:pPr lvl="2"/>
            <a:r>
              <a:rPr lang="en-GB" sz="1800" dirty="0"/>
              <a:t>Application domain objects that are ‘hardware’ objects related to the instruments in the system.</a:t>
            </a:r>
          </a:p>
          <a:p>
            <a:pPr lvl="1"/>
            <a:r>
              <a:rPr lang="en-GB" sz="2000" dirty="0"/>
              <a:t>Weather station</a:t>
            </a:r>
          </a:p>
          <a:p>
            <a:pPr lvl="2"/>
            <a:r>
              <a:rPr lang="en-GB" sz="1800" dirty="0"/>
              <a:t>The basic interface of the weather station to its environment. It therefore reflects the interactions identified in the use-case model.</a:t>
            </a:r>
          </a:p>
          <a:p>
            <a:pPr lvl="1"/>
            <a:r>
              <a:rPr lang="en-GB" sz="2000" dirty="0"/>
              <a:t>Weather data</a:t>
            </a:r>
          </a:p>
          <a:p>
            <a:pPr lvl="2"/>
            <a:r>
              <a:rPr lang="en-GB" sz="1800" dirty="0"/>
              <a:t>Encapsulates the summarized data from the instruments.</a:t>
            </a:r>
          </a:p>
        </p:txBody>
      </p:sp>
      <p:sp>
        <p:nvSpPr>
          <p:cNvPr id="4" name="Slide Number Placeholder 3"/>
          <p:cNvSpPr>
            <a:spLocks noGrp="1"/>
          </p:cNvSpPr>
          <p:nvPr>
            <p:ph type="sldNum" sz="quarter" idx="12"/>
          </p:nvPr>
        </p:nvSpPr>
        <p:spPr/>
        <p:txBody>
          <a:bodyPr/>
          <a:lstStyle/>
          <a:p>
            <a:fld id="{EC83099C-5FA5-B04A-B819-64718E2A253A}" type="slidenum">
              <a:rPr lang="en-US" smtClean="0"/>
              <a:pPr/>
              <a:t>47</a:t>
            </a:fld>
            <a:endParaRPr lang="en-US"/>
          </a:p>
        </p:txBody>
      </p:sp>
      <p:sp>
        <p:nvSpPr>
          <p:cNvPr id="5" name="Footer Placeholder 4"/>
          <p:cNvSpPr>
            <a:spLocks noGrp="1"/>
          </p:cNvSpPr>
          <p:nvPr>
            <p:ph type="ftr" sz="quarter" idx="11"/>
          </p:nvPr>
        </p:nvSpPr>
        <p:spPr/>
        <p:txBody>
          <a:bodyPr/>
          <a:lstStyle/>
          <a:p>
            <a:r>
              <a:rPr lang="en-US"/>
              <a:t>Chapter 6-Object-oriented design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Weather station object classes</a:t>
            </a:r>
            <a:r>
              <a:rPr lang="en-GB" dirty="0"/>
              <a:t> </a:t>
            </a:r>
            <a:endParaRPr lang="en-US" dirty="0"/>
          </a:p>
        </p:txBody>
      </p:sp>
      <p:pic>
        <p:nvPicPr>
          <p:cNvPr id="4" name="Content Placeholder 3" descr="7.6 WeatherStatObjs.eps"/>
          <p:cNvPicPr>
            <a:picLocks noGrp="1" noChangeAspect="1"/>
          </p:cNvPicPr>
          <p:nvPr>
            <p:ph idx="1"/>
          </p:nvPr>
        </p:nvPicPr>
        <p:blipFill>
          <a:blip r:embed="rId2" cstate="print"/>
          <a:srcRect l="-26065" r="-26065"/>
          <a:stretch>
            <a:fillRect/>
          </a:stretch>
        </p:blipFill>
        <p:spPr/>
      </p:pic>
      <p:sp>
        <p:nvSpPr>
          <p:cNvPr id="5" name="Slide Number Placeholder 4"/>
          <p:cNvSpPr>
            <a:spLocks noGrp="1"/>
          </p:cNvSpPr>
          <p:nvPr>
            <p:ph type="sldNum" sz="quarter" idx="12"/>
          </p:nvPr>
        </p:nvSpPr>
        <p:spPr/>
        <p:txBody>
          <a:bodyPr/>
          <a:lstStyle/>
          <a:p>
            <a:fld id="{EC83099C-5FA5-B04A-B819-64718E2A253A}" type="slidenum">
              <a:rPr lang="en-US" smtClean="0"/>
              <a:pPr/>
              <a:t>48</a:t>
            </a:fld>
            <a:endParaRPr lang="en-US"/>
          </a:p>
        </p:txBody>
      </p:sp>
      <p:sp>
        <p:nvSpPr>
          <p:cNvPr id="6" name="Footer Placeholder 5"/>
          <p:cNvSpPr>
            <a:spLocks noGrp="1"/>
          </p:cNvSpPr>
          <p:nvPr>
            <p:ph type="ftr" sz="quarter" idx="11"/>
          </p:nvPr>
        </p:nvSpPr>
        <p:spPr/>
        <p:txBody>
          <a:bodyPr/>
          <a:lstStyle/>
          <a:p>
            <a:r>
              <a:rPr lang="en-US"/>
              <a:t>Chapter 6-Object-oriented design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9457B543-88E6-46BF-8ECB-981180D78518}" type="slidenum">
              <a:rPr lang="en-US"/>
              <a:pPr/>
              <a:t>49</a:t>
            </a:fld>
            <a:endParaRPr lang="en-US"/>
          </a:p>
        </p:txBody>
      </p:sp>
      <p:sp>
        <p:nvSpPr>
          <p:cNvPr id="65538" name="Rectangle 2"/>
          <p:cNvSpPr>
            <a:spLocks noGrp="1" noChangeArrowheads="1"/>
          </p:cNvSpPr>
          <p:nvPr>
            <p:ph type="title"/>
          </p:nvPr>
        </p:nvSpPr>
        <p:spPr>
          <a:xfrm>
            <a:off x="1150938" y="617538"/>
            <a:ext cx="7383462" cy="1143000"/>
          </a:xfrm>
        </p:spPr>
        <p:txBody>
          <a:bodyPr/>
          <a:lstStyle/>
          <a:p>
            <a:r>
              <a:rPr lang="en-US" sz="3600" dirty="0">
                <a:solidFill>
                  <a:srgbClr val="0070C0"/>
                </a:solidFill>
                <a:latin typeface="Times New Roman" pitchFamily="18" charset="0"/>
              </a:rPr>
              <a:t>Classes, Responsibilities, and Collaborators (CRC)</a:t>
            </a:r>
          </a:p>
        </p:txBody>
      </p:sp>
      <p:sp>
        <p:nvSpPr>
          <p:cNvPr id="65539" name="Rectangle 3"/>
          <p:cNvSpPr>
            <a:spLocks noGrp="1" noChangeArrowheads="1"/>
          </p:cNvSpPr>
          <p:nvPr>
            <p:ph type="body" idx="1"/>
          </p:nvPr>
        </p:nvSpPr>
        <p:spPr>
          <a:xfrm>
            <a:off x="838200" y="1981200"/>
            <a:ext cx="8040688" cy="4114800"/>
          </a:xfrm>
        </p:spPr>
        <p:txBody>
          <a:bodyPr/>
          <a:lstStyle/>
          <a:p>
            <a:r>
              <a:rPr lang="en-US" sz="2800" dirty="0"/>
              <a:t>Developed  by Cunningham, Wilkerson and Beck</a:t>
            </a:r>
          </a:p>
          <a:p>
            <a:r>
              <a:rPr lang="en-US" sz="2800" dirty="0"/>
              <a:t>Can be used for identifying classes and their responsibilities.</a:t>
            </a:r>
          </a:p>
          <a:p>
            <a:r>
              <a:rPr lang="en-US" sz="2800" dirty="0"/>
              <a:t>Based on the idea that an object either can accomplish a certain responsibility itself or it may require the assistance of other objects</a:t>
            </a:r>
          </a:p>
          <a:p>
            <a:endParaRPr lang="en-US" sz="2800" dirty="0"/>
          </a:p>
          <a:p>
            <a:endParaRPr lang="en-US" sz="2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CRC Card</a:t>
            </a:r>
          </a:p>
        </p:txBody>
      </p:sp>
      <p:sp>
        <p:nvSpPr>
          <p:cNvPr id="4" name="Footer Placeholder 3"/>
          <p:cNvSpPr>
            <a:spLocks noGrp="1"/>
          </p:cNvSpPr>
          <p:nvPr>
            <p:ph type="ftr" sz="quarter" idx="11"/>
          </p:nvPr>
        </p:nvSpPr>
        <p:spPr/>
        <p:txBody>
          <a:bodyPr/>
          <a:lstStyle/>
          <a:p>
            <a:r>
              <a:rPr lang="en-US"/>
              <a:t>Chapter 6-Object-oriented design</a:t>
            </a:r>
          </a:p>
        </p:txBody>
      </p:sp>
      <p:sp>
        <p:nvSpPr>
          <p:cNvPr id="5" name="Slide Number Placeholder 4"/>
          <p:cNvSpPr>
            <a:spLocks noGrp="1"/>
          </p:cNvSpPr>
          <p:nvPr>
            <p:ph type="sldNum" sz="quarter" idx="12"/>
          </p:nvPr>
        </p:nvSpPr>
        <p:spPr/>
        <p:txBody>
          <a:bodyPr/>
          <a:lstStyle/>
          <a:p>
            <a:fld id="{20317CA6-3557-4F90-84AF-53D5354FC7C6}" type="slidenum">
              <a:rPr lang="en-US" smtClean="0"/>
              <a:pPr/>
              <a:t>50</a:t>
            </a:fld>
            <a:endParaRPr lang="en-US"/>
          </a:p>
        </p:txBody>
      </p:sp>
      <p:pic>
        <p:nvPicPr>
          <p:cNvPr id="6" name="Picture 2" descr="http://www.agilemodeling.com/images/models/crcCardLayout.jpg"/>
          <p:cNvPicPr>
            <a:picLocks noGrp="1" noChangeAspect="1" noChangeArrowheads="1"/>
          </p:cNvPicPr>
          <p:nvPr>
            <p:ph idx="1"/>
          </p:nvPr>
        </p:nvPicPr>
        <p:blipFill>
          <a:blip r:embed="rId2" cstate="print"/>
          <a:srcRect/>
          <a:stretch>
            <a:fillRect/>
          </a:stretch>
        </p:blipFill>
        <p:spPr bwMode="auto">
          <a:xfrm>
            <a:off x="1447800" y="2895600"/>
            <a:ext cx="5638800" cy="3505200"/>
          </a:xfrm>
          <a:prstGeom prst="rect">
            <a:avLst/>
          </a:prstGeom>
          <a:noFill/>
        </p:spPr>
      </p:pic>
      <p:sp>
        <p:nvSpPr>
          <p:cNvPr id="8" name="Rectangle 7"/>
          <p:cNvSpPr/>
          <p:nvPr/>
        </p:nvSpPr>
        <p:spPr>
          <a:xfrm>
            <a:off x="990600" y="1828800"/>
            <a:ext cx="7239000" cy="830997"/>
          </a:xfrm>
          <a:prstGeom prst="rect">
            <a:avLst/>
          </a:prstGeom>
        </p:spPr>
        <p:txBody>
          <a:bodyPr wrap="square">
            <a:spAutoFit/>
          </a:bodyPr>
          <a:lstStyle/>
          <a:p>
            <a:pPr algn="just"/>
            <a:r>
              <a:rPr lang="en-US" dirty="0"/>
              <a:t>CRC cards are 4" x 6" index cards. All the information for an object is written on a card.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normAutofit/>
          </a:bodyPr>
          <a:lstStyle/>
          <a:p>
            <a:r>
              <a:rPr lang="en-US" dirty="0"/>
              <a:t>CRC Approach</a:t>
            </a:r>
          </a:p>
        </p:txBody>
      </p:sp>
      <p:sp>
        <p:nvSpPr>
          <p:cNvPr id="5" name="Footer Placeholder 4"/>
          <p:cNvSpPr>
            <a:spLocks noGrp="1"/>
          </p:cNvSpPr>
          <p:nvPr>
            <p:ph type="ftr" sz="quarter" idx="11"/>
          </p:nvPr>
        </p:nvSpPr>
        <p:spPr/>
        <p:txBody>
          <a:bodyPr/>
          <a:lstStyle/>
          <a:p>
            <a:r>
              <a:rPr lang="en-US"/>
              <a:t>Chapter 6-Object-oriented design</a:t>
            </a:r>
            <a:endParaRPr lang="en-US" dirty="0"/>
          </a:p>
        </p:txBody>
      </p:sp>
      <p:sp>
        <p:nvSpPr>
          <p:cNvPr id="4" name="Slide Number Placeholder 3"/>
          <p:cNvSpPr>
            <a:spLocks noGrp="1"/>
          </p:cNvSpPr>
          <p:nvPr>
            <p:ph type="sldNum" sz="quarter" idx="12"/>
          </p:nvPr>
        </p:nvSpPr>
        <p:spPr/>
        <p:txBody>
          <a:bodyPr/>
          <a:lstStyle/>
          <a:p>
            <a:fld id="{EC83099C-5FA5-B04A-B819-64718E2A253A}" type="slidenum">
              <a:rPr lang="en-US" smtClean="0"/>
              <a:pPr/>
              <a:t>51</a:t>
            </a:fld>
            <a:endParaRPr lang="en-US"/>
          </a:p>
        </p:txBody>
      </p:sp>
      <p:sp>
        <p:nvSpPr>
          <p:cNvPr id="121859" name="Rectangle 3"/>
          <p:cNvSpPr>
            <a:spLocks noGrp="1" noChangeArrowheads="1"/>
          </p:cNvSpPr>
          <p:nvPr>
            <p:ph sz="quarter" idx="1"/>
          </p:nvPr>
        </p:nvSpPr>
        <p:spPr>
          <a:xfrm>
            <a:off x="381000" y="1981200"/>
            <a:ext cx="8229600" cy="4233636"/>
          </a:xfrm>
        </p:spPr>
        <p:txBody>
          <a:bodyPr>
            <a:normAutofit/>
          </a:bodyPr>
          <a:lstStyle/>
          <a:p>
            <a:r>
              <a:rPr lang="en-US" sz="2400" dirty="0"/>
              <a:t>A </a:t>
            </a:r>
            <a:r>
              <a:rPr lang="en-US" sz="2400" dirty="0">
                <a:solidFill>
                  <a:srgbClr val="FF0000"/>
                </a:solidFill>
              </a:rPr>
              <a:t>responsibility</a:t>
            </a:r>
            <a:r>
              <a:rPr lang="en-US" sz="2400" dirty="0"/>
              <a:t> is anything that a class knows or does. </a:t>
            </a:r>
          </a:p>
          <a:p>
            <a:r>
              <a:rPr lang="en-US" sz="2400" dirty="0"/>
              <a:t>For example, students have names, addresses, and phone numbers.  These are the things a student knows. </a:t>
            </a:r>
          </a:p>
          <a:p>
            <a:r>
              <a:rPr lang="en-US" sz="2400" dirty="0"/>
              <a:t>Students also enroll in seminars, drop seminars, and request transcripts. These are the things a student does. </a:t>
            </a:r>
          </a:p>
          <a:p>
            <a:r>
              <a:rPr lang="en-US" sz="2400" dirty="0"/>
              <a:t>The things a class knows and does constitute its </a:t>
            </a:r>
            <a:r>
              <a:rPr lang="en-US" sz="2400" dirty="0">
                <a:solidFill>
                  <a:srgbClr val="FF0000"/>
                </a:solidFill>
              </a:rPr>
              <a:t>responsibilities. </a:t>
            </a:r>
          </a:p>
          <a:p>
            <a:r>
              <a:rPr lang="en-US" sz="2400" dirty="0"/>
              <a:t>Important:  A class is able to change the values of the things it knows, but it is </a:t>
            </a:r>
            <a:r>
              <a:rPr lang="en-US" sz="2400" dirty="0">
                <a:solidFill>
                  <a:srgbClr val="FF0000"/>
                </a:solidFill>
              </a:rPr>
              <a:t>unable to change </a:t>
            </a:r>
            <a:r>
              <a:rPr lang="en-US" sz="2400" dirty="0"/>
              <a:t>the values of what other classes know.</a:t>
            </a:r>
          </a:p>
          <a:p>
            <a:endParaRPr 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B6C3DCED-1194-4667-8759-3A356944BE0C}" type="slidenum">
              <a:rPr lang="en-US"/>
              <a:pPr/>
              <a:t>52</a:t>
            </a:fld>
            <a:endParaRPr lang="en-US"/>
          </a:p>
        </p:txBody>
      </p:sp>
      <p:sp>
        <p:nvSpPr>
          <p:cNvPr id="66562" name="Rectangle 2"/>
          <p:cNvSpPr>
            <a:spLocks noGrp="1" noChangeArrowheads="1"/>
          </p:cNvSpPr>
          <p:nvPr>
            <p:ph type="title"/>
          </p:nvPr>
        </p:nvSpPr>
        <p:spPr/>
        <p:txBody>
          <a:bodyPr/>
          <a:lstStyle/>
          <a:p>
            <a:r>
              <a:rPr lang="en-US" sz="3600" dirty="0"/>
              <a:t>CRC Approach</a:t>
            </a:r>
            <a:endParaRPr lang="en-US" sz="3600" dirty="0">
              <a:latin typeface="Times New Roman" pitchFamily="18" charset="0"/>
            </a:endParaRPr>
          </a:p>
        </p:txBody>
      </p:sp>
      <p:sp>
        <p:nvSpPr>
          <p:cNvPr id="66563" name="Rectangle 3"/>
          <p:cNvSpPr>
            <a:spLocks noGrp="1" noChangeArrowheads="1"/>
          </p:cNvSpPr>
          <p:nvPr>
            <p:ph type="body" idx="1"/>
          </p:nvPr>
        </p:nvSpPr>
        <p:spPr>
          <a:xfrm>
            <a:off x="838200" y="1905000"/>
            <a:ext cx="7772400" cy="4114800"/>
          </a:xfrm>
        </p:spPr>
        <p:txBody>
          <a:bodyPr/>
          <a:lstStyle/>
          <a:p>
            <a:r>
              <a:rPr lang="en-US" sz="2800" dirty="0"/>
              <a:t>If it requires an assistance of other objects</a:t>
            </a:r>
            <a:r>
              <a:rPr lang="en-US" sz="2800" dirty="0">
                <a:sym typeface="Wingdings" pitchFamily="2" charset="2"/>
              </a:rPr>
              <a:t> </a:t>
            </a:r>
            <a:r>
              <a:rPr lang="en-US" sz="2800" dirty="0"/>
              <a:t>it must </a:t>
            </a:r>
            <a:r>
              <a:rPr lang="en-US" sz="2800" dirty="0">
                <a:solidFill>
                  <a:srgbClr val="FF0000"/>
                </a:solidFill>
              </a:rPr>
              <a:t>collaborate</a:t>
            </a:r>
            <a:r>
              <a:rPr lang="en-US" sz="2800" dirty="0"/>
              <a:t> with those objects to fulfill its responsibility</a:t>
            </a:r>
          </a:p>
          <a:p>
            <a:r>
              <a:rPr lang="en-US" sz="2800" dirty="0"/>
              <a:t>By identifying an </a:t>
            </a:r>
            <a:r>
              <a:rPr lang="en-US" sz="2800" dirty="0">
                <a:solidFill>
                  <a:srgbClr val="FF0000"/>
                </a:solidFill>
              </a:rPr>
              <a:t>object’s responsibilities </a:t>
            </a:r>
            <a:r>
              <a:rPr lang="en-US" sz="2800" dirty="0"/>
              <a:t>and </a:t>
            </a:r>
            <a:r>
              <a:rPr lang="en-US" sz="2800" dirty="0">
                <a:solidFill>
                  <a:srgbClr val="FF0000"/>
                </a:solidFill>
              </a:rPr>
              <a:t>collaborators</a:t>
            </a:r>
            <a:r>
              <a:rPr lang="en-US" sz="2800" dirty="0"/>
              <a:t>, you can identify its </a:t>
            </a:r>
            <a:r>
              <a:rPr lang="en-US" sz="2800" dirty="0">
                <a:solidFill>
                  <a:srgbClr val="FF0000"/>
                </a:solidFill>
              </a:rPr>
              <a:t>attributes</a:t>
            </a:r>
            <a:r>
              <a:rPr lang="en-US" sz="2800" dirty="0"/>
              <a:t> and </a:t>
            </a:r>
            <a:r>
              <a:rPr lang="en-US" sz="2800" dirty="0">
                <a:solidFill>
                  <a:srgbClr val="FF0000"/>
                </a:solidFill>
              </a:rPr>
              <a:t>operations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normAutofit/>
          </a:bodyPr>
          <a:lstStyle/>
          <a:p>
            <a:r>
              <a:rPr lang="en-US" dirty="0"/>
              <a:t>CRC Approach</a:t>
            </a:r>
          </a:p>
        </p:txBody>
      </p:sp>
      <p:sp>
        <p:nvSpPr>
          <p:cNvPr id="5" name="Footer Placeholder 4"/>
          <p:cNvSpPr>
            <a:spLocks noGrp="1"/>
          </p:cNvSpPr>
          <p:nvPr>
            <p:ph type="ftr" sz="quarter" idx="11"/>
          </p:nvPr>
        </p:nvSpPr>
        <p:spPr/>
        <p:txBody>
          <a:bodyPr/>
          <a:lstStyle/>
          <a:p>
            <a:r>
              <a:rPr lang="en-US"/>
              <a:t>Chapter 6-Object-oriented design</a:t>
            </a:r>
            <a:endParaRPr lang="en-US" dirty="0"/>
          </a:p>
        </p:txBody>
      </p:sp>
      <p:sp>
        <p:nvSpPr>
          <p:cNvPr id="4" name="Slide Number Placeholder 3"/>
          <p:cNvSpPr>
            <a:spLocks noGrp="1"/>
          </p:cNvSpPr>
          <p:nvPr>
            <p:ph type="sldNum" sz="quarter" idx="12"/>
          </p:nvPr>
        </p:nvSpPr>
        <p:spPr/>
        <p:txBody>
          <a:bodyPr/>
          <a:lstStyle/>
          <a:p>
            <a:fld id="{EC83099C-5FA5-B04A-B819-64718E2A253A}" type="slidenum">
              <a:rPr lang="en-US" smtClean="0"/>
              <a:pPr/>
              <a:t>53</a:t>
            </a:fld>
            <a:endParaRPr lang="en-US"/>
          </a:p>
        </p:txBody>
      </p:sp>
      <p:sp>
        <p:nvSpPr>
          <p:cNvPr id="121859" name="Rectangle 3"/>
          <p:cNvSpPr>
            <a:spLocks noGrp="1" noChangeArrowheads="1"/>
          </p:cNvSpPr>
          <p:nvPr>
            <p:ph sz="quarter" idx="1"/>
          </p:nvPr>
        </p:nvSpPr>
        <p:spPr>
          <a:xfrm>
            <a:off x="457200" y="1981200"/>
            <a:ext cx="8229600" cy="4646303"/>
          </a:xfrm>
        </p:spPr>
        <p:txBody>
          <a:bodyPr>
            <a:normAutofit fontScale="92500" lnSpcReduction="10000"/>
          </a:bodyPr>
          <a:lstStyle/>
          <a:p>
            <a:r>
              <a:rPr lang="en-US" sz="2400" dirty="0">
                <a:solidFill>
                  <a:srgbClr val="FF0000"/>
                </a:solidFill>
              </a:rPr>
              <a:t>Collaboration</a:t>
            </a:r>
            <a:r>
              <a:rPr lang="en-US" sz="2400" dirty="0"/>
              <a:t> takes one of two forms:  </a:t>
            </a:r>
            <a:r>
              <a:rPr lang="en-US" sz="2400" u="sng" dirty="0"/>
              <a:t>A request for information</a:t>
            </a:r>
            <a:r>
              <a:rPr lang="en-US" sz="2400" dirty="0"/>
              <a:t> or </a:t>
            </a:r>
            <a:r>
              <a:rPr lang="en-US" sz="2400" u="sng" dirty="0"/>
              <a:t>a request to do somethin</a:t>
            </a:r>
            <a:r>
              <a:rPr lang="en-US" sz="2400" dirty="0"/>
              <a:t>g. </a:t>
            </a:r>
          </a:p>
          <a:p>
            <a:r>
              <a:rPr lang="en-US" sz="2400" dirty="0"/>
              <a:t>For example, the card </a:t>
            </a:r>
            <a:r>
              <a:rPr lang="en-US" sz="2400" i="1" dirty="0"/>
              <a:t>Student</a:t>
            </a:r>
            <a:r>
              <a:rPr lang="en-US" sz="2400" dirty="0"/>
              <a:t> requests an indication from the card </a:t>
            </a:r>
            <a:r>
              <a:rPr lang="en-US" sz="2400" i="1" dirty="0"/>
              <a:t>Seminar</a:t>
            </a:r>
            <a:r>
              <a:rPr lang="en-US" sz="2400" dirty="0"/>
              <a:t> whether a space is available, </a:t>
            </a:r>
            <a:r>
              <a:rPr lang="en-US" sz="2400" dirty="0">
                <a:solidFill>
                  <a:srgbClr val="FF0000"/>
                </a:solidFill>
              </a:rPr>
              <a:t>a request for information. </a:t>
            </a:r>
          </a:p>
          <a:p>
            <a:r>
              <a:rPr lang="en-US" sz="2400" i="1" dirty="0"/>
              <a:t>Student</a:t>
            </a:r>
            <a:r>
              <a:rPr lang="en-US" sz="2400" dirty="0"/>
              <a:t> then requests to be added to the </a:t>
            </a:r>
            <a:r>
              <a:rPr lang="en-US" sz="2400" i="1" dirty="0"/>
              <a:t>Seminar</a:t>
            </a:r>
            <a:r>
              <a:rPr lang="en-US" sz="2400" dirty="0"/>
              <a:t>, </a:t>
            </a:r>
            <a:r>
              <a:rPr lang="en-US" sz="2400" dirty="0">
                <a:solidFill>
                  <a:srgbClr val="FF0000"/>
                </a:solidFill>
              </a:rPr>
              <a:t>a request to do something</a:t>
            </a:r>
            <a:r>
              <a:rPr lang="en-US" sz="2400" dirty="0"/>
              <a:t>. </a:t>
            </a:r>
          </a:p>
          <a:p>
            <a:r>
              <a:rPr lang="en-US" sz="2400" dirty="0"/>
              <a:t>Another way to perform this logic, however, would have been to have </a:t>
            </a:r>
            <a:r>
              <a:rPr lang="en-US" sz="2400" i="1" dirty="0"/>
              <a:t>Student</a:t>
            </a:r>
            <a:r>
              <a:rPr lang="en-US" sz="2400" dirty="0"/>
              <a:t> simply request </a:t>
            </a:r>
            <a:r>
              <a:rPr lang="en-US" sz="2400" i="1" dirty="0"/>
              <a:t>Seminar</a:t>
            </a:r>
            <a:r>
              <a:rPr lang="en-US" sz="2400" dirty="0"/>
              <a:t> to enroll himself into itself. </a:t>
            </a:r>
          </a:p>
          <a:p>
            <a:r>
              <a:rPr lang="en-US" sz="2400" dirty="0"/>
              <a:t>Then have </a:t>
            </a:r>
            <a:r>
              <a:rPr lang="en-US" sz="2400" i="1" dirty="0"/>
              <a:t>Seminar</a:t>
            </a:r>
            <a:r>
              <a:rPr lang="en-US" sz="2400" dirty="0"/>
              <a:t> do the work of determining if a seat is available and, if so, then enrolling the student and, if not, then informing the student that he was not enrolled.</a:t>
            </a:r>
          </a:p>
          <a:p>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4"/>
          <p:cNvSpPr>
            <a:spLocks noGrp="1"/>
          </p:cNvSpPr>
          <p:nvPr>
            <p:ph type="ftr" sz="quarter" idx="11"/>
          </p:nvPr>
        </p:nvSpPr>
        <p:spPr/>
        <p:txBody>
          <a:bodyPr/>
          <a:lstStyle/>
          <a:p>
            <a:r>
              <a:rPr lang="en-US"/>
              <a:t>Chapter 6-Object-oriented design</a:t>
            </a:r>
          </a:p>
        </p:txBody>
      </p:sp>
      <p:sp>
        <p:nvSpPr>
          <p:cNvPr id="12" name="Slide Number Placeholder 5"/>
          <p:cNvSpPr>
            <a:spLocks noGrp="1"/>
          </p:cNvSpPr>
          <p:nvPr>
            <p:ph type="sldNum" sz="quarter" idx="12"/>
          </p:nvPr>
        </p:nvSpPr>
        <p:spPr/>
        <p:txBody>
          <a:bodyPr/>
          <a:lstStyle/>
          <a:p>
            <a:fld id="{DC874374-C6A7-41BD-AD91-A2163068FA26}" type="slidenum">
              <a:rPr lang="en-US"/>
              <a:pPr/>
              <a:t>54</a:t>
            </a:fld>
            <a:endParaRPr lang="en-US"/>
          </a:p>
        </p:txBody>
      </p:sp>
      <p:sp>
        <p:nvSpPr>
          <p:cNvPr id="68610" name="Rectangle 2"/>
          <p:cNvSpPr>
            <a:spLocks noGrp="1" noChangeArrowheads="1"/>
          </p:cNvSpPr>
          <p:nvPr>
            <p:ph type="title"/>
          </p:nvPr>
        </p:nvSpPr>
        <p:spPr/>
        <p:txBody>
          <a:bodyPr/>
          <a:lstStyle/>
          <a:p>
            <a:r>
              <a:rPr lang="en-US" sz="3600" dirty="0"/>
              <a:t>CRC Approach</a:t>
            </a:r>
            <a:endParaRPr lang="en-US" sz="3600" dirty="0">
              <a:latin typeface="Times New Roman" pitchFamily="18" charset="0"/>
            </a:endParaRPr>
          </a:p>
        </p:txBody>
      </p:sp>
      <p:sp>
        <p:nvSpPr>
          <p:cNvPr id="68611" name="Rectangle 3"/>
          <p:cNvSpPr>
            <a:spLocks noGrp="1" noChangeArrowheads="1"/>
          </p:cNvSpPr>
          <p:nvPr>
            <p:ph type="body" idx="1"/>
          </p:nvPr>
        </p:nvSpPr>
        <p:spPr>
          <a:xfrm>
            <a:off x="914400" y="2017713"/>
            <a:ext cx="8040688" cy="4114800"/>
          </a:xfrm>
        </p:spPr>
        <p:txBody>
          <a:bodyPr/>
          <a:lstStyle/>
          <a:p>
            <a:r>
              <a:rPr lang="en-US"/>
              <a:t>The CRC process :</a:t>
            </a:r>
          </a:p>
        </p:txBody>
      </p:sp>
      <p:sp>
        <p:nvSpPr>
          <p:cNvPr id="68612" name="Text Box 4"/>
          <p:cNvSpPr txBox="1">
            <a:spLocks noChangeArrowheads="1"/>
          </p:cNvSpPr>
          <p:nvPr/>
        </p:nvSpPr>
        <p:spPr bwMode="auto">
          <a:xfrm>
            <a:off x="2895600" y="3810000"/>
            <a:ext cx="2717800" cy="955675"/>
          </a:xfrm>
          <a:prstGeom prst="rect">
            <a:avLst/>
          </a:prstGeom>
          <a:noFill/>
          <a:ln w="9525">
            <a:solidFill>
              <a:schemeClr val="tx1"/>
            </a:solidFill>
            <a:miter lim="800000"/>
            <a:headEnd/>
            <a:tailEnd/>
          </a:ln>
          <a:effectLst/>
        </p:spPr>
        <p:txBody>
          <a:bodyPr wrap="none">
            <a:spAutoFit/>
          </a:bodyPr>
          <a:lstStyle/>
          <a:p>
            <a:r>
              <a:rPr lang="en-US" sz="2800"/>
              <a:t>Identify classes </a:t>
            </a:r>
          </a:p>
          <a:p>
            <a:r>
              <a:rPr lang="en-US" sz="2800"/>
              <a:t>&amp; responsibility</a:t>
            </a:r>
          </a:p>
        </p:txBody>
      </p:sp>
      <p:sp>
        <p:nvSpPr>
          <p:cNvPr id="68613" name="Text Box 5"/>
          <p:cNvSpPr txBox="1">
            <a:spLocks noChangeArrowheads="1"/>
          </p:cNvSpPr>
          <p:nvPr/>
        </p:nvSpPr>
        <p:spPr bwMode="auto">
          <a:xfrm>
            <a:off x="5257800" y="5029200"/>
            <a:ext cx="2233613" cy="955675"/>
          </a:xfrm>
          <a:prstGeom prst="rect">
            <a:avLst/>
          </a:prstGeom>
          <a:noFill/>
          <a:ln w="9525">
            <a:solidFill>
              <a:schemeClr val="tx1"/>
            </a:solidFill>
            <a:miter lim="800000"/>
            <a:headEnd/>
            <a:tailEnd/>
          </a:ln>
          <a:effectLst/>
        </p:spPr>
        <p:txBody>
          <a:bodyPr wrap="none">
            <a:spAutoFit/>
          </a:bodyPr>
          <a:lstStyle/>
          <a:p>
            <a:r>
              <a:rPr lang="en-US" sz="2800"/>
              <a:t>Assign </a:t>
            </a:r>
          </a:p>
          <a:p>
            <a:r>
              <a:rPr lang="en-US" sz="2800"/>
              <a:t>responsibility</a:t>
            </a:r>
          </a:p>
        </p:txBody>
      </p:sp>
      <p:sp>
        <p:nvSpPr>
          <p:cNvPr id="68614" name="Text Box 6"/>
          <p:cNvSpPr txBox="1">
            <a:spLocks noChangeArrowheads="1"/>
          </p:cNvSpPr>
          <p:nvPr/>
        </p:nvSpPr>
        <p:spPr bwMode="auto">
          <a:xfrm>
            <a:off x="1066800" y="5105400"/>
            <a:ext cx="2208213" cy="965200"/>
          </a:xfrm>
          <a:prstGeom prst="rect">
            <a:avLst/>
          </a:prstGeom>
          <a:noFill/>
          <a:ln w="19050">
            <a:solidFill>
              <a:schemeClr val="tx1"/>
            </a:solidFill>
            <a:miter lim="800000"/>
            <a:headEnd/>
            <a:tailEnd/>
          </a:ln>
          <a:effectLst/>
        </p:spPr>
        <p:txBody>
          <a:bodyPr wrap="none">
            <a:spAutoFit/>
          </a:bodyPr>
          <a:lstStyle/>
          <a:p>
            <a:r>
              <a:rPr lang="en-US" sz="2800"/>
              <a:t>Identify </a:t>
            </a:r>
          </a:p>
          <a:p>
            <a:r>
              <a:rPr lang="en-US" sz="2800"/>
              <a:t>collaboration</a:t>
            </a:r>
          </a:p>
        </p:txBody>
      </p:sp>
      <p:sp>
        <p:nvSpPr>
          <p:cNvPr id="68615" name="Line 7"/>
          <p:cNvSpPr>
            <a:spLocks noChangeShapeType="1"/>
          </p:cNvSpPr>
          <p:nvPr/>
        </p:nvSpPr>
        <p:spPr bwMode="auto">
          <a:xfrm>
            <a:off x="5638800" y="4038600"/>
            <a:ext cx="990600" cy="990600"/>
          </a:xfrm>
          <a:prstGeom prst="line">
            <a:avLst/>
          </a:prstGeom>
          <a:noFill/>
          <a:ln w="28575">
            <a:solidFill>
              <a:schemeClr val="tx2"/>
            </a:solidFill>
            <a:miter lim="800000"/>
            <a:headEnd/>
            <a:tailEnd type="triangle" w="med" len="med"/>
          </a:ln>
          <a:effectLst/>
        </p:spPr>
        <p:txBody>
          <a:bodyPr wrap="none"/>
          <a:lstStyle/>
          <a:p>
            <a:endParaRPr lang="en-US"/>
          </a:p>
        </p:txBody>
      </p:sp>
      <p:sp>
        <p:nvSpPr>
          <p:cNvPr id="68616" name="Line 8"/>
          <p:cNvSpPr>
            <a:spLocks noChangeShapeType="1"/>
          </p:cNvSpPr>
          <p:nvPr/>
        </p:nvSpPr>
        <p:spPr bwMode="auto">
          <a:xfrm flipH="1">
            <a:off x="3276600" y="5638800"/>
            <a:ext cx="1981200" cy="0"/>
          </a:xfrm>
          <a:prstGeom prst="line">
            <a:avLst/>
          </a:prstGeom>
          <a:noFill/>
          <a:ln w="28575">
            <a:solidFill>
              <a:schemeClr val="tx2"/>
            </a:solidFill>
            <a:miter lim="800000"/>
            <a:headEnd/>
            <a:tailEnd type="triangle" w="med" len="med"/>
          </a:ln>
          <a:effectLst/>
        </p:spPr>
        <p:txBody>
          <a:bodyPr wrap="none"/>
          <a:lstStyle/>
          <a:p>
            <a:endParaRPr lang="en-US"/>
          </a:p>
        </p:txBody>
      </p:sp>
      <p:sp>
        <p:nvSpPr>
          <p:cNvPr id="68617" name="Line 9"/>
          <p:cNvSpPr>
            <a:spLocks noChangeShapeType="1"/>
          </p:cNvSpPr>
          <p:nvPr/>
        </p:nvSpPr>
        <p:spPr bwMode="auto">
          <a:xfrm flipV="1">
            <a:off x="1828800" y="4267200"/>
            <a:ext cx="1066800" cy="838200"/>
          </a:xfrm>
          <a:prstGeom prst="line">
            <a:avLst/>
          </a:prstGeom>
          <a:noFill/>
          <a:ln w="28575">
            <a:solidFill>
              <a:schemeClr val="tx2"/>
            </a:solidFill>
            <a:prstDash val="sysDot"/>
            <a:miter lim="800000"/>
            <a:headEnd/>
            <a:tailEnd type="triangle" w="med" len="med"/>
          </a:ln>
          <a:effectLst/>
        </p:spPr>
        <p:txBody>
          <a:bodyPr wrap="none"/>
          <a:lstStyle/>
          <a:p>
            <a:endParaRPr lang="en-US"/>
          </a:p>
        </p:txBody>
      </p:sp>
      <p:sp>
        <p:nvSpPr>
          <p:cNvPr id="68618" name="Text Box 10"/>
          <p:cNvSpPr txBox="1">
            <a:spLocks noChangeArrowheads="1"/>
          </p:cNvSpPr>
          <p:nvPr/>
        </p:nvSpPr>
        <p:spPr bwMode="auto">
          <a:xfrm>
            <a:off x="1066800" y="4114800"/>
            <a:ext cx="1193800" cy="519113"/>
          </a:xfrm>
          <a:prstGeom prst="rect">
            <a:avLst/>
          </a:prstGeom>
          <a:noFill/>
          <a:ln w="9525">
            <a:noFill/>
            <a:miter lim="800000"/>
            <a:headEnd/>
            <a:tailEnd/>
          </a:ln>
          <a:effectLst/>
        </p:spPr>
        <p:txBody>
          <a:bodyPr wrap="none">
            <a:spAutoFit/>
          </a:bodyPr>
          <a:lstStyle/>
          <a:p>
            <a:r>
              <a:rPr lang="en-US" sz="2800"/>
              <a:t>iterate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1150938" y="617538"/>
            <a:ext cx="7793037" cy="982662"/>
          </a:xfrm>
        </p:spPr>
        <p:txBody>
          <a:bodyPr>
            <a:normAutofit/>
          </a:bodyPr>
          <a:lstStyle/>
          <a:p>
            <a:r>
              <a:rPr lang="en-US" dirty="0"/>
              <a:t>Example: CRC Model</a:t>
            </a:r>
          </a:p>
        </p:txBody>
      </p:sp>
      <p:sp>
        <p:nvSpPr>
          <p:cNvPr id="5" name="Footer Placeholder 4"/>
          <p:cNvSpPr>
            <a:spLocks noGrp="1"/>
          </p:cNvSpPr>
          <p:nvPr>
            <p:ph type="ftr" sz="quarter" idx="11"/>
          </p:nvPr>
        </p:nvSpPr>
        <p:spPr/>
        <p:txBody>
          <a:bodyPr/>
          <a:lstStyle/>
          <a:p>
            <a:r>
              <a:rPr lang="en-US"/>
              <a:t>Chapter 6-Object-oriented design</a:t>
            </a:r>
            <a:endParaRPr lang="en-US" dirty="0"/>
          </a:p>
        </p:txBody>
      </p:sp>
      <p:sp>
        <p:nvSpPr>
          <p:cNvPr id="4" name="Slide Number Placeholder 3"/>
          <p:cNvSpPr>
            <a:spLocks noGrp="1"/>
          </p:cNvSpPr>
          <p:nvPr>
            <p:ph type="sldNum" sz="quarter" idx="12"/>
          </p:nvPr>
        </p:nvSpPr>
        <p:spPr/>
        <p:txBody>
          <a:bodyPr/>
          <a:lstStyle/>
          <a:p>
            <a:fld id="{EC83099C-5FA5-B04A-B819-64718E2A253A}" type="slidenum">
              <a:rPr lang="en-US" smtClean="0"/>
              <a:pPr/>
              <a:t>55</a:t>
            </a:fld>
            <a:endParaRPr lang="en-US"/>
          </a:p>
        </p:txBody>
      </p:sp>
      <p:pic>
        <p:nvPicPr>
          <p:cNvPr id="95234" name="Picture 2" descr="http://www.agilemodeling.com/images/models/crcModel.jpg"/>
          <p:cNvPicPr>
            <a:picLocks noChangeAspect="1" noChangeArrowheads="1"/>
          </p:cNvPicPr>
          <p:nvPr/>
        </p:nvPicPr>
        <p:blipFill>
          <a:blip r:embed="rId2" cstate="print"/>
          <a:srcRect/>
          <a:stretch>
            <a:fillRect/>
          </a:stretch>
        </p:blipFill>
        <p:spPr bwMode="auto">
          <a:xfrm>
            <a:off x="304800" y="1600200"/>
            <a:ext cx="8305800" cy="4800601"/>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5"/>
          <p:cNvSpPr>
            <a:spLocks noGrp="1" noChangeArrowheads="1"/>
          </p:cNvSpPr>
          <p:nvPr>
            <p:ph type="ftr" sz="quarter" idx="3"/>
          </p:nvPr>
        </p:nvSpPr>
        <p:spPr/>
        <p:txBody>
          <a:bodyPr/>
          <a:lstStyle/>
          <a:p>
            <a:r>
              <a:rPr lang="en-US"/>
              <a:t>Chapter 6-Object-oriented design</a:t>
            </a:r>
          </a:p>
        </p:txBody>
      </p:sp>
      <p:sp>
        <p:nvSpPr>
          <p:cNvPr id="4" name="Rectangle 16"/>
          <p:cNvSpPr>
            <a:spLocks noGrp="1" noChangeArrowheads="1"/>
          </p:cNvSpPr>
          <p:nvPr>
            <p:ph type="sldNum" sz="quarter" idx="4"/>
          </p:nvPr>
        </p:nvSpPr>
        <p:spPr/>
        <p:txBody>
          <a:bodyPr/>
          <a:lstStyle/>
          <a:p>
            <a:fld id="{32240D38-ADFE-4546-BC10-D51E8EA2DEFD}" type="slidenum">
              <a:rPr lang="en-US"/>
              <a:pPr/>
              <a:t>56</a:t>
            </a:fld>
            <a:endParaRPr lang="en-US"/>
          </a:p>
        </p:txBody>
      </p:sp>
      <p:sp>
        <p:nvSpPr>
          <p:cNvPr id="69634" name="Rectangle 2"/>
          <p:cNvSpPr>
            <a:spLocks noGrp="1" noChangeArrowheads="1"/>
          </p:cNvSpPr>
          <p:nvPr>
            <p:ph type="ctrTitle"/>
          </p:nvPr>
        </p:nvSpPr>
        <p:spPr>
          <a:xfrm>
            <a:off x="762000" y="1676400"/>
            <a:ext cx="8001000" cy="1371600"/>
          </a:xfrm>
        </p:spPr>
        <p:txBody>
          <a:bodyPr/>
          <a:lstStyle/>
          <a:p>
            <a:r>
              <a:rPr lang="en-US" dirty="0"/>
              <a:t>DESIGN CLASSES &amp; STRUCTURAL MODEL VIEW</a:t>
            </a:r>
          </a:p>
        </p:txBody>
      </p:sp>
      <p:sp>
        <p:nvSpPr>
          <p:cNvPr id="5" name="Rectangle 4"/>
          <p:cNvSpPr/>
          <p:nvPr/>
        </p:nvSpPr>
        <p:spPr>
          <a:xfrm>
            <a:off x="1295400" y="3429000"/>
            <a:ext cx="3810000" cy="1077218"/>
          </a:xfrm>
          <a:prstGeom prst="rect">
            <a:avLst/>
          </a:prstGeom>
        </p:spPr>
        <p:txBody>
          <a:bodyPr wrap="square">
            <a:spAutoFit/>
          </a:bodyPr>
          <a:lstStyle/>
          <a:p>
            <a:pPr>
              <a:buFont typeface="Arial" pitchFamily="34" charset="0"/>
              <a:buChar char="•"/>
            </a:pPr>
            <a:r>
              <a:rPr lang="en-US" sz="3200" dirty="0">
                <a:solidFill>
                  <a:srgbClr val="FF0000"/>
                </a:solidFill>
              </a:rPr>
              <a:t>Design classes</a:t>
            </a:r>
          </a:p>
          <a:p>
            <a:pPr>
              <a:buFont typeface="Arial" pitchFamily="34" charset="0"/>
              <a:buChar char="•"/>
            </a:pPr>
            <a:r>
              <a:rPr lang="en-US" sz="3200" dirty="0">
                <a:solidFill>
                  <a:srgbClr val="FF0000"/>
                </a:solidFill>
              </a:rPr>
              <a:t>Class diagram</a:t>
            </a:r>
            <a:r>
              <a:rPr lang="en-US" sz="3200" dirty="0">
                <a:solidFill>
                  <a:srgbClr val="FF0000"/>
                </a:solidFill>
                <a:sym typeface="Wingdings" pitchFamily="2" charset="2"/>
              </a:rPr>
              <a:t> </a:t>
            </a:r>
            <a:endParaRPr lang="en-US" sz="3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380193CD-7213-4F3A-B409-7490E8286C5D}" type="slidenum">
              <a:rPr lang="en-US"/>
              <a:pPr/>
              <a:t>57</a:t>
            </a:fld>
            <a:endParaRPr lang="en-US"/>
          </a:p>
        </p:txBody>
      </p:sp>
      <p:sp>
        <p:nvSpPr>
          <p:cNvPr id="15362" name="Rectangle 2"/>
          <p:cNvSpPr>
            <a:spLocks noGrp="1" noChangeArrowheads="1"/>
          </p:cNvSpPr>
          <p:nvPr>
            <p:ph type="title"/>
          </p:nvPr>
        </p:nvSpPr>
        <p:spPr/>
        <p:txBody>
          <a:bodyPr/>
          <a:lstStyle/>
          <a:p>
            <a:r>
              <a:rPr lang="en-US"/>
              <a:t>DESIGN CLASSES</a:t>
            </a:r>
          </a:p>
        </p:txBody>
      </p:sp>
      <p:sp>
        <p:nvSpPr>
          <p:cNvPr id="15363" name="Rectangle 3"/>
          <p:cNvSpPr>
            <a:spLocks noGrp="1" noChangeArrowheads="1"/>
          </p:cNvSpPr>
          <p:nvPr>
            <p:ph type="body" idx="1"/>
          </p:nvPr>
        </p:nvSpPr>
        <p:spPr>
          <a:xfrm>
            <a:off x="838200" y="1905000"/>
            <a:ext cx="7772400" cy="4114800"/>
          </a:xfrm>
        </p:spPr>
        <p:txBody>
          <a:bodyPr/>
          <a:lstStyle/>
          <a:p>
            <a:r>
              <a:rPr lang="en-US" dirty="0"/>
              <a:t>Most important activity in designing an application </a:t>
            </a:r>
            <a:r>
              <a:rPr lang="en-US" dirty="0">
                <a:sym typeface="Wingdings" pitchFamily="2" charset="2"/>
              </a:rPr>
              <a:t> coming up with </a:t>
            </a:r>
            <a:r>
              <a:rPr lang="en-US" dirty="0">
                <a:solidFill>
                  <a:srgbClr val="FF0000"/>
                </a:solidFill>
                <a:sym typeface="Wingdings" pitchFamily="2" charset="2"/>
              </a:rPr>
              <a:t>a set of classes</a:t>
            </a:r>
            <a:r>
              <a:rPr lang="en-US" dirty="0">
                <a:sym typeface="Wingdings" pitchFamily="2" charset="2"/>
              </a:rPr>
              <a:t> that work together to provide the needed functionality</a:t>
            </a:r>
          </a:p>
          <a:p>
            <a:r>
              <a:rPr lang="en-US" dirty="0">
                <a:sym typeface="Wingdings" pitchFamily="2" charset="2"/>
              </a:rPr>
              <a:t>Underlying the functionality of any application is the  </a:t>
            </a:r>
            <a:r>
              <a:rPr lang="en-US" dirty="0">
                <a:solidFill>
                  <a:srgbClr val="FF0000"/>
                </a:solidFill>
                <a:sym typeface="Wingdings" pitchFamily="2" charset="2"/>
              </a:rPr>
              <a:t>quality</a:t>
            </a:r>
            <a:r>
              <a:rPr lang="en-US" dirty="0">
                <a:sym typeface="Wingdings" pitchFamily="2" charset="2"/>
              </a:rPr>
              <a:t> of its design</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DFE7AC09-CEB2-4155-A49A-5D8A70DCC72F}" type="slidenum">
              <a:rPr lang="en-US"/>
              <a:pPr/>
              <a:t>58</a:t>
            </a:fld>
            <a:endParaRPr lang="en-US"/>
          </a:p>
        </p:txBody>
      </p:sp>
      <p:sp>
        <p:nvSpPr>
          <p:cNvPr id="16386" name="Rectangle 2"/>
          <p:cNvSpPr>
            <a:spLocks noGrp="1" noChangeArrowheads="1"/>
          </p:cNvSpPr>
          <p:nvPr>
            <p:ph type="title"/>
          </p:nvPr>
        </p:nvSpPr>
        <p:spPr/>
        <p:txBody>
          <a:bodyPr/>
          <a:lstStyle/>
          <a:p>
            <a:r>
              <a:rPr lang="en-US" sz="4000"/>
              <a:t>Designing Classes : the process</a:t>
            </a:r>
          </a:p>
        </p:txBody>
      </p:sp>
      <p:sp>
        <p:nvSpPr>
          <p:cNvPr id="16387" name="Rectangle 3"/>
          <p:cNvSpPr>
            <a:spLocks noGrp="1" noChangeArrowheads="1"/>
          </p:cNvSpPr>
          <p:nvPr>
            <p:ph type="body" idx="1"/>
          </p:nvPr>
        </p:nvSpPr>
        <p:spPr>
          <a:xfrm>
            <a:off x="685800" y="1905000"/>
            <a:ext cx="8116888" cy="4114800"/>
          </a:xfrm>
        </p:spPr>
        <p:txBody>
          <a:bodyPr/>
          <a:lstStyle/>
          <a:p>
            <a:pPr>
              <a:lnSpc>
                <a:spcPct val="90000"/>
              </a:lnSpc>
            </a:pPr>
            <a:r>
              <a:rPr lang="en-US" sz="2400"/>
              <a:t>1.apply design axioms to design classes, their attributes, methods, associations, structures, &amp; protocols</a:t>
            </a:r>
          </a:p>
          <a:p>
            <a:pPr lvl="1">
              <a:lnSpc>
                <a:spcPct val="90000"/>
              </a:lnSpc>
            </a:pPr>
            <a:r>
              <a:rPr lang="en-US" sz="2000"/>
              <a:t>1.1 Refine and complete the static UML class diagram by adding details to that diagram</a:t>
            </a:r>
          </a:p>
          <a:p>
            <a:pPr lvl="2">
              <a:lnSpc>
                <a:spcPct val="90000"/>
              </a:lnSpc>
            </a:pPr>
            <a:r>
              <a:rPr lang="en-US" sz="2000" i="1"/>
              <a:t>Refine attributes</a:t>
            </a:r>
          </a:p>
          <a:p>
            <a:pPr lvl="2">
              <a:lnSpc>
                <a:spcPct val="90000"/>
              </a:lnSpc>
            </a:pPr>
            <a:r>
              <a:rPr lang="en-US" sz="2000" i="1"/>
              <a:t>Design methods and the protocols by utilizing a UML activity diagram to represent the method’s algorithm</a:t>
            </a:r>
          </a:p>
          <a:p>
            <a:pPr lvl="2">
              <a:lnSpc>
                <a:spcPct val="90000"/>
              </a:lnSpc>
            </a:pPr>
            <a:r>
              <a:rPr lang="en-US" sz="2000" i="1"/>
              <a:t>Refine the associations between classes (if required)</a:t>
            </a:r>
          </a:p>
          <a:p>
            <a:pPr lvl="2">
              <a:lnSpc>
                <a:spcPct val="90000"/>
              </a:lnSpc>
            </a:pPr>
            <a:r>
              <a:rPr lang="en-US" sz="2000" i="1"/>
              <a:t>Refine the class hierarchy and design with inheritance (if required)</a:t>
            </a:r>
          </a:p>
          <a:p>
            <a:pPr lvl="2">
              <a:lnSpc>
                <a:spcPct val="90000"/>
              </a:lnSpc>
              <a:buFont typeface="Wingdings" pitchFamily="2" charset="2"/>
              <a:buNone/>
            </a:pPr>
            <a:endParaRPr lang="en-US" sz="2000"/>
          </a:p>
          <a:p>
            <a:pPr lvl="1">
              <a:lnSpc>
                <a:spcPct val="90000"/>
              </a:lnSpc>
            </a:pPr>
            <a:r>
              <a:rPr lang="en-US" sz="2000"/>
              <a:t>1.2 Iterate and refine</a:t>
            </a:r>
          </a:p>
          <a:p>
            <a:pPr lvl="1">
              <a:lnSpc>
                <a:spcPct val="90000"/>
              </a:lnSpc>
            </a:pPr>
            <a:endParaRPr lang="en-US" sz="2000"/>
          </a:p>
          <a:p>
            <a:pPr>
              <a:lnSpc>
                <a:spcPct val="90000"/>
              </a:lnSpc>
            </a:pPr>
            <a:endParaRPr lang="en-US" sz="20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18B6E1CE-7B7F-4528-BA0D-A9D9D16ACF72}" type="slidenum">
              <a:rPr lang="en-US"/>
              <a:pPr/>
              <a:t>59</a:t>
            </a:fld>
            <a:endParaRPr lang="en-US"/>
          </a:p>
        </p:txBody>
      </p:sp>
      <p:sp>
        <p:nvSpPr>
          <p:cNvPr id="17410" name="Rectangle 2"/>
          <p:cNvSpPr>
            <a:spLocks noGrp="1" noChangeArrowheads="1"/>
          </p:cNvSpPr>
          <p:nvPr>
            <p:ph type="title"/>
          </p:nvPr>
        </p:nvSpPr>
        <p:spPr/>
        <p:txBody>
          <a:bodyPr/>
          <a:lstStyle/>
          <a:p>
            <a:r>
              <a:rPr lang="en-US" sz="3600"/>
              <a:t>Class Visibility : Public, Protected, Private Protocols</a:t>
            </a:r>
          </a:p>
        </p:txBody>
      </p:sp>
      <p:sp>
        <p:nvSpPr>
          <p:cNvPr id="17411" name="Rectangle 3"/>
          <p:cNvSpPr>
            <a:spLocks noGrp="1" noChangeArrowheads="1"/>
          </p:cNvSpPr>
          <p:nvPr>
            <p:ph type="body" idx="1"/>
          </p:nvPr>
        </p:nvSpPr>
        <p:spPr/>
        <p:txBody>
          <a:bodyPr/>
          <a:lstStyle/>
          <a:p>
            <a:r>
              <a:rPr lang="en-US" sz="2800"/>
              <a:t>In designing methods or attributes for classes, there are two things that need to be considered :</a:t>
            </a:r>
          </a:p>
          <a:p>
            <a:pPr lvl="1"/>
            <a:r>
              <a:rPr lang="en-US" sz="2400"/>
              <a:t>The protocol (or interface) to the class operations and its visibility</a:t>
            </a:r>
          </a:p>
          <a:p>
            <a:pPr lvl="1"/>
            <a:r>
              <a:rPr lang="en-US" sz="2400"/>
              <a:t>How it is implemented</a:t>
            </a:r>
          </a:p>
          <a:p>
            <a:r>
              <a:rPr lang="en-US" sz="2800"/>
              <a:t>Visibility is used to enforce encapsulation </a:t>
            </a:r>
            <a:r>
              <a:rPr lang="en-US" sz="2800">
                <a:sym typeface="Wingdings" pitchFamily="2" charset="2"/>
              </a:rPr>
              <a:t> may be public, protected, or private</a:t>
            </a:r>
            <a:endParaRPr lang="en-US" sz="2800"/>
          </a:p>
          <a:p>
            <a:pPr lvl="1"/>
            <a:endParaRPr lang="en-US" sz="2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1"/>
          </p:nvPr>
        </p:nvSpPr>
        <p:spPr/>
        <p:txBody>
          <a:bodyPr/>
          <a:lstStyle/>
          <a:p>
            <a:r>
              <a:rPr lang="en-US"/>
              <a:t>Chapter 6-Object-oriented design</a:t>
            </a:r>
          </a:p>
        </p:txBody>
      </p:sp>
      <p:sp>
        <p:nvSpPr>
          <p:cNvPr id="13" name="Slide Number Placeholder 5"/>
          <p:cNvSpPr>
            <a:spLocks noGrp="1"/>
          </p:cNvSpPr>
          <p:nvPr>
            <p:ph type="sldNum" sz="quarter" idx="12"/>
          </p:nvPr>
        </p:nvSpPr>
        <p:spPr/>
        <p:txBody>
          <a:bodyPr/>
          <a:lstStyle/>
          <a:p>
            <a:fld id="{D6874B97-5261-4527-9FC5-14CF4860CC7E}" type="slidenum">
              <a:rPr lang="en-US"/>
              <a:pPr/>
              <a:t>60</a:t>
            </a:fld>
            <a:endParaRPr lang="en-US"/>
          </a:p>
        </p:txBody>
      </p:sp>
      <p:sp>
        <p:nvSpPr>
          <p:cNvPr id="18439" name="Oval 7"/>
          <p:cNvSpPr>
            <a:spLocks noChangeArrowheads="1"/>
          </p:cNvSpPr>
          <p:nvPr/>
        </p:nvSpPr>
        <p:spPr bwMode="auto">
          <a:xfrm>
            <a:off x="2057400" y="2057400"/>
            <a:ext cx="4495800" cy="3810000"/>
          </a:xfrm>
          <a:prstGeom prst="ellipse">
            <a:avLst/>
          </a:prstGeom>
          <a:solidFill>
            <a:srgbClr val="FFFFCC"/>
          </a:solidFill>
          <a:ln w="9525">
            <a:solidFill>
              <a:schemeClr val="tx1"/>
            </a:solidFill>
            <a:miter lim="800000"/>
            <a:headEnd/>
            <a:tailEnd/>
          </a:ln>
          <a:effectLst/>
        </p:spPr>
        <p:txBody>
          <a:bodyPr wrap="none" anchor="ctr"/>
          <a:lstStyle/>
          <a:p>
            <a:endParaRPr lang="en-US"/>
          </a:p>
        </p:txBody>
      </p:sp>
      <p:sp>
        <p:nvSpPr>
          <p:cNvPr id="18438" name="Oval 6"/>
          <p:cNvSpPr>
            <a:spLocks noChangeArrowheads="1"/>
          </p:cNvSpPr>
          <p:nvPr/>
        </p:nvSpPr>
        <p:spPr bwMode="auto">
          <a:xfrm>
            <a:off x="2743200" y="2514600"/>
            <a:ext cx="3048000" cy="2743200"/>
          </a:xfrm>
          <a:prstGeom prst="ellipse">
            <a:avLst/>
          </a:prstGeom>
          <a:solidFill>
            <a:schemeClr val="bg1"/>
          </a:solidFill>
          <a:ln w="9525">
            <a:solidFill>
              <a:schemeClr val="tx1"/>
            </a:solidFill>
            <a:miter lim="800000"/>
            <a:headEnd/>
            <a:tailEnd/>
          </a:ln>
          <a:effectLst/>
        </p:spPr>
        <p:txBody>
          <a:bodyPr wrap="none" anchor="ctr"/>
          <a:lstStyle/>
          <a:p>
            <a:endParaRPr lang="en-US"/>
          </a:p>
        </p:txBody>
      </p:sp>
      <p:sp>
        <p:nvSpPr>
          <p:cNvPr id="18434" name="Rectangle 2"/>
          <p:cNvSpPr>
            <a:spLocks noGrp="1" noChangeArrowheads="1"/>
          </p:cNvSpPr>
          <p:nvPr>
            <p:ph type="title"/>
          </p:nvPr>
        </p:nvSpPr>
        <p:spPr/>
        <p:txBody>
          <a:bodyPr/>
          <a:lstStyle/>
          <a:p>
            <a:r>
              <a:rPr lang="en-US" sz="3600"/>
              <a:t>Class Visibility : Public, Protected, Private Protocols</a:t>
            </a:r>
          </a:p>
        </p:txBody>
      </p:sp>
      <p:sp>
        <p:nvSpPr>
          <p:cNvPr id="18437" name="Oval 5"/>
          <p:cNvSpPr>
            <a:spLocks noChangeArrowheads="1"/>
          </p:cNvSpPr>
          <p:nvPr/>
        </p:nvSpPr>
        <p:spPr bwMode="auto">
          <a:xfrm>
            <a:off x="3581400" y="3352800"/>
            <a:ext cx="1295400" cy="1143000"/>
          </a:xfrm>
          <a:prstGeom prst="ellipse">
            <a:avLst/>
          </a:prstGeom>
          <a:solidFill>
            <a:srgbClr val="FFFFCC"/>
          </a:solidFill>
          <a:ln w="9525">
            <a:solidFill>
              <a:schemeClr val="tx1"/>
            </a:solidFill>
            <a:miter lim="800000"/>
            <a:headEnd/>
            <a:tailEnd/>
          </a:ln>
          <a:effectLst/>
        </p:spPr>
        <p:txBody>
          <a:bodyPr wrap="none" anchor="ctr"/>
          <a:lstStyle/>
          <a:p>
            <a:endParaRPr lang="en-US"/>
          </a:p>
        </p:txBody>
      </p:sp>
      <p:sp>
        <p:nvSpPr>
          <p:cNvPr id="18440" name="Text Box 8"/>
          <p:cNvSpPr txBox="1">
            <a:spLocks noChangeArrowheads="1"/>
          </p:cNvSpPr>
          <p:nvPr/>
        </p:nvSpPr>
        <p:spPr bwMode="auto">
          <a:xfrm>
            <a:off x="6461125" y="2395538"/>
            <a:ext cx="1406525" cy="822325"/>
          </a:xfrm>
          <a:prstGeom prst="rect">
            <a:avLst/>
          </a:prstGeom>
          <a:noFill/>
          <a:ln w="9525">
            <a:noFill/>
            <a:miter lim="800000"/>
            <a:headEnd/>
            <a:tailEnd/>
          </a:ln>
          <a:effectLst/>
        </p:spPr>
        <p:txBody>
          <a:bodyPr wrap="none">
            <a:spAutoFit/>
          </a:bodyPr>
          <a:lstStyle/>
          <a:p>
            <a:r>
              <a:rPr lang="en-US"/>
              <a:t>Private</a:t>
            </a:r>
          </a:p>
          <a:p>
            <a:r>
              <a:rPr lang="en-US"/>
              <a:t>protocols</a:t>
            </a:r>
          </a:p>
        </p:txBody>
      </p:sp>
      <p:sp>
        <p:nvSpPr>
          <p:cNvPr id="18441" name="Text Box 9"/>
          <p:cNvSpPr txBox="1">
            <a:spLocks noChangeArrowheads="1"/>
          </p:cNvSpPr>
          <p:nvPr/>
        </p:nvSpPr>
        <p:spPr bwMode="auto">
          <a:xfrm>
            <a:off x="609600" y="2514600"/>
            <a:ext cx="1406525" cy="822325"/>
          </a:xfrm>
          <a:prstGeom prst="rect">
            <a:avLst/>
          </a:prstGeom>
          <a:noFill/>
          <a:ln w="9525">
            <a:noFill/>
            <a:miter lim="800000"/>
            <a:headEnd/>
            <a:tailEnd/>
          </a:ln>
          <a:effectLst/>
        </p:spPr>
        <p:txBody>
          <a:bodyPr wrap="none">
            <a:spAutoFit/>
          </a:bodyPr>
          <a:lstStyle/>
          <a:p>
            <a:r>
              <a:rPr lang="en-US"/>
              <a:t>Public</a:t>
            </a:r>
          </a:p>
          <a:p>
            <a:r>
              <a:rPr lang="en-US"/>
              <a:t>protocols</a:t>
            </a:r>
          </a:p>
        </p:txBody>
      </p:sp>
      <p:sp>
        <p:nvSpPr>
          <p:cNvPr id="18442" name="Text Box 10"/>
          <p:cNvSpPr txBox="1">
            <a:spLocks noChangeArrowheads="1"/>
          </p:cNvSpPr>
          <p:nvPr/>
        </p:nvSpPr>
        <p:spPr bwMode="auto">
          <a:xfrm>
            <a:off x="838200" y="4876800"/>
            <a:ext cx="1555750" cy="822325"/>
          </a:xfrm>
          <a:prstGeom prst="rect">
            <a:avLst/>
          </a:prstGeom>
          <a:noFill/>
          <a:ln w="9525">
            <a:noFill/>
            <a:miter lim="800000"/>
            <a:headEnd/>
            <a:tailEnd/>
          </a:ln>
          <a:effectLst/>
        </p:spPr>
        <p:txBody>
          <a:bodyPr wrap="none">
            <a:spAutoFit/>
          </a:bodyPr>
          <a:lstStyle/>
          <a:p>
            <a:r>
              <a:rPr lang="en-US"/>
              <a:t>Protected </a:t>
            </a:r>
          </a:p>
          <a:p>
            <a:r>
              <a:rPr lang="en-US"/>
              <a:t>protocols</a:t>
            </a:r>
          </a:p>
        </p:txBody>
      </p:sp>
      <p:sp>
        <p:nvSpPr>
          <p:cNvPr id="18443" name="Line 11"/>
          <p:cNvSpPr>
            <a:spLocks noChangeShapeType="1"/>
          </p:cNvSpPr>
          <p:nvPr/>
        </p:nvSpPr>
        <p:spPr bwMode="auto">
          <a:xfrm flipV="1">
            <a:off x="4267200" y="2819400"/>
            <a:ext cx="2209800" cy="1143000"/>
          </a:xfrm>
          <a:prstGeom prst="line">
            <a:avLst/>
          </a:prstGeom>
          <a:noFill/>
          <a:ln w="38100">
            <a:solidFill>
              <a:schemeClr val="hlink"/>
            </a:solidFill>
            <a:miter lim="800000"/>
            <a:headEnd/>
            <a:tailEnd type="triangle" w="med" len="med"/>
          </a:ln>
          <a:effectLst/>
        </p:spPr>
        <p:txBody>
          <a:bodyPr wrap="none"/>
          <a:lstStyle/>
          <a:p>
            <a:endParaRPr lang="en-US"/>
          </a:p>
        </p:txBody>
      </p:sp>
      <p:sp>
        <p:nvSpPr>
          <p:cNvPr id="18444" name="Line 12"/>
          <p:cNvSpPr>
            <a:spLocks noChangeShapeType="1"/>
          </p:cNvSpPr>
          <p:nvPr/>
        </p:nvSpPr>
        <p:spPr bwMode="auto">
          <a:xfrm flipH="1" flipV="1">
            <a:off x="1676400" y="2819400"/>
            <a:ext cx="838200" cy="0"/>
          </a:xfrm>
          <a:prstGeom prst="line">
            <a:avLst/>
          </a:prstGeom>
          <a:noFill/>
          <a:ln w="38100">
            <a:solidFill>
              <a:schemeClr val="hlink"/>
            </a:solidFill>
            <a:miter lim="800000"/>
            <a:headEnd/>
            <a:tailEnd type="triangle" w="med" len="med"/>
          </a:ln>
          <a:effectLst/>
        </p:spPr>
        <p:txBody>
          <a:bodyPr wrap="none"/>
          <a:lstStyle/>
          <a:p>
            <a:endParaRPr lang="en-US"/>
          </a:p>
        </p:txBody>
      </p:sp>
      <p:sp>
        <p:nvSpPr>
          <p:cNvPr id="18445" name="Line 13"/>
          <p:cNvSpPr>
            <a:spLocks noChangeShapeType="1"/>
          </p:cNvSpPr>
          <p:nvPr/>
        </p:nvSpPr>
        <p:spPr bwMode="auto">
          <a:xfrm flipH="1">
            <a:off x="2362200" y="4648200"/>
            <a:ext cx="1219200" cy="685800"/>
          </a:xfrm>
          <a:prstGeom prst="line">
            <a:avLst/>
          </a:prstGeom>
          <a:noFill/>
          <a:ln w="38100">
            <a:solidFill>
              <a:schemeClr val="hlink"/>
            </a:solidFill>
            <a:miter lim="800000"/>
            <a:headEnd/>
            <a:tailEnd type="triangle" w="med" len="med"/>
          </a:ln>
          <a:effectLst/>
        </p:spPr>
        <p:txBody>
          <a:bodyPr wrap="none"/>
          <a:lstStyle/>
          <a:p>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C61F9FE6-5D60-4771-B811-9D9B05D25065}" type="slidenum">
              <a:rPr lang="en-US"/>
              <a:pPr/>
              <a:t>61</a:t>
            </a:fld>
            <a:endParaRPr lang="en-US"/>
          </a:p>
        </p:txBody>
      </p:sp>
      <p:sp>
        <p:nvSpPr>
          <p:cNvPr id="19458" name="Rectangle 2"/>
          <p:cNvSpPr>
            <a:spLocks noGrp="1" noChangeArrowheads="1"/>
          </p:cNvSpPr>
          <p:nvPr>
            <p:ph type="title"/>
          </p:nvPr>
        </p:nvSpPr>
        <p:spPr/>
        <p:txBody>
          <a:bodyPr/>
          <a:lstStyle/>
          <a:p>
            <a:r>
              <a:rPr lang="en-US" sz="3600"/>
              <a:t>Class Visibility : Public, Protected, Private Protocols</a:t>
            </a:r>
          </a:p>
        </p:txBody>
      </p:sp>
      <p:sp>
        <p:nvSpPr>
          <p:cNvPr id="19459" name="Rectangle 3"/>
          <p:cNvSpPr>
            <a:spLocks noGrp="1" noChangeArrowheads="1"/>
          </p:cNvSpPr>
          <p:nvPr>
            <p:ph type="body" idx="1"/>
          </p:nvPr>
        </p:nvSpPr>
        <p:spPr/>
        <p:txBody>
          <a:bodyPr/>
          <a:lstStyle/>
          <a:p>
            <a:r>
              <a:rPr lang="en-US"/>
              <a:t>Private protocols of the class, includes messages that normally should not be sent from other objects</a:t>
            </a:r>
          </a:p>
          <a:p>
            <a:pPr lvl="1"/>
            <a:r>
              <a:rPr lang="en-US"/>
              <a:t>It is accessible only to operations of that class</a:t>
            </a:r>
          </a:p>
          <a:p>
            <a:pPr lvl="1"/>
            <a:r>
              <a:rPr lang="en-US"/>
              <a:t>Only the class itself can use the method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40E3ACB9-E909-4A1E-9F68-8AB19CA163D8}" type="slidenum">
              <a:rPr lang="en-US"/>
              <a:pPr/>
              <a:t>62</a:t>
            </a:fld>
            <a:endParaRPr lang="en-US"/>
          </a:p>
        </p:txBody>
      </p:sp>
      <p:sp>
        <p:nvSpPr>
          <p:cNvPr id="20482" name="Rectangle 2"/>
          <p:cNvSpPr>
            <a:spLocks noGrp="1" noChangeArrowheads="1"/>
          </p:cNvSpPr>
          <p:nvPr>
            <p:ph type="title"/>
          </p:nvPr>
        </p:nvSpPr>
        <p:spPr/>
        <p:txBody>
          <a:bodyPr/>
          <a:lstStyle/>
          <a:p>
            <a:r>
              <a:rPr lang="en-US" sz="3600"/>
              <a:t>Class Visibility : Public, Protected, Private Protocols</a:t>
            </a:r>
          </a:p>
        </p:txBody>
      </p:sp>
      <p:sp>
        <p:nvSpPr>
          <p:cNvPr id="20483" name="Rectangle 3"/>
          <p:cNvSpPr>
            <a:spLocks noGrp="1" noChangeArrowheads="1"/>
          </p:cNvSpPr>
          <p:nvPr>
            <p:ph type="body" idx="1"/>
          </p:nvPr>
        </p:nvSpPr>
        <p:spPr/>
        <p:txBody>
          <a:bodyPr/>
          <a:lstStyle/>
          <a:p>
            <a:r>
              <a:rPr lang="en-US"/>
              <a:t>Public protocol defines the stated behavior of the class as  a citizen in a population and is important information for users as well as future descendants</a:t>
            </a:r>
          </a:p>
          <a:p>
            <a:pPr lvl="1"/>
            <a:r>
              <a:rPr lang="en-US"/>
              <a:t>It is accessible to all classes</a:t>
            </a:r>
          </a:p>
          <a:p>
            <a:r>
              <a:rPr lang="en-US"/>
              <a:t>Protected protocol</a:t>
            </a:r>
          </a:p>
          <a:p>
            <a:pPr lvl="1"/>
            <a:r>
              <a:rPr lang="en-US"/>
              <a:t>Methods or attributes can be used by the class itself or its subclasses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Chapter 6-Object-oriented design</a:t>
            </a:r>
          </a:p>
        </p:txBody>
      </p:sp>
      <p:sp>
        <p:nvSpPr>
          <p:cNvPr id="6" name="Slide Number Placeholder 5"/>
          <p:cNvSpPr>
            <a:spLocks noGrp="1"/>
          </p:cNvSpPr>
          <p:nvPr>
            <p:ph type="sldNum" sz="quarter" idx="12"/>
          </p:nvPr>
        </p:nvSpPr>
        <p:spPr/>
        <p:txBody>
          <a:bodyPr/>
          <a:lstStyle/>
          <a:p>
            <a:fld id="{CCE8279C-58A3-4771-889D-12C7B9DD442E}" type="slidenum">
              <a:rPr lang="en-US"/>
              <a:pPr/>
              <a:t>63</a:t>
            </a:fld>
            <a:endParaRPr lang="en-US"/>
          </a:p>
        </p:txBody>
      </p:sp>
      <p:sp>
        <p:nvSpPr>
          <p:cNvPr id="21506" name="Rectangle 2"/>
          <p:cNvSpPr>
            <a:spLocks noGrp="1" noChangeArrowheads="1"/>
          </p:cNvSpPr>
          <p:nvPr>
            <p:ph type="title"/>
          </p:nvPr>
        </p:nvSpPr>
        <p:spPr/>
        <p:txBody>
          <a:bodyPr/>
          <a:lstStyle/>
          <a:p>
            <a:r>
              <a:rPr lang="en-US" sz="3600"/>
              <a:t>Class Visibility : Public, Protected, Private Protocols</a:t>
            </a:r>
          </a:p>
        </p:txBody>
      </p:sp>
      <p:sp>
        <p:nvSpPr>
          <p:cNvPr id="21507" name="Rectangle 3"/>
          <p:cNvSpPr>
            <a:spLocks noGrp="1" noChangeArrowheads="1"/>
          </p:cNvSpPr>
          <p:nvPr>
            <p:ph type="body" idx="1"/>
          </p:nvPr>
        </p:nvSpPr>
        <p:spPr/>
        <p:txBody>
          <a:bodyPr/>
          <a:lstStyle/>
          <a:p>
            <a:r>
              <a:rPr lang="en-US"/>
              <a:t>In UML, the following symbol are used to specify export control :</a:t>
            </a:r>
          </a:p>
          <a:p>
            <a:pPr lvl="1"/>
            <a:r>
              <a:rPr lang="en-US"/>
              <a:t>+ public</a:t>
            </a:r>
          </a:p>
          <a:p>
            <a:pPr lvl="1"/>
            <a:r>
              <a:rPr lang="en-US"/>
              <a:t># protected</a:t>
            </a:r>
          </a:p>
          <a:p>
            <a:pPr lvl="1"/>
            <a:r>
              <a:rPr lang="en-US"/>
              <a:t>- private</a:t>
            </a:r>
          </a:p>
          <a:p>
            <a:pPr>
              <a:buFont typeface="Wingdings" pitchFamily="2" charset="2"/>
              <a:buNone/>
            </a:pPr>
            <a:r>
              <a:rPr lang="en-US"/>
              <a:t>	</a:t>
            </a:r>
          </a:p>
        </p:txBody>
      </p:sp>
      <p:pic>
        <p:nvPicPr>
          <p:cNvPr id="21508" name="Picture 4"/>
          <p:cNvPicPr>
            <a:picLocks noChangeAspect="1" noChangeArrowheads="1"/>
          </p:cNvPicPr>
          <p:nvPr/>
        </p:nvPicPr>
        <p:blipFill>
          <a:blip r:embed="rId2" cstate="print"/>
          <a:srcRect/>
          <a:stretch>
            <a:fillRect/>
          </a:stretch>
        </p:blipFill>
        <p:spPr bwMode="auto">
          <a:xfrm>
            <a:off x="5181600" y="3048000"/>
            <a:ext cx="2667000" cy="2590800"/>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BFA54598-0FCA-4284-A334-3A1DC1804F5E}" type="slidenum">
              <a:rPr lang="en-US"/>
              <a:pPr/>
              <a:t>64</a:t>
            </a:fld>
            <a:endParaRPr lang="en-US"/>
          </a:p>
        </p:txBody>
      </p:sp>
      <p:sp>
        <p:nvSpPr>
          <p:cNvPr id="22530" name="Rectangle 2"/>
          <p:cNvSpPr>
            <a:spLocks noGrp="1" noChangeArrowheads="1"/>
          </p:cNvSpPr>
          <p:nvPr>
            <p:ph type="title"/>
          </p:nvPr>
        </p:nvSpPr>
        <p:spPr/>
        <p:txBody>
          <a:bodyPr/>
          <a:lstStyle/>
          <a:p>
            <a:r>
              <a:rPr lang="en-US" sz="3600"/>
              <a:t>Designing Classes : Refining Attributes</a:t>
            </a:r>
          </a:p>
        </p:txBody>
      </p:sp>
      <p:sp>
        <p:nvSpPr>
          <p:cNvPr id="22531" name="Rectangle 3"/>
          <p:cNvSpPr>
            <a:spLocks noGrp="1" noChangeArrowheads="1"/>
          </p:cNvSpPr>
          <p:nvPr>
            <p:ph type="body" idx="1"/>
          </p:nvPr>
        </p:nvSpPr>
        <p:spPr/>
        <p:txBody>
          <a:bodyPr/>
          <a:lstStyle/>
          <a:p>
            <a:r>
              <a:rPr lang="en-US" sz="2800"/>
              <a:t>Attributes provide information storage for the class instance and are often used to represent the state of the class instance</a:t>
            </a:r>
          </a:p>
          <a:p>
            <a:r>
              <a:rPr lang="en-US" sz="2800"/>
              <a:t>Any information the class itself  maintains is done through its attributes</a:t>
            </a:r>
          </a:p>
          <a:p>
            <a:r>
              <a:rPr lang="en-US" sz="2800"/>
              <a:t>In design phase</a:t>
            </a:r>
            <a:r>
              <a:rPr lang="en-US" sz="2800">
                <a:sym typeface="Wingdings" pitchFamily="2" charset="2"/>
              </a:rPr>
              <a:t> d</a:t>
            </a:r>
            <a:r>
              <a:rPr lang="en-US" sz="2800"/>
              <a:t>etailed information must be added to the model that defines the class attributes &amp; operations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Chapter 6-Object-oriented design</a:t>
            </a:r>
          </a:p>
        </p:txBody>
      </p:sp>
      <p:sp>
        <p:nvSpPr>
          <p:cNvPr id="6" name="Slide Number Placeholder 5"/>
          <p:cNvSpPr>
            <a:spLocks noGrp="1"/>
          </p:cNvSpPr>
          <p:nvPr>
            <p:ph type="sldNum" sz="quarter" idx="12"/>
          </p:nvPr>
        </p:nvSpPr>
        <p:spPr/>
        <p:txBody>
          <a:bodyPr/>
          <a:lstStyle/>
          <a:p>
            <a:fld id="{634C7DF4-053C-453A-BCBC-44F6418B350A}" type="slidenum">
              <a:rPr lang="en-US"/>
              <a:pPr/>
              <a:t>65</a:t>
            </a:fld>
            <a:endParaRPr lang="en-US"/>
          </a:p>
        </p:txBody>
      </p:sp>
      <p:sp>
        <p:nvSpPr>
          <p:cNvPr id="23554" name="Rectangle 2"/>
          <p:cNvSpPr>
            <a:spLocks noGrp="1" noChangeArrowheads="1"/>
          </p:cNvSpPr>
          <p:nvPr>
            <p:ph type="title"/>
          </p:nvPr>
        </p:nvSpPr>
        <p:spPr/>
        <p:txBody>
          <a:bodyPr/>
          <a:lstStyle/>
          <a:p>
            <a:r>
              <a:rPr lang="en-US" sz="3600"/>
              <a:t>Designing Classes : Refining Attributes</a:t>
            </a:r>
          </a:p>
        </p:txBody>
      </p:sp>
      <p:sp>
        <p:nvSpPr>
          <p:cNvPr id="23555" name="Rectangle 3"/>
          <p:cNvSpPr>
            <a:spLocks noGrp="1" noChangeArrowheads="1"/>
          </p:cNvSpPr>
          <p:nvPr>
            <p:ph type="body" idx="1"/>
          </p:nvPr>
        </p:nvSpPr>
        <p:spPr>
          <a:xfrm>
            <a:off x="838200" y="1905000"/>
            <a:ext cx="7924800" cy="4114800"/>
          </a:xfrm>
        </p:spPr>
        <p:txBody>
          <a:bodyPr/>
          <a:lstStyle/>
          <a:p>
            <a:r>
              <a:rPr lang="en-US" sz="2800"/>
              <a:t>May need to add additional attributes to support the implementation and establish any new relationship that the attributes require</a:t>
            </a:r>
          </a:p>
          <a:p>
            <a:r>
              <a:rPr lang="en-US" sz="2800"/>
              <a:t>Attribute presentation suggested by UML :</a:t>
            </a:r>
          </a:p>
          <a:p>
            <a:pPr>
              <a:buFont typeface="Wingdings" pitchFamily="2" charset="2"/>
              <a:buNone/>
            </a:pPr>
            <a:endParaRPr lang="en-US" sz="2800"/>
          </a:p>
          <a:p>
            <a:pPr>
              <a:buFont typeface="Wingdings" pitchFamily="2" charset="2"/>
              <a:buNone/>
            </a:pPr>
            <a:r>
              <a:rPr lang="en-US" sz="2400" i="1"/>
              <a:t>Visibility name : type-expression = initial value or default</a:t>
            </a:r>
          </a:p>
          <a:p>
            <a:endParaRPr lang="en-US" sz="2400" i="1"/>
          </a:p>
        </p:txBody>
      </p:sp>
      <p:sp>
        <p:nvSpPr>
          <p:cNvPr id="23557" name="Rectangle 5"/>
          <p:cNvSpPr>
            <a:spLocks noChangeArrowheads="1"/>
          </p:cNvSpPr>
          <p:nvPr/>
        </p:nvSpPr>
        <p:spPr bwMode="auto">
          <a:xfrm>
            <a:off x="914400" y="4191000"/>
            <a:ext cx="7848600" cy="838200"/>
          </a:xfrm>
          <a:prstGeom prst="rect">
            <a:avLst/>
          </a:prstGeom>
          <a:noFill/>
          <a:ln w="9525">
            <a:solidFill>
              <a:schemeClr val="tx1"/>
            </a:solidFill>
            <a:miter lim="800000"/>
            <a:headEnd/>
            <a:tailEnd/>
          </a:ln>
          <a:effectLst/>
        </p:spPr>
        <p:txBody>
          <a:bodyPr wrap="none" anchor="ctr"/>
          <a:lstStyle/>
          <a:p>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4"/>
          <p:cNvSpPr>
            <a:spLocks noGrp="1"/>
          </p:cNvSpPr>
          <p:nvPr>
            <p:ph type="ftr" sz="quarter" idx="11"/>
          </p:nvPr>
        </p:nvSpPr>
        <p:spPr/>
        <p:txBody>
          <a:bodyPr/>
          <a:lstStyle/>
          <a:p>
            <a:r>
              <a:rPr lang="en-US"/>
              <a:t>Chapter 6-Object-oriented design</a:t>
            </a:r>
          </a:p>
        </p:txBody>
      </p:sp>
      <p:sp>
        <p:nvSpPr>
          <p:cNvPr id="11" name="Slide Number Placeholder 5"/>
          <p:cNvSpPr>
            <a:spLocks noGrp="1"/>
          </p:cNvSpPr>
          <p:nvPr>
            <p:ph type="sldNum" sz="quarter" idx="12"/>
          </p:nvPr>
        </p:nvSpPr>
        <p:spPr/>
        <p:txBody>
          <a:bodyPr/>
          <a:lstStyle/>
          <a:p>
            <a:fld id="{B464C5E8-5A32-4429-8ED0-BBD0E6FB2BEA}" type="slidenum">
              <a:rPr lang="en-US"/>
              <a:pPr/>
              <a:t>66</a:t>
            </a:fld>
            <a:endParaRPr lang="en-US"/>
          </a:p>
        </p:txBody>
      </p:sp>
      <p:sp>
        <p:nvSpPr>
          <p:cNvPr id="24578" name="Rectangle 2"/>
          <p:cNvSpPr>
            <a:spLocks noGrp="1" noChangeArrowheads="1"/>
          </p:cNvSpPr>
          <p:nvPr>
            <p:ph type="title"/>
          </p:nvPr>
        </p:nvSpPr>
        <p:spPr/>
        <p:txBody>
          <a:bodyPr/>
          <a:lstStyle/>
          <a:p>
            <a:r>
              <a:rPr lang="en-US" sz="3600"/>
              <a:t>Designing Classes : Refining Attributes</a:t>
            </a:r>
          </a:p>
        </p:txBody>
      </p:sp>
      <p:sp>
        <p:nvSpPr>
          <p:cNvPr id="24580" name="Text Box 4"/>
          <p:cNvSpPr txBox="1">
            <a:spLocks noChangeArrowheads="1"/>
          </p:cNvSpPr>
          <p:nvPr/>
        </p:nvSpPr>
        <p:spPr bwMode="auto">
          <a:xfrm>
            <a:off x="762000" y="2209800"/>
            <a:ext cx="7669213" cy="457200"/>
          </a:xfrm>
          <a:prstGeom prst="rect">
            <a:avLst/>
          </a:prstGeom>
          <a:noFill/>
          <a:ln w="9525">
            <a:noFill/>
            <a:miter lim="800000"/>
            <a:headEnd/>
            <a:tailEnd/>
          </a:ln>
          <a:effectLst/>
        </p:spPr>
        <p:txBody>
          <a:bodyPr wrap="none">
            <a:spAutoFit/>
          </a:bodyPr>
          <a:lstStyle/>
          <a:p>
            <a:r>
              <a:rPr lang="en-US" i="1"/>
              <a:t>Visibility name:type-expression = initial value or default</a:t>
            </a:r>
          </a:p>
        </p:txBody>
      </p:sp>
      <p:sp>
        <p:nvSpPr>
          <p:cNvPr id="24581" name="Text Box 5"/>
          <p:cNvSpPr txBox="1">
            <a:spLocks noChangeArrowheads="1"/>
          </p:cNvSpPr>
          <p:nvPr/>
        </p:nvSpPr>
        <p:spPr bwMode="auto">
          <a:xfrm>
            <a:off x="533400" y="4495800"/>
            <a:ext cx="3825875" cy="1749425"/>
          </a:xfrm>
          <a:prstGeom prst="rect">
            <a:avLst/>
          </a:prstGeom>
          <a:noFill/>
          <a:ln w="9525">
            <a:solidFill>
              <a:schemeClr val="tx1"/>
            </a:solidFill>
            <a:miter lim="800000"/>
            <a:headEnd/>
            <a:tailEnd/>
          </a:ln>
          <a:effectLst/>
        </p:spPr>
        <p:txBody>
          <a:bodyPr>
            <a:spAutoFit/>
          </a:bodyPr>
          <a:lstStyle/>
          <a:p>
            <a:r>
              <a:rPr lang="en-US" sz="1800"/>
              <a:t>+ public : accessibility to all classes</a:t>
            </a:r>
          </a:p>
          <a:p>
            <a:r>
              <a:rPr lang="en-US" sz="1800"/>
              <a:t># protected : accessibility to subclasses</a:t>
            </a:r>
          </a:p>
          <a:p>
            <a:r>
              <a:rPr lang="en-US" sz="1800"/>
              <a:t>And operations of the class</a:t>
            </a:r>
          </a:p>
          <a:p>
            <a:r>
              <a:rPr lang="en-US" sz="1800"/>
              <a:t>- private : accessibility only to operations of the class</a:t>
            </a:r>
          </a:p>
        </p:txBody>
      </p:sp>
      <p:sp>
        <p:nvSpPr>
          <p:cNvPr id="24582" name="Text Box 6"/>
          <p:cNvSpPr txBox="1">
            <a:spLocks noChangeArrowheads="1"/>
          </p:cNvSpPr>
          <p:nvPr/>
        </p:nvSpPr>
        <p:spPr bwMode="auto">
          <a:xfrm>
            <a:off x="3352800" y="3200400"/>
            <a:ext cx="2987675" cy="1200150"/>
          </a:xfrm>
          <a:prstGeom prst="rect">
            <a:avLst/>
          </a:prstGeom>
          <a:noFill/>
          <a:ln w="9525">
            <a:solidFill>
              <a:schemeClr val="tx1"/>
            </a:solidFill>
            <a:miter lim="800000"/>
            <a:headEnd/>
            <a:tailEnd/>
          </a:ln>
          <a:effectLst/>
        </p:spPr>
        <p:txBody>
          <a:bodyPr>
            <a:spAutoFit/>
          </a:bodyPr>
          <a:lstStyle/>
          <a:p>
            <a:r>
              <a:rPr lang="en-US" sz="1800"/>
              <a:t>Is a language-dependent </a:t>
            </a:r>
          </a:p>
          <a:p>
            <a:r>
              <a:rPr lang="en-US" sz="1800"/>
              <a:t>specification of the </a:t>
            </a:r>
          </a:p>
          <a:p>
            <a:r>
              <a:rPr lang="en-US" sz="1800"/>
              <a:t>implementation type of an attribute</a:t>
            </a:r>
          </a:p>
        </p:txBody>
      </p:sp>
      <p:sp>
        <p:nvSpPr>
          <p:cNvPr id="24583" name="Text Box 7"/>
          <p:cNvSpPr txBox="1">
            <a:spLocks noChangeArrowheads="1"/>
          </p:cNvSpPr>
          <p:nvPr/>
        </p:nvSpPr>
        <p:spPr bwMode="auto">
          <a:xfrm>
            <a:off x="4648200" y="4572000"/>
            <a:ext cx="2987675" cy="1474788"/>
          </a:xfrm>
          <a:prstGeom prst="rect">
            <a:avLst/>
          </a:prstGeom>
          <a:noFill/>
          <a:ln w="9525">
            <a:solidFill>
              <a:schemeClr val="tx1"/>
            </a:solidFill>
            <a:miter lim="800000"/>
            <a:headEnd/>
            <a:tailEnd/>
          </a:ln>
          <a:effectLst/>
        </p:spPr>
        <p:txBody>
          <a:bodyPr>
            <a:spAutoFit/>
          </a:bodyPr>
          <a:lstStyle/>
          <a:p>
            <a:r>
              <a:rPr lang="en-US" sz="1800"/>
              <a:t>Is a language-dependent </a:t>
            </a:r>
          </a:p>
          <a:p>
            <a:r>
              <a:rPr lang="en-US" sz="1800"/>
              <a:t>Expression for the initial value of newly created object (initial value is optional) </a:t>
            </a:r>
          </a:p>
        </p:txBody>
      </p:sp>
      <p:sp>
        <p:nvSpPr>
          <p:cNvPr id="24584" name="Freeform 8"/>
          <p:cNvSpPr>
            <a:spLocks/>
          </p:cNvSpPr>
          <p:nvPr/>
        </p:nvSpPr>
        <p:spPr bwMode="auto">
          <a:xfrm>
            <a:off x="1447800" y="2667000"/>
            <a:ext cx="76200" cy="1828800"/>
          </a:xfrm>
          <a:custGeom>
            <a:avLst/>
            <a:gdLst/>
            <a:ahLst/>
            <a:cxnLst>
              <a:cxn ang="0">
                <a:pos x="0" y="0"/>
              </a:cxn>
              <a:cxn ang="0">
                <a:pos x="0" y="1104"/>
              </a:cxn>
            </a:cxnLst>
            <a:rect l="0" t="0" r="r" b="b"/>
            <a:pathLst>
              <a:path w="1" h="1104">
                <a:moveTo>
                  <a:pt x="0" y="0"/>
                </a:moveTo>
                <a:cubicBezTo>
                  <a:pt x="0" y="460"/>
                  <a:pt x="0" y="920"/>
                  <a:pt x="0" y="1104"/>
                </a:cubicBezTo>
              </a:path>
            </a:pathLst>
          </a:custGeom>
          <a:noFill/>
          <a:ln w="28575" cap="flat" cmpd="sng">
            <a:solidFill>
              <a:schemeClr val="hlink"/>
            </a:solidFill>
            <a:prstDash val="solid"/>
            <a:miter lim="800000"/>
            <a:headEnd type="oval" w="med" len="med"/>
            <a:tailEnd type="triangle" w="med" len="med"/>
          </a:ln>
          <a:effectLst/>
        </p:spPr>
        <p:txBody>
          <a:bodyPr wrap="none"/>
          <a:lstStyle/>
          <a:p>
            <a:endParaRPr lang="en-US"/>
          </a:p>
        </p:txBody>
      </p:sp>
      <p:sp>
        <p:nvSpPr>
          <p:cNvPr id="24586" name="Freeform 10"/>
          <p:cNvSpPr>
            <a:spLocks/>
          </p:cNvSpPr>
          <p:nvPr/>
        </p:nvSpPr>
        <p:spPr bwMode="auto">
          <a:xfrm>
            <a:off x="2806700" y="2667000"/>
            <a:ext cx="546100" cy="1143000"/>
          </a:xfrm>
          <a:custGeom>
            <a:avLst/>
            <a:gdLst/>
            <a:ahLst/>
            <a:cxnLst>
              <a:cxn ang="0">
                <a:pos x="296" y="0"/>
              </a:cxn>
              <a:cxn ang="0">
                <a:pos x="8" y="384"/>
              </a:cxn>
              <a:cxn ang="0">
                <a:pos x="344" y="720"/>
              </a:cxn>
            </a:cxnLst>
            <a:rect l="0" t="0" r="r" b="b"/>
            <a:pathLst>
              <a:path w="344" h="720">
                <a:moveTo>
                  <a:pt x="296" y="0"/>
                </a:moveTo>
                <a:cubicBezTo>
                  <a:pt x="148" y="132"/>
                  <a:pt x="0" y="264"/>
                  <a:pt x="8" y="384"/>
                </a:cubicBezTo>
                <a:cubicBezTo>
                  <a:pt x="16" y="504"/>
                  <a:pt x="288" y="664"/>
                  <a:pt x="344" y="720"/>
                </a:cubicBezTo>
              </a:path>
            </a:pathLst>
          </a:custGeom>
          <a:noFill/>
          <a:ln w="28575" cap="flat" cmpd="sng">
            <a:solidFill>
              <a:schemeClr val="hlink"/>
            </a:solidFill>
            <a:prstDash val="solid"/>
            <a:miter lim="800000"/>
            <a:headEnd type="oval" w="med" len="med"/>
            <a:tailEnd type="triangle" w="med" len="med"/>
          </a:ln>
          <a:effectLst/>
        </p:spPr>
        <p:txBody>
          <a:bodyPr wrap="none"/>
          <a:lstStyle/>
          <a:p>
            <a:endParaRPr lang="en-US"/>
          </a:p>
        </p:txBody>
      </p:sp>
      <p:sp>
        <p:nvSpPr>
          <p:cNvPr id="24587" name="Freeform 11"/>
          <p:cNvSpPr>
            <a:spLocks/>
          </p:cNvSpPr>
          <p:nvPr/>
        </p:nvSpPr>
        <p:spPr bwMode="auto">
          <a:xfrm>
            <a:off x="6705600" y="2667000"/>
            <a:ext cx="152400" cy="1828800"/>
          </a:xfrm>
          <a:custGeom>
            <a:avLst/>
            <a:gdLst/>
            <a:ahLst/>
            <a:cxnLst>
              <a:cxn ang="0">
                <a:pos x="0" y="0"/>
              </a:cxn>
              <a:cxn ang="0">
                <a:pos x="0" y="1104"/>
              </a:cxn>
            </a:cxnLst>
            <a:rect l="0" t="0" r="r" b="b"/>
            <a:pathLst>
              <a:path w="1" h="1104">
                <a:moveTo>
                  <a:pt x="0" y="0"/>
                </a:moveTo>
                <a:cubicBezTo>
                  <a:pt x="0" y="460"/>
                  <a:pt x="0" y="920"/>
                  <a:pt x="0" y="1104"/>
                </a:cubicBezTo>
              </a:path>
            </a:pathLst>
          </a:custGeom>
          <a:noFill/>
          <a:ln w="28575" cap="flat" cmpd="sng">
            <a:solidFill>
              <a:schemeClr val="hlink"/>
            </a:solidFill>
            <a:prstDash val="solid"/>
            <a:miter lim="800000"/>
            <a:headEnd type="oval" w="med" len="med"/>
            <a:tailEnd type="triangle" w="med" len="med"/>
          </a:ln>
          <a:effectLst/>
        </p:spPr>
        <p:txBody>
          <a:bodyPr wrap="none"/>
          <a:lstStyle/>
          <a:p>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6FACE2B2-B07A-4EA9-B93C-D0C5E8A35E03}" type="slidenum">
              <a:rPr lang="en-US"/>
              <a:pPr/>
              <a:t>67</a:t>
            </a:fld>
            <a:endParaRPr lang="en-US"/>
          </a:p>
        </p:txBody>
      </p:sp>
      <p:sp>
        <p:nvSpPr>
          <p:cNvPr id="26626" name="Rectangle 2"/>
          <p:cNvSpPr>
            <a:spLocks noGrp="1" noChangeArrowheads="1"/>
          </p:cNvSpPr>
          <p:nvPr>
            <p:ph type="title"/>
          </p:nvPr>
        </p:nvSpPr>
        <p:spPr/>
        <p:txBody>
          <a:bodyPr/>
          <a:lstStyle/>
          <a:p>
            <a:r>
              <a:rPr lang="en-US" sz="3600"/>
              <a:t>Design Methods and Protocols</a:t>
            </a:r>
          </a:p>
        </p:txBody>
      </p:sp>
      <p:sp>
        <p:nvSpPr>
          <p:cNvPr id="26627" name="Rectangle 3"/>
          <p:cNvSpPr>
            <a:spLocks noGrp="1" noChangeArrowheads="1"/>
          </p:cNvSpPr>
          <p:nvPr>
            <p:ph type="body" idx="1"/>
          </p:nvPr>
        </p:nvSpPr>
        <p:spPr/>
        <p:txBody>
          <a:bodyPr/>
          <a:lstStyle/>
          <a:p>
            <a:pPr>
              <a:lnSpc>
                <a:spcPct val="90000"/>
              </a:lnSpc>
            </a:pPr>
            <a:r>
              <a:rPr lang="en-US"/>
              <a:t>A method specifies the implementation of an operation</a:t>
            </a:r>
          </a:p>
          <a:p>
            <a:pPr>
              <a:lnSpc>
                <a:spcPct val="90000"/>
              </a:lnSpc>
            </a:pPr>
            <a:r>
              <a:rPr lang="en-US"/>
              <a:t>It describes HOW the operation works, not just WHAT it does</a:t>
            </a:r>
          </a:p>
          <a:p>
            <a:pPr lvl="1">
              <a:lnSpc>
                <a:spcPct val="90000"/>
              </a:lnSpc>
            </a:pPr>
            <a:r>
              <a:rPr lang="en-US"/>
              <a:t>Operations should be named to indicate their outcome [ex : getBalance() ]</a:t>
            </a:r>
          </a:p>
          <a:p>
            <a:pPr>
              <a:lnSpc>
                <a:spcPct val="90000"/>
              </a:lnSpc>
            </a:pPr>
            <a:r>
              <a:rPr lang="en-US"/>
              <a:t>Operation visibility :</a:t>
            </a:r>
          </a:p>
          <a:p>
            <a:pPr lvl="1">
              <a:lnSpc>
                <a:spcPct val="90000"/>
              </a:lnSpc>
            </a:pPr>
            <a:r>
              <a:rPr lang="en-US"/>
              <a:t>+ public, # protected, - private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4"/>
          <p:cNvSpPr>
            <a:spLocks noGrp="1"/>
          </p:cNvSpPr>
          <p:nvPr>
            <p:ph type="ftr" sz="quarter" idx="11"/>
          </p:nvPr>
        </p:nvSpPr>
        <p:spPr/>
        <p:txBody>
          <a:bodyPr/>
          <a:lstStyle/>
          <a:p>
            <a:r>
              <a:rPr lang="en-US"/>
              <a:t>Chapter 6-Object-oriented design</a:t>
            </a:r>
          </a:p>
        </p:txBody>
      </p:sp>
      <p:sp>
        <p:nvSpPr>
          <p:cNvPr id="15" name="Slide Number Placeholder 5"/>
          <p:cNvSpPr>
            <a:spLocks noGrp="1"/>
          </p:cNvSpPr>
          <p:nvPr>
            <p:ph type="sldNum" sz="quarter" idx="12"/>
          </p:nvPr>
        </p:nvSpPr>
        <p:spPr/>
        <p:txBody>
          <a:bodyPr/>
          <a:lstStyle/>
          <a:p>
            <a:fld id="{DC21B2D8-5E40-4E33-915C-7A6D203591C9}" type="slidenum">
              <a:rPr lang="en-US"/>
              <a:pPr/>
              <a:t>68</a:t>
            </a:fld>
            <a:endParaRPr lang="en-US"/>
          </a:p>
        </p:txBody>
      </p:sp>
      <p:sp>
        <p:nvSpPr>
          <p:cNvPr id="27650" name="Rectangle 2"/>
          <p:cNvSpPr>
            <a:spLocks noGrp="1" noChangeArrowheads="1"/>
          </p:cNvSpPr>
          <p:nvPr>
            <p:ph type="title"/>
          </p:nvPr>
        </p:nvSpPr>
        <p:spPr/>
        <p:txBody>
          <a:bodyPr/>
          <a:lstStyle/>
          <a:p>
            <a:r>
              <a:rPr lang="en-US" sz="3600"/>
              <a:t>Design Methods and Protocols</a:t>
            </a:r>
          </a:p>
        </p:txBody>
      </p:sp>
      <p:grpSp>
        <p:nvGrpSpPr>
          <p:cNvPr id="2" name="Group 16"/>
          <p:cNvGrpSpPr>
            <a:grpSpLocks/>
          </p:cNvGrpSpPr>
          <p:nvPr/>
        </p:nvGrpSpPr>
        <p:grpSpPr bwMode="auto">
          <a:xfrm>
            <a:off x="609600" y="2489200"/>
            <a:ext cx="8001000" cy="3530600"/>
            <a:chOff x="384" y="1344"/>
            <a:chExt cx="5040" cy="2224"/>
          </a:xfrm>
        </p:grpSpPr>
        <p:sp>
          <p:nvSpPr>
            <p:cNvPr id="27652" name="Text Box 4"/>
            <p:cNvSpPr txBox="1">
              <a:spLocks noChangeArrowheads="1"/>
            </p:cNvSpPr>
            <p:nvPr/>
          </p:nvSpPr>
          <p:spPr bwMode="auto">
            <a:xfrm>
              <a:off x="816" y="1344"/>
              <a:ext cx="4080" cy="256"/>
            </a:xfrm>
            <a:prstGeom prst="rect">
              <a:avLst/>
            </a:prstGeom>
            <a:noFill/>
            <a:ln w="9525">
              <a:solidFill>
                <a:schemeClr val="tx1"/>
              </a:solidFill>
              <a:miter lim="800000"/>
              <a:headEnd/>
              <a:tailEnd/>
            </a:ln>
            <a:effectLst/>
          </p:spPr>
          <p:txBody>
            <a:bodyPr>
              <a:spAutoFit/>
            </a:bodyPr>
            <a:lstStyle/>
            <a:p>
              <a:pPr algn="ctr">
                <a:spcBef>
                  <a:spcPct val="50000"/>
                </a:spcBef>
              </a:pPr>
              <a:r>
                <a:rPr lang="en-US" sz="2000"/>
                <a:t>Visibility name: (parameter-list): return-type-expression</a:t>
              </a:r>
            </a:p>
          </p:txBody>
        </p:sp>
        <p:sp>
          <p:nvSpPr>
            <p:cNvPr id="27653" name="Text Box 5"/>
            <p:cNvSpPr txBox="1">
              <a:spLocks noChangeArrowheads="1"/>
            </p:cNvSpPr>
            <p:nvPr/>
          </p:nvSpPr>
          <p:spPr bwMode="auto">
            <a:xfrm>
              <a:off x="384" y="1824"/>
              <a:ext cx="960" cy="832"/>
            </a:xfrm>
            <a:prstGeom prst="rect">
              <a:avLst/>
            </a:prstGeom>
            <a:noFill/>
            <a:ln w="9525">
              <a:solidFill>
                <a:schemeClr val="tx1"/>
              </a:solidFill>
              <a:miter lim="800000"/>
              <a:headEnd/>
              <a:tailEnd/>
            </a:ln>
            <a:effectLst/>
          </p:spPr>
          <p:txBody>
            <a:bodyPr>
              <a:spAutoFit/>
            </a:bodyPr>
            <a:lstStyle/>
            <a:p>
              <a:pPr>
                <a:spcBef>
                  <a:spcPct val="50000"/>
                </a:spcBef>
              </a:pPr>
              <a:r>
                <a:rPr lang="en-US" sz="2000"/>
                <a:t>+public</a:t>
              </a:r>
            </a:p>
            <a:p>
              <a:pPr>
                <a:spcBef>
                  <a:spcPct val="50000"/>
                </a:spcBef>
              </a:pPr>
              <a:r>
                <a:rPr lang="en-US" sz="2000"/>
                <a:t>#protected</a:t>
              </a:r>
            </a:p>
            <a:p>
              <a:pPr>
                <a:spcBef>
                  <a:spcPct val="50000"/>
                </a:spcBef>
              </a:pPr>
              <a:r>
                <a:rPr lang="en-US" sz="2000"/>
                <a:t>-public</a:t>
              </a:r>
            </a:p>
          </p:txBody>
        </p:sp>
        <p:sp>
          <p:nvSpPr>
            <p:cNvPr id="27654" name="Text Box 6"/>
            <p:cNvSpPr txBox="1">
              <a:spLocks noChangeArrowheads="1"/>
            </p:cNvSpPr>
            <p:nvPr/>
          </p:nvSpPr>
          <p:spPr bwMode="auto">
            <a:xfrm>
              <a:off x="384" y="3024"/>
              <a:ext cx="1104" cy="448"/>
            </a:xfrm>
            <a:prstGeom prst="rect">
              <a:avLst/>
            </a:prstGeom>
            <a:noFill/>
            <a:ln w="9525">
              <a:solidFill>
                <a:schemeClr val="tx1"/>
              </a:solidFill>
              <a:miter lim="800000"/>
              <a:headEnd/>
              <a:tailEnd/>
            </a:ln>
            <a:effectLst/>
          </p:spPr>
          <p:txBody>
            <a:bodyPr>
              <a:spAutoFit/>
            </a:bodyPr>
            <a:lstStyle/>
            <a:p>
              <a:pPr>
                <a:spcBef>
                  <a:spcPct val="50000"/>
                </a:spcBef>
              </a:pPr>
              <a:r>
                <a:rPr lang="en-US" sz="2000"/>
                <a:t>Name of the operation</a:t>
              </a:r>
            </a:p>
          </p:txBody>
        </p:sp>
        <p:sp>
          <p:nvSpPr>
            <p:cNvPr id="27655" name="Text Box 7"/>
            <p:cNvSpPr txBox="1">
              <a:spLocks noChangeArrowheads="1"/>
            </p:cNvSpPr>
            <p:nvPr/>
          </p:nvSpPr>
          <p:spPr bwMode="auto">
            <a:xfrm>
              <a:off x="3120" y="1728"/>
              <a:ext cx="2304" cy="832"/>
            </a:xfrm>
            <a:prstGeom prst="rect">
              <a:avLst/>
            </a:prstGeom>
            <a:noFill/>
            <a:ln w="9525">
              <a:solidFill>
                <a:schemeClr val="tx1"/>
              </a:solidFill>
              <a:miter lim="800000"/>
              <a:headEnd/>
              <a:tailEnd/>
            </a:ln>
            <a:effectLst/>
          </p:spPr>
          <p:txBody>
            <a:bodyPr>
              <a:spAutoFit/>
            </a:bodyPr>
            <a:lstStyle/>
            <a:p>
              <a:pPr>
                <a:spcBef>
                  <a:spcPct val="50000"/>
                </a:spcBef>
              </a:pPr>
              <a:r>
                <a:rPr lang="en-US" sz="2000"/>
                <a:t>A list of parameters, separated by commas, each specified by name: type-expression = default value</a:t>
              </a:r>
            </a:p>
          </p:txBody>
        </p:sp>
        <p:sp>
          <p:nvSpPr>
            <p:cNvPr id="27656" name="Text Box 8"/>
            <p:cNvSpPr txBox="1">
              <a:spLocks noChangeArrowheads="1"/>
            </p:cNvSpPr>
            <p:nvPr/>
          </p:nvSpPr>
          <p:spPr bwMode="auto">
            <a:xfrm>
              <a:off x="1968" y="2736"/>
              <a:ext cx="3456" cy="832"/>
            </a:xfrm>
            <a:prstGeom prst="rect">
              <a:avLst/>
            </a:prstGeom>
            <a:noFill/>
            <a:ln w="9525">
              <a:solidFill>
                <a:schemeClr val="tx1"/>
              </a:solidFill>
              <a:miter lim="800000"/>
              <a:headEnd/>
              <a:tailEnd/>
            </a:ln>
            <a:effectLst/>
          </p:spPr>
          <p:txBody>
            <a:bodyPr>
              <a:spAutoFit/>
            </a:bodyPr>
            <a:lstStyle/>
            <a:p>
              <a:pPr>
                <a:spcBef>
                  <a:spcPct val="50000"/>
                </a:spcBef>
              </a:pPr>
              <a:r>
                <a:rPr lang="en-US" sz="2000"/>
                <a:t>Is a language-dependent specification of the implementation of the value returned by the method, Ex: +getAccountNo.(account: type)   : accountNo.</a:t>
              </a:r>
            </a:p>
          </p:txBody>
        </p:sp>
        <p:sp>
          <p:nvSpPr>
            <p:cNvPr id="27660" name="Line 12"/>
            <p:cNvSpPr>
              <a:spLocks noChangeShapeType="1"/>
            </p:cNvSpPr>
            <p:nvPr/>
          </p:nvSpPr>
          <p:spPr bwMode="auto">
            <a:xfrm>
              <a:off x="2448" y="1584"/>
              <a:ext cx="0" cy="1152"/>
            </a:xfrm>
            <a:prstGeom prst="line">
              <a:avLst/>
            </a:prstGeom>
            <a:noFill/>
            <a:ln w="28575">
              <a:solidFill>
                <a:schemeClr val="hlink"/>
              </a:solidFill>
              <a:miter lim="800000"/>
              <a:headEnd type="oval" w="med" len="med"/>
              <a:tailEnd type="triangle" w="med" len="med"/>
            </a:ln>
            <a:effectLst/>
          </p:spPr>
          <p:txBody>
            <a:bodyPr wrap="none"/>
            <a:lstStyle/>
            <a:p>
              <a:endParaRPr lang="en-US"/>
            </a:p>
          </p:txBody>
        </p:sp>
        <p:sp>
          <p:nvSpPr>
            <p:cNvPr id="27661" name="Line 13"/>
            <p:cNvSpPr>
              <a:spLocks noChangeShapeType="1"/>
            </p:cNvSpPr>
            <p:nvPr/>
          </p:nvSpPr>
          <p:spPr bwMode="auto">
            <a:xfrm flipH="1">
              <a:off x="1344" y="1584"/>
              <a:ext cx="1104" cy="624"/>
            </a:xfrm>
            <a:prstGeom prst="line">
              <a:avLst/>
            </a:prstGeom>
            <a:noFill/>
            <a:ln w="28575">
              <a:solidFill>
                <a:schemeClr val="hlink"/>
              </a:solidFill>
              <a:miter lim="800000"/>
              <a:headEnd type="oval" w="med" len="med"/>
              <a:tailEnd type="triangle" w="med" len="med"/>
            </a:ln>
            <a:effectLst/>
          </p:spPr>
          <p:txBody>
            <a:bodyPr wrap="none"/>
            <a:lstStyle/>
            <a:p>
              <a:endParaRPr lang="en-US"/>
            </a:p>
          </p:txBody>
        </p:sp>
        <p:sp>
          <p:nvSpPr>
            <p:cNvPr id="27662" name="Line 14"/>
            <p:cNvSpPr>
              <a:spLocks noChangeShapeType="1"/>
            </p:cNvSpPr>
            <p:nvPr/>
          </p:nvSpPr>
          <p:spPr bwMode="auto">
            <a:xfrm>
              <a:off x="2448" y="1584"/>
              <a:ext cx="672" cy="624"/>
            </a:xfrm>
            <a:prstGeom prst="line">
              <a:avLst/>
            </a:prstGeom>
            <a:noFill/>
            <a:ln w="28575">
              <a:solidFill>
                <a:schemeClr val="hlink"/>
              </a:solidFill>
              <a:miter lim="800000"/>
              <a:headEnd type="oval" w="med" len="med"/>
              <a:tailEnd type="triangle" w="med" len="med"/>
            </a:ln>
            <a:effectLst/>
          </p:spPr>
          <p:txBody>
            <a:bodyPr wrap="none"/>
            <a:lstStyle/>
            <a:p>
              <a:endParaRPr lang="en-US"/>
            </a:p>
          </p:txBody>
        </p:sp>
        <p:sp>
          <p:nvSpPr>
            <p:cNvPr id="27663" name="Line 15"/>
            <p:cNvSpPr>
              <a:spLocks noChangeShapeType="1"/>
            </p:cNvSpPr>
            <p:nvPr/>
          </p:nvSpPr>
          <p:spPr bwMode="auto">
            <a:xfrm flipH="1">
              <a:off x="1248" y="1584"/>
              <a:ext cx="1200" cy="1440"/>
            </a:xfrm>
            <a:prstGeom prst="line">
              <a:avLst/>
            </a:prstGeom>
            <a:noFill/>
            <a:ln w="28575">
              <a:solidFill>
                <a:schemeClr val="hlink"/>
              </a:solidFill>
              <a:miter lim="800000"/>
              <a:headEnd type="oval" w="med" len="med"/>
              <a:tailEnd type="triangle" w="med" len="med"/>
            </a:ln>
            <a:effectLst/>
          </p:spPr>
          <p:txBody>
            <a:bodyPr wrap="none"/>
            <a:lstStyle/>
            <a:p>
              <a:endParaRPr lang="en-US"/>
            </a:p>
          </p:txBody>
        </p:sp>
      </p:grpSp>
      <p:sp>
        <p:nvSpPr>
          <p:cNvPr id="27665" name="Text Box 17"/>
          <p:cNvSpPr txBox="1">
            <a:spLocks noChangeArrowheads="1"/>
          </p:cNvSpPr>
          <p:nvPr/>
        </p:nvSpPr>
        <p:spPr bwMode="auto">
          <a:xfrm>
            <a:off x="1905000" y="1981200"/>
            <a:ext cx="4953000" cy="457200"/>
          </a:xfrm>
          <a:prstGeom prst="rect">
            <a:avLst/>
          </a:prstGeom>
          <a:noFill/>
          <a:ln w="9525">
            <a:noFill/>
            <a:miter lim="800000"/>
            <a:headEnd/>
            <a:tailEnd/>
          </a:ln>
          <a:effectLst/>
        </p:spPr>
        <p:txBody>
          <a:bodyPr>
            <a:spAutoFit/>
          </a:bodyPr>
          <a:lstStyle/>
          <a:p>
            <a:pPr>
              <a:spcBef>
                <a:spcPct val="50000"/>
              </a:spcBef>
              <a:buFontTx/>
              <a:buChar char="•"/>
            </a:pPr>
            <a:r>
              <a:rPr lang="en-US">
                <a:solidFill>
                  <a:schemeClr val="tx2"/>
                </a:solidFill>
              </a:rPr>
              <a:t> UML Operation presentation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r>
              <a:rPr lang="en-US"/>
              <a:t>Chapter 6-Object-oriented design</a:t>
            </a:r>
          </a:p>
        </p:txBody>
      </p:sp>
      <p:sp>
        <p:nvSpPr>
          <p:cNvPr id="9" name="Slide Number Placeholder 5"/>
          <p:cNvSpPr>
            <a:spLocks noGrp="1"/>
          </p:cNvSpPr>
          <p:nvPr>
            <p:ph type="sldNum" sz="quarter" idx="12"/>
          </p:nvPr>
        </p:nvSpPr>
        <p:spPr/>
        <p:txBody>
          <a:bodyPr/>
          <a:lstStyle/>
          <a:p>
            <a:fld id="{8271A5C5-A300-4660-AEC4-8FFA9DE42CFB}" type="slidenum">
              <a:rPr lang="en-US"/>
              <a:pPr/>
              <a:t>69</a:t>
            </a:fld>
            <a:endParaRPr lang="en-US"/>
          </a:p>
        </p:txBody>
      </p:sp>
      <p:sp>
        <p:nvSpPr>
          <p:cNvPr id="28674" name="Rectangle 2"/>
          <p:cNvSpPr>
            <a:spLocks noGrp="1" noChangeArrowheads="1"/>
          </p:cNvSpPr>
          <p:nvPr>
            <p:ph type="title"/>
          </p:nvPr>
        </p:nvSpPr>
        <p:spPr/>
        <p:txBody>
          <a:bodyPr/>
          <a:lstStyle/>
          <a:p>
            <a:r>
              <a:rPr lang="en-US" sz="3600"/>
              <a:t>Design Methods and Protocols</a:t>
            </a:r>
          </a:p>
        </p:txBody>
      </p:sp>
      <p:grpSp>
        <p:nvGrpSpPr>
          <p:cNvPr id="2" name="Group 8"/>
          <p:cNvGrpSpPr>
            <a:grpSpLocks/>
          </p:cNvGrpSpPr>
          <p:nvPr/>
        </p:nvGrpSpPr>
        <p:grpSpPr bwMode="auto">
          <a:xfrm>
            <a:off x="2133600" y="2819400"/>
            <a:ext cx="4419600" cy="2873375"/>
            <a:chOff x="1344" y="1646"/>
            <a:chExt cx="2784" cy="1810"/>
          </a:xfrm>
        </p:grpSpPr>
        <p:sp>
          <p:nvSpPr>
            <p:cNvPr id="28677" name="Text Box 5"/>
            <p:cNvSpPr txBox="1">
              <a:spLocks noChangeArrowheads="1"/>
            </p:cNvSpPr>
            <p:nvPr/>
          </p:nvSpPr>
          <p:spPr bwMode="auto">
            <a:xfrm>
              <a:off x="1344" y="1646"/>
              <a:ext cx="2784" cy="294"/>
            </a:xfrm>
            <a:prstGeom prst="rect">
              <a:avLst/>
            </a:prstGeom>
            <a:noFill/>
            <a:ln w="9525">
              <a:solidFill>
                <a:schemeClr val="tx1"/>
              </a:solidFill>
              <a:miter lim="800000"/>
              <a:headEnd/>
              <a:tailEnd/>
            </a:ln>
            <a:effectLst/>
          </p:spPr>
          <p:txBody>
            <a:bodyPr>
              <a:spAutoFit/>
            </a:bodyPr>
            <a:lstStyle/>
            <a:p>
              <a:pPr algn="ctr">
                <a:spcBef>
                  <a:spcPct val="50000"/>
                </a:spcBef>
              </a:pPr>
              <a:r>
                <a:rPr lang="en-US"/>
                <a:t>Student</a:t>
              </a:r>
            </a:p>
          </p:txBody>
        </p:sp>
        <p:sp>
          <p:nvSpPr>
            <p:cNvPr id="28678" name="Text Box 6"/>
            <p:cNvSpPr txBox="1">
              <a:spLocks noChangeArrowheads="1"/>
            </p:cNvSpPr>
            <p:nvPr/>
          </p:nvSpPr>
          <p:spPr bwMode="auto">
            <a:xfrm>
              <a:off x="1344" y="1940"/>
              <a:ext cx="2784" cy="754"/>
            </a:xfrm>
            <a:prstGeom prst="rect">
              <a:avLst/>
            </a:prstGeom>
            <a:noFill/>
            <a:ln w="9525">
              <a:solidFill>
                <a:schemeClr val="tx1"/>
              </a:solidFill>
              <a:miter lim="800000"/>
              <a:headEnd/>
              <a:tailEnd/>
            </a:ln>
            <a:effectLst/>
          </p:spPr>
          <p:txBody>
            <a:bodyPr>
              <a:spAutoFit/>
            </a:bodyPr>
            <a:lstStyle/>
            <a:p>
              <a:pPr>
                <a:spcBef>
                  <a:spcPct val="50000"/>
                </a:spcBef>
              </a:pPr>
              <a:r>
                <a:rPr lang="en-US"/>
                <a:t>StudentId                         Name                              Address</a:t>
              </a:r>
            </a:p>
          </p:txBody>
        </p:sp>
        <p:sp>
          <p:nvSpPr>
            <p:cNvPr id="28679" name="Text Box 7"/>
            <p:cNvSpPr txBox="1">
              <a:spLocks noChangeArrowheads="1"/>
            </p:cNvSpPr>
            <p:nvPr/>
          </p:nvSpPr>
          <p:spPr bwMode="auto">
            <a:xfrm>
              <a:off x="1344" y="2702"/>
              <a:ext cx="2784" cy="754"/>
            </a:xfrm>
            <a:prstGeom prst="rect">
              <a:avLst/>
            </a:prstGeom>
            <a:noFill/>
            <a:ln w="9525">
              <a:solidFill>
                <a:schemeClr val="tx1"/>
              </a:solidFill>
              <a:miter lim="800000"/>
              <a:headEnd/>
              <a:tailEnd/>
            </a:ln>
            <a:effectLst/>
          </p:spPr>
          <p:txBody>
            <a:bodyPr>
              <a:spAutoFit/>
            </a:bodyPr>
            <a:lstStyle/>
            <a:p>
              <a:pPr>
                <a:spcBef>
                  <a:spcPct val="50000"/>
                </a:spcBef>
              </a:pPr>
              <a:r>
                <a:rPr lang="en-US"/>
                <a:t>+getStudentId(): int +getName(): string +getAddress(): string</a:t>
              </a:r>
            </a:p>
          </p:txBody>
        </p:sp>
      </p:grpSp>
      <p:sp>
        <p:nvSpPr>
          <p:cNvPr id="28681" name="Text Box 9"/>
          <p:cNvSpPr txBox="1">
            <a:spLocks noChangeArrowheads="1"/>
          </p:cNvSpPr>
          <p:nvPr/>
        </p:nvSpPr>
        <p:spPr bwMode="auto">
          <a:xfrm>
            <a:off x="1524000" y="2209800"/>
            <a:ext cx="1676400" cy="457200"/>
          </a:xfrm>
          <a:prstGeom prst="rect">
            <a:avLst/>
          </a:prstGeom>
          <a:noFill/>
          <a:ln w="9525">
            <a:noFill/>
            <a:miter lim="800000"/>
            <a:headEnd/>
            <a:tailEnd/>
          </a:ln>
          <a:effectLst/>
        </p:spPr>
        <p:txBody>
          <a:bodyPr>
            <a:spAutoFit/>
          </a:bodyPr>
          <a:lstStyle/>
          <a:p>
            <a:pPr>
              <a:spcBef>
                <a:spcPct val="50000"/>
              </a:spcBef>
            </a:pPr>
            <a:r>
              <a:rPr lang="en-US" u="sng"/>
              <a:t>Example: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3046AD37-443D-49C9-9471-B0BD65BC7D54}" type="slidenum">
              <a:rPr lang="en-US"/>
              <a:pPr/>
              <a:t>70</a:t>
            </a:fld>
            <a:endParaRPr lang="en-US"/>
          </a:p>
        </p:txBody>
      </p:sp>
      <p:sp>
        <p:nvSpPr>
          <p:cNvPr id="29698" name="Rectangle 2"/>
          <p:cNvSpPr>
            <a:spLocks noGrp="1" noChangeArrowheads="1"/>
          </p:cNvSpPr>
          <p:nvPr>
            <p:ph type="title"/>
          </p:nvPr>
        </p:nvSpPr>
        <p:spPr/>
        <p:txBody>
          <a:bodyPr/>
          <a:lstStyle/>
          <a:p>
            <a:r>
              <a:rPr lang="en-US" sz="3600"/>
              <a:t>Design Methods and Protocols</a:t>
            </a:r>
          </a:p>
        </p:txBody>
      </p:sp>
      <p:sp>
        <p:nvSpPr>
          <p:cNvPr id="29699" name="Rectangle 3"/>
          <p:cNvSpPr>
            <a:spLocks noGrp="1" noChangeArrowheads="1"/>
          </p:cNvSpPr>
          <p:nvPr>
            <p:ph type="body" idx="1"/>
          </p:nvPr>
        </p:nvSpPr>
        <p:spPr>
          <a:xfrm>
            <a:off x="838200" y="2133600"/>
            <a:ext cx="7772400" cy="3733800"/>
          </a:xfrm>
        </p:spPr>
        <p:txBody>
          <a:bodyPr/>
          <a:lstStyle/>
          <a:p>
            <a:pPr>
              <a:lnSpc>
                <a:spcPct val="90000"/>
              </a:lnSpc>
            </a:pPr>
            <a:r>
              <a:rPr lang="en-US" sz="2800"/>
              <a:t>The method should discuss:</a:t>
            </a:r>
          </a:p>
          <a:p>
            <a:pPr lvl="1">
              <a:lnSpc>
                <a:spcPct val="90000"/>
              </a:lnSpc>
            </a:pPr>
            <a:r>
              <a:rPr lang="en-US" sz="2400"/>
              <a:t>How operation are to be implemented</a:t>
            </a:r>
          </a:p>
          <a:p>
            <a:pPr lvl="1">
              <a:lnSpc>
                <a:spcPct val="90000"/>
              </a:lnSpc>
            </a:pPr>
            <a:r>
              <a:rPr lang="en-US" sz="2400"/>
              <a:t>How attributes are to implemented and used to implement operations</a:t>
            </a:r>
          </a:p>
          <a:p>
            <a:pPr lvl="1">
              <a:lnSpc>
                <a:spcPct val="90000"/>
              </a:lnSpc>
            </a:pPr>
            <a:r>
              <a:rPr lang="en-US" sz="2400"/>
              <a:t>How relationship are to be implemented and used to implement operations</a:t>
            </a:r>
          </a:p>
          <a:p>
            <a:pPr lvl="1">
              <a:lnSpc>
                <a:spcPct val="90000"/>
              </a:lnSpc>
            </a:pPr>
            <a:r>
              <a:rPr lang="en-US" sz="2400"/>
              <a:t>What other objects &amp; operations are to used</a:t>
            </a:r>
          </a:p>
          <a:p>
            <a:pPr lvl="1">
              <a:lnSpc>
                <a:spcPct val="90000"/>
              </a:lnSpc>
            </a:pPr>
            <a:r>
              <a:rPr lang="en-US" sz="2400"/>
              <a:t>How parameters are to be implemented</a:t>
            </a:r>
          </a:p>
          <a:p>
            <a:pPr lvl="1">
              <a:lnSpc>
                <a:spcPct val="90000"/>
              </a:lnSpc>
            </a:pPr>
            <a:r>
              <a:rPr lang="en-US" sz="2400"/>
              <a:t>Any special algorithms to be used</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BC95F139-660C-425B-9E3C-2B997276A43C}" type="slidenum">
              <a:rPr lang="en-US"/>
              <a:pPr/>
              <a:t>71</a:t>
            </a:fld>
            <a:endParaRPr lang="en-US"/>
          </a:p>
        </p:txBody>
      </p:sp>
      <p:sp>
        <p:nvSpPr>
          <p:cNvPr id="30722" name="Rectangle 2"/>
          <p:cNvSpPr>
            <a:spLocks noGrp="1" noChangeArrowheads="1"/>
          </p:cNvSpPr>
          <p:nvPr>
            <p:ph type="title"/>
          </p:nvPr>
        </p:nvSpPr>
        <p:spPr/>
        <p:txBody>
          <a:bodyPr/>
          <a:lstStyle/>
          <a:p>
            <a:r>
              <a:rPr lang="en-US" sz="3600"/>
              <a:t>Design Methods and Protocols</a:t>
            </a:r>
          </a:p>
        </p:txBody>
      </p:sp>
      <p:sp>
        <p:nvSpPr>
          <p:cNvPr id="30723" name="Rectangle 3"/>
          <p:cNvSpPr>
            <a:spLocks noGrp="1" noChangeArrowheads="1"/>
          </p:cNvSpPr>
          <p:nvPr>
            <p:ph type="body" idx="1"/>
          </p:nvPr>
        </p:nvSpPr>
        <p:spPr/>
        <p:txBody>
          <a:bodyPr/>
          <a:lstStyle/>
          <a:p>
            <a:r>
              <a:rPr lang="en-US" sz="2800"/>
              <a:t>A class can provide several types of methods:</a:t>
            </a:r>
          </a:p>
          <a:p>
            <a:pPr lvl="1"/>
            <a:r>
              <a:rPr lang="en-US" sz="2400"/>
              <a:t>Constructor – method that creates instances (objects) of the class</a:t>
            </a:r>
          </a:p>
          <a:p>
            <a:pPr lvl="1"/>
            <a:r>
              <a:rPr lang="en-US" sz="2400"/>
              <a:t>Destructor – method that destroys instances</a:t>
            </a:r>
          </a:p>
          <a:p>
            <a:pPr lvl="1"/>
            <a:r>
              <a:rPr lang="en-US" sz="2400"/>
              <a:t>Conversion method – method that converts a value from one unit of measure to another</a:t>
            </a:r>
          </a:p>
          <a:p>
            <a:pPr lvl="1"/>
            <a:r>
              <a:rPr lang="en-US" sz="2400"/>
              <a:t>Copy method – method that copies the contents of one instance to another instance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1E4BA5C3-4C01-414C-B27B-5BD0E0FB8A70}" type="slidenum">
              <a:rPr lang="en-US"/>
              <a:pPr/>
              <a:t>72</a:t>
            </a:fld>
            <a:endParaRPr lang="en-US"/>
          </a:p>
        </p:txBody>
      </p:sp>
      <p:sp>
        <p:nvSpPr>
          <p:cNvPr id="31746" name="Rectangle 2"/>
          <p:cNvSpPr>
            <a:spLocks noGrp="1" noChangeArrowheads="1"/>
          </p:cNvSpPr>
          <p:nvPr>
            <p:ph type="title"/>
          </p:nvPr>
        </p:nvSpPr>
        <p:spPr/>
        <p:txBody>
          <a:bodyPr/>
          <a:lstStyle/>
          <a:p>
            <a:r>
              <a:rPr lang="en-US" sz="3600"/>
              <a:t>Design Methods and Protocols</a:t>
            </a:r>
          </a:p>
        </p:txBody>
      </p:sp>
      <p:sp>
        <p:nvSpPr>
          <p:cNvPr id="31747" name="Rectangle 3"/>
          <p:cNvSpPr>
            <a:spLocks noGrp="1" noChangeArrowheads="1"/>
          </p:cNvSpPr>
          <p:nvPr>
            <p:ph type="body" idx="1"/>
          </p:nvPr>
        </p:nvSpPr>
        <p:spPr/>
        <p:txBody>
          <a:bodyPr/>
          <a:lstStyle/>
          <a:p>
            <a:pPr lvl="1"/>
            <a:r>
              <a:rPr lang="en-US" sz="2400"/>
              <a:t>Attribute set – method that sets the vales of one or more attributes</a:t>
            </a:r>
          </a:p>
          <a:p>
            <a:pPr lvl="1"/>
            <a:r>
              <a:rPr lang="en-US" sz="2400"/>
              <a:t>Attribute get – method that returns the value of one or more attributes</a:t>
            </a:r>
          </a:p>
          <a:p>
            <a:pPr lvl="1"/>
            <a:r>
              <a:rPr lang="en-US" sz="2400"/>
              <a:t>I/O methods - method that provide or receive data to or from a device</a:t>
            </a:r>
          </a:p>
          <a:p>
            <a:pPr lvl="1"/>
            <a:r>
              <a:rPr lang="en-US" sz="2400"/>
              <a:t>Domain specific – method specific to the application</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94BA1B9A-B2CD-4921-9926-F12649210090}" type="slidenum">
              <a:rPr lang="en-US"/>
              <a:pPr/>
              <a:t>73</a:t>
            </a:fld>
            <a:endParaRPr lang="en-US"/>
          </a:p>
        </p:txBody>
      </p:sp>
      <p:sp>
        <p:nvSpPr>
          <p:cNvPr id="112642" name="Rectangle 2"/>
          <p:cNvSpPr>
            <a:spLocks noGrp="1" noChangeArrowheads="1"/>
          </p:cNvSpPr>
          <p:nvPr>
            <p:ph type="title"/>
          </p:nvPr>
        </p:nvSpPr>
        <p:spPr/>
        <p:txBody>
          <a:bodyPr/>
          <a:lstStyle/>
          <a:p>
            <a:r>
              <a:rPr lang="en-US" dirty="0"/>
              <a:t>Class Diagram</a:t>
            </a:r>
          </a:p>
        </p:txBody>
      </p:sp>
      <p:sp>
        <p:nvSpPr>
          <p:cNvPr id="112643" name="Rectangle 3"/>
          <p:cNvSpPr>
            <a:spLocks noGrp="1" noChangeArrowheads="1"/>
          </p:cNvSpPr>
          <p:nvPr>
            <p:ph type="body" idx="1"/>
          </p:nvPr>
        </p:nvSpPr>
        <p:spPr/>
        <p:txBody>
          <a:bodyPr/>
          <a:lstStyle/>
          <a:p>
            <a:r>
              <a:rPr lang="en-US" sz="2800"/>
              <a:t>A class diagram shows a set of classes, interfaces, and collaborations and their relationships</a:t>
            </a:r>
          </a:p>
          <a:p>
            <a:r>
              <a:rPr lang="en-US" sz="2800"/>
              <a:t>Model the static view of the system, which supports the functional requirements</a:t>
            </a:r>
          </a:p>
          <a:p>
            <a:r>
              <a:rPr lang="en-US" sz="2800"/>
              <a:t>Made up of the following basic elements</a:t>
            </a:r>
          </a:p>
          <a:p>
            <a:pPr lvl="1"/>
            <a:r>
              <a:rPr lang="en-US" sz="2400"/>
              <a:t>Classes</a:t>
            </a:r>
          </a:p>
          <a:p>
            <a:pPr lvl="1"/>
            <a:r>
              <a:rPr lang="en-US" sz="2400"/>
              <a:t>Relationships(associations, aggregations, generalization, dependency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ooter Placeholder 4"/>
          <p:cNvSpPr>
            <a:spLocks noGrp="1"/>
          </p:cNvSpPr>
          <p:nvPr>
            <p:ph type="ftr" sz="quarter" idx="11"/>
          </p:nvPr>
        </p:nvSpPr>
        <p:spPr/>
        <p:txBody>
          <a:bodyPr/>
          <a:lstStyle/>
          <a:p>
            <a:r>
              <a:rPr lang="en-US"/>
              <a:t>Chapter 6-Object-oriented design</a:t>
            </a:r>
          </a:p>
        </p:txBody>
      </p:sp>
      <p:sp>
        <p:nvSpPr>
          <p:cNvPr id="40" name="Slide Number Placeholder 5"/>
          <p:cNvSpPr>
            <a:spLocks noGrp="1"/>
          </p:cNvSpPr>
          <p:nvPr>
            <p:ph type="sldNum" sz="quarter" idx="12"/>
          </p:nvPr>
        </p:nvSpPr>
        <p:spPr/>
        <p:txBody>
          <a:bodyPr/>
          <a:lstStyle/>
          <a:p>
            <a:fld id="{F7DB2DC7-41AA-428F-8A37-3386443F7CD2}" type="slidenum">
              <a:rPr lang="en-US"/>
              <a:pPr/>
              <a:t>74</a:t>
            </a:fld>
            <a:endParaRPr lang="en-US"/>
          </a:p>
        </p:txBody>
      </p:sp>
      <p:sp>
        <p:nvSpPr>
          <p:cNvPr id="113666" name="Rectangle 2"/>
          <p:cNvSpPr>
            <a:spLocks noGrp="1" noChangeArrowheads="1"/>
          </p:cNvSpPr>
          <p:nvPr>
            <p:ph type="title"/>
          </p:nvPr>
        </p:nvSpPr>
        <p:spPr/>
        <p:txBody>
          <a:bodyPr/>
          <a:lstStyle/>
          <a:p>
            <a:r>
              <a:rPr lang="en-US" dirty="0"/>
              <a:t>Class Diagram</a:t>
            </a:r>
          </a:p>
        </p:txBody>
      </p:sp>
      <p:sp>
        <p:nvSpPr>
          <p:cNvPr id="113667" name="Rectangle 3"/>
          <p:cNvSpPr>
            <a:spLocks noGrp="1" noChangeArrowheads="1"/>
          </p:cNvSpPr>
          <p:nvPr>
            <p:ph type="body" idx="1"/>
          </p:nvPr>
        </p:nvSpPr>
        <p:spPr/>
        <p:txBody>
          <a:bodyPr/>
          <a:lstStyle/>
          <a:p>
            <a:r>
              <a:rPr lang="en-US"/>
              <a:t>Example :</a:t>
            </a:r>
          </a:p>
        </p:txBody>
      </p:sp>
      <p:grpSp>
        <p:nvGrpSpPr>
          <p:cNvPr id="2" name="Group 4"/>
          <p:cNvGrpSpPr>
            <a:grpSpLocks/>
          </p:cNvGrpSpPr>
          <p:nvPr/>
        </p:nvGrpSpPr>
        <p:grpSpPr bwMode="auto">
          <a:xfrm>
            <a:off x="1752600" y="2819400"/>
            <a:ext cx="6172200" cy="3322638"/>
            <a:chOff x="1104" y="1776"/>
            <a:chExt cx="3888" cy="2093"/>
          </a:xfrm>
        </p:grpSpPr>
        <p:sp>
          <p:nvSpPr>
            <p:cNvPr id="113669" name="Text Box 5"/>
            <p:cNvSpPr txBox="1">
              <a:spLocks noChangeArrowheads="1"/>
            </p:cNvSpPr>
            <p:nvPr/>
          </p:nvSpPr>
          <p:spPr bwMode="auto">
            <a:xfrm>
              <a:off x="4056" y="3293"/>
              <a:ext cx="192" cy="216"/>
            </a:xfrm>
            <a:prstGeom prst="rect">
              <a:avLst/>
            </a:prstGeom>
            <a:solidFill>
              <a:srgbClr val="FFFFFF"/>
            </a:solidFill>
            <a:ln w="9525">
              <a:noFill/>
              <a:miter lim="800000"/>
              <a:headEnd/>
              <a:tailEnd/>
            </a:ln>
          </p:spPr>
          <p:txBody>
            <a:bodyPr/>
            <a:lstStyle/>
            <a:p>
              <a:pPr eaLnBrk="0" hangingPunct="0"/>
              <a:r>
                <a:rPr lang="en-US" sz="1400">
                  <a:latin typeface="Times New Roman" pitchFamily="18" charset="0"/>
                </a:rPr>
                <a:t>1 </a:t>
              </a:r>
            </a:p>
          </p:txBody>
        </p:sp>
        <p:sp>
          <p:nvSpPr>
            <p:cNvPr id="113670" name="Text Box 6"/>
            <p:cNvSpPr txBox="1">
              <a:spLocks noChangeArrowheads="1"/>
            </p:cNvSpPr>
            <p:nvPr/>
          </p:nvSpPr>
          <p:spPr bwMode="auto">
            <a:xfrm>
              <a:off x="3336" y="3149"/>
              <a:ext cx="192" cy="216"/>
            </a:xfrm>
            <a:prstGeom prst="rect">
              <a:avLst/>
            </a:prstGeom>
            <a:solidFill>
              <a:srgbClr val="FFFFFF"/>
            </a:solidFill>
            <a:ln w="9525">
              <a:noFill/>
              <a:miter lim="800000"/>
              <a:headEnd/>
              <a:tailEnd/>
            </a:ln>
          </p:spPr>
          <p:txBody>
            <a:bodyPr/>
            <a:lstStyle/>
            <a:p>
              <a:pPr eaLnBrk="0" hangingPunct="0"/>
              <a:r>
                <a:rPr lang="en-US" sz="1400">
                  <a:latin typeface="Times New Roman" pitchFamily="18" charset="0"/>
                </a:rPr>
                <a:t>1 </a:t>
              </a:r>
            </a:p>
          </p:txBody>
        </p:sp>
        <p:sp>
          <p:nvSpPr>
            <p:cNvPr id="113671" name="Text Box 7"/>
            <p:cNvSpPr txBox="1">
              <a:spLocks noChangeArrowheads="1"/>
            </p:cNvSpPr>
            <p:nvPr/>
          </p:nvSpPr>
          <p:spPr bwMode="auto">
            <a:xfrm>
              <a:off x="3696" y="2069"/>
              <a:ext cx="336" cy="216"/>
            </a:xfrm>
            <a:prstGeom prst="rect">
              <a:avLst/>
            </a:prstGeom>
            <a:solidFill>
              <a:srgbClr val="FFFFFF"/>
            </a:solidFill>
            <a:ln w="9525">
              <a:noFill/>
              <a:miter lim="800000"/>
              <a:headEnd/>
              <a:tailEnd/>
            </a:ln>
          </p:spPr>
          <p:txBody>
            <a:bodyPr/>
            <a:lstStyle/>
            <a:p>
              <a:pPr eaLnBrk="0" hangingPunct="0"/>
              <a:r>
                <a:rPr lang="en-US" sz="1400">
                  <a:latin typeface="Times New Roman" pitchFamily="18" charset="0"/>
                </a:rPr>
                <a:t>0..4 </a:t>
              </a:r>
            </a:p>
          </p:txBody>
        </p:sp>
        <p:sp>
          <p:nvSpPr>
            <p:cNvPr id="113672" name="Text Box 8"/>
            <p:cNvSpPr txBox="1">
              <a:spLocks noChangeArrowheads="1"/>
            </p:cNvSpPr>
            <p:nvPr/>
          </p:nvSpPr>
          <p:spPr bwMode="auto">
            <a:xfrm>
              <a:off x="2616" y="2789"/>
              <a:ext cx="192" cy="216"/>
            </a:xfrm>
            <a:prstGeom prst="rect">
              <a:avLst/>
            </a:prstGeom>
            <a:solidFill>
              <a:srgbClr val="FFFFFF"/>
            </a:solidFill>
            <a:ln w="9525">
              <a:noFill/>
              <a:miter lim="800000"/>
              <a:headEnd/>
              <a:tailEnd/>
            </a:ln>
          </p:spPr>
          <p:txBody>
            <a:bodyPr/>
            <a:lstStyle/>
            <a:p>
              <a:pPr eaLnBrk="0" hangingPunct="0"/>
              <a:r>
                <a:rPr lang="en-US" sz="1400">
                  <a:latin typeface="Times New Roman" pitchFamily="18" charset="0"/>
                </a:rPr>
                <a:t>1 </a:t>
              </a:r>
            </a:p>
          </p:txBody>
        </p:sp>
        <p:sp>
          <p:nvSpPr>
            <p:cNvPr id="113673" name="Text Box 9"/>
            <p:cNvSpPr txBox="1">
              <a:spLocks noChangeArrowheads="1"/>
            </p:cNvSpPr>
            <p:nvPr/>
          </p:nvSpPr>
          <p:spPr bwMode="auto">
            <a:xfrm>
              <a:off x="2544" y="2429"/>
              <a:ext cx="192" cy="216"/>
            </a:xfrm>
            <a:prstGeom prst="rect">
              <a:avLst/>
            </a:prstGeom>
            <a:solidFill>
              <a:srgbClr val="FFFFFF"/>
            </a:solidFill>
            <a:ln w="9525">
              <a:noFill/>
              <a:miter lim="800000"/>
              <a:headEnd/>
              <a:tailEnd/>
            </a:ln>
          </p:spPr>
          <p:txBody>
            <a:bodyPr/>
            <a:lstStyle/>
            <a:p>
              <a:pPr eaLnBrk="0" hangingPunct="0"/>
              <a:r>
                <a:rPr lang="en-US" sz="1400">
                  <a:latin typeface="Times New Roman" pitchFamily="18" charset="0"/>
                </a:rPr>
                <a:t>1 </a:t>
              </a:r>
            </a:p>
          </p:txBody>
        </p:sp>
        <p:sp>
          <p:nvSpPr>
            <p:cNvPr id="113674" name="Text Box 10"/>
            <p:cNvSpPr txBox="1">
              <a:spLocks noChangeArrowheads="1"/>
            </p:cNvSpPr>
            <p:nvPr/>
          </p:nvSpPr>
          <p:spPr bwMode="auto">
            <a:xfrm>
              <a:off x="1536" y="2789"/>
              <a:ext cx="192" cy="216"/>
            </a:xfrm>
            <a:prstGeom prst="rect">
              <a:avLst/>
            </a:prstGeom>
            <a:solidFill>
              <a:srgbClr val="FFFFFF"/>
            </a:solidFill>
            <a:ln w="9525">
              <a:noFill/>
              <a:miter lim="800000"/>
              <a:headEnd/>
              <a:tailEnd/>
            </a:ln>
          </p:spPr>
          <p:txBody>
            <a:bodyPr/>
            <a:lstStyle/>
            <a:p>
              <a:pPr eaLnBrk="0" hangingPunct="0"/>
              <a:r>
                <a:rPr lang="en-US" sz="1400">
                  <a:latin typeface="Times New Roman" pitchFamily="18" charset="0"/>
                </a:rPr>
                <a:t>1 </a:t>
              </a:r>
            </a:p>
          </p:txBody>
        </p:sp>
        <p:sp>
          <p:nvSpPr>
            <p:cNvPr id="113675" name="Text Box 11"/>
            <p:cNvSpPr txBox="1">
              <a:spLocks noChangeArrowheads="1"/>
            </p:cNvSpPr>
            <p:nvPr/>
          </p:nvSpPr>
          <p:spPr bwMode="auto">
            <a:xfrm>
              <a:off x="1968" y="2429"/>
              <a:ext cx="192" cy="216"/>
            </a:xfrm>
            <a:prstGeom prst="rect">
              <a:avLst/>
            </a:prstGeom>
            <a:solidFill>
              <a:srgbClr val="FFFFFF"/>
            </a:solidFill>
            <a:ln w="9525">
              <a:noFill/>
              <a:miter lim="800000"/>
              <a:headEnd/>
              <a:tailEnd/>
            </a:ln>
          </p:spPr>
          <p:txBody>
            <a:bodyPr/>
            <a:lstStyle/>
            <a:p>
              <a:pPr eaLnBrk="0" hangingPunct="0"/>
              <a:r>
                <a:rPr lang="en-US" sz="1400">
                  <a:latin typeface="Times New Roman" pitchFamily="18" charset="0"/>
                </a:rPr>
                <a:t>1 </a:t>
              </a:r>
            </a:p>
          </p:txBody>
        </p:sp>
        <p:sp>
          <p:nvSpPr>
            <p:cNvPr id="113676" name="Text Box 12"/>
            <p:cNvSpPr txBox="1">
              <a:spLocks noChangeArrowheads="1"/>
            </p:cNvSpPr>
            <p:nvPr/>
          </p:nvSpPr>
          <p:spPr bwMode="auto">
            <a:xfrm>
              <a:off x="3192" y="2789"/>
              <a:ext cx="192" cy="216"/>
            </a:xfrm>
            <a:prstGeom prst="rect">
              <a:avLst/>
            </a:prstGeom>
            <a:solidFill>
              <a:srgbClr val="FFFFFF"/>
            </a:solidFill>
            <a:ln w="9525">
              <a:noFill/>
              <a:miter lim="800000"/>
              <a:headEnd/>
              <a:tailEnd/>
            </a:ln>
          </p:spPr>
          <p:txBody>
            <a:bodyPr/>
            <a:lstStyle/>
            <a:p>
              <a:pPr eaLnBrk="0" hangingPunct="0"/>
              <a:r>
                <a:rPr lang="en-US" sz="1400">
                  <a:latin typeface="Times New Roman" pitchFamily="18" charset="0"/>
                </a:rPr>
                <a:t>1 </a:t>
              </a:r>
            </a:p>
          </p:txBody>
        </p:sp>
        <p:grpSp>
          <p:nvGrpSpPr>
            <p:cNvPr id="3" name="Group 13"/>
            <p:cNvGrpSpPr>
              <a:grpSpLocks/>
            </p:cNvGrpSpPr>
            <p:nvPr/>
          </p:nvGrpSpPr>
          <p:grpSpPr bwMode="auto">
            <a:xfrm>
              <a:off x="1896" y="1853"/>
              <a:ext cx="864" cy="576"/>
              <a:chOff x="3600" y="9720"/>
              <a:chExt cx="2160" cy="1440"/>
            </a:xfrm>
          </p:grpSpPr>
          <p:sp>
            <p:nvSpPr>
              <p:cNvPr id="113678" name="Text Box 14"/>
              <p:cNvSpPr txBox="1">
                <a:spLocks noChangeArrowheads="1"/>
              </p:cNvSpPr>
              <p:nvPr/>
            </p:nvSpPr>
            <p:spPr bwMode="auto">
              <a:xfrm>
                <a:off x="3600" y="9720"/>
                <a:ext cx="2160" cy="1440"/>
              </a:xfrm>
              <a:prstGeom prst="rect">
                <a:avLst/>
              </a:prstGeom>
              <a:solidFill>
                <a:srgbClr val="FFFFFF"/>
              </a:solidFill>
              <a:ln w="9525">
                <a:solidFill>
                  <a:srgbClr val="000000"/>
                </a:solidFill>
                <a:miter lim="800000"/>
                <a:headEnd/>
                <a:tailEnd/>
              </a:ln>
            </p:spPr>
            <p:txBody>
              <a:bodyPr/>
              <a:lstStyle/>
              <a:p>
                <a:pPr eaLnBrk="0" hangingPunct="0"/>
                <a:r>
                  <a:rPr lang="en-US" sz="1400">
                    <a:latin typeface="Times New Roman" pitchFamily="18" charset="0"/>
                  </a:rPr>
                  <a:t>&lt;&lt;boundary&gt;&gt;</a:t>
                </a:r>
              </a:p>
              <a:p>
                <a:pPr eaLnBrk="0" hangingPunct="0"/>
                <a:r>
                  <a:rPr lang="en-US" sz="1400">
                    <a:latin typeface="Times New Roman" pitchFamily="18" charset="0"/>
                  </a:rPr>
                  <a:t>ScheduleForm</a:t>
                </a:r>
              </a:p>
            </p:txBody>
          </p:sp>
          <p:sp>
            <p:nvSpPr>
              <p:cNvPr id="113679" name="Line 15"/>
              <p:cNvSpPr>
                <a:spLocks noChangeShapeType="1"/>
              </p:cNvSpPr>
              <p:nvPr/>
            </p:nvSpPr>
            <p:spPr bwMode="auto">
              <a:xfrm>
                <a:off x="3600" y="10440"/>
                <a:ext cx="2160" cy="0"/>
              </a:xfrm>
              <a:prstGeom prst="line">
                <a:avLst/>
              </a:prstGeom>
              <a:noFill/>
              <a:ln w="9525">
                <a:solidFill>
                  <a:srgbClr val="000000"/>
                </a:solidFill>
                <a:round/>
                <a:headEnd/>
                <a:tailEnd/>
              </a:ln>
            </p:spPr>
            <p:txBody>
              <a:bodyPr/>
              <a:lstStyle/>
              <a:p>
                <a:endParaRPr lang="en-US"/>
              </a:p>
            </p:txBody>
          </p:sp>
          <p:sp>
            <p:nvSpPr>
              <p:cNvPr id="113680" name="Line 16"/>
              <p:cNvSpPr>
                <a:spLocks noChangeShapeType="1"/>
              </p:cNvSpPr>
              <p:nvPr/>
            </p:nvSpPr>
            <p:spPr bwMode="auto">
              <a:xfrm>
                <a:off x="3600" y="10800"/>
                <a:ext cx="2160" cy="0"/>
              </a:xfrm>
              <a:prstGeom prst="line">
                <a:avLst/>
              </a:prstGeom>
              <a:noFill/>
              <a:ln w="9525">
                <a:solidFill>
                  <a:srgbClr val="000000"/>
                </a:solidFill>
                <a:round/>
                <a:headEnd/>
                <a:tailEnd/>
              </a:ln>
            </p:spPr>
            <p:txBody>
              <a:bodyPr/>
              <a:lstStyle/>
              <a:p>
                <a:endParaRPr lang="en-US"/>
              </a:p>
            </p:txBody>
          </p:sp>
        </p:grpSp>
        <p:grpSp>
          <p:nvGrpSpPr>
            <p:cNvPr id="4" name="Group 17"/>
            <p:cNvGrpSpPr>
              <a:grpSpLocks/>
            </p:cNvGrpSpPr>
            <p:nvPr/>
          </p:nvGrpSpPr>
          <p:grpSpPr bwMode="auto">
            <a:xfrm>
              <a:off x="1104" y="2933"/>
              <a:ext cx="792" cy="576"/>
              <a:chOff x="3600" y="9720"/>
              <a:chExt cx="2160" cy="1440"/>
            </a:xfrm>
          </p:grpSpPr>
          <p:sp>
            <p:nvSpPr>
              <p:cNvPr id="113682" name="Text Box 18"/>
              <p:cNvSpPr txBox="1">
                <a:spLocks noChangeArrowheads="1"/>
              </p:cNvSpPr>
              <p:nvPr/>
            </p:nvSpPr>
            <p:spPr bwMode="auto">
              <a:xfrm>
                <a:off x="3600" y="9720"/>
                <a:ext cx="2160" cy="1440"/>
              </a:xfrm>
              <a:prstGeom prst="rect">
                <a:avLst/>
              </a:prstGeom>
              <a:solidFill>
                <a:srgbClr val="FFFFFF"/>
              </a:solidFill>
              <a:ln w="9525">
                <a:solidFill>
                  <a:srgbClr val="000000"/>
                </a:solidFill>
                <a:miter lim="800000"/>
                <a:headEnd/>
                <a:tailEnd/>
              </a:ln>
            </p:spPr>
            <p:txBody>
              <a:bodyPr/>
              <a:lstStyle/>
              <a:p>
                <a:pPr eaLnBrk="0" hangingPunct="0"/>
                <a:r>
                  <a:rPr lang="en-US" sz="1400">
                    <a:latin typeface="Times New Roman" pitchFamily="18" charset="0"/>
                  </a:rPr>
                  <a:t>&lt;&lt;entity&gt;&gt;</a:t>
                </a:r>
              </a:p>
              <a:p>
                <a:pPr eaLnBrk="0" hangingPunct="0"/>
                <a:r>
                  <a:rPr lang="en-US" sz="1400">
                    <a:latin typeface="Times New Roman" pitchFamily="18" charset="0"/>
                  </a:rPr>
                  <a:t>CourseCatalog</a:t>
                </a:r>
              </a:p>
            </p:txBody>
          </p:sp>
          <p:sp>
            <p:nvSpPr>
              <p:cNvPr id="113683" name="Line 19"/>
              <p:cNvSpPr>
                <a:spLocks noChangeShapeType="1"/>
              </p:cNvSpPr>
              <p:nvPr/>
            </p:nvSpPr>
            <p:spPr bwMode="auto">
              <a:xfrm>
                <a:off x="3600" y="10440"/>
                <a:ext cx="2160" cy="0"/>
              </a:xfrm>
              <a:prstGeom prst="line">
                <a:avLst/>
              </a:prstGeom>
              <a:noFill/>
              <a:ln w="9525">
                <a:solidFill>
                  <a:srgbClr val="000000"/>
                </a:solidFill>
                <a:round/>
                <a:headEnd/>
                <a:tailEnd/>
              </a:ln>
            </p:spPr>
            <p:txBody>
              <a:bodyPr/>
              <a:lstStyle/>
              <a:p>
                <a:endParaRPr lang="en-US"/>
              </a:p>
            </p:txBody>
          </p:sp>
          <p:sp>
            <p:nvSpPr>
              <p:cNvPr id="113684" name="Line 20"/>
              <p:cNvSpPr>
                <a:spLocks noChangeShapeType="1"/>
              </p:cNvSpPr>
              <p:nvPr/>
            </p:nvSpPr>
            <p:spPr bwMode="auto">
              <a:xfrm>
                <a:off x="3600" y="10800"/>
                <a:ext cx="2160" cy="0"/>
              </a:xfrm>
              <a:prstGeom prst="line">
                <a:avLst/>
              </a:prstGeom>
              <a:noFill/>
              <a:ln w="9525">
                <a:solidFill>
                  <a:srgbClr val="000000"/>
                </a:solidFill>
                <a:round/>
                <a:headEnd/>
                <a:tailEnd/>
              </a:ln>
            </p:spPr>
            <p:txBody>
              <a:bodyPr/>
              <a:lstStyle/>
              <a:p>
                <a:endParaRPr lang="en-US"/>
              </a:p>
            </p:txBody>
          </p:sp>
        </p:grpSp>
        <p:grpSp>
          <p:nvGrpSpPr>
            <p:cNvPr id="5" name="Group 21"/>
            <p:cNvGrpSpPr>
              <a:grpSpLocks/>
            </p:cNvGrpSpPr>
            <p:nvPr/>
          </p:nvGrpSpPr>
          <p:grpSpPr bwMode="auto">
            <a:xfrm>
              <a:off x="4200" y="3293"/>
              <a:ext cx="792" cy="576"/>
              <a:chOff x="3600" y="9720"/>
              <a:chExt cx="2160" cy="1440"/>
            </a:xfrm>
          </p:grpSpPr>
          <p:sp>
            <p:nvSpPr>
              <p:cNvPr id="113686" name="Text Box 22"/>
              <p:cNvSpPr txBox="1">
                <a:spLocks noChangeArrowheads="1"/>
              </p:cNvSpPr>
              <p:nvPr/>
            </p:nvSpPr>
            <p:spPr bwMode="auto">
              <a:xfrm>
                <a:off x="3600" y="9720"/>
                <a:ext cx="2160" cy="1440"/>
              </a:xfrm>
              <a:prstGeom prst="rect">
                <a:avLst/>
              </a:prstGeom>
              <a:solidFill>
                <a:srgbClr val="FFFFFF"/>
              </a:solidFill>
              <a:ln w="9525">
                <a:solidFill>
                  <a:srgbClr val="000000"/>
                </a:solidFill>
                <a:miter lim="800000"/>
                <a:headEnd/>
                <a:tailEnd/>
              </a:ln>
            </p:spPr>
            <p:txBody>
              <a:bodyPr/>
              <a:lstStyle/>
              <a:p>
                <a:pPr eaLnBrk="0" hangingPunct="0"/>
                <a:r>
                  <a:rPr lang="en-US" sz="1400">
                    <a:latin typeface="Times New Roman" pitchFamily="18" charset="0"/>
                  </a:rPr>
                  <a:t>&lt;&lt;entity&gt;&gt;</a:t>
                </a:r>
              </a:p>
              <a:p>
                <a:pPr eaLnBrk="0" hangingPunct="0"/>
                <a:r>
                  <a:rPr lang="en-US" sz="1400">
                    <a:latin typeface="Times New Roman" pitchFamily="18" charset="0"/>
                  </a:rPr>
                  <a:t>StudentRecord</a:t>
                </a:r>
              </a:p>
            </p:txBody>
          </p:sp>
          <p:sp>
            <p:nvSpPr>
              <p:cNvPr id="113687" name="Line 23"/>
              <p:cNvSpPr>
                <a:spLocks noChangeShapeType="1"/>
              </p:cNvSpPr>
              <p:nvPr/>
            </p:nvSpPr>
            <p:spPr bwMode="auto">
              <a:xfrm>
                <a:off x="3600" y="10440"/>
                <a:ext cx="2160" cy="0"/>
              </a:xfrm>
              <a:prstGeom prst="line">
                <a:avLst/>
              </a:prstGeom>
              <a:noFill/>
              <a:ln w="9525">
                <a:solidFill>
                  <a:srgbClr val="000000"/>
                </a:solidFill>
                <a:round/>
                <a:headEnd/>
                <a:tailEnd/>
              </a:ln>
            </p:spPr>
            <p:txBody>
              <a:bodyPr/>
              <a:lstStyle/>
              <a:p>
                <a:endParaRPr lang="en-US"/>
              </a:p>
            </p:txBody>
          </p:sp>
          <p:sp>
            <p:nvSpPr>
              <p:cNvPr id="113688" name="Line 24"/>
              <p:cNvSpPr>
                <a:spLocks noChangeShapeType="1"/>
              </p:cNvSpPr>
              <p:nvPr/>
            </p:nvSpPr>
            <p:spPr bwMode="auto">
              <a:xfrm>
                <a:off x="3600" y="10800"/>
                <a:ext cx="2160" cy="0"/>
              </a:xfrm>
              <a:prstGeom prst="line">
                <a:avLst/>
              </a:prstGeom>
              <a:noFill/>
              <a:ln w="9525">
                <a:solidFill>
                  <a:srgbClr val="000000"/>
                </a:solidFill>
                <a:round/>
                <a:headEnd/>
                <a:tailEnd/>
              </a:ln>
            </p:spPr>
            <p:txBody>
              <a:bodyPr/>
              <a:lstStyle/>
              <a:p>
                <a:endParaRPr lang="en-US"/>
              </a:p>
            </p:txBody>
          </p:sp>
        </p:grpSp>
        <p:grpSp>
          <p:nvGrpSpPr>
            <p:cNvPr id="6" name="Group 25"/>
            <p:cNvGrpSpPr>
              <a:grpSpLocks/>
            </p:cNvGrpSpPr>
            <p:nvPr/>
          </p:nvGrpSpPr>
          <p:grpSpPr bwMode="auto">
            <a:xfrm>
              <a:off x="4056" y="1776"/>
              <a:ext cx="648" cy="576"/>
              <a:chOff x="3600" y="9720"/>
              <a:chExt cx="2160" cy="1440"/>
            </a:xfrm>
          </p:grpSpPr>
          <p:sp>
            <p:nvSpPr>
              <p:cNvPr id="113690" name="Text Box 26"/>
              <p:cNvSpPr txBox="1">
                <a:spLocks noChangeArrowheads="1"/>
              </p:cNvSpPr>
              <p:nvPr/>
            </p:nvSpPr>
            <p:spPr bwMode="auto">
              <a:xfrm>
                <a:off x="3600" y="9720"/>
                <a:ext cx="2160" cy="1440"/>
              </a:xfrm>
              <a:prstGeom prst="rect">
                <a:avLst/>
              </a:prstGeom>
              <a:solidFill>
                <a:srgbClr val="FFFFFF"/>
              </a:solidFill>
              <a:ln w="9525">
                <a:solidFill>
                  <a:srgbClr val="000000"/>
                </a:solidFill>
                <a:miter lim="800000"/>
                <a:headEnd/>
                <a:tailEnd/>
              </a:ln>
            </p:spPr>
            <p:txBody>
              <a:bodyPr/>
              <a:lstStyle/>
              <a:p>
                <a:pPr eaLnBrk="0" hangingPunct="0"/>
                <a:r>
                  <a:rPr lang="en-US" sz="1400">
                    <a:latin typeface="Times New Roman" pitchFamily="18" charset="0"/>
                  </a:rPr>
                  <a:t>&lt;&lt;entity&gt;&gt;</a:t>
                </a:r>
              </a:p>
              <a:p>
                <a:pPr eaLnBrk="0" hangingPunct="0"/>
                <a:r>
                  <a:rPr lang="en-US" sz="1400">
                    <a:latin typeface="Times New Roman" pitchFamily="18" charset="0"/>
                  </a:rPr>
                  <a:t>Course</a:t>
                </a:r>
              </a:p>
            </p:txBody>
          </p:sp>
          <p:sp>
            <p:nvSpPr>
              <p:cNvPr id="113691" name="Line 27"/>
              <p:cNvSpPr>
                <a:spLocks noChangeShapeType="1"/>
              </p:cNvSpPr>
              <p:nvPr/>
            </p:nvSpPr>
            <p:spPr bwMode="auto">
              <a:xfrm>
                <a:off x="3600" y="10440"/>
                <a:ext cx="2160" cy="0"/>
              </a:xfrm>
              <a:prstGeom prst="line">
                <a:avLst/>
              </a:prstGeom>
              <a:noFill/>
              <a:ln w="9525">
                <a:solidFill>
                  <a:srgbClr val="000000"/>
                </a:solidFill>
                <a:round/>
                <a:headEnd/>
                <a:tailEnd/>
              </a:ln>
            </p:spPr>
            <p:txBody>
              <a:bodyPr/>
              <a:lstStyle/>
              <a:p>
                <a:endParaRPr lang="en-US"/>
              </a:p>
            </p:txBody>
          </p:sp>
          <p:sp>
            <p:nvSpPr>
              <p:cNvPr id="113692" name="Line 28"/>
              <p:cNvSpPr>
                <a:spLocks noChangeShapeType="1"/>
              </p:cNvSpPr>
              <p:nvPr/>
            </p:nvSpPr>
            <p:spPr bwMode="auto">
              <a:xfrm>
                <a:off x="3600" y="10800"/>
                <a:ext cx="2160" cy="0"/>
              </a:xfrm>
              <a:prstGeom prst="line">
                <a:avLst/>
              </a:prstGeom>
              <a:noFill/>
              <a:ln w="9525">
                <a:solidFill>
                  <a:srgbClr val="000000"/>
                </a:solidFill>
                <a:round/>
                <a:headEnd/>
                <a:tailEnd/>
              </a:ln>
            </p:spPr>
            <p:txBody>
              <a:bodyPr/>
              <a:lstStyle/>
              <a:p>
                <a:endParaRPr lang="en-US"/>
              </a:p>
            </p:txBody>
          </p:sp>
        </p:grpSp>
        <p:grpSp>
          <p:nvGrpSpPr>
            <p:cNvPr id="7" name="Group 29"/>
            <p:cNvGrpSpPr>
              <a:grpSpLocks/>
            </p:cNvGrpSpPr>
            <p:nvPr/>
          </p:nvGrpSpPr>
          <p:grpSpPr bwMode="auto">
            <a:xfrm>
              <a:off x="2160" y="3005"/>
              <a:ext cx="1176" cy="576"/>
              <a:chOff x="3600" y="9720"/>
              <a:chExt cx="2160" cy="1440"/>
            </a:xfrm>
          </p:grpSpPr>
          <p:sp>
            <p:nvSpPr>
              <p:cNvPr id="113694" name="Text Box 30"/>
              <p:cNvSpPr txBox="1">
                <a:spLocks noChangeArrowheads="1"/>
              </p:cNvSpPr>
              <p:nvPr/>
            </p:nvSpPr>
            <p:spPr bwMode="auto">
              <a:xfrm>
                <a:off x="3600" y="9720"/>
                <a:ext cx="2160" cy="1440"/>
              </a:xfrm>
              <a:prstGeom prst="rect">
                <a:avLst/>
              </a:prstGeom>
              <a:solidFill>
                <a:srgbClr val="FFFFFF"/>
              </a:solidFill>
              <a:ln w="9525">
                <a:solidFill>
                  <a:srgbClr val="000000"/>
                </a:solidFill>
                <a:miter lim="800000"/>
                <a:headEnd/>
                <a:tailEnd/>
              </a:ln>
            </p:spPr>
            <p:txBody>
              <a:bodyPr/>
              <a:lstStyle/>
              <a:p>
                <a:pPr eaLnBrk="0" hangingPunct="0"/>
                <a:r>
                  <a:rPr lang="en-US" sz="1400">
                    <a:latin typeface="Times New Roman" pitchFamily="18" charset="0"/>
                  </a:rPr>
                  <a:t>&lt;&lt;control&gt;&gt;</a:t>
                </a:r>
              </a:p>
              <a:p>
                <a:pPr eaLnBrk="0" hangingPunct="0"/>
                <a:r>
                  <a:rPr lang="en-US" sz="1400">
                    <a:latin typeface="Times New Roman" pitchFamily="18" charset="0"/>
                  </a:rPr>
                  <a:t>RegistrationController</a:t>
                </a:r>
              </a:p>
            </p:txBody>
          </p:sp>
          <p:sp>
            <p:nvSpPr>
              <p:cNvPr id="113695" name="Line 31"/>
              <p:cNvSpPr>
                <a:spLocks noChangeShapeType="1"/>
              </p:cNvSpPr>
              <p:nvPr/>
            </p:nvSpPr>
            <p:spPr bwMode="auto">
              <a:xfrm>
                <a:off x="3600" y="10440"/>
                <a:ext cx="2160" cy="0"/>
              </a:xfrm>
              <a:prstGeom prst="line">
                <a:avLst/>
              </a:prstGeom>
              <a:noFill/>
              <a:ln w="9525">
                <a:solidFill>
                  <a:srgbClr val="000000"/>
                </a:solidFill>
                <a:round/>
                <a:headEnd/>
                <a:tailEnd/>
              </a:ln>
            </p:spPr>
            <p:txBody>
              <a:bodyPr/>
              <a:lstStyle/>
              <a:p>
                <a:endParaRPr lang="en-US"/>
              </a:p>
            </p:txBody>
          </p:sp>
          <p:sp>
            <p:nvSpPr>
              <p:cNvPr id="113696" name="Line 32"/>
              <p:cNvSpPr>
                <a:spLocks noChangeShapeType="1"/>
              </p:cNvSpPr>
              <p:nvPr/>
            </p:nvSpPr>
            <p:spPr bwMode="auto">
              <a:xfrm>
                <a:off x="3600" y="10800"/>
                <a:ext cx="2160" cy="0"/>
              </a:xfrm>
              <a:prstGeom prst="line">
                <a:avLst/>
              </a:prstGeom>
              <a:noFill/>
              <a:ln w="9525">
                <a:solidFill>
                  <a:srgbClr val="000000"/>
                </a:solidFill>
                <a:round/>
                <a:headEnd/>
                <a:tailEnd/>
              </a:ln>
            </p:spPr>
            <p:txBody>
              <a:bodyPr/>
              <a:lstStyle/>
              <a:p>
                <a:endParaRPr lang="en-US"/>
              </a:p>
            </p:txBody>
          </p:sp>
        </p:grpSp>
        <p:sp>
          <p:nvSpPr>
            <p:cNvPr id="113697" name="Line 33"/>
            <p:cNvSpPr>
              <a:spLocks noChangeShapeType="1"/>
            </p:cNvSpPr>
            <p:nvPr/>
          </p:nvSpPr>
          <p:spPr bwMode="auto">
            <a:xfrm flipH="1">
              <a:off x="1392" y="2429"/>
              <a:ext cx="720" cy="504"/>
            </a:xfrm>
            <a:prstGeom prst="line">
              <a:avLst/>
            </a:prstGeom>
            <a:noFill/>
            <a:ln w="9525">
              <a:solidFill>
                <a:srgbClr val="000000"/>
              </a:solidFill>
              <a:round/>
              <a:headEnd/>
              <a:tailEnd/>
            </a:ln>
          </p:spPr>
          <p:txBody>
            <a:bodyPr/>
            <a:lstStyle/>
            <a:p>
              <a:endParaRPr lang="en-US"/>
            </a:p>
          </p:txBody>
        </p:sp>
        <p:sp>
          <p:nvSpPr>
            <p:cNvPr id="113698" name="Line 34"/>
            <p:cNvSpPr>
              <a:spLocks noChangeShapeType="1"/>
            </p:cNvSpPr>
            <p:nvPr/>
          </p:nvSpPr>
          <p:spPr bwMode="auto">
            <a:xfrm>
              <a:off x="2544" y="2429"/>
              <a:ext cx="72" cy="576"/>
            </a:xfrm>
            <a:prstGeom prst="line">
              <a:avLst/>
            </a:prstGeom>
            <a:noFill/>
            <a:ln w="9525">
              <a:solidFill>
                <a:srgbClr val="000000"/>
              </a:solidFill>
              <a:round/>
              <a:headEnd/>
              <a:tailEnd/>
            </a:ln>
          </p:spPr>
          <p:txBody>
            <a:bodyPr/>
            <a:lstStyle/>
            <a:p>
              <a:endParaRPr lang="en-US"/>
            </a:p>
          </p:txBody>
        </p:sp>
        <p:sp>
          <p:nvSpPr>
            <p:cNvPr id="113699" name="Line 35"/>
            <p:cNvSpPr>
              <a:spLocks noChangeShapeType="1"/>
            </p:cNvSpPr>
            <p:nvPr/>
          </p:nvSpPr>
          <p:spPr bwMode="auto">
            <a:xfrm flipV="1">
              <a:off x="2976" y="2213"/>
              <a:ext cx="1080" cy="792"/>
            </a:xfrm>
            <a:prstGeom prst="line">
              <a:avLst/>
            </a:prstGeom>
            <a:noFill/>
            <a:ln w="9525">
              <a:solidFill>
                <a:srgbClr val="000000"/>
              </a:solidFill>
              <a:round/>
              <a:headEnd/>
              <a:tailEnd/>
            </a:ln>
          </p:spPr>
          <p:txBody>
            <a:bodyPr/>
            <a:lstStyle/>
            <a:p>
              <a:endParaRPr lang="en-US"/>
            </a:p>
          </p:txBody>
        </p:sp>
        <p:sp>
          <p:nvSpPr>
            <p:cNvPr id="113700" name="Line 36"/>
            <p:cNvSpPr>
              <a:spLocks noChangeShapeType="1"/>
            </p:cNvSpPr>
            <p:nvPr/>
          </p:nvSpPr>
          <p:spPr bwMode="auto">
            <a:xfrm>
              <a:off x="3336" y="3365"/>
              <a:ext cx="864" cy="144"/>
            </a:xfrm>
            <a:prstGeom prst="line">
              <a:avLst/>
            </a:prstGeom>
            <a:noFill/>
            <a:ln w="9525">
              <a:solidFill>
                <a:srgbClr val="000000"/>
              </a:solidFill>
              <a:round/>
              <a:headEnd/>
              <a:tailEnd/>
            </a:ln>
          </p:spPr>
          <p:txBody>
            <a:bodyPr/>
            <a:lstStyle/>
            <a:p>
              <a:endParaRPr lang="en-US"/>
            </a:p>
          </p:txBody>
        </p:sp>
        <p:sp>
          <p:nvSpPr>
            <p:cNvPr id="113701" name="Text Box 37"/>
            <p:cNvSpPr txBox="1">
              <a:spLocks noChangeArrowheads="1"/>
            </p:cNvSpPr>
            <p:nvPr/>
          </p:nvSpPr>
          <p:spPr bwMode="auto">
            <a:xfrm>
              <a:off x="3552" y="2573"/>
              <a:ext cx="936" cy="216"/>
            </a:xfrm>
            <a:prstGeom prst="rect">
              <a:avLst/>
            </a:prstGeom>
            <a:solidFill>
              <a:srgbClr val="FFFFFF"/>
            </a:solidFill>
            <a:ln w="9525">
              <a:noFill/>
              <a:miter lim="800000"/>
              <a:headEnd/>
              <a:tailEnd/>
            </a:ln>
          </p:spPr>
          <p:txBody>
            <a:bodyPr/>
            <a:lstStyle/>
            <a:p>
              <a:pPr eaLnBrk="0" hangingPunct="0"/>
              <a:r>
                <a:rPr lang="en-US" sz="1400">
                  <a:latin typeface="Times New Roman" pitchFamily="18" charset="0"/>
                </a:rPr>
                <a:t>Adds student to </a:t>
              </a:r>
            </a:p>
          </p:txBody>
        </p:sp>
        <p:sp>
          <p:nvSpPr>
            <p:cNvPr id="113702" name="Text Box 38"/>
            <p:cNvSpPr txBox="1">
              <a:spLocks noChangeArrowheads="1"/>
            </p:cNvSpPr>
            <p:nvPr/>
          </p:nvSpPr>
          <p:spPr bwMode="auto">
            <a:xfrm>
              <a:off x="3480" y="3509"/>
              <a:ext cx="504" cy="216"/>
            </a:xfrm>
            <a:prstGeom prst="rect">
              <a:avLst/>
            </a:prstGeom>
            <a:solidFill>
              <a:srgbClr val="FFFFFF"/>
            </a:solidFill>
            <a:ln w="9525">
              <a:noFill/>
              <a:miter lim="800000"/>
              <a:headEnd/>
              <a:tailEnd/>
            </a:ln>
          </p:spPr>
          <p:txBody>
            <a:bodyPr/>
            <a:lstStyle/>
            <a:p>
              <a:pPr eaLnBrk="0" hangingPunct="0"/>
              <a:r>
                <a:rPr lang="en-US" sz="1400">
                  <a:latin typeface="Times New Roman" pitchFamily="18" charset="0"/>
                </a:rPr>
                <a:t>accesses </a:t>
              </a:r>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p>
        </p:txBody>
      </p:sp>
      <p:sp>
        <p:nvSpPr>
          <p:cNvPr id="4" name="Footer Placeholder 3"/>
          <p:cNvSpPr>
            <a:spLocks noGrp="1"/>
          </p:cNvSpPr>
          <p:nvPr>
            <p:ph type="ftr" sz="quarter" idx="11"/>
          </p:nvPr>
        </p:nvSpPr>
        <p:spPr/>
        <p:txBody>
          <a:bodyPr/>
          <a:lstStyle/>
          <a:p>
            <a:r>
              <a:rPr lang="en-US"/>
              <a:t>Chapter 6-Object-oriented design</a:t>
            </a:r>
          </a:p>
        </p:txBody>
      </p:sp>
      <p:sp>
        <p:nvSpPr>
          <p:cNvPr id="5" name="Slide Number Placeholder 4"/>
          <p:cNvSpPr>
            <a:spLocks noGrp="1"/>
          </p:cNvSpPr>
          <p:nvPr>
            <p:ph type="sldNum" sz="quarter" idx="12"/>
          </p:nvPr>
        </p:nvSpPr>
        <p:spPr/>
        <p:txBody>
          <a:bodyPr/>
          <a:lstStyle/>
          <a:p>
            <a:fld id="{20317CA6-3557-4F90-84AF-53D5354FC7C6}" type="slidenum">
              <a:rPr lang="en-US" smtClean="0"/>
              <a:pPr/>
              <a:t>75</a:t>
            </a:fld>
            <a:endParaRPr lang="en-US"/>
          </a:p>
        </p:txBody>
      </p:sp>
      <p:sp>
        <p:nvSpPr>
          <p:cNvPr id="6" name="Rectangle 5"/>
          <p:cNvSpPr/>
          <p:nvPr/>
        </p:nvSpPr>
        <p:spPr>
          <a:xfrm>
            <a:off x="685800" y="2438400"/>
            <a:ext cx="7620000" cy="3693319"/>
          </a:xfrm>
          <a:prstGeom prst="rect">
            <a:avLst/>
          </a:prstGeom>
          <a:noFill/>
          <a:ln>
            <a:solidFill>
              <a:schemeClr val="tx1"/>
            </a:solidFill>
          </a:ln>
        </p:spPr>
        <p:txBody>
          <a:bodyPr wrap="square">
            <a:spAutoFit/>
          </a:bodyPr>
          <a:lstStyle/>
          <a:p>
            <a:pPr algn="just"/>
            <a:r>
              <a:rPr lang="en-GB" sz="1800" dirty="0">
                <a:solidFill>
                  <a:srgbClr val="002060"/>
                </a:solidFill>
              </a:rPr>
              <a:t>A customer has a first name, a last name, middle names, a daytime telephone number and a home address. A customer can place orders, and a record of all orders is kept. An order has a billing address and a shipping address, which can be the same address – by default the customer’s home address is used for both. An order has one or more order items. Each order item is for specific product. Each order item records the quantity of each product ordered, and the subtotal for that item (quantity * unit price). An order also calculates the total amount payable + 17.5% VAT. An order can be either unconfirmed, confirmed, shipped or received. A confirmed order has a unique reference, which is a unique integer (</a:t>
            </a:r>
            <a:r>
              <a:rPr lang="en-GB" sz="1800" dirty="0" err="1">
                <a:solidFill>
                  <a:srgbClr val="002060"/>
                </a:solidFill>
              </a:rPr>
              <a:t>eg</a:t>
            </a:r>
            <a:r>
              <a:rPr lang="en-GB" sz="1800" dirty="0">
                <a:solidFill>
                  <a:srgbClr val="002060"/>
                </a:solidFill>
              </a:rPr>
              <a:t>, last reference + 1). A record of the order confirmation date is kept, as well as the shipped date and the date the order was received.</a:t>
            </a:r>
            <a:endParaRPr lang="en-US" sz="1800" dirty="0">
              <a:solidFill>
                <a:srgbClr val="002060"/>
              </a:solidFill>
            </a:endParaRPr>
          </a:p>
        </p:txBody>
      </p:sp>
      <p:sp>
        <p:nvSpPr>
          <p:cNvPr id="7" name="Rectangle 6"/>
          <p:cNvSpPr/>
          <p:nvPr/>
        </p:nvSpPr>
        <p:spPr>
          <a:xfrm>
            <a:off x="914400" y="1828800"/>
            <a:ext cx="6781800" cy="461665"/>
          </a:xfrm>
          <a:prstGeom prst="rect">
            <a:avLst/>
          </a:prstGeom>
        </p:spPr>
        <p:txBody>
          <a:bodyPr wrap="square">
            <a:spAutoFit/>
          </a:bodyPr>
          <a:lstStyle/>
          <a:p>
            <a:r>
              <a:rPr lang="en-GB" dirty="0"/>
              <a:t>Draw a class diagram to represent the following:</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5"/>
          <p:cNvSpPr>
            <a:spLocks noGrp="1" noChangeArrowheads="1"/>
          </p:cNvSpPr>
          <p:nvPr>
            <p:ph type="ftr" sz="quarter" idx="3"/>
          </p:nvPr>
        </p:nvSpPr>
        <p:spPr/>
        <p:txBody>
          <a:bodyPr/>
          <a:lstStyle/>
          <a:p>
            <a:r>
              <a:rPr lang="en-US"/>
              <a:t>Chapter 6-Object-oriented design</a:t>
            </a:r>
          </a:p>
        </p:txBody>
      </p:sp>
      <p:sp>
        <p:nvSpPr>
          <p:cNvPr id="4" name="Rectangle 16"/>
          <p:cNvSpPr>
            <a:spLocks noGrp="1" noChangeArrowheads="1"/>
          </p:cNvSpPr>
          <p:nvPr>
            <p:ph type="sldNum" sz="quarter" idx="4"/>
          </p:nvPr>
        </p:nvSpPr>
        <p:spPr/>
        <p:txBody>
          <a:bodyPr/>
          <a:lstStyle/>
          <a:p>
            <a:fld id="{32240D38-ADFE-4546-BC10-D51E8EA2DEFD}" type="slidenum">
              <a:rPr lang="en-US"/>
              <a:pPr/>
              <a:t>76</a:t>
            </a:fld>
            <a:endParaRPr lang="en-US"/>
          </a:p>
        </p:txBody>
      </p:sp>
      <p:sp>
        <p:nvSpPr>
          <p:cNvPr id="69634" name="Rectangle 2"/>
          <p:cNvSpPr>
            <a:spLocks noGrp="1" noChangeArrowheads="1"/>
          </p:cNvSpPr>
          <p:nvPr>
            <p:ph type="ctrTitle"/>
          </p:nvPr>
        </p:nvSpPr>
        <p:spPr/>
        <p:txBody>
          <a:bodyPr/>
          <a:lstStyle/>
          <a:p>
            <a:r>
              <a:rPr lang="en-US" dirty="0"/>
              <a:t>BEHAVIORAL MODEL VIEW</a:t>
            </a:r>
          </a:p>
        </p:txBody>
      </p:sp>
      <p:sp>
        <p:nvSpPr>
          <p:cNvPr id="5" name="Rectangle 4"/>
          <p:cNvSpPr/>
          <p:nvPr/>
        </p:nvSpPr>
        <p:spPr>
          <a:xfrm>
            <a:off x="762000" y="3352800"/>
            <a:ext cx="4648200" cy="1421928"/>
          </a:xfrm>
          <a:prstGeom prst="rect">
            <a:avLst/>
          </a:prstGeom>
        </p:spPr>
        <p:txBody>
          <a:bodyPr wrap="square">
            <a:spAutoFit/>
          </a:bodyPr>
          <a:lstStyle/>
          <a:p>
            <a:pPr lvl="2" algn="just">
              <a:lnSpc>
                <a:spcPct val="90000"/>
              </a:lnSpc>
              <a:buFont typeface="Arial" pitchFamily="34" charset="0"/>
              <a:buChar char="•"/>
            </a:pPr>
            <a:r>
              <a:rPr lang="en-US" i="1" dirty="0">
                <a:solidFill>
                  <a:srgbClr val="FF0000"/>
                </a:solidFill>
              </a:rPr>
              <a:t>Sequence diagram</a:t>
            </a:r>
            <a:endParaRPr lang="en-US" i="1" dirty="0"/>
          </a:p>
          <a:p>
            <a:pPr lvl="2" algn="just">
              <a:lnSpc>
                <a:spcPct val="90000"/>
              </a:lnSpc>
              <a:buFont typeface="Arial" pitchFamily="34" charset="0"/>
              <a:buChar char="•"/>
            </a:pPr>
            <a:r>
              <a:rPr lang="en-US" i="1" dirty="0">
                <a:solidFill>
                  <a:srgbClr val="FF0000"/>
                </a:solidFill>
              </a:rPr>
              <a:t>Collaboration diagram</a:t>
            </a:r>
            <a:endParaRPr lang="en-US" i="1" dirty="0"/>
          </a:p>
          <a:p>
            <a:pPr lvl="2" algn="just">
              <a:lnSpc>
                <a:spcPct val="90000"/>
              </a:lnSpc>
              <a:buFont typeface="Arial" pitchFamily="34" charset="0"/>
              <a:buChar char="•"/>
            </a:pPr>
            <a:r>
              <a:rPr lang="en-US" i="1" dirty="0">
                <a:solidFill>
                  <a:srgbClr val="FF0000"/>
                </a:solidFill>
              </a:rPr>
              <a:t>State diagram</a:t>
            </a:r>
            <a:endParaRPr lang="en-US" i="1" dirty="0">
              <a:sym typeface="Wingdings" pitchFamily="2" charset="2"/>
            </a:endParaRPr>
          </a:p>
          <a:p>
            <a:pPr lvl="2" algn="just">
              <a:lnSpc>
                <a:spcPct val="90000"/>
              </a:lnSpc>
              <a:buFont typeface="Arial" pitchFamily="34" charset="0"/>
              <a:buChar char="•"/>
            </a:pPr>
            <a:r>
              <a:rPr lang="en-US" i="1" dirty="0">
                <a:solidFill>
                  <a:srgbClr val="FF0000"/>
                </a:solidFill>
                <a:sym typeface="Wingdings" pitchFamily="2" charset="2"/>
              </a:rPr>
              <a:t>Activity diagram</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85DDA02D-7633-462E-86A6-52C293F1D440}" type="slidenum">
              <a:rPr lang="en-US"/>
              <a:pPr/>
              <a:t>77</a:t>
            </a:fld>
            <a:endParaRPr lang="en-US"/>
          </a:p>
        </p:txBody>
      </p:sp>
      <p:sp>
        <p:nvSpPr>
          <p:cNvPr id="83970" name="Rectangle 2"/>
          <p:cNvSpPr>
            <a:spLocks noGrp="1" noChangeArrowheads="1"/>
          </p:cNvSpPr>
          <p:nvPr>
            <p:ph type="title"/>
          </p:nvPr>
        </p:nvSpPr>
        <p:spPr/>
        <p:txBody>
          <a:bodyPr/>
          <a:lstStyle/>
          <a:p>
            <a:r>
              <a:rPr lang="en-US" dirty="0"/>
              <a:t>Interaction Diagrams</a:t>
            </a:r>
          </a:p>
        </p:txBody>
      </p:sp>
      <p:sp>
        <p:nvSpPr>
          <p:cNvPr id="83971" name="Rectangle 3"/>
          <p:cNvSpPr>
            <a:spLocks noGrp="1" noChangeArrowheads="1"/>
          </p:cNvSpPr>
          <p:nvPr>
            <p:ph type="body" idx="1"/>
          </p:nvPr>
        </p:nvSpPr>
        <p:spPr>
          <a:xfrm>
            <a:off x="685800" y="2017713"/>
            <a:ext cx="8269288" cy="4114800"/>
          </a:xfrm>
        </p:spPr>
        <p:txBody>
          <a:bodyPr/>
          <a:lstStyle/>
          <a:p>
            <a:r>
              <a:rPr lang="en-US" dirty="0"/>
              <a:t>A graphical representation of interactions between objects</a:t>
            </a:r>
          </a:p>
          <a:p>
            <a:r>
              <a:rPr lang="en-US" dirty="0"/>
              <a:t>Two kinds of interaction diagrams</a:t>
            </a:r>
          </a:p>
          <a:p>
            <a:pPr lvl="1"/>
            <a:r>
              <a:rPr lang="en-US" dirty="0"/>
              <a:t>Sequence diagrams – time oriented</a:t>
            </a:r>
          </a:p>
          <a:p>
            <a:pPr lvl="1"/>
            <a:r>
              <a:rPr lang="en-US" dirty="0"/>
              <a:t>Collaboration diagrams – message oriented</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8705A742-7B48-418C-9806-0ED48BBEF1C3}" type="slidenum">
              <a:rPr lang="en-US"/>
              <a:pPr/>
              <a:t>78</a:t>
            </a:fld>
            <a:endParaRPr lang="en-US"/>
          </a:p>
        </p:txBody>
      </p:sp>
      <p:sp>
        <p:nvSpPr>
          <p:cNvPr id="84994" name="Rectangle 2"/>
          <p:cNvSpPr>
            <a:spLocks noGrp="1" noChangeArrowheads="1"/>
          </p:cNvSpPr>
          <p:nvPr>
            <p:ph type="title"/>
          </p:nvPr>
        </p:nvSpPr>
        <p:spPr/>
        <p:txBody>
          <a:bodyPr/>
          <a:lstStyle/>
          <a:p>
            <a:r>
              <a:rPr lang="en-US" dirty="0"/>
              <a:t>Sequence Diagram</a:t>
            </a:r>
            <a:endParaRPr lang="en-US" dirty="0">
              <a:solidFill>
                <a:srgbClr val="FF0000"/>
              </a:solidFill>
            </a:endParaRPr>
          </a:p>
        </p:txBody>
      </p:sp>
      <p:sp>
        <p:nvSpPr>
          <p:cNvPr id="84995" name="Rectangle 3"/>
          <p:cNvSpPr>
            <a:spLocks noGrp="1" noChangeArrowheads="1"/>
          </p:cNvSpPr>
          <p:nvPr>
            <p:ph type="body" idx="1"/>
          </p:nvPr>
        </p:nvSpPr>
        <p:spPr/>
        <p:txBody>
          <a:bodyPr/>
          <a:lstStyle/>
          <a:p>
            <a:r>
              <a:rPr lang="en-US"/>
              <a:t>Shows object interactions arranged in time sequence</a:t>
            </a:r>
          </a:p>
          <a:p>
            <a:r>
              <a:rPr lang="en-US"/>
              <a:t>The diagram shows</a:t>
            </a:r>
          </a:p>
          <a:p>
            <a:pPr lvl="1"/>
            <a:r>
              <a:rPr lang="en-US"/>
              <a:t>The objects participating in the interaction</a:t>
            </a:r>
          </a:p>
          <a:p>
            <a:pPr lvl="1"/>
            <a:r>
              <a:rPr lang="en-US"/>
              <a:t>The sequence of messages exchanged</a:t>
            </a:r>
          </a:p>
          <a:p>
            <a:pPr>
              <a:buFont typeface="Wingdings" pitchFamily="2" charset="2"/>
              <a:buNone/>
            </a:pPr>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 Placeholder 4"/>
          <p:cNvSpPr>
            <a:spLocks noGrp="1"/>
          </p:cNvSpPr>
          <p:nvPr>
            <p:ph type="ftr" sz="quarter" idx="11"/>
          </p:nvPr>
        </p:nvSpPr>
        <p:spPr/>
        <p:txBody>
          <a:bodyPr/>
          <a:lstStyle/>
          <a:p>
            <a:r>
              <a:rPr lang="en-US"/>
              <a:t>Chapter 6-Object-oriented design</a:t>
            </a:r>
          </a:p>
        </p:txBody>
      </p:sp>
      <p:sp>
        <p:nvSpPr>
          <p:cNvPr id="18" name="Slide Number Placeholder 5"/>
          <p:cNvSpPr>
            <a:spLocks noGrp="1"/>
          </p:cNvSpPr>
          <p:nvPr>
            <p:ph type="sldNum" sz="quarter" idx="12"/>
          </p:nvPr>
        </p:nvSpPr>
        <p:spPr/>
        <p:txBody>
          <a:bodyPr/>
          <a:lstStyle/>
          <a:p>
            <a:fld id="{278B0E7B-7929-48AC-BC2C-F8F6F02D058B}" type="slidenum">
              <a:rPr lang="en-US"/>
              <a:pPr/>
              <a:t>79</a:t>
            </a:fld>
            <a:endParaRPr lang="en-US"/>
          </a:p>
        </p:txBody>
      </p:sp>
      <p:sp>
        <p:nvSpPr>
          <p:cNvPr id="86018" name="Rectangle 2"/>
          <p:cNvSpPr>
            <a:spLocks noGrp="1" noChangeArrowheads="1"/>
          </p:cNvSpPr>
          <p:nvPr>
            <p:ph type="title"/>
          </p:nvPr>
        </p:nvSpPr>
        <p:spPr/>
        <p:txBody>
          <a:bodyPr/>
          <a:lstStyle/>
          <a:p>
            <a:r>
              <a:rPr lang="en-US" dirty="0"/>
              <a:t>Sequence Diagram</a:t>
            </a:r>
          </a:p>
        </p:txBody>
      </p:sp>
      <p:sp>
        <p:nvSpPr>
          <p:cNvPr id="86019" name="Rectangle 3"/>
          <p:cNvSpPr>
            <a:spLocks noGrp="1" noChangeArrowheads="1"/>
          </p:cNvSpPr>
          <p:nvPr>
            <p:ph type="body" idx="1"/>
          </p:nvPr>
        </p:nvSpPr>
        <p:spPr>
          <a:xfrm>
            <a:off x="914400" y="1905000"/>
            <a:ext cx="7888288" cy="2209800"/>
          </a:xfrm>
        </p:spPr>
        <p:txBody>
          <a:bodyPr/>
          <a:lstStyle/>
          <a:p>
            <a:r>
              <a:rPr lang="en-US" sz="2400"/>
              <a:t>Basic elements :</a:t>
            </a:r>
          </a:p>
          <a:p>
            <a:pPr lvl="1"/>
            <a:r>
              <a:rPr lang="en-US" sz="2400"/>
              <a:t>Actors – someone/something outside the system that interacts with the system</a:t>
            </a:r>
          </a:p>
          <a:p>
            <a:pPr lvl="1"/>
            <a:r>
              <a:rPr lang="en-US" sz="2400"/>
              <a:t>Objects – an entity with a well-defined boundary and identity that encapsulates state and behavior</a:t>
            </a:r>
          </a:p>
        </p:txBody>
      </p:sp>
      <p:grpSp>
        <p:nvGrpSpPr>
          <p:cNvPr id="2" name="Group 4"/>
          <p:cNvGrpSpPr>
            <a:grpSpLocks/>
          </p:cNvGrpSpPr>
          <p:nvPr/>
        </p:nvGrpSpPr>
        <p:grpSpPr bwMode="auto">
          <a:xfrm>
            <a:off x="1066800" y="2590800"/>
            <a:ext cx="304800" cy="990600"/>
            <a:chOff x="1488" y="1920"/>
            <a:chExt cx="288" cy="816"/>
          </a:xfrm>
        </p:grpSpPr>
        <p:sp>
          <p:nvSpPr>
            <p:cNvPr id="86021" name="Oval 5"/>
            <p:cNvSpPr>
              <a:spLocks noChangeArrowheads="1"/>
            </p:cNvSpPr>
            <p:nvPr/>
          </p:nvSpPr>
          <p:spPr bwMode="auto">
            <a:xfrm>
              <a:off x="1488" y="1920"/>
              <a:ext cx="288" cy="288"/>
            </a:xfrm>
            <a:prstGeom prst="ellipse">
              <a:avLst/>
            </a:prstGeom>
            <a:noFill/>
            <a:ln w="28575">
              <a:solidFill>
                <a:schemeClr val="tx1"/>
              </a:solidFill>
              <a:miter lim="800000"/>
              <a:headEnd/>
              <a:tailEnd/>
            </a:ln>
            <a:effectLst/>
          </p:spPr>
          <p:txBody>
            <a:bodyPr wrap="none" anchor="ctr"/>
            <a:lstStyle/>
            <a:p>
              <a:endParaRPr lang="en-US"/>
            </a:p>
          </p:txBody>
        </p:sp>
        <p:sp>
          <p:nvSpPr>
            <p:cNvPr id="86022" name="Line 6"/>
            <p:cNvSpPr>
              <a:spLocks noChangeShapeType="1"/>
            </p:cNvSpPr>
            <p:nvPr/>
          </p:nvSpPr>
          <p:spPr bwMode="auto">
            <a:xfrm>
              <a:off x="1632" y="2208"/>
              <a:ext cx="0" cy="288"/>
            </a:xfrm>
            <a:prstGeom prst="line">
              <a:avLst/>
            </a:prstGeom>
            <a:noFill/>
            <a:ln w="28575">
              <a:solidFill>
                <a:schemeClr val="tx1"/>
              </a:solidFill>
              <a:miter lim="800000"/>
              <a:headEnd/>
              <a:tailEnd/>
            </a:ln>
            <a:effectLst/>
          </p:spPr>
          <p:txBody>
            <a:bodyPr wrap="none"/>
            <a:lstStyle/>
            <a:p>
              <a:endParaRPr lang="en-US"/>
            </a:p>
          </p:txBody>
        </p:sp>
        <p:sp>
          <p:nvSpPr>
            <p:cNvPr id="86023" name="Line 7"/>
            <p:cNvSpPr>
              <a:spLocks noChangeShapeType="1"/>
            </p:cNvSpPr>
            <p:nvPr/>
          </p:nvSpPr>
          <p:spPr bwMode="auto">
            <a:xfrm>
              <a:off x="1488" y="2304"/>
              <a:ext cx="288" cy="0"/>
            </a:xfrm>
            <a:prstGeom prst="line">
              <a:avLst/>
            </a:prstGeom>
            <a:noFill/>
            <a:ln w="28575">
              <a:solidFill>
                <a:schemeClr val="tx1"/>
              </a:solidFill>
              <a:miter lim="800000"/>
              <a:headEnd/>
              <a:tailEnd/>
            </a:ln>
            <a:effectLst/>
          </p:spPr>
          <p:txBody>
            <a:bodyPr wrap="none"/>
            <a:lstStyle/>
            <a:p>
              <a:endParaRPr lang="en-US"/>
            </a:p>
          </p:txBody>
        </p:sp>
        <p:sp>
          <p:nvSpPr>
            <p:cNvPr id="86024" name="Line 8"/>
            <p:cNvSpPr>
              <a:spLocks noChangeShapeType="1"/>
            </p:cNvSpPr>
            <p:nvPr/>
          </p:nvSpPr>
          <p:spPr bwMode="auto">
            <a:xfrm flipH="1">
              <a:off x="1488" y="2496"/>
              <a:ext cx="144" cy="240"/>
            </a:xfrm>
            <a:prstGeom prst="line">
              <a:avLst/>
            </a:prstGeom>
            <a:noFill/>
            <a:ln w="28575">
              <a:solidFill>
                <a:schemeClr val="tx1"/>
              </a:solidFill>
              <a:miter lim="800000"/>
              <a:headEnd/>
              <a:tailEnd/>
            </a:ln>
            <a:effectLst/>
          </p:spPr>
          <p:txBody>
            <a:bodyPr wrap="none"/>
            <a:lstStyle/>
            <a:p>
              <a:endParaRPr lang="en-US"/>
            </a:p>
          </p:txBody>
        </p:sp>
        <p:sp>
          <p:nvSpPr>
            <p:cNvPr id="86025" name="Line 9"/>
            <p:cNvSpPr>
              <a:spLocks noChangeShapeType="1"/>
            </p:cNvSpPr>
            <p:nvPr/>
          </p:nvSpPr>
          <p:spPr bwMode="auto">
            <a:xfrm>
              <a:off x="1632" y="2496"/>
              <a:ext cx="144" cy="240"/>
            </a:xfrm>
            <a:prstGeom prst="line">
              <a:avLst/>
            </a:prstGeom>
            <a:noFill/>
            <a:ln w="28575">
              <a:solidFill>
                <a:schemeClr val="tx1"/>
              </a:solidFill>
              <a:miter lim="800000"/>
              <a:headEnd/>
              <a:tailEnd/>
            </a:ln>
            <a:effectLst/>
          </p:spPr>
          <p:txBody>
            <a:bodyPr wrap="none"/>
            <a:lstStyle/>
            <a:p>
              <a:endParaRPr lang="en-US"/>
            </a:p>
          </p:txBody>
        </p:sp>
      </p:grpSp>
      <p:sp>
        <p:nvSpPr>
          <p:cNvPr id="86026" name="Text Box 10"/>
          <p:cNvSpPr txBox="1">
            <a:spLocks noChangeArrowheads="1"/>
          </p:cNvSpPr>
          <p:nvPr/>
        </p:nvSpPr>
        <p:spPr bwMode="auto">
          <a:xfrm>
            <a:off x="1219200" y="4876800"/>
            <a:ext cx="1524000" cy="711200"/>
          </a:xfrm>
          <a:prstGeom prst="rect">
            <a:avLst/>
          </a:prstGeom>
          <a:noFill/>
          <a:ln w="9525">
            <a:solidFill>
              <a:schemeClr val="tx1"/>
            </a:solidFill>
            <a:miter lim="800000"/>
            <a:headEnd/>
            <a:tailEnd/>
          </a:ln>
          <a:effectLst/>
        </p:spPr>
        <p:txBody>
          <a:bodyPr>
            <a:spAutoFit/>
          </a:bodyPr>
          <a:lstStyle/>
          <a:p>
            <a:r>
              <a:rPr lang="en-US" sz="2000" b="1"/>
              <a:t>Math102</a:t>
            </a:r>
          </a:p>
          <a:p>
            <a:endParaRPr lang="en-US" sz="2000" b="1"/>
          </a:p>
        </p:txBody>
      </p:sp>
      <p:sp>
        <p:nvSpPr>
          <p:cNvPr id="86027" name="Text Box 11"/>
          <p:cNvSpPr txBox="1">
            <a:spLocks noChangeArrowheads="1"/>
          </p:cNvSpPr>
          <p:nvPr/>
        </p:nvSpPr>
        <p:spPr bwMode="auto">
          <a:xfrm>
            <a:off x="3124200" y="4876800"/>
            <a:ext cx="2209800" cy="711200"/>
          </a:xfrm>
          <a:prstGeom prst="rect">
            <a:avLst/>
          </a:prstGeom>
          <a:noFill/>
          <a:ln w="9525">
            <a:solidFill>
              <a:schemeClr val="tx1"/>
            </a:solidFill>
            <a:miter lim="800000"/>
            <a:headEnd/>
            <a:tailEnd/>
          </a:ln>
          <a:effectLst/>
        </p:spPr>
        <p:txBody>
          <a:bodyPr>
            <a:spAutoFit/>
          </a:bodyPr>
          <a:lstStyle/>
          <a:p>
            <a:r>
              <a:rPr lang="en-US" sz="2000" b="1"/>
              <a:t>Math102:</a:t>
            </a:r>
          </a:p>
          <a:p>
            <a:r>
              <a:rPr lang="en-US" sz="2000" b="1" u="sng"/>
              <a:t>CourseOffering</a:t>
            </a:r>
          </a:p>
        </p:txBody>
      </p:sp>
      <p:sp>
        <p:nvSpPr>
          <p:cNvPr id="86028" name="Text Box 12"/>
          <p:cNvSpPr txBox="1">
            <a:spLocks noChangeArrowheads="1"/>
          </p:cNvSpPr>
          <p:nvPr/>
        </p:nvSpPr>
        <p:spPr bwMode="auto">
          <a:xfrm>
            <a:off x="5638800" y="4876800"/>
            <a:ext cx="2286000" cy="711200"/>
          </a:xfrm>
          <a:prstGeom prst="rect">
            <a:avLst/>
          </a:prstGeom>
          <a:noFill/>
          <a:ln w="9525">
            <a:solidFill>
              <a:schemeClr val="tx1"/>
            </a:solidFill>
            <a:miter lim="800000"/>
            <a:headEnd/>
            <a:tailEnd/>
          </a:ln>
          <a:effectLst/>
        </p:spPr>
        <p:txBody>
          <a:bodyPr>
            <a:spAutoFit/>
          </a:bodyPr>
          <a:lstStyle/>
          <a:p>
            <a:r>
              <a:rPr lang="en-US" sz="2000" b="1" u="sng"/>
              <a:t>:CourseOffering</a:t>
            </a:r>
          </a:p>
          <a:p>
            <a:endParaRPr lang="en-US" sz="2000" b="1"/>
          </a:p>
        </p:txBody>
      </p:sp>
      <p:sp>
        <p:nvSpPr>
          <p:cNvPr id="86029" name="Text Box 13"/>
          <p:cNvSpPr txBox="1">
            <a:spLocks noChangeArrowheads="1"/>
          </p:cNvSpPr>
          <p:nvPr/>
        </p:nvSpPr>
        <p:spPr bwMode="auto">
          <a:xfrm>
            <a:off x="1143000" y="5638800"/>
            <a:ext cx="1611313" cy="396875"/>
          </a:xfrm>
          <a:prstGeom prst="rect">
            <a:avLst/>
          </a:prstGeom>
          <a:noFill/>
          <a:ln w="9525">
            <a:noFill/>
            <a:miter lim="800000"/>
            <a:headEnd/>
            <a:tailEnd/>
          </a:ln>
          <a:effectLst/>
        </p:spPr>
        <p:txBody>
          <a:bodyPr wrap="none">
            <a:spAutoFit/>
          </a:bodyPr>
          <a:lstStyle/>
          <a:p>
            <a:r>
              <a:rPr lang="en-US" sz="2000" i="1"/>
              <a:t>Object name</a:t>
            </a:r>
          </a:p>
        </p:txBody>
      </p:sp>
      <p:sp>
        <p:nvSpPr>
          <p:cNvPr id="86030" name="Text Box 14"/>
          <p:cNvSpPr txBox="1">
            <a:spLocks noChangeArrowheads="1"/>
          </p:cNvSpPr>
          <p:nvPr/>
        </p:nvSpPr>
        <p:spPr bwMode="auto">
          <a:xfrm>
            <a:off x="3124200" y="5638800"/>
            <a:ext cx="2184400" cy="701675"/>
          </a:xfrm>
          <a:prstGeom prst="rect">
            <a:avLst/>
          </a:prstGeom>
          <a:noFill/>
          <a:ln w="9525">
            <a:noFill/>
            <a:miter lim="800000"/>
            <a:headEnd/>
            <a:tailEnd/>
          </a:ln>
          <a:effectLst/>
        </p:spPr>
        <p:txBody>
          <a:bodyPr wrap="none">
            <a:spAutoFit/>
          </a:bodyPr>
          <a:lstStyle/>
          <a:p>
            <a:r>
              <a:rPr lang="en-US" sz="2000" i="1"/>
              <a:t>Object name and </a:t>
            </a:r>
          </a:p>
          <a:p>
            <a:r>
              <a:rPr lang="en-US" sz="2000" i="1"/>
              <a:t>Class name</a:t>
            </a:r>
          </a:p>
        </p:txBody>
      </p:sp>
      <p:sp>
        <p:nvSpPr>
          <p:cNvPr id="86031" name="Text Box 15"/>
          <p:cNvSpPr txBox="1">
            <a:spLocks noChangeArrowheads="1"/>
          </p:cNvSpPr>
          <p:nvPr/>
        </p:nvSpPr>
        <p:spPr bwMode="auto">
          <a:xfrm>
            <a:off x="5715000" y="5638800"/>
            <a:ext cx="1454150" cy="396875"/>
          </a:xfrm>
          <a:prstGeom prst="rect">
            <a:avLst/>
          </a:prstGeom>
          <a:noFill/>
          <a:ln w="9525">
            <a:noFill/>
            <a:miter lim="800000"/>
            <a:headEnd/>
            <a:tailEnd/>
          </a:ln>
          <a:effectLst/>
        </p:spPr>
        <p:txBody>
          <a:bodyPr wrap="none">
            <a:spAutoFit/>
          </a:bodyPr>
          <a:lstStyle/>
          <a:p>
            <a:r>
              <a:rPr lang="en-US" sz="2000" i="1"/>
              <a:t>Class name</a:t>
            </a:r>
          </a:p>
        </p:txBody>
      </p:sp>
      <p:sp>
        <p:nvSpPr>
          <p:cNvPr id="86032" name="Text Box 16"/>
          <p:cNvSpPr txBox="1">
            <a:spLocks noChangeArrowheads="1"/>
          </p:cNvSpPr>
          <p:nvPr/>
        </p:nvSpPr>
        <p:spPr bwMode="auto">
          <a:xfrm>
            <a:off x="974725" y="4224338"/>
            <a:ext cx="4316413" cy="457200"/>
          </a:xfrm>
          <a:prstGeom prst="rect">
            <a:avLst/>
          </a:prstGeom>
          <a:noFill/>
          <a:ln w="9525">
            <a:noFill/>
            <a:miter lim="800000"/>
            <a:headEnd/>
            <a:tailEnd/>
          </a:ln>
          <a:effectLst/>
        </p:spPr>
        <p:txBody>
          <a:bodyPr wrap="none">
            <a:spAutoFit/>
          </a:bodyPr>
          <a:lstStyle/>
          <a:p>
            <a:r>
              <a:rPr lang="en-US" u="sng"/>
              <a:t>Object representation in UML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ooter Placeholder 4"/>
          <p:cNvSpPr>
            <a:spLocks noGrp="1"/>
          </p:cNvSpPr>
          <p:nvPr>
            <p:ph type="ftr" sz="quarter" idx="11"/>
          </p:nvPr>
        </p:nvSpPr>
        <p:spPr/>
        <p:txBody>
          <a:bodyPr/>
          <a:lstStyle/>
          <a:p>
            <a:r>
              <a:rPr lang="en-US"/>
              <a:t>Chapter 6-Object-oriented design</a:t>
            </a:r>
          </a:p>
        </p:txBody>
      </p:sp>
      <p:sp>
        <p:nvSpPr>
          <p:cNvPr id="31" name="Slide Number Placeholder 5"/>
          <p:cNvSpPr>
            <a:spLocks noGrp="1"/>
          </p:cNvSpPr>
          <p:nvPr>
            <p:ph type="sldNum" sz="quarter" idx="12"/>
          </p:nvPr>
        </p:nvSpPr>
        <p:spPr/>
        <p:txBody>
          <a:bodyPr/>
          <a:lstStyle/>
          <a:p>
            <a:fld id="{C423F5B5-581B-444A-9B72-9B724920FD25}" type="slidenum">
              <a:rPr lang="en-US"/>
              <a:pPr/>
              <a:t>80</a:t>
            </a:fld>
            <a:endParaRPr lang="en-US"/>
          </a:p>
        </p:txBody>
      </p:sp>
      <p:sp>
        <p:nvSpPr>
          <p:cNvPr id="87042" name="Rectangle 2"/>
          <p:cNvSpPr>
            <a:spLocks noGrp="1" noChangeArrowheads="1"/>
          </p:cNvSpPr>
          <p:nvPr>
            <p:ph type="title"/>
          </p:nvPr>
        </p:nvSpPr>
        <p:spPr/>
        <p:txBody>
          <a:bodyPr/>
          <a:lstStyle/>
          <a:p>
            <a:r>
              <a:rPr lang="en-US"/>
              <a:t>Sequence Diagram</a:t>
            </a:r>
          </a:p>
        </p:txBody>
      </p:sp>
      <p:sp>
        <p:nvSpPr>
          <p:cNvPr id="87043" name="Rectangle 3"/>
          <p:cNvSpPr>
            <a:spLocks noGrp="1" noChangeArrowheads="1"/>
          </p:cNvSpPr>
          <p:nvPr>
            <p:ph type="body" idx="1"/>
          </p:nvPr>
        </p:nvSpPr>
        <p:spPr>
          <a:xfrm>
            <a:off x="914400" y="1828800"/>
            <a:ext cx="7772400" cy="4114800"/>
          </a:xfrm>
        </p:spPr>
        <p:txBody>
          <a:bodyPr/>
          <a:lstStyle/>
          <a:p>
            <a:r>
              <a:rPr lang="en-US" sz="2400"/>
              <a:t>Basic elements :</a:t>
            </a:r>
          </a:p>
          <a:p>
            <a:pPr lvl="1"/>
            <a:r>
              <a:rPr lang="en-US" sz="2400"/>
              <a:t>Messages – communication between two objects that triggers an event</a:t>
            </a:r>
          </a:p>
          <a:p>
            <a:pPr lvl="1"/>
            <a:r>
              <a:rPr lang="en-US" sz="2400"/>
              <a:t>Lifelines – represents the existence of the object at a particular time</a:t>
            </a:r>
          </a:p>
          <a:p>
            <a:pPr lvl="1">
              <a:buFont typeface="Wingdings" pitchFamily="2" charset="2"/>
              <a:buNone/>
            </a:pPr>
            <a:endParaRPr lang="en-US" sz="2400"/>
          </a:p>
          <a:p>
            <a:pPr lvl="1"/>
            <a:endParaRPr lang="en-US"/>
          </a:p>
        </p:txBody>
      </p:sp>
      <p:grpSp>
        <p:nvGrpSpPr>
          <p:cNvPr id="2" name="Group 4"/>
          <p:cNvGrpSpPr>
            <a:grpSpLocks/>
          </p:cNvGrpSpPr>
          <p:nvPr/>
        </p:nvGrpSpPr>
        <p:grpSpPr bwMode="auto">
          <a:xfrm>
            <a:off x="4419600" y="3581400"/>
            <a:ext cx="2333625" cy="2743200"/>
            <a:chOff x="1802" y="2135"/>
            <a:chExt cx="1470" cy="1728"/>
          </a:xfrm>
        </p:grpSpPr>
        <p:grpSp>
          <p:nvGrpSpPr>
            <p:cNvPr id="3" name="Group 5"/>
            <p:cNvGrpSpPr>
              <a:grpSpLocks/>
            </p:cNvGrpSpPr>
            <p:nvPr/>
          </p:nvGrpSpPr>
          <p:grpSpPr bwMode="auto">
            <a:xfrm>
              <a:off x="1877" y="2135"/>
              <a:ext cx="231" cy="317"/>
              <a:chOff x="1442" y="1752"/>
              <a:chExt cx="231" cy="317"/>
            </a:xfrm>
          </p:grpSpPr>
          <p:sp>
            <p:nvSpPr>
              <p:cNvPr id="87046" name="Oval 6"/>
              <p:cNvSpPr>
                <a:spLocks noChangeArrowheads="1"/>
              </p:cNvSpPr>
              <p:nvPr/>
            </p:nvSpPr>
            <p:spPr bwMode="auto">
              <a:xfrm>
                <a:off x="1507" y="1752"/>
                <a:ext cx="101" cy="100"/>
              </a:xfrm>
              <a:prstGeom prst="ellipse">
                <a:avLst/>
              </a:prstGeom>
              <a:noFill/>
              <a:ln w="3175">
                <a:solidFill>
                  <a:srgbClr val="000000"/>
                </a:solidFill>
                <a:round/>
                <a:headEnd/>
                <a:tailEnd/>
              </a:ln>
            </p:spPr>
            <p:txBody>
              <a:bodyPr/>
              <a:lstStyle/>
              <a:p>
                <a:endParaRPr lang="en-US"/>
              </a:p>
            </p:txBody>
          </p:sp>
          <p:sp>
            <p:nvSpPr>
              <p:cNvPr id="87047" name="Line 7"/>
              <p:cNvSpPr>
                <a:spLocks noChangeShapeType="1"/>
              </p:cNvSpPr>
              <p:nvPr/>
            </p:nvSpPr>
            <p:spPr bwMode="auto">
              <a:xfrm>
                <a:off x="1558" y="1853"/>
                <a:ext cx="1" cy="102"/>
              </a:xfrm>
              <a:prstGeom prst="line">
                <a:avLst/>
              </a:prstGeom>
              <a:noFill/>
              <a:ln w="3175">
                <a:solidFill>
                  <a:srgbClr val="000000"/>
                </a:solidFill>
                <a:round/>
                <a:headEnd/>
                <a:tailEnd/>
              </a:ln>
            </p:spPr>
            <p:txBody>
              <a:bodyPr/>
              <a:lstStyle/>
              <a:p>
                <a:endParaRPr lang="en-US"/>
              </a:p>
            </p:txBody>
          </p:sp>
          <p:sp>
            <p:nvSpPr>
              <p:cNvPr id="87048" name="Line 8"/>
              <p:cNvSpPr>
                <a:spLocks noChangeShapeType="1"/>
              </p:cNvSpPr>
              <p:nvPr/>
            </p:nvSpPr>
            <p:spPr bwMode="auto">
              <a:xfrm>
                <a:off x="1474" y="1885"/>
                <a:ext cx="167" cy="1"/>
              </a:xfrm>
              <a:prstGeom prst="line">
                <a:avLst/>
              </a:prstGeom>
              <a:noFill/>
              <a:ln w="3175">
                <a:solidFill>
                  <a:srgbClr val="000000"/>
                </a:solidFill>
                <a:round/>
                <a:headEnd/>
                <a:tailEnd/>
              </a:ln>
            </p:spPr>
            <p:txBody>
              <a:bodyPr/>
              <a:lstStyle/>
              <a:p>
                <a:endParaRPr lang="en-US"/>
              </a:p>
            </p:txBody>
          </p:sp>
          <p:sp>
            <p:nvSpPr>
              <p:cNvPr id="87049" name="Freeform 9"/>
              <p:cNvSpPr>
                <a:spLocks/>
              </p:cNvSpPr>
              <p:nvPr/>
            </p:nvSpPr>
            <p:spPr bwMode="auto">
              <a:xfrm>
                <a:off x="1442" y="1955"/>
                <a:ext cx="231" cy="114"/>
              </a:xfrm>
              <a:custGeom>
                <a:avLst/>
                <a:gdLst/>
                <a:ahLst/>
                <a:cxnLst>
                  <a:cxn ang="0">
                    <a:pos x="0" y="54"/>
                  </a:cxn>
                  <a:cxn ang="0">
                    <a:pos x="54" y="0"/>
                  </a:cxn>
                  <a:cxn ang="0">
                    <a:pos x="108" y="54"/>
                  </a:cxn>
                </a:cxnLst>
                <a:rect l="0" t="0" r="r" b="b"/>
                <a:pathLst>
                  <a:path w="108" h="54">
                    <a:moveTo>
                      <a:pt x="0" y="54"/>
                    </a:moveTo>
                    <a:lnTo>
                      <a:pt x="54" y="0"/>
                    </a:lnTo>
                    <a:lnTo>
                      <a:pt x="108" y="54"/>
                    </a:lnTo>
                  </a:path>
                </a:pathLst>
              </a:custGeom>
              <a:noFill/>
              <a:ln w="3175">
                <a:solidFill>
                  <a:srgbClr val="000000"/>
                </a:solidFill>
                <a:prstDash val="solid"/>
                <a:round/>
                <a:headEnd/>
                <a:tailEnd/>
              </a:ln>
            </p:spPr>
            <p:txBody>
              <a:bodyPr/>
              <a:lstStyle/>
              <a:p>
                <a:endParaRPr lang="en-US"/>
              </a:p>
            </p:txBody>
          </p:sp>
        </p:grpSp>
        <p:sp>
          <p:nvSpPr>
            <p:cNvPr id="87050" name="Rectangle 10"/>
            <p:cNvSpPr>
              <a:spLocks noChangeArrowheads="1"/>
            </p:cNvSpPr>
            <p:nvPr/>
          </p:nvSpPr>
          <p:spPr bwMode="auto">
            <a:xfrm>
              <a:off x="1802" y="2511"/>
              <a:ext cx="375" cy="105"/>
            </a:xfrm>
            <a:prstGeom prst="rect">
              <a:avLst/>
            </a:prstGeom>
            <a:noFill/>
            <a:ln w="9525">
              <a:noFill/>
              <a:miter lim="800000"/>
              <a:headEnd/>
              <a:tailEnd/>
            </a:ln>
          </p:spPr>
          <p:txBody>
            <a:bodyPr wrap="none" lIns="0" tIns="0" rIns="0" bIns="0">
              <a:spAutoFit/>
            </a:bodyPr>
            <a:lstStyle/>
            <a:p>
              <a:pPr eaLnBrk="0" hangingPunct="0"/>
              <a:r>
                <a:rPr lang="en-US" sz="1100" u="sng">
                  <a:latin typeface="Arial" pitchFamily="34" charset="0"/>
                </a:rPr>
                <a:t> : Student</a:t>
              </a:r>
              <a:endParaRPr lang="en-US">
                <a:latin typeface="Times New Roman" pitchFamily="18" charset="0"/>
              </a:endParaRPr>
            </a:p>
          </p:txBody>
        </p:sp>
        <p:sp>
          <p:nvSpPr>
            <p:cNvPr id="87051" name="Rectangle 11"/>
            <p:cNvSpPr>
              <a:spLocks noChangeArrowheads="1"/>
            </p:cNvSpPr>
            <p:nvPr/>
          </p:nvSpPr>
          <p:spPr bwMode="auto">
            <a:xfrm>
              <a:off x="2630" y="2442"/>
              <a:ext cx="642" cy="244"/>
            </a:xfrm>
            <a:prstGeom prst="rect">
              <a:avLst/>
            </a:prstGeom>
            <a:noFill/>
            <a:ln w="0">
              <a:solidFill>
                <a:srgbClr val="000000"/>
              </a:solidFill>
              <a:miter lim="800000"/>
              <a:headEnd/>
              <a:tailEnd/>
            </a:ln>
          </p:spPr>
          <p:txBody>
            <a:bodyPr/>
            <a:lstStyle/>
            <a:p>
              <a:endParaRPr lang="en-US"/>
            </a:p>
          </p:txBody>
        </p:sp>
        <p:sp>
          <p:nvSpPr>
            <p:cNvPr id="87052" name="Rectangle 12"/>
            <p:cNvSpPr>
              <a:spLocks noChangeArrowheads="1"/>
            </p:cNvSpPr>
            <p:nvPr/>
          </p:nvSpPr>
          <p:spPr bwMode="auto">
            <a:xfrm>
              <a:off x="2724" y="2461"/>
              <a:ext cx="483" cy="106"/>
            </a:xfrm>
            <a:prstGeom prst="rect">
              <a:avLst/>
            </a:prstGeom>
            <a:noFill/>
            <a:ln w="9525">
              <a:noFill/>
              <a:miter lim="800000"/>
              <a:headEnd/>
              <a:tailEnd/>
            </a:ln>
          </p:spPr>
          <p:txBody>
            <a:bodyPr wrap="none" lIns="0" tIns="0" rIns="0" bIns="0">
              <a:spAutoFit/>
            </a:bodyPr>
            <a:lstStyle/>
            <a:p>
              <a:pPr eaLnBrk="0" hangingPunct="0"/>
              <a:r>
                <a:rPr lang="en-US" sz="1100" u="sng">
                  <a:latin typeface="Arial" pitchFamily="34" charset="0"/>
                </a:rPr>
                <a:t>:registration </a:t>
              </a:r>
              <a:endParaRPr lang="en-US">
                <a:latin typeface="Times New Roman" pitchFamily="18" charset="0"/>
              </a:endParaRPr>
            </a:p>
          </p:txBody>
        </p:sp>
        <p:sp>
          <p:nvSpPr>
            <p:cNvPr id="87053" name="Rectangle 13"/>
            <p:cNvSpPr>
              <a:spLocks noChangeArrowheads="1"/>
            </p:cNvSpPr>
            <p:nvPr/>
          </p:nvSpPr>
          <p:spPr bwMode="auto">
            <a:xfrm>
              <a:off x="2868" y="2564"/>
              <a:ext cx="175" cy="106"/>
            </a:xfrm>
            <a:prstGeom prst="rect">
              <a:avLst/>
            </a:prstGeom>
            <a:noFill/>
            <a:ln w="9525">
              <a:noFill/>
              <a:miter lim="800000"/>
              <a:headEnd/>
              <a:tailEnd/>
            </a:ln>
          </p:spPr>
          <p:txBody>
            <a:bodyPr wrap="none" lIns="0" tIns="0" rIns="0" bIns="0">
              <a:spAutoFit/>
            </a:bodyPr>
            <a:lstStyle/>
            <a:p>
              <a:pPr eaLnBrk="0" hangingPunct="0"/>
              <a:r>
                <a:rPr lang="en-US" sz="1100" u="sng">
                  <a:latin typeface="Arial" pitchFamily="34" charset="0"/>
                </a:rPr>
                <a:t>form</a:t>
              </a:r>
              <a:endParaRPr lang="en-US">
                <a:latin typeface="Times New Roman" pitchFamily="18" charset="0"/>
              </a:endParaRPr>
            </a:p>
          </p:txBody>
        </p:sp>
        <p:grpSp>
          <p:nvGrpSpPr>
            <p:cNvPr id="4" name="Group 14"/>
            <p:cNvGrpSpPr>
              <a:grpSpLocks/>
            </p:cNvGrpSpPr>
            <p:nvPr/>
          </p:nvGrpSpPr>
          <p:grpSpPr bwMode="auto">
            <a:xfrm>
              <a:off x="1995" y="2947"/>
              <a:ext cx="954" cy="64"/>
              <a:chOff x="1311" y="2403"/>
              <a:chExt cx="954" cy="64"/>
            </a:xfrm>
          </p:grpSpPr>
          <p:sp>
            <p:nvSpPr>
              <p:cNvPr id="87055" name="Line 15"/>
              <p:cNvSpPr>
                <a:spLocks noChangeShapeType="1"/>
              </p:cNvSpPr>
              <p:nvPr/>
            </p:nvSpPr>
            <p:spPr bwMode="auto">
              <a:xfrm>
                <a:off x="1311" y="2435"/>
                <a:ext cx="954" cy="1"/>
              </a:xfrm>
              <a:prstGeom prst="line">
                <a:avLst/>
              </a:prstGeom>
              <a:noFill/>
              <a:ln w="0">
                <a:solidFill>
                  <a:srgbClr val="000000"/>
                </a:solidFill>
                <a:round/>
                <a:headEnd/>
                <a:tailEnd/>
              </a:ln>
            </p:spPr>
            <p:txBody>
              <a:bodyPr/>
              <a:lstStyle/>
              <a:p>
                <a:endParaRPr lang="en-US"/>
              </a:p>
            </p:txBody>
          </p:sp>
          <p:sp>
            <p:nvSpPr>
              <p:cNvPr id="87056" name="Line 16"/>
              <p:cNvSpPr>
                <a:spLocks noChangeShapeType="1"/>
              </p:cNvSpPr>
              <p:nvPr/>
            </p:nvSpPr>
            <p:spPr bwMode="auto">
              <a:xfrm flipH="1">
                <a:off x="2188" y="2435"/>
                <a:ext cx="77" cy="32"/>
              </a:xfrm>
              <a:prstGeom prst="line">
                <a:avLst/>
              </a:prstGeom>
              <a:noFill/>
              <a:ln w="9525">
                <a:solidFill>
                  <a:srgbClr val="000000"/>
                </a:solidFill>
                <a:round/>
                <a:headEnd/>
                <a:tailEnd/>
              </a:ln>
            </p:spPr>
            <p:txBody>
              <a:bodyPr/>
              <a:lstStyle/>
              <a:p>
                <a:endParaRPr lang="en-US"/>
              </a:p>
            </p:txBody>
          </p:sp>
          <p:sp>
            <p:nvSpPr>
              <p:cNvPr id="87057" name="Line 17"/>
              <p:cNvSpPr>
                <a:spLocks noChangeShapeType="1"/>
              </p:cNvSpPr>
              <p:nvPr/>
            </p:nvSpPr>
            <p:spPr bwMode="auto">
              <a:xfrm flipH="1" flipV="1">
                <a:off x="2188" y="2403"/>
                <a:ext cx="77" cy="32"/>
              </a:xfrm>
              <a:prstGeom prst="line">
                <a:avLst/>
              </a:prstGeom>
              <a:noFill/>
              <a:ln w="9525">
                <a:solidFill>
                  <a:srgbClr val="000000"/>
                </a:solidFill>
                <a:round/>
                <a:headEnd/>
                <a:tailEnd/>
              </a:ln>
            </p:spPr>
            <p:txBody>
              <a:bodyPr/>
              <a:lstStyle/>
              <a:p>
                <a:endParaRPr lang="en-US"/>
              </a:p>
            </p:txBody>
          </p:sp>
        </p:grpSp>
        <p:sp>
          <p:nvSpPr>
            <p:cNvPr id="87058" name="Rectangle 18"/>
            <p:cNvSpPr>
              <a:spLocks noChangeArrowheads="1"/>
            </p:cNvSpPr>
            <p:nvPr/>
          </p:nvSpPr>
          <p:spPr bwMode="auto">
            <a:xfrm>
              <a:off x="2256" y="2832"/>
              <a:ext cx="440" cy="106"/>
            </a:xfrm>
            <a:prstGeom prst="rect">
              <a:avLst/>
            </a:prstGeom>
            <a:noFill/>
            <a:ln w="9525">
              <a:noFill/>
              <a:miter lim="800000"/>
              <a:headEnd/>
              <a:tailEnd/>
            </a:ln>
          </p:spPr>
          <p:txBody>
            <a:bodyPr wrap="none" lIns="0" tIns="0" rIns="0" bIns="0">
              <a:spAutoFit/>
            </a:bodyPr>
            <a:lstStyle/>
            <a:p>
              <a:pPr eaLnBrk="0" hangingPunct="0"/>
              <a:r>
                <a:rPr lang="en-US" sz="1100">
                  <a:latin typeface="Arial" pitchFamily="34" charset="0"/>
                </a:rPr>
                <a:t>1: fill in info</a:t>
              </a:r>
              <a:endParaRPr lang="en-US">
                <a:latin typeface="Times New Roman" pitchFamily="18" charset="0"/>
              </a:endParaRPr>
            </a:p>
          </p:txBody>
        </p:sp>
        <p:grpSp>
          <p:nvGrpSpPr>
            <p:cNvPr id="5" name="Group 19"/>
            <p:cNvGrpSpPr>
              <a:grpSpLocks/>
            </p:cNvGrpSpPr>
            <p:nvPr/>
          </p:nvGrpSpPr>
          <p:grpSpPr bwMode="auto">
            <a:xfrm>
              <a:off x="1995" y="3187"/>
              <a:ext cx="954" cy="64"/>
              <a:chOff x="1311" y="2643"/>
              <a:chExt cx="954" cy="64"/>
            </a:xfrm>
          </p:grpSpPr>
          <p:sp>
            <p:nvSpPr>
              <p:cNvPr id="87060" name="Line 20"/>
              <p:cNvSpPr>
                <a:spLocks noChangeShapeType="1"/>
              </p:cNvSpPr>
              <p:nvPr/>
            </p:nvSpPr>
            <p:spPr bwMode="auto">
              <a:xfrm>
                <a:off x="1311" y="2675"/>
                <a:ext cx="954" cy="1"/>
              </a:xfrm>
              <a:prstGeom prst="line">
                <a:avLst/>
              </a:prstGeom>
              <a:noFill/>
              <a:ln w="19050">
                <a:solidFill>
                  <a:srgbClr val="000000"/>
                </a:solidFill>
                <a:round/>
                <a:headEnd/>
                <a:tailEnd/>
              </a:ln>
            </p:spPr>
            <p:txBody>
              <a:bodyPr/>
              <a:lstStyle/>
              <a:p>
                <a:endParaRPr lang="en-US"/>
              </a:p>
            </p:txBody>
          </p:sp>
          <p:sp>
            <p:nvSpPr>
              <p:cNvPr id="87061" name="Line 21"/>
              <p:cNvSpPr>
                <a:spLocks noChangeShapeType="1"/>
              </p:cNvSpPr>
              <p:nvPr/>
            </p:nvSpPr>
            <p:spPr bwMode="auto">
              <a:xfrm flipH="1">
                <a:off x="2188" y="2675"/>
                <a:ext cx="77" cy="32"/>
              </a:xfrm>
              <a:prstGeom prst="line">
                <a:avLst/>
              </a:prstGeom>
              <a:noFill/>
              <a:ln w="19050">
                <a:solidFill>
                  <a:srgbClr val="000000"/>
                </a:solidFill>
                <a:round/>
                <a:headEnd/>
                <a:tailEnd/>
              </a:ln>
            </p:spPr>
            <p:txBody>
              <a:bodyPr/>
              <a:lstStyle/>
              <a:p>
                <a:endParaRPr lang="en-US"/>
              </a:p>
            </p:txBody>
          </p:sp>
          <p:sp>
            <p:nvSpPr>
              <p:cNvPr id="87062" name="Line 22"/>
              <p:cNvSpPr>
                <a:spLocks noChangeShapeType="1"/>
              </p:cNvSpPr>
              <p:nvPr/>
            </p:nvSpPr>
            <p:spPr bwMode="auto">
              <a:xfrm flipH="1" flipV="1">
                <a:off x="2188" y="2643"/>
                <a:ext cx="77" cy="32"/>
              </a:xfrm>
              <a:prstGeom prst="line">
                <a:avLst/>
              </a:prstGeom>
              <a:noFill/>
              <a:ln w="19050">
                <a:solidFill>
                  <a:srgbClr val="000000"/>
                </a:solidFill>
                <a:round/>
                <a:headEnd/>
                <a:tailEnd/>
              </a:ln>
            </p:spPr>
            <p:txBody>
              <a:bodyPr/>
              <a:lstStyle/>
              <a:p>
                <a:endParaRPr lang="en-US"/>
              </a:p>
            </p:txBody>
          </p:sp>
        </p:grpSp>
        <p:sp>
          <p:nvSpPr>
            <p:cNvPr id="87063" name="Rectangle 23"/>
            <p:cNvSpPr>
              <a:spLocks noChangeArrowheads="1"/>
            </p:cNvSpPr>
            <p:nvPr/>
          </p:nvSpPr>
          <p:spPr bwMode="auto">
            <a:xfrm>
              <a:off x="2292" y="3071"/>
              <a:ext cx="356" cy="106"/>
            </a:xfrm>
            <a:prstGeom prst="rect">
              <a:avLst/>
            </a:prstGeom>
            <a:noFill/>
            <a:ln w="9525">
              <a:noFill/>
              <a:miter lim="800000"/>
              <a:headEnd/>
              <a:tailEnd/>
            </a:ln>
          </p:spPr>
          <p:txBody>
            <a:bodyPr wrap="none" lIns="0" tIns="0" rIns="0" bIns="0">
              <a:spAutoFit/>
            </a:bodyPr>
            <a:lstStyle/>
            <a:p>
              <a:pPr eaLnBrk="0" hangingPunct="0"/>
              <a:r>
                <a:rPr lang="en-US" sz="1100">
                  <a:latin typeface="Arial" pitchFamily="34" charset="0"/>
                </a:rPr>
                <a:t>2: submit</a:t>
              </a:r>
              <a:endParaRPr lang="en-US">
                <a:latin typeface="Times New Roman" pitchFamily="18" charset="0"/>
              </a:endParaRPr>
            </a:p>
          </p:txBody>
        </p:sp>
        <p:sp>
          <p:nvSpPr>
            <p:cNvPr id="87064" name="Line 24"/>
            <p:cNvSpPr>
              <a:spLocks noChangeShapeType="1"/>
            </p:cNvSpPr>
            <p:nvPr/>
          </p:nvSpPr>
          <p:spPr bwMode="auto">
            <a:xfrm>
              <a:off x="2954" y="2711"/>
              <a:ext cx="0" cy="1152"/>
            </a:xfrm>
            <a:prstGeom prst="line">
              <a:avLst/>
            </a:prstGeom>
            <a:noFill/>
            <a:ln w="19050">
              <a:solidFill>
                <a:schemeClr val="tx1"/>
              </a:solidFill>
              <a:prstDash val="dash"/>
              <a:miter lim="800000"/>
              <a:headEnd/>
              <a:tailEnd/>
            </a:ln>
            <a:effectLst/>
          </p:spPr>
          <p:txBody>
            <a:bodyPr wrap="none"/>
            <a:lstStyle/>
            <a:p>
              <a:endParaRPr lang="en-US"/>
            </a:p>
          </p:txBody>
        </p:sp>
        <p:sp>
          <p:nvSpPr>
            <p:cNvPr id="87065" name="Line 25"/>
            <p:cNvSpPr>
              <a:spLocks noChangeShapeType="1"/>
            </p:cNvSpPr>
            <p:nvPr/>
          </p:nvSpPr>
          <p:spPr bwMode="auto">
            <a:xfrm>
              <a:off x="1994" y="2663"/>
              <a:ext cx="0" cy="1152"/>
            </a:xfrm>
            <a:prstGeom prst="line">
              <a:avLst/>
            </a:prstGeom>
            <a:noFill/>
            <a:ln w="19050">
              <a:solidFill>
                <a:schemeClr val="tx1"/>
              </a:solidFill>
              <a:prstDash val="dash"/>
              <a:miter lim="800000"/>
              <a:headEnd/>
              <a:tailEnd/>
            </a:ln>
            <a:effectLst/>
          </p:spPr>
          <p:txBody>
            <a:bodyPr wrap="none"/>
            <a:lstStyle/>
            <a:p>
              <a:endParaRPr lang="en-US"/>
            </a:p>
          </p:txBody>
        </p:sp>
      </p:grpSp>
      <p:sp>
        <p:nvSpPr>
          <p:cNvPr id="87066" name="Line 26"/>
          <p:cNvSpPr>
            <a:spLocks noChangeShapeType="1"/>
          </p:cNvSpPr>
          <p:nvPr/>
        </p:nvSpPr>
        <p:spPr bwMode="auto">
          <a:xfrm flipH="1">
            <a:off x="3962400" y="4800600"/>
            <a:ext cx="1143000" cy="0"/>
          </a:xfrm>
          <a:prstGeom prst="line">
            <a:avLst/>
          </a:prstGeom>
          <a:noFill/>
          <a:ln w="9525">
            <a:solidFill>
              <a:schemeClr val="tx2"/>
            </a:solidFill>
            <a:miter lim="800000"/>
            <a:headEnd/>
            <a:tailEnd type="triangle" w="med" len="med"/>
          </a:ln>
          <a:effectLst/>
        </p:spPr>
        <p:txBody>
          <a:bodyPr wrap="none"/>
          <a:lstStyle/>
          <a:p>
            <a:endParaRPr lang="en-US"/>
          </a:p>
        </p:txBody>
      </p:sp>
      <p:sp>
        <p:nvSpPr>
          <p:cNvPr id="87067" name="Text Box 27"/>
          <p:cNvSpPr txBox="1">
            <a:spLocks noChangeArrowheads="1"/>
          </p:cNvSpPr>
          <p:nvPr/>
        </p:nvSpPr>
        <p:spPr bwMode="auto">
          <a:xfrm>
            <a:off x="2514600" y="4572000"/>
            <a:ext cx="1362075" cy="457200"/>
          </a:xfrm>
          <a:prstGeom prst="rect">
            <a:avLst/>
          </a:prstGeom>
          <a:noFill/>
          <a:ln w="9525">
            <a:noFill/>
            <a:miter lim="800000"/>
            <a:headEnd/>
            <a:tailEnd/>
          </a:ln>
          <a:effectLst/>
        </p:spPr>
        <p:txBody>
          <a:bodyPr wrap="none">
            <a:spAutoFit/>
          </a:bodyPr>
          <a:lstStyle/>
          <a:p>
            <a:r>
              <a:rPr lang="en-US"/>
              <a:t>message</a:t>
            </a:r>
          </a:p>
        </p:txBody>
      </p:sp>
      <p:sp>
        <p:nvSpPr>
          <p:cNvPr id="87068" name="Line 28"/>
          <p:cNvSpPr>
            <a:spLocks noChangeShapeType="1"/>
          </p:cNvSpPr>
          <p:nvPr/>
        </p:nvSpPr>
        <p:spPr bwMode="auto">
          <a:xfrm flipH="1">
            <a:off x="3886200" y="5486400"/>
            <a:ext cx="838200" cy="0"/>
          </a:xfrm>
          <a:prstGeom prst="line">
            <a:avLst/>
          </a:prstGeom>
          <a:noFill/>
          <a:ln w="9525">
            <a:solidFill>
              <a:schemeClr val="tx2"/>
            </a:solidFill>
            <a:miter lim="800000"/>
            <a:headEnd/>
            <a:tailEnd type="triangle" w="med" len="med"/>
          </a:ln>
          <a:effectLst/>
        </p:spPr>
        <p:txBody>
          <a:bodyPr wrap="none"/>
          <a:lstStyle/>
          <a:p>
            <a:endParaRPr lang="en-US"/>
          </a:p>
        </p:txBody>
      </p:sp>
      <p:sp>
        <p:nvSpPr>
          <p:cNvPr id="87069" name="Text Box 29"/>
          <p:cNvSpPr txBox="1">
            <a:spLocks noChangeArrowheads="1"/>
          </p:cNvSpPr>
          <p:nvPr/>
        </p:nvSpPr>
        <p:spPr bwMode="auto">
          <a:xfrm>
            <a:off x="2667000" y="5257800"/>
            <a:ext cx="1187450" cy="457200"/>
          </a:xfrm>
          <a:prstGeom prst="rect">
            <a:avLst/>
          </a:prstGeom>
          <a:noFill/>
          <a:ln w="9525">
            <a:noFill/>
            <a:miter lim="800000"/>
            <a:headEnd/>
            <a:tailEnd/>
          </a:ln>
          <a:effectLst/>
        </p:spPr>
        <p:txBody>
          <a:bodyPr wrap="none">
            <a:spAutoFit/>
          </a:bodyPr>
          <a:lstStyle/>
          <a:p>
            <a:r>
              <a:rPr lang="en-US"/>
              <a:t>lifelines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ooter Placeholder 4"/>
          <p:cNvSpPr>
            <a:spLocks noGrp="1"/>
          </p:cNvSpPr>
          <p:nvPr>
            <p:ph type="ftr" sz="quarter" idx="11"/>
          </p:nvPr>
        </p:nvSpPr>
        <p:spPr/>
        <p:txBody>
          <a:bodyPr/>
          <a:lstStyle/>
          <a:p>
            <a:r>
              <a:rPr lang="en-US"/>
              <a:t>Chapter 6-Object-oriented design</a:t>
            </a:r>
          </a:p>
        </p:txBody>
      </p:sp>
      <p:sp>
        <p:nvSpPr>
          <p:cNvPr id="31" name="Slide Number Placeholder 5"/>
          <p:cNvSpPr>
            <a:spLocks noGrp="1"/>
          </p:cNvSpPr>
          <p:nvPr>
            <p:ph type="sldNum" sz="quarter" idx="12"/>
          </p:nvPr>
        </p:nvSpPr>
        <p:spPr/>
        <p:txBody>
          <a:bodyPr/>
          <a:lstStyle/>
          <a:p>
            <a:fld id="{879B401D-D81B-4A6E-8248-75EF5D364CD3}" type="slidenum">
              <a:rPr lang="en-US"/>
              <a:pPr/>
              <a:t>81</a:t>
            </a:fld>
            <a:endParaRPr lang="en-US"/>
          </a:p>
        </p:txBody>
      </p:sp>
      <p:sp>
        <p:nvSpPr>
          <p:cNvPr id="88066" name="Rectangle 2"/>
          <p:cNvSpPr>
            <a:spLocks noGrp="1" noChangeArrowheads="1"/>
          </p:cNvSpPr>
          <p:nvPr>
            <p:ph type="title"/>
          </p:nvPr>
        </p:nvSpPr>
        <p:spPr/>
        <p:txBody>
          <a:bodyPr/>
          <a:lstStyle/>
          <a:p>
            <a:r>
              <a:rPr lang="en-US"/>
              <a:t>Sequence Diagram</a:t>
            </a:r>
          </a:p>
        </p:txBody>
      </p:sp>
      <p:sp>
        <p:nvSpPr>
          <p:cNvPr id="88067" name="Rectangle 3"/>
          <p:cNvSpPr>
            <a:spLocks noGrp="1" noChangeArrowheads="1"/>
          </p:cNvSpPr>
          <p:nvPr>
            <p:ph type="body" idx="1"/>
          </p:nvPr>
        </p:nvSpPr>
        <p:spPr>
          <a:xfrm>
            <a:off x="1182688" y="2017713"/>
            <a:ext cx="7772400" cy="1563687"/>
          </a:xfrm>
        </p:spPr>
        <p:txBody>
          <a:bodyPr/>
          <a:lstStyle/>
          <a:p>
            <a:pPr>
              <a:lnSpc>
                <a:spcPct val="90000"/>
              </a:lnSpc>
            </a:pPr>
            <a:r>
              <a:rPr lang="en-US" sz="2400"/>
              <a:t>Basic elements :</a:t>
            </a:r>
          </a:p>
          <a:p>
            <a:pPr lvl="1">
              <a:lnSpc>
                <a:spcPct val="90000"/>
              </a:lnSpc>
            </a:pPr>
            <a:r>
              <a:rPr lang="en-US" sz="2400"/>
              <a:t>Focus of control (optional)  – shows the period of time during which an object is performing an action, either directly or through a subordinate procedure</a:t>
            </a:r>
          </a:p>
        </p:txBody>
      </p:sp>
      <p:grpSp>
        <p:nvGrpSpPr>
          <p:cNvPr id="2" name="Group 4"/>
          <p:cNvGrpSpPr>
            <a:grpSpLocks/>
          </p:cNvGrpSpPr>
          <p:nvPr/>
        </p:nvGrpSpPr>
        <p:grpSpPr bwMode="auto">
          <a:xfrm>
            <a:off x="2819400" y="3657600"/>
            <a:ext cx="3429000" cy="2743200"/>
            <a:chOff x="1776" y="2256"/>
            <a:chExt cx="2160" cy="1728"/>
          </a:xfrm>
        </p:grpSpPr>
        <p:grpSp>
          <p:nvGrpSpPr>
            <p:cNvPr id="3" name="Group 5"/>
            <p:cNvGrpSpPr>
              <a:grpSpLocks/>
            </p:cNvGrpSpPr>
            <p:nvPr/>
          </p:nvGrpSpPr>
          <p:grpSpPr bwMode="auto">
            <a:xfrm>
              <a:off x="2160" y="2256"/>
              <a:ext cx="294" cy="317"/>
              <a:chOff x="1442" y="1752"/>
              <a:chExt cx="231" cy="317"/>
            </a:xfrm>
          </p:grpSpPr>
          <p:sp>
            <p:nvSpPr>
              <p:cNvPr id="88070" name="Oval 6"/>
              <p:cNvSpPr>
                <a:spLocks noChangeArrowheads="1"/>
              </p:cNvSpPr>
              <p:nvPr/>
            </p:nvSpPr>
            <p:spPr bwMode="auto">
              <a:xfrm>
                <a:off x="1507" y="1752"/>
                <a:ext cx="101" cy="100"/>
              </a:xfrm>
              <a:prstGeom prst="ellipse">
                <a:avLst/>
              </a:prstGeom>
              <a:noFill/>
              <a:ln w="3175">
                <a:solidFill>
                  <a:srgbClr val="000000"/>
                </a:solidFill>
                <a:round/>
                <a:headEnd/>
                <a:tailEnd/>
              </a:ln>
            </p:spPr>
            <p:txBody>
              <a:bodyPr/>
              <a:lstStyle/>
              <a:p>
                <a:endParaRPr lang="en-US"/>
              </a:p>
            </p:txBody>
          </p:sp>
          <p:sp>
            <p:nvSpPr>
              <p:cNvPr id="88071" name="Line 7"/>
              <p:cNvSpPr>
                <a:spLocks noChangeShapeType="1"/>
              </p:cNvSpPr>
              <p:nvPr/>
            </p:nvSpPr>
            <p:spPr bwMode="auto">
              <a:xfrm>
                <a:off x="1558" y="1853"/>
                <a:ext cx="1" cy="102"/>
              </a:xfrm>
              <a:prstGeom prst="line">
                <a:avLst/>
              </a:prstGeom>
              <a:noFill/>
              <a:ln w="3175">
                <a:solidFill>
                  <a:srgbClr val="000000"/>
                </a:solidFill>
                <a:round/>
                <a:headEnd/>
                <a:tailEnd/>
              </a:ln>
            </p:spPr>
            <p:txBody>
              <a:bodyPr/>
              <a:lstStyle/>
              <a:p>
                <a:endParaRPr lang="en-US"/>
              </a:p>
            </p:txBody>
          </p:sp>
          <p:sp>
            <p:nvSpPr>
              <p:cNvPr id="88072" name="Line 8"/>
              <p:cNvSpPr>
                <a:spLocks noChangeShapeType="1"/>
              </p:cNvSpPr>
              <p:nvPr/>
            </p:nvSpPr>
            <p:spPr bwMode="auto">
              <a:xfrm>
                <a:off x="1474" y="1885"/>
                <a:ext cx="167" cy="1"/>
              </a:xfrm>
              <a:prstGeom prst="line">
                <a:avLst/>
              </a:prstGeom>
              <a:noFill/>
              <a:ln w="3175">
                <a:solidFill>
                  <a:srgbClr val="000000"/>
                </a:solidFill>
                <a:round/>
                <a:headEnd/>
                <a:tailEnd/>
              </a:ln>
            </p:spPr>
            <p:txBody>
              <a:bodyPr/>
              <a:lstStyle/>
              <a:p>
                <a:endParaRPr lang="en-US"/>
              </a:p>
            </p:txBody>
          </p:sp>
          <p:sp>
            <p:nvSpPr>
              <p:cNvPr id="88073" name="Freeform 9"/>
              <p:cNvSpPr>
                <a:spLocks/>
              </p:cNvSpPr>
              <p:nvPr/>
            </p:nvSpPr>
            <p:spPr bwMode="auto">
              <a:xfrm>
                <a:off x="1442" y="1955"/>
                <a:ext cx="231" cy="114"/>
              </a:xfrm>
              <a:custGeom>
                <a:avLst/>
                <a:gdLst/>
                <a:ahLst/>
                <a:cxnLst>
                  <a:cxn ang="0">
                    <a:pos x="0" y="54"/>
                  </a:cxn>
                  <a:cxn ang="0">
                    <a:pos x="54" y="0"/>
                  </a:cxn>
                  <a:cxn ang="0">
                    <a:pos x="108" y="54"/>
                  </a:cxn>
                </a:cxnLst>
                <a:rect l="0" t="0" r="r" b="b"/>
                <a:pathLst>
                  <a:path w="108" h="54">
                    <a:moveTo>
                      <a:pt x="0" y="54"/>
                    </a:moveTo>
                    <a:lnTo>
                      <a:pt x="54" y="0"/>
                    </a:lnTo>
                    <a:lnTo>
                      <a:pt x="108" y="54"/>
                    </a:lnTo>
                  </a:path>
                </a:pathLst>
              </a:custGeom>
              <a:noFill/>
              <a:ln w="3175">
                <a:solidFill>
                  <a:srgbClr val="000000"/>
                </a:solidFill>
                <a:prstDash val="solid"/>
                <a:round/>
                <a:headEnd/>
                <a:tailEnd/>
              </a:ln>
            </p:spPr>
            <p:txBody>
              <a:bodyPr/>
              <a:lstStyle/>
              <a:p>
                <a:endParaRPr lang="en-US"/>
              </a:p>
            </p:txBody>
          </p:sp>
        </p:grpSp>
        <p:sp>
          <p:nvSpPr>
            <p:cNvPr id="88074" name="Rectangle 10"/>
            <p:cNvSpPr>
              <a:spLocks noChangeArrowheads="1"/>
            </p:cNvSpPr>
            <p:nvPr/>
          </p:nvSpPr>
          <p:spPr bwMode="auto">
            <a:xfrm>
              <a:off x="2064" y="2632"/>
              <a:ext cx="374" cy="106"/>
            </a:xfrm>
            <a:prstGeom prst="rect">
              <a:avLst/>
            </a:prstGeom>
            <a:noFill/>
            <a:ln w="9525">
              <a:noFill/>
              <a:miter lim="800000"/>
              <a:headEnd/>
              <a:tailEnd/>
            </a:ln>
          </p:spPr>
          <p:txBody>
            <a:bodyPr wrap="none" lIns="0" tIns="0" rIns="0" bIns="0">
              <a:spAutoFit/>
            </a:bodyPr>
            <a:lstStyle/>
            <a:p>
              <a:pPr eaLnBrk="0" hangingPunct="0"/>
              <a:r>
                <a:rPr lang="en-US" sz="1100" u="sng">
                  <a:latin typeface="Arial" pitchFamily="34" charset="0"/>
                </a:rPr>
                <a:t> : Student</a:t>
              </a:r>
              <a:endParaRPr lang="en-US">
                <a:latin typeface="Times New Roman" pitchFamily="18" charset="0"/>
              </a:endParaRPr>
            </a:p>
          </p:txBody>
        </p:sp>
        <p:sp>
          <p:nvSpPr>
            <p:cNvPr id="88075" name="Rectangle 11"/>
            <p:cNvSpPr>
              <a:spLocks noChangeArrowheads="1"/>
            </p:cNvSpPr>
            <p:nvPr/>
          </p:nvSpPr>
          <p:spPr bwMode="auto">
            <a:xfrm>
              <a:off x="3118" y="2563"/>
              <a:ext cx="818" cy="244"/>
            </a:xfrm>
            <a:prstGeom prst="rect">
              <a:avLst/>
            </a:prstGeom>
            <a:noFill/>
            <a:ln w="0">
              <a:solidFill>
                <a:srgbClr val="000000"/>
              </a:solidFill>
              <a:miter lim="800000"/>
              <a:headEnd/>
              <a:tailEnd/>
            </a:ln>
          </p:spPr>
          <p:txBody>
            <a:bodyPr/>
            <a:lstStyle/>
            <a:p>
              <a:endParaRPr lang="en-US"/>
            </a:p>
          </p:txBody>
        </p:sp>
        <p:sp>
          <p:nvSpPr>
            <p:cNvPr id="88076" name="Rectangle 12"/>
            <p:cNvSpPr>
              <a:spLocks noChangeArrowheads="1"/>
            </p:cNvSpPr>
            <p:nvPr/>
          </p:nvSpPr>
          <p:spPr bwMode="auto">
            <a:xfrm>
              <a:off x="3238" y="2582"/>
              <a:ext cx="483" cy="106"/>
            </a:xfrm>
            <a:prstGeom prst="rect">
              <a:avLst/>
            </a:prstGeom>
            <a:noFill/>
            <a:ln w="9525">
              <a:noFill/>
              <a:miter lim="800000"/>
              <a:headEnd/>
              <a:tailEnd/>
            </a:ln>
          </p:spPr>
          <p:txBody>
            <a:bodyPr wrap="none" lIns="0" tIns="0" rIns="0" bIns="0">
              <a:spAutoFit/>
            </a:bodyPr>
            <a:lstStyle/>
            <a:p>
              <a:pPr eaLnBrk="0" hangingPunct="0"/>
              <a:r>
                <a:rPr lang="en-US" sz="1100" u="sng">
                  <a:latin typeface="Arial" pitchFamily="34" charset="0"/>
                </a:rPr>
                <a:t>:registration </a:t>
              </a:r>
              <a:endParaRPr lang="en-US">
                <a:latin typeface="Times New Roman" pitchFamily="18" charset="0"/>
              </a:endParaRPr>
            </a:p>
          </p:txBody>
        </p:sp>
        <p:sp>
          <p:nvSpPr>
            <p:cNvPr id="88077" name="Rectangle 13"/>
            <p:cNvSpPr>
              <a:spLocks noChangeArrowheads="1"/>
            </p:cNvSpPr>
            <p:nvPr/>
          </p:nvSpPr>
          <p:spPr bwMode="auto">
            <a:xfrm>
              <a:off x="3422" y="2685"/>
              <a:ext cx="175" cy="106"/>
            </a:xfrm>
            <a:prstGeom prst="rect">
              <a:avLst/>
            </a:prstGeom>
            <a:noFill/>
            <a:ln w="9525">
              <a:noFill/>
              <a:miter lim="800000"/>
              <a:headEnd/>
              <a:tailEnd/>
            </a:ln>
          </p:spPr>
          <p:txBody>
            <a:bodyPr wrap="none" lIns="0" tIns="0" rIns="0" bIns="0">
              <a:spAutoFit/>
            </a:bodyPr>
            <a:lstStyle/>
            <a:p>
              <a:pPr eaLnBrk="0" hangingPunct="0"/>
              <a:r>
                <a:rPr lang="en-US" sz="1100" u="sng">
                  <a:latin typeface="Arial" pitchFamily="34" charset="0"/>
                </a:rPr>
                <a:t>form</a:t>
              </a:r>
              <a:endParaRPr lang="en-US">
                <a:latin typeface="Times New Roman" pitchFamily="18" charset="0"/>
              </a:endParaRPr>
            </a:p>
          </p:txBody>
        </p:sp>
        <p:grpSp>
          <p:nvGrpSpPr>
            <p:cNvPr id="4" name="Group 14"/>
            <p:cNvGrpSpPr>
              <a:grpSpLocks/>
            </p:cNvGrpSpPr>
            <p:nvPr/>
          </p:nvGrpSpPr>
          <p:grpSpPr bwMode="auto">
            <a:xfrm>
              <a:off x="2310" y="3072"/>
              <a:ext cx="1146" cy="60"/>
              <a:chOff x="1311" y="2403"/>
              <a:chExt cx="954" cy="64"/>
            </a:xfrm>
          </p:grpSpPr>
          <p:sp>
            <p:nvSpPr>
              <p:cNvPr id="88079" name="Line 15"/>
              <p:cNvSpPr>
                <a:spLocks noChangeShapeType="1"/>
              </p:cNvSpPr>
              <p:nvPr/>
            </p:nvSpPr>
            <p:spPr bwMode="auto">
              <a:xfrm>
                <a:off x="1311" y="2435"/>
                <a:ext cx="954" cy="1"/>
              </a:xfrm>
              <a:prstGeom prst="line">
                <a:avLst/>
              </a:prstGeom>
              <a:noFill/>
              <a:ln w="0">
                <a:solidFill>
                  <a:srgbClr val="000000"/>
                </a:solidFill>
                <a:round/>
                <a:headEnd/>
                <a:tailEnd/>
              </a:ln>
            </p:spPr>
            <p:txBody>
              <a:bodyPr/>
              <a:lstStyle/>
              <a:p>
                <a:endParaRPr lang="en-US"/>
              </a:p>
            </p:txBody>
          </p:sp>
          <p:sp>
            <p:nvSpPr>
              <p:cNvPr id="88080" name="Line 16"/>
              <p:cNvSpPr>
                <a:spLocks noChangeShapeType="1"/>
              </p:cNvSpPr>
              <p:nvPr/>
            </p:nvSpPr>
            <p:spPr bwMode="auto">
              <a:xfrm flipH="1">
                <a:off x="2188" y="2435"/>
                <a:ext cx="77" cy="32"/>
              </a:xfrm>
              <a:prstGeom prst="line">
                <a:avLst/>
              </a:prstGeom>
              <a:noFill/>
              <a:ln w="9525">
                <a:solidFill>
                  <a:srgbClr val="000000"/>
                </a:solidFill>
                <a:round/>
                <a:headEnd/>
                <a:tailEnd/>
              </a:ln>
            </p:spPr>
            <p:txBody>
              <a:bodyPr/>
              <a:lstStyle/>
              <a:p>
                <a:endParaRPr lang="en-US"/>
              </a:p>
            </p:txBody>
          </p:sp>
          <p:sp>
            <p:nvSpPr>
              <p:cNvPr id="88081" name="Line 17"/>
              <p:cNvSpPr>
                <a:spLocks noChangeShapeType="1"/>
              </p:cNvSpPr>
              <p:nvPr/>
            </p:nvSpPr>
            <p:spPr bwMode="auto">
              <a:xfrm flipH="1" flipV="1">
                <a:off x="2188" y="2403"/>
                <a:ext cx="77" cy="32"/>
              </a:xfrm>
              <a:prstGeom prst="line">
                <a:avLst/>
              </a:prstGeom>
              <a:noFill/>
              <a:ln w="9525">
                <a:solidFill>
                  <a:srgbClr val="000000"/>
                </a:solidFill>
                <a:round/>
                <a:headEnd/>
                <a:tailEnd/>
              </a:ln>
            </p:spPr>
            <p:txBody>
              <a:bodyPr/>
              <a:lstStyle/>
              <a:p>
                <a:endParaRPr lang="en-US"/>
              </a:p>
            </p:txBody>
          </p:sp>
        </p:grpSp>
        <p:sp>
          <p:nvSpPr>
            <p:cNvPr id="88082" name="Rectangle 18"/>
            <p:cNvSpPr>
              <a:spLocks noChangeArrowheads="1"/>
            </p:cNvSpPr>
            <p:nvPr/>
          </p:nvSpPr>
          <p:spPr bwMode="auto">
            <a:xfrm>
              <a:off x="2642" y="2953"/>
              <a:ext cx="440" cy="106"/>
            </a:xfrm>
            <a:prstGeom prst="rect">
              <a:avLst/>
            </a:prstGeom>
            <a:noFill/>
            <a:ln w="9525">
              <a:noFill/>
              <a:miter lim="800000"/>
              <a:headEnd/>
              <a:tailEnd/>
            </a:ln>
          </p:spPr>
          <p:txBody>
            <a:bodyPr wrap="none" lIns="0" tIns="0" rIns="0" bIns="0">
              <a:spAutoFit/>
            </a:bodyPr>
            <a:lstStyle/>
            <a:p>
              <a:pPr eaLnBrk="0" hangingPunct="0"/>
              <a:r>
                <a:rPr lang="en-US" sz="1100">
                  <a:latin typeface="Arial" pitchFamily="34" charset="0"/>
                </a:rPr>
                <a:t>1: fill in info</a:t>
              </a:r>
              <a:endParaRPr lang="en-US">
                <a:latin typeface="Times New Roman" pitchFamily="18" charset="0"/>
              </a:endParaRPr>
            </a:p>
          </p:txBody>
        </p:sp>
        <p:grpSp>
          <p:nvGrpSpPr>
            <p:cNvPr id="5" name="Group 19"/>
            <p:cNvGrpSpPr>
              <a:grpSpLocks/>
            </p:cNvGrpSpPr>
            <p:nvPr/>
          </p:nvGrpSpPr>
          <p:grpSpPr bwMode="auto">
            <a:xfrm>
              <a:off x="2310" y="3312"/>
              <a:ext cx="1146" cy="60"/>
              <a:chOff x="1311" y="2643"/>
              <a:chExt cx="954" cy="64"/>
            </a:xfrm>
          </p:grpSpPr>
          <p:sp>
            <p:nvSpPr>
              <p:cNvPr id="88084" name="Line 20"/>
              <p:cNvSpPr>
                <a:spLocks noChangeShapeType="1"/>
              </p:cNvSpPr>
              <p:nvPr/>
            </p:nvSpPr>
            <p:spPr bwMode="auto">
              <a:xfrm>
                <a:off x="1311" y="2675"/>
                <a:ext cx="954" cy="1"/>
              </a:xfrm>
              <a:prstGeom prst="line">
                <a:avLst/>
              </a:prstGeom>
              <a:noFill/>
              <a:ln w="19050">
                <a:solidFill>
                  <a:srgbClr val="000000"/>
                </a:solidFill>
                <a:round/>
                <a:headEnd/>
                <a:tailEnd/>
              </a:ln>
            </p:spPr>
            <p:txBody>
              <a:bodyPr/>
              <a:lstStyle/>
              <a:p>
                <a:endParaRPr lang="en-US"/>
              </a:p>
            </p:txBody>
          </p:sp>
          <p:sp>
            <p:nvSpPr>
              <p:cNvPr id="88085" name="Line 21"/>
              <p:cNvSpPr>
                <a:spLocks noChangeShapeType="1"/>
              </p:cNvSpPr>
              <p:nvPr/>
            </p:nvSpPr>
            <p:spPr bwMode="auto">
              <a:xfrm flipH="1">
                <a:off x="2188" y="2675"/>
                <a:ext cx="77" cy="32"/>
              </a:xfrm>
              <a:prstGeom prst="line">
                <a:avLst/>
              </a:prstGeom>
              <a:noFill/>
              <a:ln w="19050">
                <a:solidFill>
                  <a:srgbClr val="000000"/>
                </a:solidFill>
                <a:round/>
                <a:headEnd/>
                <a:tailEnd/>
              </a:ln>
            </p:spPr>
            <p:txBody>
              <a:bodyPr/>
              <a:lstStyle/>
              <a:p>
                <a:endParaRPr lang="en-US"/>
              </a:p>
            </p:txBody>
          </p:sp>
          <p:sp>
            <p:nvSpPr>
              <p:cNvPr id="88086" name="Line 22"/>
              <p:cNvSpPr>
                <a:spLocks noChangeShapeType="1"/>
              </p:cNvSpPr>
              <p:nvPr/>
            </p:nvSpPr>
            <p:spPr bwMode="auto">
              <a:xfrm flipH="1" flipV="1">
                <a:off x="2188" y="2643"/>
                <a:ext cx="77" cy="32"/>
              </a:xfrm>
              <a:prstGeom prst="line">
                <a:avLst/>
              </a:prstGeom>
              <a:noFill/>
              <a:ln w="19050">
                <a:solidFill>
                  <a:srgbClr val="000000"/>
                </a:solidFill>
                <a:round/>
                <a:headEnd/>
                <a:tailEnd/>
              </a:ln>
            </p:spPr>
            <p:txBody>
              <a:bodyPr/>
              <a:lstStyle/>
              <a:p>
                <a:endParaRPr lang="en-US"/>
              </a:p>
            </p:txBody>
          </p:sp>
        </p:grpSp>
        <p:sp>
          <p:nvSpPr>
            <p:cNvPr id="88087" name="Rectangle 23"/>
            <p:cNvSpPr>
              <a:spLocks noChangeArrowheads="1"/>
            </p:cNvSpPr>
            <p:nvPr/>
          </p:nvSpPr>
          <p:spPr bwMode="auto">
            <a:xfrm>
              <a:off x="2688" y="3192"/>
              <a:ext cx="357" cy="106"/>
            </a:xfrm>
            <a:prstGeom prst="rect">
              <a:avLst/>
            </a:prstGeom>
            <a:noFill/>
            <a:ln w="9525">
              <a:noFill/>
              <a:miter lim="800000"/>
              <a:headEnd/>
              <a:tailEnd/>
            </a:ln>
          </p:spPr>
          <p:txBody>
            <a:bodyPr wrap="none" lIns="0" tIns="0" rIns="0" bIns="0">
              <a:spAutoFit/>
            </a:bodyPr>
            <a:lstStyle/>
            <a:p>
              <a:pPr eaLnBrk="0" hangingPunct="0"/>
              <a:r>
                <a:rPr lang="en-US" sz="1100">
                  <a:latin typeface="Arial" pitchFamily="34" charset="0"/>
                </a:rPr>
                <a:t>2: submit</a:t>
              </a:r>
              <a:endParaRPr lang="en-US">
                <a:latin typeface="Times New Roman" pitchFamily="18" charset="0"/>
              </a:endParaRPr>
            </a:p>
          </p:txBody>
        </p:sp>
        <p:sp>
          <p:nvSpPr>
            <p:cNvPr id="88088" name="Line 24"/>
            <p:cNvSpPr>
              <a:spLocks noChangeShapeType="1"/>
            </p:cNvSpPr>
            <p:nvPr/>
          </p:nvSpPr>
          <p:spPr bwMode="auto">
            <a:xfrm>
              <a:off x="3531" y="2832"/>
              <a:ext cx="0" cy="1152"/>
            </a:xfrm>
            <a:prstGeom prst="line">
              <a:avLst/>
            </a:prstGeom>
            <a:noFill/>
            <a:ln w="19050">
              <a:solidFill>
                <a:schemeClr val="tx1"/>
              </a:solidFill>
              <a:prstDash val="dash"/>
              <a:miter lim="800000"/>
              <a:headEnd/>
              <a:tailEnd/>
            </a:ln>
            <a:effectLst/>
          </p:spPr>
          <p:txBody>
            <a:bodyPr wrap="none"/>
            <a:lstStyle/>
            <a:p>
              <a:endParaRPr lang="en-US"/>
            </a:p>
          </p:txBody>
        </p:sp>
        <p:sp>
          <p:nvSpPr>
            <p:cNvPr id="88089" name="Line 25"/>
            <p:cNvSpPr>
              <a:spLocks noChangeShapeType="1"/>
            </p:cNvSpPr>
            <p:nvPr/>
          </p:nvSpPr>
          <p:spPr bwMode="auto">
            <a:xfrm>
              <a:off x="2309" y="2784"/>
              <a:ext cx="0" cy="1152"/>
            </a:xfrm>
            <a:prstGeom prst="line">
              <a:avLst/>
            </a:prstGeom>
            <a:noFill/>
            <a:ln w="19050">
              <a:solidFill>
                <a:schemeClr val="tx1"/>
              </a:solidFill>
              <a:prstDash val="dash"/>
              <a:miter lim="800000"/>
              <a:headEnd/>
              <a:tailEnd/>
            </a:ln>
            <a:effectLst/>
          </p:spPr>
          <p:txBody>
            <a:bodyPr wrap="none"/>
            <a:lstStyle/>
            <a:p>
              <a:endParaRPr lang="en-US"/>
            </a:p>
          </p:txBody>
        </p:sp>
        <p:sp>
          <p:nvSpPr>
            <p:cNvPr id="88090" name="Rectangle 26"/>
            <p:cNvSpPr>
              <a:spLocks noChangeArrowheads="1"/>
            </p:cNvSpPr>
            <p:nvPr/>
          </p:nvSpPr>
          <p:spPr bwMode="auto">
            <a:xfrm>
              <a:off x="2160" y="3024"/>
              <a:ext cx="192" cy="624"/>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88091" name="Rectangle 27"/>
            <p:cNvSpPr>
              <a:spLocks noChangeArrowheads="1"/>
            </p:cNvSpPr>
            <p:nvPr/>
          </p:nvSpPr>
          <p:spPr bwMode="auto">
            <a:xfrm>
              <a:off x="3456" y="3024"/>
              <a:ext cx="192" cy="624"/>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88092" name="Line 28"/>
            <p:cNvSpPr>
              <a:spLocks noChangeShapeType="1"/>
            </p:cNvSpPr>
            <p:nvPr/>
          </p:nvSpPr>
          <p:spPr bwMode="auto">
            <a:xfrm flipH="1">
              <a:off x="1776" y="3312"/>
              <a:ext cx="432" cy="0"/>
            </a:xfrm>
            <a:prstGeom prst="line">
              <a:avLst/>
            </a:prstGeom>
            <a:noFill/>
            <a:ln w="19050">
              <a:solidFill>
                <a:schemeClr val="tx2"/>
              </a:solidFill>
              <a:miter lim="800000"/>
              <a:headEnd/>
              <a:tailEnd type="triangle" w="med" len="med"/>
            </a:ln>
            <a:effectLst/>
          </p:spPr>
          <p:txBody>
            <a:bodyPr wrap="none"/>
            <a:lstStyle/>
            <a:p>
              <a:endParaRPr lang="en-US"/>
            </a:p>
          </p:txBody>
        </p:sp>
      </p:grpSp>
      <p:sp>
        <p:nvSpPr>
          <p:cNvPr id="88093" name="Text Box 29"/>
          <p:cNvSpPr txBox="1">
            <a:spLocks noChangeArrowheads="1"/>
          </p:cNvSpPr>
          <p:nvPr/>
        </p:nvSpPr>
        <p:spPr bwMode="auto">
          <a:xfrm>
            <a:off x="1371600" y="4953000"/>
            <a:ext cx="1408113" cy="822325"/>
          </a:xfrm>
          <a:prstGeom prst="rect">
            <a:avLst/>
          </a:prstGeom>
          <a:noFill/>
          <a:ln w="9525">
            <a:noFill/>
            <a:miter lim="800000"/>
            <a:headEnd/>
            <a:tailEnd/>
          </a:ln>
          <a:effectLst/>
        </p:spPr>
        <p:txBody>
          <a:bodyPr wrap="none">
            <a:spAutoFit/>
          </a:bodyPr>
          <a:lstStyle/>
          <a:p>
            <a:r>
              <a:rPr lang="en-US"/>
              <a:t>Focus of </a:t>
            </a:r>
          </a:p>
          <a:p>
            <a:r>
              <a:rPr lang="en-US"/>
              <a:t>control</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Example: Sequence diagram describing data collection</a:t>
            </a:r>
            <a:r>
              <a:rPr lang="en-GB" sz="3200" dirty="0"/>
              <a:t> </a:t>
            </a:r>
            <a:endParaRPr lang="en-US" sz="3200" dirty="0"/>
          </a:p>
        </p:txBody>
      </p:sp>
      <p:pic>
        <p:nvPicPr>
          <p:cNvPr id="4" name="Content Placeholder 3" descr="7.7 WS-SeqDiagram.eps"/>
          <p:cNvPicPr>
            <a:picLocks noGrp="1" noChangeAspect="1"/>
          </p:cNvPicPr>
          <p:nvPr>
            <p:ph idx="1"/>
          </p:nvPr>
        </p:nvPicPr>
        <p:blipFill>
          <a:blip r:embed="rId2" cstate="print"/>
          <a:srcRect l="-4798" r="-4798"/>
          <a:stretch>
            <a:fillRect/>
          </a:stretch>
        </p:blipFill>
        <p:spPr>
          <a:xfrm>
            <a:off x="838200" y="1905000"/>
            <a:ext cx="7772400" cy="4114800"/>
          </a:xfrm>
        </p:spPr>
      </p:pic>
      <p:sp>
        <p:nvSpPr>
          <p:cNvPr id="5" name="Slide Number Placeholder 4"/>
          <p:cNvSpPr>
            <a:spLocks noGrp="1"/>
          </p:cNvSpPr>
          <p:nvPr>
            <p:ph type="sldNum" sz="quarter" idx="12"/>
          </p:nvPr>
        </p:nvSpPr>
        <p:spPr/>
        <p:txBody>
          <a:bodyPr/>
          <a:lstStyle/>
          <a:p>
            <a:fld id="{EC83099C-5FA5-B04A-B819-64718E2A253A}" type="slidenum">
              <a:rPr lang="en-US" smtClean="0"/>
              <a:pPr/>
              <a:t>82</a:t>
            </a:fld>
            <a:endParaRPr lang="en-US"/>
          </a:p>
        </p:txBody>
      </p:sp>
      <p:sp>
        <p:nvSpPr>
          <p:cNvPr id="6" name="Footer Placeholder 5"/>
          <p:cNvSpPr>
            <a:spLocks noGrp="1"/>
          </p:cNvSpPr>
          <p:nvPr>
            <p:ph type="ftr" sz="quarter" idx="11"/>
          </p:nvPr>
        </p:nvSpPr>
        <p:spPr/>
        <p:txBody>
          <a:bodyPr/>
          <a:lstStyle/>
          <a:p>
            <a:r>
              <a:rPr lang="en-US"/>
              <a:t>Chapter 6-Object-oriented design</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sz="4000"/>
              <a:t>Drawing Sequence Diagrams</a:t>
            </a:r>
          </a:p>
        </p:txBody>
      </p:sp>
      <p:sp>
        <p:nvSpPr>
          <p:cNvPr id="17411" name="Rectangle 3"/>
          <p:cNvSpPr>
            <a:spLocks noGrp="1" noChangeArrowheads="1"/>
          </p:cNvSpPr>
          <p:nvPr>
            <p:ph type="body" idx="1"/>
          </p:nvPr>
        </p:nvSpPr>
        <p:spPr/>
        <p:txBody>
          <a:bodyPr/>
          <a:lstStyle/>
          <a:p>
            <a:pPr eaLnBrk="1" hangingPunct="1">
              <a:lnSpc>
                <a:spcPct val="90000"/>
              </a:lnSpc>
              <a:buClr>
                <a:srgbClr val="FF9900"/>
              </a:buClr>
              <a:buFont typeface="Wingdings" panose="05000000000000000000" pitchFamily="2" charset="2"/>
              <a:buChar char="Ø"/>
            </a:pPr>
            <a:r>
              <a:rPr lang="en-US" altLang="en-US" sz="2800">
                <a:latin typeface="Garamond" panose="02020404030301010803" pitchFamily="18" charset="0"/>
              </a:rPr>
              <a:t>Determine the context of the sequence diagram</a:t>
            </a:r>
          </a:p>
          <a:p>
            <a:pPr eaLnBrk="1" hangingPunct="1">
              <a:lnSpc>
                <a:spcPct val="90000"/>
              </a:lnSpc>
              <a:buClr>
                <a:srgbClr val="FF9900"/>
              </a:buClr>
              <a:buFont typeface="Wingdings" panose="05000000000000000000" pitchFamily="2" charset="2"/>
              <a:buChar char="Ø"/>
            </a:pPr>
            <a:r>
              <a:rPr lang="en-US" altLang="en-US" sz="2800">
                <a:latin typeface="Garamond" panose="02020404030301010803" pitchFamily="18" charset="0"/>
              </a:rPr>
              <a:t>Identify the </a:t>
            </a:r>
            <a:r>
              <a:rPr lang="en-US" altLang="en-US" sz="2800" b="1">
                <a:latin typeface="Garamond" panose="02020404030301010803" pitchFamily="18" charset="0"/>
              </a:rPr>
              <a:t>object</a:t>
            </a:r>
            <a:r>
              <a:rPr lang="en-US" altLang="en-US" sz="2800">
                <a:latin typeface="Garamond" panose="02020404030301010803" pitchFamily="18" charset="0"/>
              </a:rPr>
              <a:t> that are participate in the sequence</a:t>
            </a:r>
          </a:p>
          <a:p>
            <a:pPr eaLnBrk="1" hangingPunct="1">
              <a:lnSpc>
                <a:spcPct val="90000"/>
              </a:lnSpc>
              <a:buClr>
                <a:srgbClr val="FF9900"/>
              </a:buClr>
              <a:buFont typeface="Wingdings" panose="05000000000000000000" pitchFamily="2" charset="2"/>
              <a:buChar char="Ø"/>
            </a:pPr>
            <a:r>
              <a:rPr lang="en-US" altLang="en-US" sz="2800">
                <a:latin typeface="Garamond" panose="02020404030301010803" pitchFamily="18" charset="0"/>
              </a:rPr>
              <a:t>Set of the </a:t>
            </a:r>
            <a:r>
              <a:rPr lang="en-US" altLang="en-US" sz="2800" b="1">
                <a:latin typeface="Garamond" panose="02020404030301010803" pitchFamily="18" charset="0"/>
              </a:rPr>
              <a:t>lifeline</a:t>
            </a:r>
            <a:r>
              <a:rPr lang="en-US" altLang="en-US" sz="2800">
                <a:latin typeface="Garamond" panose="02020404030301010803" pitchFamily="18" charset="0"/>
              </a:rPr>
              <a:t> for each object</a:t>
            </a:r>
          </a:p>
          <a:p>
            <a:pPr eaLnBrk="1" hangingPunct="1">
              <a:lnSpc>
                <a:spcPct val="90000"/>
              </a:lnSpc>
              <a:buClr>
                <a:srgbClr val="FF9900"/>
              </a:buClr>
              <a:buFont typeface="Wingdings" panose="05000000000000000000" pitchFamily="2" charset="2"/>
              <a:buChar char="Ø"/>
            </a:pPr>
            <a:r>
              <a:rPr lang="en-US" altLang="en-US" sz="2800">
                <a:latin typeface="Garamond" panose="02020404030301010803" pitchFamily="18" charset="0"/>
              </a:rPr>
              <a:t>Lay out of </a:t>
            </a:r>
            <a:r>
              <a:rPr lang="en-US" altLang="en-US" sz="2800" b="1">
                <a:latin typeface="Garamond" panose="02020404030301010803" pitchFamily="18" charset="0"/>
              </a:rPr>
              <a:t>messages</a:t>
            </a:r>
            <a:r>
              <a:rPr lang="en-US" altLang="en-US" sz="2800">
                <a:latin typeface="Garamond" panose="02020404030301010803" pitchFamily="18" charset="0"/>
              </a:rPr>
              <a:t> from the top to the bottom of the diagram based on the order in which they sent</a:t>
            </a:r>
          </a:p>
          <a:p>
            <a:pPr eaLnBrk="1" hangingPunct="1">
              <a:lnSpc>
                <a:spcPct val="90000"/>
              </a:lnSpc>
              <a:buClr>
                <a:srgbClr val="FF9900"/>
              </a:buClr>
              <a:buFont typeface="Wingdings" panose="05000000000000000000" pitchFamily="2" charset="2"/>
              <a:buChar char="Ø"/>
            </a:pPr>
            <a:r>
              <a:rPr lang="en-US" altLang="en-US" sz="2800">
                <a:latin typeface="Garamond" panose="02020404030301010803" pitchFamily="18" charset="0"/>
              </a:rPr>
              <a:t>Add the execution occurrence to each object’s lifeline</a:t>
            </a:r>
          </a:p>
          <a:p>
            <a:pPr eaLnBrk="1" hangingPunct="1">
              <a:lnSpc>
                <a:spcPct val="90000"/>
              </a:lnSpc>
              <a:buClr>
                <a:srgbClr val="FF9900"/>
              </a:buClr>
              <a:buFont typeface="Wingdings" panose="05000000000000000000" pitchFamily="2" charset="2"/>
              <a:buChar char="Ø"/>
            </a:pPr>
            <a:r>
              <a:rPr lang="en-US" altLang="en-US" sz="2800" b="1">
                <a:latin typeface="Garamond" panose="02020404030301010803" pitchFamily="18" charset="0"/>
              </a:rPr>
              <a:t>Validate</a:t>
            </a:r>
            <a:r>
              <a:rPr lang="en-US" altLang="en-US" sz="2800">
                <a:latin typeface="Garamond" panose="02020404030301010803" pitchFamily="18" charset="0"/>
              </a:rPr>
              <a:t> the sequence diagram</a:t>
            </a:r>
          </a:p>
        </p:txBody>
      </p:sp>
    </p:spTree>
    <p:extLst>
      <p:ext uri="{BB962C8B-B14F-4D97-AF65-F5344CB8AC3E}">
        <p14:creationId xmlns:p14="http://schemas.microsoft.com/office/powerpoint/2010/main" val="9840123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t>OOAD</a:t>
            </a:r>
          </a:p>
        </p:txBody>
      </p:sp>
      <p:sp>
        <p:nvSpPr>
          <p:cNvPr id="1945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3E3481E-510A-47C0-B392-07DEF845BCBF}" type="slidenum">
              <a:rPr lang="en-US" altLang="en-US" sz="1400"/>
              <a:pPr eaLnBrk="1" hangingPunct="1"/>
              <a:t>84</a:t>
            </a:fld>
            <a:endParaRPr lang="en-US" altLang="en-US" sz="1400"/>
          </a:p>
        </p:txBody>
      </p:sp>
      <p:sp>
        <p:nvSpPr>
          <p:cNvPr id="19460" name="Rectangle 2"/>
          <p:cNvSpPr>
            <a:spLocks noGrp="1" noChangeArrowheads="1"/>
          </p:cNvSpPr>
          <p:nvPr>
            <p:ph type="title"/>
          </p:nvPr>
        </p:nvSpPr>
        <p:spPr>
          <a:xfrm>
            <a:off x="685800" y="838200"/>
            <a:ext cx="8162925" cy="762000"/>
          </a:xfrm>
        </p:spPr>
        <p:txBody>
          <a:bodyPr/>
          <a:lstStyle/>
          <a:p>
            <a:pPr eaLnBrk="1" hangingPunct="1"/>
            <a:r>
              <a:rPr lang="en-US" altLang="en-US" dirty="0"/>
              <a:t>Use Case: ATM</a:t>
            </a:r>
          </a:p>
        </p:txBody>
      </p:sp>
      <p:grpSp>
        <p:nvGrpSpPr>
          <p:cNvPr id="6" name="Group 3"/>
          <p:cNvGrpSpPr>
            <a:grpSpLocks/>
          </p:cNvGrpSpPr>
          <p:nvPr/>
        </p:nvGrpSpPr>
        <p:grpSpPr bwMode="auto">
          <a:xfrm>
            <a:off x="1839310" y="3365938"/>
            <a:ext cx="533400" cy="914400"/>
            <a:chOff x="1344" y="576"/>
            <a:chExt cx="576" cy="912"/>
          </a:xfrm>
        </p:grpSpPr>
        <p:sp>
          <p:nvSpPr>
            <p:cNvPr id="7" name="Oval 4"/>
            <p:cNvSpPr>
              <a:spLocks noChangeArrowheads="1"/>
            </p:cNvSpPr>
            <p:nvPr/>
          </p:nvSpPr>
          <p:spPr bwMode="auto">
            <a:xfrm>
              <a:off x="1392" y="576"/>
              <a:ext cx="480" cy="38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8" name="Line 5"/>
            <p:cNvSpPr>
              <a:spLocks noChangeShapeType="1"/>
            </p:cNvSpPr>
            <p:nvPr/>
          </p:nvSpPr>
          <p:spPr bwMode="auto">
            <a:xfrm>
              <a:off x="1632" y="960"/>
              <a:ext cx="0"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MY"/>
            </a:p>
          </p:txBody>
        </p:sp>
        <p:sp>
          <p:nvSpPr>
            <p:cNvPr id="9" name="Line 6"/>
            <p:cNvSpPr>
              <a:spLocks noChangeShapeType="1"/>
            </p:cNvSpPr>
            <p:nvPr/>
          </p:nvSpPr>
          <p:spPr bwMode="auto">
            <a:xfrm flipH="1">
              <a:off x="1344" y="1296"/>
              <a:ext cx="288"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MY"/>
            </a:p>
          </p:txBody>
        </p:sp>
        <p:sp>
          <p:nvSpPr>
            <p:cNvPr id="10" name="Line 7"/>
            <p:cNvSpPr>
              <a:spLocks noChangeShapeType="1"/>
            </p:cNvSpPr>
            <p:nvPr/>
          </p:nvSpPr>
          <p:spPr bwMode="auto">
            <a:xfrm>
              <a:off x="1632" y="1296"/>
              <a:ext cx="288"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MY"/>
            </a:p>
          </p:txBody>
        </p:sp>
        <p:sp>
          <p:nvSpPr>
            <p:cNvPr id="11" name="Line 8"/>
            <p:cNvSpPr>
              <a:spLocks noChangeShapeType="1"/>
            </p:cNvSpPr>
            <p:nvPr/>
          </p:nvSpPr>
          <p:spPr bwMode="auto">
            <a:xfrm>
              <a:off x="1392" y="1056"/>
              <a:ext cx="43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MY"/>
            </a:p>
          </p:txBody>
        </p:sp>
      </p:grpSp>
      <p:sp>
        <p:nvSpPr>
          <p:cNvPr id="12" name="Oval 9"/>
          <p:cNvSpPr>
            <a:spLocks noChangeArrowheads="1"/>
          </p:cNvSpPr>
          <p:nvPr/>
        </p:nvSpPr>
        <p:spPr bwMode="auto">
          <a:xfrm>
            <a:off x="3972910" y="2908738"/>
            <a:ext cx="12954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3" name="Text Box 10"/>
          <p:cNvSpPr txBox="1">
            <a:spLocks noChangeArrowheads="1"/>
          </p:cNvSpPr>
          <p:nvPr/>
        </p:nvSpPr>
        <p:spPr bwMode="auto">
          <a:xfrm>
            <a:off x="3744310" y="5042338"/>
            <a:ext cx="1660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600"/>
              <a:t>Withdraw amount</a:t>
            </a:r>
          </a:p>
        </p:txBody>
      </p:sp>
      <p:sp>
        <p:nvSpPr>
          <p:cNvPr id="14" name="Oval 11"/>
          <p:cNvSpPr>
            <a:spLocks noChangeArrowheads="1"/>
          </p:cNvSpPr>
          <p:nvPr/>
        </p:nvSpPr>
        <p:spPr bwMode="auto">
          <a:xfrm>
            <a:off x="4049110" y="3746938"/>
            <a:ext cx="1295400" cy="4572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 name="Text Box 12"/>
          <p:cNvSpPr txBox="1">
            <a:spLocks noChangeArrowheads="1"/>
          </p:cNvSpPr>
          <p:nvPr/>
        </p:nvSpPr>
        <p:spPr bwMode="auto">
          <a:xfrm>
            <a:off x="3820510" y="4204138"/>
            <a:ext cx="1479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600"/>
              <a:t>Deposit amount</a:t>
            </a:r>
          </a:p>
        </p:txBody>
      </p:sp>
      <p:sp>
        <p:nvSpPr>
          <p:cNvPr id="16" name="Oval 13"/>
          <p:cNvSpPr>
            <a:spLocks noChangeArrowheads="1"/>
          </p:cNvSpPr>
          <p:nvPr/>
        </p:nvSpPr>
        <p:spPr bwMode="auto">
          <a:xfrm>
            <a:off x="3972910" y="4508938"/>
            <a:ext cx="1295400" cy="4572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7" name="Text Box 14"/>
          <p:cNvSpPr txBox="1">
            <a:spLocks noChangeArrowheads="1"/>
          </p:cNvSpPr>
          <p:nvPr/>
        </p:nvSpPr>
        <p:spPr bwMode="auto">
          <a:xfrm>
            <a:off x="3820510" y="3365938"/>
            <a:ext cx="13985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600" dirty="0"/>
              <a:t>ATM approval</a:t>
            </a:r>
          </a:p>
        </p:txBody>
      </p:sp>
      <p:sp>
        <p:nvSpPr>
          <p:cNvPr id="18" name="Rectangle 15"/>
          <p:cNvSpPr>
            <a:spLocks noChangeArrowheads="1"/>
          </p:cNvSpPr>
          <p:nvPr/>
        </p:nvSpPr>
        <p:spPr bwMode="auto">
          <a:xfrm>
            <a:off x="2982310" y="2603938"/>
            <a:ext cx="3276600" cy="3124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9" name="Line 16"/>
          <p:cNvSpPr>
            <a:spLocks noChangeShapeType="1"/>
          </p:cNvSpPr>
          <p:nvPr/>
        </p:nvSpPr>
        <p:spPr bwMode="auto">
          <a:xfrm flipV="1">
            <a:off x="2677510" y="3137338"/>
            <a:ext cx="12954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MY"/>
          </a:p>
        </p:txBody>
      </p:sp>
      <p:sp>
        <p:nvSpPr>
          <p:cNvPr id="20" name="Line 17"/>
          <p:cNvSpPr>
            <a:spLocks noChangeShapeType="1"/>
          </p:cNvSpPr>
          <p:nvPr/>
        </p:nvSpPr>
        <p:spPr bwMode="auto">
          <a:xfrm>
            <a:off x="2753710" y="4051738"/>
            <a:ext cx="1371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MY"/>
          </a:p>
        </p:txBody>
      </p:sp>
      <p:sp>
        <p:nvSpPr>
          <p:cNvPr id="21" name="Line 18"/>
          <p:cNvSpPr>
            <a:spLocks noChangeShapeType="1"/>
          </p:cNvSpPr>
          <p:nvPr/>
        </p:nvSpPr>
        <p:spPr bwMode="auto">
          <a:xfrm>
            <a:off x="2753710" y="4432738"/>
            <a:ext cx="12192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MY"/>
          </a:p>
        </p:txBody>
      </p:sp>
      <p:sp>
        <p:nvSpPr>
          <p:cNvPr id="22" name="Text Box 19"/>
          <p:cNvSpPr txBox="1">
            <a:spLocks noChangeArrowheads="1"/>
          </p:cNvSpPr>
          <p:nvPr/>
        </p:nvSpPr>
        <p:spPr bwMode="auto">
          <a:xfrm>
            <a:off x="1686910" y="4432738"/>
            <a:ext cx="803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Client</a:t>
            </a:r>
          </a:p>
        </p:txBody>
      </p:sp>
      <p:sp>
        <p:nvSpPr>
          <p:cNvPr id="23" name="Text Box 20"/>
          <p:cNvSpPr txBox="1">
            <a:spLocks noChangeArrowheads="1"/>
          </p:cNvSpPr>
          <p:nvPr/>
        </p:nvSpPr>
        <p:spPr bwMode="auto">
          <a:xfrm>
            <a:off x="4049110" y="2222938"/>
            <a:ext cx="1558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ATM System</a:t>
            </a:r>
          </a:p>
        </p:txBody>
      </p:sp>
    </p:spTree>
    <p:extLst>
      <p:ext uri="{BB962C8B-B14F-4D97-AF65-F5344CB8AC3E}">
        <p14:creationId xmlns:p14="http://schemas.microsoft.com/office/powerpoint/2010/main" val="28454702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t>OOAD</a:t>
            </a:r>
          </a:p>
        </p:txBody>
      </p:sp>
      <p:sp>
        <p:nvSpPr>
          <p:cNvPr id="1945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3E3481E-510A-47C0-B392-07DEF845BCBF}" type="slidenum">
              <a:rPr lang="en-US" altLang="en-US" sz="1400"/>
              <a:pPr eaLnBrk="1" hangingPunct="1"/>
              <a:t>85</a:t>
            </a:fld>
            <a:endParaRPr lang="en-US" altLang="en-US" sz="1400"/>
          </a:p>
        </p:txBody>
      </p:sp>
      <p:sp>
        <p:nvSpPr>
          <p:cNvPr id="19460" name="Rectangle 2"/>
          <p:cNvSpPr>
            <a:spLocks noGrp="1" noChangeArrowheads="1"/>
          </p:cNvSpPr>
          <p:nvPr>
            <p:ph type="title"/>
          </p:nvPr>
        </p:nvSpPr>
        <p:spPr>
          <a:xfrm>
            <a:off x="685800" y="838200"/>
            <a:ext cx="8162925" cy="762000"/>
          </a:xfrm>
        </p:spPr>
        <p:txBody>
          <a:bodyPr/>
          <a:lstStyle/>
          <a:p>
            <a:pPr eaLnBrk="1" hangingPunct="1"/>
            <a:r>
              <a:rPr lang="en-US" altLang="en-US" dirty="0"/>
              <a:t>Use Case: </a:t>
            </a:r>
            <a:r>
              <a:rPr lang="en-US" altLang="en-US" b="1" dirty="0">
                <a:latin typeface="Garamond" panose="02020404030301010803" pitchFamily="18" charset="0"/>
              </a:rPr>
              <a:t>ATM approval</a:t>
            </a:r>
            <a:endParaRPr lang="en-US" altLang="en-US" dirty="0"/>
          </a:p>
        </p:txBody>
      </p:sp>
      <p:sp>
        <p:nvSpPr>
          <p:cNvPr id="19461" name="Text Box 3"/>
          <p:cNvSpPr txBox="1">
            <a:spLocks noChangeArrowheads="1"/>
          </p:cNvSpPr>
          <p:nvPr/>
        </p:nvSpPr>
        <p:spPr bwMode="auto">
          <a:xfrm>
            <a:off x="838200" y="1981200"/>
            <a:ext cx="7573963"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dirty="0">
                <a:latin typeface="Garamond" panose="02020404030301010803" pitchFamily="18" charset="0"/>
              </a:rPr>
              <a:t>Flow-of-event:</a:t>
            </a:r>
          </a:p>
          <a:p>
            <a:pPr eaLnBrk="1" hangingPunct="1"/>
            <a:endParaRPr lang="en-US" altLang="en-US" dirty="0">
              <a:latin typeface="Garamond" panose="02020404030301010803" pitchFamily="18" charset="0"/>
            </a:endParaRPr>
          </a:p>
          <a:p>
            <a:pPr lvl="1" eaLnBrk="1" hangingPunct="1">
              <a:buFontTx/>
              <a:buAutoNum type="arabicPeriod"/>
            </a:pPr>
            <a:r>
              <a:rPr lang="en-US" altLang="en-US" dirty="0">
                <a:latin typeface="Garamond" panose="02020404030301010803" pitchFamily="18" charset="0"/>
              </a:rPr>
              <a:t>Insert ATM card</a:t>
            </a:r>
          </a:p>
          <a:p>
            <a:pPr lvl="1" eaLnBrk="1" hangingPunct="1">
              <a:buFontTx/>
              <a:buAutoNum type="arabicPeriod"/>
            </a:pPr>
            <a:r>
              <a:rPr lang="en-US" altLang="en-US" dirty="0">
                <a:latin typeface="Garamond" panose="02020404030301010803" pitchFamily="18" charset="0"/>
              </a:rPr>
              <a:t>Request PIN</a:t>
            </a:r>
          </a:p>
          <a:p>
            <a:pPr lvl="1" eaLnBrk="1" hangingPunct="1">
              <a:buFontTx/>
              <a:buAutoNum type="arabicPeriod"/>
            </a:pPr>
            <a:r>
              <a:rPr lang="en-US" altLang="en-US" dirty="0">
                <a:latin typeface="Garamond" panose="02020404030301010803" pitchFamily="18" charset="0"/>
              </a:rPr>
              <a:t>Enter PIN</a:t>
            </a:r>
          </a:p>
          <a:p>
            <a:pPr lvl="1" eaLnBrk="1" hangingPunct="1">
              <a:buFontTx/>
              <a:buAutoNum type="arabicPeriod"/>
            </a:pPr>
            <a:r>
              <a:rPr lang="en-US" altLang="en-US" dirty="0">
                <a:latin typeface="Garamond" panose="02020404030301010803" pitchFamily="18" charset="0"/>
              </a:rPr>
              <a:t>Verify PIN</a:t>
            </a:r>
          </a:p>
          <a:p>
            <a:pPr lvl="1" eaLnBrk="1" hangingPunct="1">
              <a:buFontTx/>
              <a:buAutoNum type="arabicPeriod"/>
            </a:pPr>
            <a:r>
              <a:rPr lang="en-US" altLang="en-US" dirty="0">
                <a:latin typeface="Garamond" panose="02020404030301010803" pitchFamily="18" charset="0"/>
              </a:rPr>
              <a:t>Display message to client</a:t>
            </a:r>
          </a:p>
          <a:p>
            <a:pPr eaLnBrk="1" hangingPunct="1"/>
            <a:endParaRPr lang="en-US" altLang="en-US" dirty="0"/>
          </a:p>
        </p:txBody>
      </p:sp>
    </p:spTree>
    <p:extLst>
      <p:ext uri="{BB962C8B-B14F-4D97-AF65-F5344CB8AC3E}">
        <p14:creationId xmlns:p14="http://schemas.microsoft.com/office/powerpoint/2010/main" val="14909439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365125" y="981075"/>
            <a:ext cx="1063625" cy="5318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a:t>Client</a:t>
            </a:r>
          </a:p>
        </p:txBody>
      </p:sp>
      <p:sp>
        <p:nvSpPr>
          <p:cNvPr id="25603" name="Text Box 3"/>
          <p:cNvSpPr txBox="1">
            <a:spLocks noChangeArrowheads="1"/>
          </p:cNvSpPr>
          <p:nvPr/>
        </p:nvSpPr>
        <p:spPr bwMode="auto">
          <a:xfrm>
            <a:off x="2133600" y="990600"/>
            <a:ext cx="2317750" cy="5318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a:t>ATM Machine</a:t>
            </a:r>
          </a:p>
        </p:txBody>
      </p:sp>
      <p:sp>
        <p:nvSpPr>
          <p:cNvPr id="25604" name="Line 4"/>
          <p:cNvSpPr>
            <a:spLocks noChangeShapeType="1"/>
          </p:cNvSpPr>
          <p:nvPr/>
        </p:nvSpPr>
        <p:spPr bwMode="auto">
          <a:xfrm>
            <a:off x="914400" y="1524000"/>
            <a:ext cx="0" cy="45720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MY"/>
          </a:p>
        </p:txBody>
      </p:sp>
      <p:sp>
        <p:nvSpPr>
          <p:cNvPr id="25605" name="Line 5"/>
          <p:cNvSpPr>
            <a:spLocks noChangeShapeType="1"/>
          </p:cNvSpPr>
          <p:nvPr/>
        </p:nvSpPr>
        <p:spPr bwMode="auto">
          <a:xfrm>
            <a:off x="3276600" y="1524000"/>
            <a:ext cx="0" cy="45720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MY"/>
          </a:p>
        </p:txBody>
      </p:sp>
      <p:sp>
        <p:nvSpPr>
          <p:cNvPr id="25606" name="Line 6"/>
          <p:cNvSpPr>
            <a:spLocks noChangeShapeType="1"/>
          </p:cNvSpPr>
          <p:nvPr/>
        </p:nvSpPr>
        <p:spPr bwMode="auto">
          <a:xfrm>
            <a:off x="914400" y="1981200"/>
            <a:ext cx="23622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5607" name="Text Box 7"/>
          <p:cNvSpPr txBox="1">
            <a:spLocks noChangeArrowheads="1"/>
          </p:cNvSpPr>
          <p:nvPr/>
        </p:nvSpPr>
        <p:spPr bwMode="auto">
          <a:xfrm>
            <a:off x="6248400" y="3657600"/>
            <a:ext cx="266700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dirty="0">
                <a:latin typeface="Garamond" panose="02020404030301010803" pitchFamily="18" charset="0"/>
              </a:rPr>
              <a:t>Use case: </a:t>
            </a:r>
            <a:r>
              <a:rPr lang="en-US" altLang="en-US" sz="2000" b="1" dirty="0">
                <a:latin typeface="Garamond" panose="02020404030301010803" pitchFamily="18" charset="0"/>
              </a:rPr>
              <a:t>ATM approval</a:t>
            </a:r>
          </a:p>
          <a:p>
            <a:pPr eaLnBrk="1" hangingPunct="1">
              <a:buFontTx/>
              <a:buAutoNum type="arabicPeriod"/>
            </a:pPr>
            <a:r>
              <a:rPr lang="en-US" altLang="en-US" sz="2000" dirty="0">
                <a:latin typeface="Garamond" panose="02020404030301010803" pitchFamily="18" charset="0"/>
              </a:rPr>
              <a:t>Insert ATM card</a:t>
            </a:r>
          </a:p>
          <a:p>
            <a:pPr eaLnBrk="1" hangingPunct="1">
              <a:buFontTx/>
              <a:buAutoNum type="arabicPeriod"/>
            </a:pPr>
            <a:r>
              <a:rPr lang="en-US" altLang="en-US" sz="2000" dirty="0">
                <a:latin typeface="Garamond" panose="02020404030301010803" pitchFamily="18" charset="0"/>
              </a:rPr>
              <a:t>Request PIN</a:t>
            </a:r>
          </a:p>
          <a:p>
            <a:pPr eaLnBrk="1" hangingPunct="1">
              <a:buFontTx/>
              <a:buAutoNum type="arabicPeriod"/>
            </a:pPr>
            <a:r>
              <a:rPr lang="en-US" altLang="en-US" sz="2000" dirty="0">
                <a:latin typeface="Garamond" panose="02020404030301010803" pitchFamily="18" charset="0"/>
              </a:rPr>
              <a:t>Enter PIN</a:t>
            </a:r>
          </a:p>
          <a:p>
            <a:pPr eaLnBrk="1" hangingPunct="1">
              <a:buFontTx/>
              <a:buAutoNum type="arabicPeriod"/>
            </a:pPr>
            <a:r>
              <a:rPr lang="en-US" altLang="en-US" sz="2000" dirty="0">
                <a:latin typeface="Garamond" panose="02020404030301010803" pitchFamily="18" charset="0"/>
              </a:rPr>
              <a:t>Verify PIN</a:t>
            </a:r>
          </a:p>
          <a:p>
            <a:pPr eaLnBrk="1" hangingPunct="1">
              <a:buFontTx/>
              <a:buAutoNum type="arabicPeriod"/>
            </a:pPr>
            <a:r>
              <a:rPr lang="en-US" altLang="en-US" sz="2000" dirty="0">
                <a:latin typeface="Garamond" panose="02020404030301010803" pitchFamily="18" charset="0"/>
              </a:rPr>
              <a:t>Display message to client</a:t>
            </a:r>
          </a:p>
        </p:txBody>
      </p:sp>
      <p:sp>
        <p:nvSpPr>
          <p:cNvPr id="25608" name="Line 8"/>
          <p:cNvSpPr>
            <a:spLocks noChangeShapeType="1"/>
          </p:cNvSpPr>
          <p:nvPr/>
        </p:nvSpPr>
        <p:spPr bwMode="auto">
          <a:xfrm flipH="1">
            <a:off x="914400" y="2438400"/>
            <a:ext cx="23622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5609" name="Line 9"/>
          <p:cNvSpPr>
            <a:spLocks noChangeShapeType="1"/>
          </p:cNvSpPr>
          <p:nvPr/>
        </p:nvSpPr>
        <p:spPr bwMode="auto">
          <a:xfrm>
            <a:off x="914400" y="2971800"/>
            <a:ext cx="23622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5610" name="Text Box 10"/>
          <p:cNvSpPr txBox="1">
            <a:spLocks noChangeArrowheads="1"/>
          </p:cNvSpPr>
          <p:nvPr/>
        </p:nvSpPr>
        <p:spPr bwMode="auto">
          <a:xfrm>
            <a:off x="4724400" y="990600"/>
            <a:ext cx="2712602" cy="52322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dirty="0" err="1"/>
              <a:t>AccountDatabase</a:t>
            </a:r>
            <a:endParaRPr lang="en-US" altLang="en-US" sz="2800" dirty="0"/>
          </a:p>
        </p:txBody>
      </p:sp>
      <p:sp>
        <p:nvSpPr>
          <p:cNvPr id="25611" name="Line 11"/>
          <p:cNvSpPr>
            <a:spLocks noChangeShapeType="1"/>
          </p:cNvSpPr>
          <p:nvPr/>
        </p:nvSpPr>
        <p:spPr bwMode="auto">
          <a:xfrm>
            <a:off x="5426075" y="1533525"/>
            <a:ext cx="0" cy="45720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MY"/>
          </a:p>
        </p:txBody>
      </p:sp>
      <p:sp>
        <p:nvSpPr>
          <p:cNvPr id="25612" name="Line 12"/>
          <p:cNvSpPr>
            <a:spLocks noChangeShapeType="1"/>
          </p:cNvSpPr>
          <p:nvPr/>
        </p:nvSpPr>
        <p:spPr bwMode="auto">
          <a:xfrm>
            <a:off x="3276600" y="3276600"/>
            <a:ext cx="2133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5613" name="Line 13"/>
          <p:cNvSpPr>
            <a:spLocks noChangeShapeType="1"/>
          </p:cNvSpPr>
          <p:nvPr/>
        </p:nvSpPr>
        <p:spPr bwMode="auto">
          <a:xfrm flipH="1">
            <a:off x="3276600" y="3733800"/>
            <a:ext cx="2133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5614" name="Line 14"/>
          <p:cNvSpPr>
            <a:spLocks noChangeShapeType="1"/>
          </p:cNvSpPr>
          <p:nvPr/>
        </p:nvSpPr>
        <p:spPr bwMode="auto">
          <a:xfrm flipH="1">
            <a:off x="914400" y="4191000"/>
            <a:ext cx="23622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5615" name="Rectangle 15"/>
          <p:cNvSpPr>
            <a:spLocks noChangeArrowheads="1"/>
          </p:cNvSpPr>
          <p:nvPr/>
        </p:nvSpPr>
        <p:spPr bwMode="auto">
          <a:xfrm>
            <a:off x="762000" y="1828800"/>
            <a:ext cx="152400" cy="2590800"/>
          </a:xfrm>
          <a:prstGeom prst="rect">
            <a:avLst/>
          </a:prstGeom>
          <a:solidFill>
            <a:schemeClr val="bg1"/>
          </a:solidFill>
          <a:ln w="19050">
            <a:solidFill>
              <a:srgbClr val="00B0F0"/>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5616" name="Rectangle 16"/>
          <p:cNvSpPr>
            <a:spLocks noChangeArrowheads="1"/>
          </p:cNvSpPr>
          <p:nvPr/>
        </p:nvSpPr>
        <p:spPr bwMode="auto">
          <a:xfrm>
            <a:off x="3276600" y="1905000"/>
            <a:ext cx="76200" cy="2514600"/>
          </a:xfrm>
          <a:prstGeom prst="rect">
            <a:avLst/>
          </a:prstGeom>
          <a:solidFill>
            <a:schemeClr val="bg1"/>
          </a:solidFill>
          <a:ln w="19050">
            <a:solidFill>
              <a:srgbClr val="00B0F0"/>
            </a:solidFill>
            <a:miter lim="800000"/>
            <a:headEnd/>
            <a:tailEnd/>
          </a:ln>
        </p:spPr>
        <p:txBody>
          <a:bodyPr wrap="none" anchor="ctr"/>
          <a:lstStyle/>
          <a:p>
            <a:endParaRPr lang="en-US" altLang="en-US">
              <a:latin typeface="Times New Roman" panose="02020603050405020304" pitchFamily="18" charset="0"/>
            </a:endParaRPr>
          </a:p>
        </p:txBody>
      </p:sp>
      <p:sp>
        <p:nvSpPr>
          <p:cNvPr id="25617" name="Rectangle 17"/>
          <p:cNvSpPr>
            <a:spLocks noChangeArrowheads="1"/>
          </p:cNvSpPr>
          <p:nvPr/>
        </p:nvSpPr>
        <p:spPr bwMode="auto">
          <a:xfrm>
            <a:off x="5410200" y="3048000"/>
            <a:ext cx="76200" cy="838200"/>
          </a:xfrm>
          <a:prstGeom prst="rect">
            <a:avLst/>
          </a:prstGeom>
          <a:solidFill>
            <a:schemeClr val="bg1"/>
          </a:solidFill>
          <a:ln w="19050">
            <a:solidFill>
              <a:srgbClr val="00B0F0"/>
            </a:solidFill>
            <a:miter lim="800000"/>
            <a:headEnd/>
            <a:tailEnd/>
          </a:ln>
        </p:spPr>
        <p:txBody>
          <a:bodyPr wrap="none" anchor="ctr"/>
          <a:lstStyle/>
          <a:p>
            <a:endParaRPr lang="en-US" altLang="en-US">
              <a:latin typeface="Times New Roman" panose="02020603050405020304" pitchFamily="18" charset="0"/>
            </a:endParaRPr>
          </a:p>
        </p:txBody>
      </p:sp>
      <p:sp>
        <p:nvSpPr>
          <p:cNvPr id="2" name="TextBox 1"/>
          <p:cNvSpPr txBox="1"/>
          <p:nvPr/>
        </p:nvSpPr>
        <p:spPr>
          <a:xfrm>
            <a:off x="1203325" y="2049889"/>
            <a:ext cx="944554" cy="276999"/>
          </a:xfrm>
          <a:prstGeom prst="rect">
            <a:avLst/>
          </a:prstGeom>
          <a:noFill/>
        </p:spPr>
        <p:txBody>
          <a:bodyPr wrap="none" rtlCol="0">
            <a:spAutoFit/>
          </a:bodyPr>
          <a:lstStyle/>
          <a:p>
            <a:r>
              <a:rPr lang="en-US" sz="1200" dirty="0"/>
              <a:t>read card()</a:t>
            </a:r>
            <a:endParaRPr lang="en-MY" sz="1200" dirty="0"/>
          </a:p>
        </p:txBody>
      </p:sp>
      <p:sp>
        <p:nvSpPr>
          <p:cNvPr id="19" name="TextBox 18"/>
          <p:cNvSpPr txBox="1"/>
          <p:nvPr/>
        </p:nvSpPr>
        <p:spPr>
          <a:xfrm>
            <a:off x="1212053" y="2486670"/>
            <a:ext cx="1145314" cy="276999"/>
          </a:xfrm>
          <a:prstGeom prst="rect">
            <a:avLst/>
          </a:prstGeom>
          <a:noFill/>
        </p:spPr>
        <p:txBody>
          <a:bodyPr wrap="none" rtlCol="0">
            <a:spAutoFit/>
          </a:bodyPr>
          <a:lstStyle/>
          <a:p>
            <a:r>
              <a:rPr lang="en-US" sz="1200" dirty="0"/>
              <a:t>Request PIN()</a:t>
            </a:r>
            <a:endParaRPr lang="en-MY" sz="1200" dirty="0"/>
          </a:p>
        </p:txBody>
      </p:sp>
      <p:sp>
        <p:nvSpPr>
          <p:cNvPr id="20" name="TextBox 19"/>
          <p:cNvSpPr txBox="1"/>
          <p:nvPr/>
        </p:nvSpPr>
        <p:spPr>
          <a:xfrm>
            <a:off x="1242946" y="3020069"/>
            <a:ext cx="958917" cy="276999"/>
          </a:xfrm>
          <a:prstGeom prst="rect">
            <a:avLst/>
          </a:prstGeom>
          <a:noFill/>
        </p:spPr>
        <p:txBody>
          <a:bodyPr wrap="none" rtlCol="0">
            <a:spAutoFit/>
          </a:bodyPr>
          <a:lstStyle/>
          <a:p>
            <a:r>
              <a:rPr lang="en-US" sz="1200" dirty="0"/>
              <a:t>Enter PIN()</a:t>
            </a:r>
            <a:endParaRPr lang="en-MY" sz="1200" dirty="0"/>
          </a:p>
        </p:txBody>
      </p:sp>
      <p:sp>
        <p:nvSpPr>
          <p:cNvPr id="21" name="TextBox 20"/>
          <p:cNvSpPr txBox="1"/>
          <p:nvPr/>
        </p:nvSpPr>
        <p:spPr>
          <a:xfrm>
            <a:off x="3604260" y="3276600"/>
            <a:ext cx="979179" cy="276999"/>
          </a:xfrm>
          <a:prstGeom prst="rect">
            <a:avLst/>
          </a:prstGeom>
          <a:noFill/>
        </p:spPr>
        <p:txBody>
          <a:bodyPr wrap="none" rtlCol="0">
            <a:spAutoFit/>
          </a:bodyPr>
          <a:lstStyle/>
          <a:p>
            <a:r>
              <a:rPr lang="en-US" sz="1200" dirty="0"/>
              <a:t>Verify PIN()</a:t>
            </a:r>
            <a:endParaRPr lang="en-MY" sz="1200" dirty="0"/>
          </a:p>
        </p:txBody>
      </p:sp>
      <p:sp>
        <p:nvSpPr>
          <p:cNvPr id="22" name="TextBox 21"/>
          <p:cNvSpPr txBox="1"/>
          <p:nvPr/>
        </p:nvSpPr>
        <p:spPr>
          <a:xfrm>
            <a:off x="3581392" y="3730570"/>
            <a:ext cx="1548373" cy="276999"/>
          </a:xfrm>
          <a:prstGeom prst="rect">
            <a:avLst/>
          </a:prstGeom>
          <a:noFill/>
        </p:spPr>
        <p:txBody>
          <a:bodyPr wrap="none" rtlCol="0">
            <a:spAutoFit/>
          </a:bodyPr>
          <a:lstStyle/>
          <a:p>
            <a:r>
              <a:rPr lang="en-US" sz="1200" dirty="0"/>
              <a:t>Return verification()</a:t>
            </a:r>
            <a:endParaRPr lang="en-MY" sz="1200" dirty="0"/>
          </a:p>
        </p:txBody>
      </p:sp>
      <p:sp>
        <p:nvSpPr>
          <p:cNvPr id="23" name="TextBox 22"/>
          <p:cNvSpPr txBox="1"/>
          <p:nvPr/>
        </p:nvSpPr>
        <p:spPr>
          <a:xfrm>
            <a:off x="1299528" y="4217276"/>
            <a:ext cx="1432380" cy="276999"/>
          </a:xfrm>
          <a:prstGeom prst="rect">
            <a:avLst/>
          </a:prstGeom>
          <a:noFill/>
        </p:spPr>
        <p:txBody>
          <a:bodyPr wrap="none" rtlCol="0">
            <a:spAutoFit/>
          </a:bodyPr>
          <a:lstStyle/>
          <a:p>
            <a:r>
              <a:rPr lang="en-US" sz="1200" dirty="0"/>
              <a:t>Display message()</a:t>
            </a:r>
            <a:endParaRPr lang="en-MY" sz="1200" dirty="0"/>
          </a:p>
        </p:txBody>
      </p:sp>
    </p:spTree>
    <p:extLst>
      <p:ext uri="{BB962C8B-B14F-4D97-AF65-F5344CB8AC3E}">
        <p14:creationId xmlns:p14="http://schemas.microsoft.com/office/powerpoint/2010/main" val="355253356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t>OOAD</a:t>
            </a:r>
          </a:p>
        </p:txBody>
      </p:sp>
      <p:sp>
        <p:nvSpPr>
          <p:cNvPr id="1945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3E3481E-510A-47C0-B392-07DEF845BCBF}" type="slidenum">
              <a:rPr lang="en-US" altLang="en-US" sz="1400"/>
              <a:pPr eaLnBrk="1" hangingPunct="1"/>
              <a:t>87</a:t>
            </a:fld>
            <a:endParaRPr lang="en-US" altLang="en-US" sz="1400"/>
          </a:p>
        </p:txBody>
      </p:sp>
      <p:sp>
        <p:nvSpPr>
          <p:cNvPr id="19460" name="Rectangle 2"/>
          <p:cNvSpPr>
            <a:spLocks noGrp="1" noChangeArrowheads="1"/>
          </p:cNvSpPr>
          <p:nvPr>
            <p:ph type="title"/>
          </p:nvPr>
        </p:nvSpPr>
        <p:spPr>
          <a:xfrm>
            <a:off x="685800" y="838200"/>
            <a:ext cx="8162925" cy="762000"/>
          </a:xfrm>
        </p:spPr>
        <p:txBody>
          <a:bodyPr/>
          <a:lstStyle/>
          <a:p>
            <a:pPr eaLnBrk="1" hangingPunct="1"/>
            <a:r>
              <a:rPr lang="en-US" altLang="en-US" dirty="0"/>
              <a:t>Use Case: Withdraw saving</a:t>
            </a:r>
          </a:p>
        </p:txBody>
      </p:sp>
      <p:sp>
        <p:nvSpPr>
          <p:cNvPr id="19461" name="Text Box 3"/>
          <p:cNvSpPr txBox="1">
            <a:spLocks noChangeArrowheads="1"/>
          </p:cNvSpPr>
          <p:nvPr/>
        </p:nvSpPr>
        <p:spPr bwMode="auto">
          <a:xfrm>
            <a:off x="838200" y="1981200"/>
            <a:ext cx="7573963"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rgbClr val="000000"/>
                </a:solidFill>
                <a:latin typeface="Thorndale" pitchFamily="18" charset="0"/>
                <a:ea typeface="HG Mincho Light J"/>
                <a:cs typeface="HG Mincho Light J"/>
              </a:rPr>
              <a:t>A customer wants to draw money from his bank account.  He enters his card into an ATM (automated teller machine).  The ATM machine prompts “ Enter PIN”.  The customer enters his PIN.  The ATM (internally) retrieves the bank account number from the card.  The ATM encrypts the PIN and the account number and sends it over to the bank.  The bank verifies the encrypted account and PIN number.  If the PIN number is correct, the ATM displays, “Enter Amount”.  Draws money from the bank account and pays out the amount.</a:t>
            </a:r>
          </a:p>
          <a:p>
            <a:pPr eaLnBrk="1" hangingPunct="1"/>
            <a:endParaRPr lang="en-US" altLang="en-US"/>
          </a:p>
        </p:txBody>
      </p:sp>
    </p:spTree>
    <p:extLst>
      <p:ext uri="{BB962C8B-B14F-4D97-AF65-F5344CB8AC3E}">
        <p14:creationId xmlns:p14="http://schemas.microsoft.com/office/powerpoint/2010/main" val="32450138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t>OOAD</a:t>
            </a:r>
          </a:p>
        </p:txBody>
      </p:sp>
      <p:sp>
        <p:nvSpPr>
          <p:cNvPr id="2048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104DA63-5511-41CA-8CF1-C8E224A161F9}" type="slidenum">
              <a:rPr lang="en-US" altLang="en-US" sz="1400"/>
              <a:pPr eaLnBrk="1" hangingPunct="1"/>
              <a:t>88</a:t>
            </a:fld>
            <a:endParaRPr lang="en-US" altLang="en-US" sz="1400"/>
          </a:p>
        </p:txBody>
      </p:sp>
      <p:sp>
        <p:nvSpPr>
          <p:cNvPr id="20484" name="Rectangle 2"/>
          <p:cNvSpPr>
            <a:spLocks noGrp="1" noChangeArrowheads="1"/>
          </p:cNvSpPr>
          <p:nvPr>
            <p:ph type="title"/>
          </p:nvPr>
        </p:nvSpPr>
        <p:spPr>
          <a:xfrm>
            <a:off x="871538" y="862013"/>
            <a:ext cx="8162925" cy="762000"/>
          </a:xfrm>
        </p:spPr>
        <p:txBody>
          <a:bodyPr/>
          <a:lstStyle/>
          <a:p>
            <a:pPr eaLnBrk="1" hangingPunct="1"/>
            <a:r>
              <a:rPr lang="en-US" altLang="en-US"/>
              <a:t>Use Case: Withdraw saving</a:t>
            </a:r>
          </a:p>
        </p:txBody>
      </p:sp>
      <p:sp>
        <p:nvSpPr>
          <p:cNvPr id="20485" name="Rectangle 3"/>
          <p:cNvSpPr>
            <a:spLocks noChangeArrowheads="1"/>
          </p:cNvSpPr>
          <p:nvPr/>
        </p:nvSpPr>
        <p:spPr bwMode="auto">
          <a:xfrm>
            <a:off x="685800" y="1981200"/>
            <a:ext cx="7848600" cy="4267200"/>
          </a:xfrm>
          <a:prstGeom prst="rect">
            <a:avLst/>
          </a:prstGeom>
          <a:solidFill>
            <a:schemeClr val="bg1"/>
          </a:solidFill>
          <a:ln w="9525">
            <a:solidFill>
              <a:schemeClr val="tx1"/>
            </a:solidFill>
            <a:miter lim="800000"/>
            <a:headEnd/>
            <a:tailEnd/>
          </a:ln>
        </p:spPr>
        <p:txBody>
          <a:bodyPr wrap="none" anchor="ctr"/>
          <a:lstStyle>
            <a:lvl1pPr marL="457200" indent="-4572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600" dirty="0"/>
              <a:t>Use Case: 	</a:t>
            </a:r>
            <a:r>
              <a:rPr lang="en-US" altLang="en-US" sz="1600" b="1" dirty="0"/>
              <a:t>Withdraw Saving</a:t>
            </a:r>
          </a:p>
          <a:p>
            <a:pPr eaLnBrk="1" hangingPunct="1"/>
            <a:r>
              <a:rPr lang="en-US" altLang="en-US" sz="1600" dirty="0"/>
              <a:t>Actors:	Bank Client</a:t>
            </a:r>
          </a:p>
          <a:p>
            <a:pPr eaLnBrk="1" hangingPunct="1"/>
            <a:endParaRPr lang="en-US" altLang="en-US" sz="1600" dirty="0"/>
          </a:p>
          <a:p>
            <a:pPr eaLnBrk="1" hangingPunct="1"/>
            <a:r>
              <a:rPr lang="en-US" altLang="en-US" sz="1600" u="sng" dirty="0"/>
              <a:t>Flow of Events:</a:t>
            </a:r>
          </a:p>
          <a:p>
            <a:pPr eaLnBrk="1" hangingPunct="1">
              <a:buFontTx/>
              <a:buAutoNum type="arabicPeriod"/>
            </a:pPr>
            <a:r>
              <a:rPr lang="en-US" altLang="en-US" sz="1600" dirty="0"/>
              <a:t>Bank client insert ATM card into ATM machine</a:t>
            </a:r>
          </a:p>
          <a:p>
            <a:pPr eaLnBrk="1" hangingPunct="1">
              <a:buFontTx/>
              <a:buAutoNum type="arabicPeriod"/>
            </a:pPr>
            <a:r>
              <a:rPr lang="en-US" altLang="en-US" sz="1600" dirty="0"/>
              <a:t>ATM machine request PIN code</a:t>
            </a:r>
          </a:p>
          <a:p>
            <a:pPr eaLnBrk="1" hangingPunct="1">
              <a:buFontTx/>
              <a:buAutoNum type="arabicPeriod"/>
            </a:pPr>
            <a:r>
              <a:rPr lang="en-US" altLang="en-US" sz="1600" dirty="0"/>
              <a:t>Bank client enter PIN code</a:t>
            </a:r>
          </a:p>
          <a:p>
            <a:pPr eaLnBrk="1" hangingPunct="1">
              <a:buFontTx/>
              <a:buAutoNum type="arabicPeriod"/>
            </a:pPr>
            <a:r>
              <a:rPr lang="en-US" altLang="en-US" sz="1600" dirty="0"/>
              <a:t>Verify PIN code entered with saving account</a:t>
            </a:r>
          </a:p>
          <a:p>
            <a:pPr eaLnBrk="1" hangingPunct="1">
              <a:buFontTx/>
              <a:buAutoNum type="arabicPeriod"/>
            </a:pPr>
            <a:r>
              <a:rPr lang="en-US" altLang="en-US" sz="1600" dirty="0"/>
              <a:t>ATM machine request amount if the PIN is valid</a:t>
            </a:r>
          </a:p>
          <a:p>
            <a:pPr eaLnBrk="1" hangingPunct="1">
              <a:buFontTx/>
              <a:buAutoNum type="arabicPeriod"/>
            </a:pPr>
            <a:r>
              <a:rPr lang="en-US" altLang="en-US" sz="1600" dirty="0"/>
              <a:t>Bank client enter the required amount</a:t>
            </a:r>
          </a:p>
          <a:p>
            <a:pPr eaLnBrk="1" hangingPunct="1">
              <a:buFontTx/>
              <a:buAutoNum type="arabicPeriod"/>
            </a:pPr>
            <a:r>
              <a:rPr lang="en-US" altLang="en-US" sz="1600" dirty="0"/>
              <a:t>Process the transaction in the client account</a:t>
            </a:r>
          </a:p>
          <a:p>
            <a:pPr eaLnBrk="1" hangingPunct="1">
              <a:buFontTx/>
              <a:buAutoNum type="arabicPeriod"/>
            </a:pPr>
            <a:r>
              <a:rPr lang="en-US" altLang="en-US" sz="1600" dirty="0"/>
              <a:t>ATM machine dispense cash</a:t>
            </a:r>
          </a:p>
          <a:p>
            <a:pPr eaLnBrk="1" hangingPunct="1">
              <a:buFontTx/>
              <a:buAutoNum type="arabicPeriod"/>
            </a:pPr>
            <a:r>
              <a:rPr lang="en-US" altLang="en-US" sz="1600" dirty="0"/>
              <a:t>ATM machine print receipt when the transaction completed</a:t>
            </a:r>
          </a:p>
          <a:p>
            <a:pPr eaLnBrk="1" hangingPunct="1"/>
            <a:endParaRPr lang="en-US" altLang="en-US" sz="1600" dirty="0"/>
          </a:p>
          <a:p>
            <a:pPr eaLnBrk="1" hangingPunct="1"/>
            <a:r>
              <a:rPr lang="en-US" altLang="en-US" sz="1600" u="sng" dirty="0"/>
              <a:t>Alternative Flow of Events</a:t>
            </a:r>
          </a:p>
          <a:p>
            <a:pPr eaLnBrk="1" hangingPunct="1">
              <a:buFontTx/>
              <a:buChar char="•"/>
            </a:pPr>
            <a:r>
              <a:rPr lang="en-US" altLang="en-US" sz="1600" dirty="0"/>
              <a:t>Invalid PIN code entered. Indicate error message. Return step 3. </a:t>
            </a:r>
            <a:br>
              <a:rPr lang="en-US" altLang="en-US" sz="1600" dirty="0"/>
            </a:br>
            <a:endParaRPr lang="en-US" altLang="en-US" sz="1600" dirty="0"/>
          </a:p>
        </p:txBody>
      </p:sp>
    </p:spTree>
    <p:extLst>
      <p:ext uri="{BB962C8B-B14F-4D97-AF65-F5344CB8AC3E}">
        <p14:creationId xmlns:p14="http://schemas.microsoft.com/office/powerpoint/2010/main" val="410216220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t>OOAD</a:t>
            </a:r>
          </a:p>
        </p:txBody>
      </p:sp>
      <p:sp>
        <p:nvSpPr>
          <p:cNvPr id="2150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B2E06EC-C034-48C1-8C28-5CB34AFCEC58}" type="slidenum">
              <a:rPr lang="en-US" altLang="en-US" sz="1400"/>
              <a:pPr eaLnBrk="1" hangingPunct="1"/>
              <a:t>89</a:t>
            </a:fld>
            <a:endParaRPr lang="en-US" altLang="en-US" sz="1400"/>
          </a:p>
        </p:txBody>
      </p:sp>
      <p:sp>
        <p:nvSpPr>
          <p:cNvPr id="21508" name="Rectangle 2"/>
          <p:cNvSpPr>
            <a:spLocks noGrp="1" noChangeArrowheads="1"/>
          </p:cNvSpPr>
          <p:nvPr>
            <p:ph type="title"/>
          </p:nvPr>
        </p:nvSpPr>
        <p:spPr/>
        <p:txBody>
          <a:bodyPr/>
          <a:lstStyle/>
          <a:p>
            <a:pPr eaLnBrk="1" hangingPunct="1"/>
            <a:r>
              <a:rPr lang="en-US" altLang="en-US"/>
              <a:t>Identifying Classes – noun phrase approach (example)</a:t>
            </a:r>
          </a:p>
        </p:txBody>
      </p:sp>
      <p:sp>
        <p:nvSpPr>
          <p:cNvPr id="21509" name="Rectangle 3"/>
          <p:cNvSpPr>
            <a:spLocks noGrp="1" noChangeArrowheads="1"/>
          </p:cNvSpPr>
          <p:nvPr>
            <p:ph type="body" idx="1"/>
          </p:nvPr>
        </p:nvSpPr>
        <p:spPr/>
        <p:txBody>
          <a:bodyPr/>
          <a:lstStyle/>
          <a:p>
            <a:pPr eaLnBrk="1" hangingPunct="1"/>
            <a:r>
              <a:rPr lang="en-US" altLang="en-US"/>
              <a:t>ATM System</a:t>
            </a:r>
          </a:p>
          <a:p>
            <a:pPr lvl="1" eaLnBrk="1" hangingPunct="1"/>
            <a:r>
              <a:rPr lang="en-US" altLang="en-US"/>
              <a:t>Bank Client </a:t>
            </a:r>
          </a:p>
          <a:p>
            <a:pPr lvl="1" eaLnBrk="1" hangingPunct="1"/>
            <a:r>
              <a:rPr lang="en-US" altLang="en-US"/>
              <a:t>ATM Card</a:t>
            </a:r>
          </a:p>
          <a:p>
            <a:pPr lvl="1" eaLnBrk="1" hangingPunct="1"/>
            <a:r>
              <a:rPr lang="en-US" altLang="en-US"/>
              <a:t>ATM Machine</a:t>
            </a:r>
          </a:p>
          <a:p>
            <a:pPr lvl="1" eaLnBrk="1" hangingPunct="1"/>
            <a:r>
              <a:rPr lang="en-US" altLang="en-US"/>
              <a:t>Savings Account</a:t>
            </a:r>
          </a:p>
          <a:p>
            <a:pPr lvl="1" eaLnBrk="1" hangingPunct="1"/>
            <a:r>
              <a:rPr lang="en-US" altLang="en-US"/>
              <a:t>Cash</a:t>
            </a:r>
          </a:p>
          <a:p>
            <a:pPr lvl="1" eaLnBrk="1" hangingPunct="1"/>
            <a:r>
              <a:rPr lang="en-US" altLang="en-US"/>
              <a:t>Message</a:t>
            </a:r>
          </a:p>
          <a:p>
            <a:pPr lvl="1" eaLnBrk="1" hangingPunct="1"/>
            <a:endParaRPr lang="en-US" altLang="en-US"/>
          </a:p>
        </p:txBody>
      </p:sp>
    </p:spTree>
    <p:extLst>
      <p:ext uri="{BB962C8B-B14F-4D97-AF65-F5344CB8AC3E}">
        <p14:creationId xmlns:p14="http://schemas.microsoft.com/office/powerpoint/2010/main" val="38012141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1508125" y="1149350"/>
            <a:ext cx="704850" cy="314325"/>
          </a:xfrm>
          <a:prstGeom prst="rect">
            <a:avLst/>
          </a:prstGeom>
          <a:solidFill>
            <a:schemeClr val="bg1"/>
          </a:solidFill>
          <a:ln w="19050">
            <a:solidFill>
              <a:srgbClr val="00B0F0"/>
            </a:solidFill>
            <a:miter lim="800000"/>
            <a:headEnd/>
            <a:tailEnd/>
          </a:ln>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dirty="0"/>
              <a:t>Client</a:t>
            </a:r>
          </a:p>
        </p:txBody>
      </p:sp>
      <p:sp>
        <p:nvSpPr>
          <p:cNvPr id="22531" name="Text Box 3"/>
          <p:cNvSpPr txBox="1">
            <a:spLocks noChangeArrowheads="1"/>
          </p:cNvSpPr>
          <p:nvPr/>
        </p:nvSpPr>
        <p:spPr bwMode="auto">
          <a:xfrm>
            <a:off x="3733800" y="1143000"/>
            <a:ext cx="1193917" cy="307777"/>
          </a:xfrm>
          <a:prstGeom prst="rect">
            <a:avLst/>
          </a:prstGeom>
          <a:solidFill>
            <a:schemeClr val="bg1"/>
          </a:solidFill>
          <a:ln w="19050">
            <a:solidFill>
              <a:srgbClr val="00B0F0"/>
            </a:solidFill>
            <a:miter lim="800000"/>
            <a:headEnd/>
            <a:tailEnd/>
          </a:ln>
        </p:spPr>
        <p:txBody>
          <a:bodyPr wrap="none">
            <a:spAutoFit/>
          </a:bodyPr>
          <a:lstStyle>
            <a:defPPr>
              <a:defRPr lang="en-US"/>
            </a:defPPr>
            <a:lvl1pPr eaLnBrk="1" hangingPunct="1">
              <a:defRPr sz="1400">
                <a:latin typeface="Times New Roman" panose="02020603050405020304" pitchFamily="18" charset="0"/>
              </a:defRPr>
            </a:lvl1pPr>
            <a:lvl2pPr marL="742950" indent="-285750" eaLnBrk="0" hangingPunct="0">
              <a:defRPr>
                <a:latin typeface="Times New Roman" panose="02020603050405020304" pitchFamily="18" charset="0"/>
              </a:defRPr>
            </a:lvl2pPr>
            <a:lvl3pPr marL="1143000" indent="-228600" eaLnBrk="0" hangingPunct="0">
              <a:defRPr>
                <a:latin typeface="Times New Roman" panose="02020603050405020304" pitchFamily="18" charset="0"/>
              </a:defRPr>
            </a:lvl3pPr>
            <a:lvl4pPr marL="1600200" indent="-228600" eaLnBrk="0" hangingPunct="0">
              <a:defRPr>
                <a:latin typeface="Times New Roman" panose="02020603050405020304" pitchFamily="18" charset="0"/>
              </a:defRPr>
            </a:lvl4pPr>
            <a:lvl5pPr marL="2057400" indent="-228600" eaLnBrk="0" hangingPunct="0">
              <a:defRPr>
                <a:latin typeface="Times New Roman" panose="02020603050405020304" pitchFamily="18" charset="0"/>
              </a:defRPr>
            </a:lvl5pPr>
            <a:lvl6pPr marL="2514600" indent="-228600" eaLnBrk="0" fontAlgn="base" hangingPunct="0">
              <a:spcBef>
                <a:spcPct val="0"/>
              </a:spcBef>
              <a:spcAft>
                <a:spcPct val="0"/>
              </a:spcAft>
              <a:defRPr>
                <a:latin typeface="Times New Roman" panose="02020603050405020304" pitchFamily="18" charset="0"/>
              </a:defRPr>
            </a:lvl6pPr>
            <a:lvl7pPr marL="2971800" indent="-228600" eaLnBrk="0" fontAlgn="base" hangingPunct="0">
              <a:spcBef>
                <a:spcPct val="0"/>
              </a:spcBef>
              <a:spcAft>
                <a:spcPct val="0"/>
              </a:spcAft>
              <a:defRPr>
                <a:latin typeface="Times New Roman" panose="02020603050405020304" pitchFamily="18" charset="0"/>
              </a:defRPr>
            </a:lvl7pPr>
            <a:lvl8pPr marL="3429000" indent="-228600" eaLnBrk="0" fontAlgn="base" hangingPunct="0">
              <a:spcBef>
                <a:spcPct val="0"/>
              </a:spcBef>
              <a:spcAft>
                <a:spcPct val="0"/>
              </a:spcAft>
              <a:defRPr>
                <a:latin typeface="Times New Roman" panose="02020603050405020304" pitchFamily="18" charset="0"/>
              </a:defRPr>
            </a:lvl8pPr>
            <a:lvl9pPr marL="3886200" indent="-228600" eaLnBrk="0" fontAlgn="base" hangingPunct="0">
              <a:spcBef>
                <a:spcPct val="0"/>
              </a:spcBef>
              <a:spcAft>
                <a:spcPct val="0"/>
              </a:spcAft>
              <a:defRPr>
                <a:latin typeface="Times New Roman" panose="02020603050405020304" pitchFamily="18" charset="0"/>
              </a:defRPr>
            </a:lvl9pPr>
          </a:lstStyle>
          <a:p>
            <a:r>
              <a:rPr lang="en-US" altLang="en-US" dirty="0" err="1"/>
              <a:t>ATMMachine</a:t>
            </a:r>
            <a:endParaRPr lang="en-US" altLang="en-US" dirty="0"/>
          </a:p>
        </p:txBody>
      </p:sp>
      <p:sp>
        <p:nvSpPr>
          <p:cNvPr id="22532" name="Text Box 4"/>
          <p:cNvSpPr txBox="1">
            <a:spLocks noChangeArrowheads="1"/>
          </p:cNvSpPr>
          <p:nvPr/>
        </p:nvSpPr>
        <p:spPr bwMode="auto">
          <a:xfrm>
            <a:off x="6477000" y="1143000"/>
            <a:ext cx="1292341" cy="307777"/>
          </a:xfrm>
          <a:prstGeom prst="rect">
            <a:avLst/>
          </a:prstGeom>
          <a:solidFill>
            <a:schemeClr val="bg1"/>
          </a:solidFill>
          <a:ln w="19050">
            <a:solidFill>
              <a:srgbClr val="00B0F0"/>
            </a:solidFill>
            <a:miter lim="800000"/>
            <a:headEnd/>
            <a:tailEnd/>
          </a:ln>
        </p:spPr>
        <p:txBody>
          <a:bodyPr wrap="none">
            <a:spAutoFit/>
          </a:bodyPr>
          <a:lstStyle>
            <a:defPPr>
              <a:defRPr lang="en-US"/>
            </a:defPPr>
            <a:lvl1pPr eaLnBrk="1" hangingPunct="1">
              <a:defRPr sz="1400">
                <a:latin typeface="Times New Roman" panose="02020603050405020304" pitchFamily="18" charset="0"/>
              </a:defRPr>
            </a:lvl1pPr>
            <a:lvl2pPr marL="742950" indent="-285750" eaLnBrk="0" hangingPunct="0">
              <a:defRPr>
                <a:latin typeface="Times New Roman" panose="02020603050405020304" pitchFamily="18" charset="0"/>
              </a:defRPr>
            </a:lvl2pPr>
            <a:lvl3pPr marL="1143000" indent="-228600" eaLnBrk="0" hangingPunct="0">
              <a:defRPr>
                <a:latin typeface="Times New Roman" panose="02020603050405020304" pitchFamily="18" charset="0"/>
              </a:defRPr>
            </a:lvl3pPr>
            <a:lvl4pPr marL="1600200" indent="-228600" eaLnBrk="0" hangingPunct="0">
              <a:defRPr>
                <a:latin typeface="Times New Roman" panose="02020603050405020304" pitchFamily="18" charset="0"/>
              </a:defRPr>
            </a:lvl4pPr>
            <a:lvl5pPr marL="2057400" indent="-228600" eaLnBrk="0" hangingPunct="0">
              <a:defRPr>
                <a:latin typeface="Times New Roman" panose="02020603050405020304" pitchFamily="18" charset="0"/>
              </a:defRPr>
            </a:lvl5pPr>
            <a:lvl6pPr marL="2514600" indent="-228600" eaLnBrk="0" fontAlgn="base" hangingPunct="0">
              <a:spcBef>
                <a:spcPct val="0"/>
              </a:spcBef>
              <a:spcAft>
                <a:spcPct val="0"/>
              </a:spcAft>
              <a:defRPr>
                <a:latin typeface="Times New Roman" panose="02020603050405020304" pitchFamily="18" charset="0"/>
              </a:defRPr>
            </a:lvl6pPr>
            <a:lvl7pPr marL="2971800" indent="-228600" eaLnBrk="0" fontAlgn="base" hangingPunct="0">
              <a:spcBef>
                <a:spcPct val="0"/>
              </a:spcBef>
              <a:spcAft>
                <a:spcPct val="0"/>
              </a:spcAft>
              <a:defRPr>
                <a:latin typeface="Times New Roman" panose="02020603050405020304" pitchFamily="18" charset="0"/>
              </a:defRPr>
            </a:lvl7pPr>
            <a:lvl8pPr marL="3429000" indent="-228600" eaLnBrk="0" fontAlgn="base" hangingPunct="0">
              <a:spcBef>
                <a:spcPct val="0"/>
              </a:spcBef>
              <a:spcAft>
                <a:spcPct val="0"/>
              </a:spcAft>
              <a:defRPr>
                <a:latin typeface="Times New Roman" panose="02020603050405020304" pitchFamily="18" charset="0"/>
              </a:defRPr>
            </a:lvl8pPr>
            <a:lvl9pPr marL="3886200" indent="-228600" eaLnBrk="0" fontAlgn="base" hangingPunct="0">
              <a:spcBef>
                <a:spcPct val="0"/>
              </a:spcBef>
              <a:spcAft>
                <a:spcPct val="0"/>
              </a:spcAft>
              <a:defRPr>
                <a:latin typeface="Times New Roman" panose="02020603050405020304" pitchFamily="18" charset="0"/>
              </a:defRPr>
            </a:lvl9pPr>
          </a:lstStyle>
          <a:p>
            <a:r>
              <a:rPr lang="en-US" altLang="en-US" dirty="0" err="1"/>
              <a:t>SavingAccount</a:t>
            </a:r>
            <a:endParaRPr lang="en-US" altLang="en-US" dirty="0"/>
          </a:p>
        </p:txBody>
      </p:sp>
      <p:sp>
        <p:nvSpPr>
          <p:cNvPr id="22533" name="Line 5"/>
          <p:cNvSpPr>
            <a:spLocks noChangeShapeType="1"/>
          </p:cNvSpPr>
          <p:nvPr/>
        </p:nvSpPr>
        <p:spPr bwMode="auto">
          <a:xfrm>
            <a:off x="1828800" y="1447800"/>
            <a:ext cx="0" cy="434340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MY"/>
          </a:p>
        </p:txBody>
      </p:sp>
      <p:sp>
        <p:nvSpPr>
          <p:cNvPr id="22534" name="Line 6"/>
          <p:cNvSpPr>
            <a:spLocks noChangeShapeType="1"/>
          </p:cNvSpPr>
          <p:nvPr/>
        </p:nvSpPr>
        <p:spPr bwMode="auto">
          <a:xfrm>
            <a:off x="4343400" y="1447800"/>
            <a:ext cx="0" cy="426720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MY"/>
          </a:p>
        </p:txBody>
      </p:sp>
      <p:sp>
        <p:nvSpPr>
          <p:cNvPr id="22535" name="Line 7"/>
          <p:cNvSpPr>
            <a:spLocks noChangeShapeType="1"/>
          </p:cNvSpPr>
          <p:nvPr/>
        </p:nvSpPr>
        <p:spPr bwMode="auto">
          <a:xfrm>
            <a:off x="7010400" y="1447800"/>
            <a:ext cx="0" cy="419100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MY"/>
          </a:p>
        </p:txBody>
      </p:sp>
      <p:sp>
        <p:nvSpPr>
          <p:cNvPr id="22536" name="Line 8"/>
          <p:cNvSpPr>
            <a:spLocks noChangeShapeType="1"/>
          </p:cNvSpPr>
          <p:nvPr/>
        </p:nvSpPr>
        <p:spPr bwMode="auto">
          <a:xfrm>
            <a:off x="1828800" y="1828800"/>
            <a:ext cx="2438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2537" name="Text Box 9"/>
          <p:cNvSpPr txBox="1">
            <a:spLocks noChangeArrowheads="1"/>
          </p:cNvSpPr>
          <p:nvPr/>
        </p:nvSpPr>
        <p:spPr bwMode="auto">
          <a:xfrm>
            <a:off x="2265134" y="1785634"/>
            <a:ext cx="11823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dirty="0" err="1"/>
              <a:t>readATM</a:t>
            </a:r>
            <a:r>
              <a:rPr lang="en-US" altLang="en-US" sz="1200" dirty="0"/>
              <a:t> card()</a:t>
            </a:r>
          </a:p>
        </p:txBody>
      </p:sp>
      <p:sp>
        <p:nvSpPr>
          <p:cNvPr id="22538" name="Line 10"/>
          <p:cNvSpPr>
            <a:spLocks noChangeShapeType="1"/>
          </p:cNvSpPr>
          <p:nvPr/>
        </p:nvSpPr>
        <p:spPr bwMode="auto">
          <a:xfrm flipH="1">
            <a:off x="1905000" y="2209800"/>
            <a:ext cx="2438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2539" name="Text Box 11"/>
          <p:cNvSpPr txBox="1">
            <a:spLocks noChangeArrowheads="1"/>
          </p:cNvSpPr>
          <p:nvPr/>
        </p:nvSpPr>
        <p:spPr bwMode="auto">
          <a:xfrm>
            <a:off x="2286000" y="2170152"/>
            <a:ext cx="106952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dirty="0"/>
              <a:t>Request PIN()</a:t>
            </a:r>
          </a:p>
        </p:txBody>
      </p:sp>
      <p:sp>
        <p:nvSpPr>
          <p:cNvPr id="22540" name="Line 12"/>
          <p:cNvSpPr>
            <a:spLocks noChangeShapeType="1"/>
          </p:cNvSpPr>
          <p:nvPr/>
        </p:nvSpPr>
        <p:spPr bwMode="auto">
          <a:xfrm>
            <a:off x="1828800" y="2590800"/>
            <a:ext cx="2438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2541" name="Text Box 13"/>
          <p:cNvSpPr txBox="1">
            <a:spLocks noChangeArrowheads="1"/>
          </p:cNvSpPr>
          <p:nvPr/>
        </p:nvSpPr>
        <p:spPr bwMode="auto">
          <a:xfrm>
            <a:off x="2265953" y="2580501"/>
            <a:ext cx="90762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dirty="0"/>
              <a:t>Enter PIN()</a:t>
            </a:r>
          </a:p>
        </p:txBody>
      </p:sp>
      <p:sp>
        <p:nvSpPr>
          <p:cNvPr id="22542" name="Line 14"/>
          <p:cNvSpPr>
            <a:spLocks noChangeShapeType="1"/>
          </p:cNvSpPr>
          <p:nvPr/>
        </p:nvSpPr>
        <p:spPr bwMode="auto">
          <a:xfrm>
            <a:off x="4343400" y="2819400"/>
            <a:ext cx="25908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2543" name="Text Box 15"/>
          <p:cNvSpPr txBox="1">
            <a:spLocks noChangeArrowheads="1"/>
          </p:cNvSpPr>
          <p:nvPr/>
        </p:nvSpPr>
        <p:spPr bwMode="auto">
          <a:xfrm>
            <a:off x="4969312" y="2789317"/>
            <a:ext cx="95789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dirty="0"/>
              <a:t>Verify PIN()</a:t>
            </a:r>
          </a:p>
        </p:txBody>
      </p:sp>
      <p:sp>
        <p:nvSpPr>
          <p:cNvPr id="22544" name="Text Box 16"/>
          <p:cNvSpPr txBox="1">
            <a:spLocks noChangeArrowheads="1"/>
          </p:cNvSpPr>
          <p:nvPr/>
        </p:nvSpPr>
        <p:spPr bwMode="auto">
          <a:xfrm>
            <a:off x="5037398" y="3284616"/>
            <a:ext cx="10172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dirty="0"/>
              <a:t>Verification()</a:t>
            </a:r>
          </a:p>
        </p:txBody>
      </p:sp>
      <p:sp>
        <p:nvSpPr>
          <p:cNvPr id="22545" name="Line 17"/>
          <p:cNvSpPr>
            <a:spLocks noChangeShapeType="1"/>
          </p:cNvSpPr>
          <p:nvPr/>
        </p:nvSpPr>
        <p:spPr bwMode="auto">
          <a:xfrm flipH="1">
            <a:off x="4495800" y="3276600"/>
            <a:ext cx="2514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2546" name="Line 18"/>
          <p:cNvSpPr>
            <a:spLocks noChangeShapeType="1"/>
          </p:cNvSpPr>
          <p:nvPr/>
        </p:nvSpPr>
        <p:spPr bwMode="auto">
          <a:xfrm flipH="1">
            <a:off x="1905000" y="3581400"/>
            <a:ext cx="2438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2547" name="Text Box 19"/>
          <p:cNvSpPr txBox="1">
            <a:spLocks noChangeArrowheads="1"/>
          </p:cNvSpPr>
          <p:nvPr/>
        </p:nvSpPr>
        <p:spPr bwMode="auto">
          <a:xfrm>
            <a:off x="2265134" y="3573439"/>
            <a:ext cx="128592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dirty="0"/>
              <a:t>Request amount()</a:t>
            </a:r>
          </a:p>
        </p:txBody>
      </p:sp>
      <p:sp>
        <p:nvSpPr>
          <p:cNvPr id="22548" name="Line 20"/>
          <p:cNvSpPr>
            <a:spLocks noChangeShapeType="1"/>
          </p:cNvSpPr>
          <p:nvPr/>
        </p:nvSpPr>
        <p:spPr bwMode="auto">
          <a:xfrm>
            <a:off x="1828800" y="3962400"/>
            <a:ext cx="2438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2549" name="Text Box 21"/>
          <p:cNvSpPr txBox="1">
            <a:spLocks noChangeArrowheads="1"/>
          </p:cNvSpPr>
          <p:nvPr/>
        </p:nvSpPr>
        <p:spPr bwMode="auto">
          <a:xfrm>
            <a:off x="2213957" y="3962400"/>
            <a:ext cx="11240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dirty="0"/>
              <a:t>Enter amount()</a:t>
            </a:r>
          </a:p>
        </p:txBody>
      </p:sp>
      <p:sp>
        <p:nvSpPr>
          <p:cNvPr id="22550" name="Line 22"/>
          <p:cNvSpPr>
            <a:spLocks noChangeShapeType="1"/>
          </p:cNvSpPr>
          <p:nvPr/>
        </p:nvSpPr>
        <p:spPr bwMode="auto">
          <a:xfrm>
            <a:off x="4343400" y="4267200"/>
            <a:ext cx="25908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2551" name="Text Box 23"/>
          <p:cNvSpPr txBox="1">
            <a:spLocks noChangeArrowheads="1"/>
          </p:cNvSpPr>
          <p:nvPr/>
        </p:nvSpPr>
        <p:spPr bwMode="auto">
          <a:xfrm>
            <a:off x="4866197" y="4266225"/>
            <a:ext cx="14734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dirty="0"/>
              <a:t>Process transaction()</a:t>
            </a:r>
          </a:p>
        </p:txBody>
      </p:sp>
      <p:sp>
        <p:nvSpPr>
          <p:cNvPr id="22552" name="Line 24"/>
          <p:cNvSpPr>
            <a:spLocks noChangeShapeType="1"/>
          </p:cNvSpPr>
          <p:nvPr/>
        </p:nvSpPr>
        <p:spPr bwMode="auto">
          <a:xfrm flipH="1">
            <a:off x="4495800" y="4724400"/>
            <a:ext cx="2514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2553" name="Text Box 25"/>
          <p:cNvSpPr txBox="1">
            <a:spLocks noChangeArrowheads="1"/>
          </p:cNvSpPr>
          <p:nvPr/>
        </p:nvSpPr>
        <p:spPr bwMode="auto">
          <a:xfrm>
            <a:off x="4741068" y="4739481"/>
            <a:ext cx="16828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dirty="0"/>
              <a:t>Transaction successful()</a:t>
            </a:r>
          </a:p>
        </p:txBody>
      </p:sp>
      <p:sp>
        <p:nvSpPr>
          <p:cNvPr id="22554" name="Line 26"/>
          <p:cNvSpPr>
            <a:spLocks noChangeShapeType="1"/>
          </p:cNvSpPr>
          <p:nvPr/>
        </p:nvSpPr>
        <p:spPr bwMode="auto">
          <a:xfrm flipH="1">
            <a:off x="1905000" y="5029200"/>
            <a:ext cx="2438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2555" name="Text Box 27"/>
          <p:cNvSpPr txBox="1">
            <a:spLocks noChangeArrowheads="1"/>
          </p:cNvSpPr>
          <p:nvPr/>
        </p:nvSpPr>
        <p:spPr bwMode="auto">
          <a:xfrm>
            <a:off x="2231910" y="5016480"/>
            <a:ext cx="11641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dirty="0"/>
              <a:t>Dispense cash()</a:t>
            </a:r>
          </a:p>
        </p:txBody>
      </p:sp>
      <p:sp>
        <p:nvSpPr>
          <p:cNvPr id="22556" name="Line 28"/>
          <p:cNvSpPr>
            <a:spLocks noChangeShapeType="1"/>
          </p:cNvSpPr>
          <p:nvPr/>
        </p:nvSpPr>
        <p:spPr bwMode="auto">
          <a:xfrm flipH="1">
            <a:off x="1905000" y="5334000"/>
            <a:ext cx="2438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MY"/>
          </a:p>
        </p:txBody>
      </p:sp>
      <p:sp>
        <p:nvSpPr>
          <p:cNvPr id="22557" name="Text Box 29"/>
          <p:cNvSpPr txBox="1">
            <a:spLocks noChangeArrowheads="1"/>
          </p:cNvSpPr>
          <p:nvPr/>
        </p:nvSpPr>
        <p:spPr bwMode="auto">
          <a:xfrm>
            <a:off x="2243960" y="5404945"/>
            <a:ext cx="10470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dirty="0"/>
              <a:t>Print receipt()</a:t>
            </a:r>
          </a:p>
        </p:txBody>
      </p:sp>
      <p:sp>
        <p:nvSpPr>
          <p:cNvPr id="22558" name="Rectangle 30"/>
          <p:cNvSpPr>
            <a:spLocks noChangeArrowheads="1"/>
          </p:cNvSpPr>
          <p:nvPr/>
        </p:nvSpPr>
        <p:spPr bwMode="auto">
          <a:xfrm>
            <a:off x="1752600" y="1752600"/>
            <a:ext cx="152400" cy="3657600"/>
          </a:xfrm>
          <a:prstGeom prst="rect">
            <a:avLst/>
          </a:prstGeom>
          <a:solidFill>
            <a:schemeClr val="bg1"/>
          </a:solidFill>
          <a:ln w="12700">
            <a:solidFill>
              <a:srgbClr val="00B0F0"/>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59" name="Rectangle 31"/>
          <p:cNvSpPr>
            <a:spLocks noChangeArrowheads="1"/>
          </p:cNvSpPr>
          <p:nvPr/>
        </p:nvSpPr>
        <p:spPr bwMode="auto">
          <a:xfrm>
            <a:off x="4267200" y="1752600"/>
            <a:ext cx="152400" cy="3657600"/>
          </a:xfrm>
          <a:prstGeom prst="rect">
            <a:avLst/>
          </a:prstGeom>
          <a:solidFill>
            <a:schemeClr val="bg1"/>
          </a:solidFill>
          <a:ln w="12700">
            <a:solidFill>
              <a:srgbClr val="00B0F0"/>
            </a:solidFill>
            <a:miter lim="800000"/>
            <a:headEnd/>
            <a:tailEnd/>
          </a:ln>
        </p:spPr>
        <p:txBody>
          <a:bodyPr wrap="none" anchor="ctr"/>
          <a:lstStyle/>
          <a:p>
            <a:endParaRPr lang="en-US" altLang="en-US">
              <a:latin typeface="Times New Roman" panose="02020603050405020304" pitchFamily="18" charset="0"/>
            </a:endParaRPr>
          </a:p>
        </p:txBody>
      </p:sp>
      <p:sp>
        <p:nvSpPr>
          <p:cNvPr id="22560" name="Rectangle 32"/>
          <p:cNvSpPr>
            <a:spLocks noChangeArrowheads="1"/>
          </p:cNvSpPr>
          <p:nvPr/>
        </p:nvSpPr>
        <p:spPr bwMode="auto">
          <a:xfrm>
            <a:off x="6934200" y="2514600"/>
            <a:ext cx="152400" cy="2362200"/>
          </a:xfrm>
          <a:prstGeom prst="rect">
            <a:avLst/>
          </a:prstGeom>
          <a:solidFill>
            <a:schemeClr val="bg1"/>
          </a:solidFill>
          <a:ln w="12700">
            <a:solidFill>
              <a:srgbClr val="00B0F0"/>
            </a:solidFill>
            <a:miter lim="800000"/>
            <a:headEnd/>
            <a:tailEnd/>
          </a:ln>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208251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7B5D38F8-3E5E-4164-BCF0-F53569B659EF}" type="slidenum">
              <a:rPr lang="en-US"/>
              <a:pPr/>
              <a:t>91</a:t>
            </a:fld>
            <a:endParaRPr lang="en-US"/>
          </a:p>
        </p:txBody>
      </p:sp>
      <p:sp>
        <p:nvSpPr>
          <p:cNvPr id="89090" name="Rectangle 2"/>
          <p:cNvSpPr>
            <a:spLocks noGrp="1" noChangeArrowheads="1"/>
          </p:cNvSpPr>
          <p:nvPr>
            <p:ph type="title"/>
          </p:nvPr>
        </p:nvSpPr>
        <p:spPr/>
        <p:txBody>
          <a:bodyPr/>
          <a:lstStyle/>
          <a:p>
            <a:r>
              <a:rPr lang="en-US" dirty="0"/>
              <a:t>Collaboration Diagram</a:t>
            </a:r>
            <a:endParaRPr lang="en-US" dirty="0">
              <a:solidFill>
                <a:srgbClr val="FF0000"/>
              </a:solidFill>
            </a:endParaRPr>
          </a:p>
        </p:txBody>
      </p:sp>
      <p:sp>
        <p:nvSpPr>
          <p:cNvPr id="89091" name="Rectangle 3"/>
          <p:cNvSpPr>
            <a:spLocks noGrp="1" noChangeArrowheads="1"/>
          </p:cNvSpPr>
          <p:nvPr>
            <p:ph type="body" idx="1"/>
          </p:nvPr>
        </p:nvSpPr>
        <p:spPr>
          <a:xfrm>
            <a:off x="990600" y="1981200"/>
            <a:ext cx="7504113" cy="4114800"/>
          </a:xfrm>
        </p:spPr>
        <p:txBody>
          <a:bodyPr/>
          <a:lstStyle/>
          <a:p>
            <a:r>
              <a:rPr lang="en-US" sz="2800"/>
              <a:t>Alternate way to represent the messages exchanged by a set of objects</a:t>
            </a:r>
          </a:p>
          <a:p>
            <a:r>
              <a:rPr lang="en-US" sz="2800"/>
              <a:t>Shows object interactions organized around the objects and their links to each other</a:t>
            </a:r>
          </a:p>
          <a:p>
            <a:r>
              <a:rPr lang="en-US" sz="2800"/>
              <a:t>Basic elements : actors, objects, messages, links (pathway for communication between objects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Footer Placeholder 4"/>
          <p:cNvSpPr>
            <a:spLocks noGrp="1"/>
          </p:cNvSpPr>
          <p:nvPr>
            <p:ph type="ftr" sz="quarter" idx="11"/>
          </p:nvPr>
        </p:nvSpPr>
        <p:spPr/>
        <p:txBody>
          <a:bodyPr/>
          <a:lstStyle/>
          <a:p>
            <a:r>
              <a:rPr lang="en-US"/>
              <a:t>Chapter 6-Object-oriented design</a:t>
            </a:r>
          </a:p>
        </p:txBody>
      </p:sp>
      <p:sp>
        <p:nvSpPr>
          <p:cNvPr id="42" name="Slide Number Placeholder 5"/>
          <p:cNvSpPr>
            <a:spLocks noGrp="1"/>
          </p:cNvSpPr>
          <p:nvPr>
            <p:ph type="sldNum" sz="quarter" idx="12"/>
          </p:nvPr>
        </p:nvSpPr>
        <p:spPr/>
        <p:txBody>
          <a:bodyPr/>
          <a:lstStyle/>
          <a:p>
            <a:fld id="{7EDE31D0-824C-43E9-BA15-2D5EF5ACF872}" type="slidenum">
              <a:rPr lang="en-US"/>
              <a:pPr/>
              <a:t>92</a:t>
            </a:fld>
            <a:endParaRPr lang="en-US"/>
          </a:p>
        </p:txBody>
      </p:sp>
      <p:sp>
        <p:nvSpPr>
          <p:cNvPr id="90114" name="Rectangle 2"/>
          <p:cNvSpPr>
            <a:spLocks noGrp="1" noChangeArrowheads="1"/>
          </p:cNvSpPr>
          <p:nvPr>
            <p:ph type="title"/>
          </p:nvPr>
        </p:nvSpPr>
        <p:spPr/>
        <p:txBody>
          <a:bodyPr/>
          <a:lstStyle/>
          <a:p>
            <a:r>
              <a:rPr lang="en-US" dirty="0"/>
              <a:t>Collaboration Diagram</a:t>
            </a:r>
          </a:p>
        </p:txBody>
      </p:sp>
      <p:grpSp>
        <p:nvGrpSpPr>
          <p:cNvPr id="59" name="Group 58"/>
          <p:cNvGrpSpPr/>
          <p:nvPr/>
        </p:nvGrpSpPr>
        <p:grpSpPr>
          <a:xfrm>
            <a:off x="838200" y="2170906"/>
            <a:ext cx="7178675" cy="3743325"/>
            <a:chOff x="1203325" y="990600"/>
            <a:chExt cx="7178675" cy="3743325"/>
          </a:xfrm>
        </p:grpSpPr>
        <p:sp>
          <p:nvSpPr>
            <p:cNvPr id="60" name="Text Box 2"/>
            <p:cNvSpPr txBox="1">
              <a:spLocks noChangeArrowheads="1"/>
            </p:cNvSpPr>
            <p:nvPr/>
          </p:nvSpPr>
          <p:spPr bwMode="auto">
            <a:xfrm>
              <a:off x="1203325" y="2216150"/>
              <a:ext cx="785813" cy="314325"/>
            </a:xfrm>
            <a:prstGeom prst="rect">
              <a:avLst/>
            </a:prstGeom>
            <a:solidFill>
              <a:schemeClr val="accent1"/>
            </a:solidFill>
            <a:ln w="9525">
              <a:solidFill>
                <a:schemeClr val="tx1"/>
              </a:solidFill>
              <a:miter lim="800000"/>
              <a:headEnd/>
              <a:tailEnd/>
            </a:ln>
          </p:spPr>
          <p:txBody>
            <a:bodyPr wrap="none">
              <a:spAutoFit/>
            </a:bodyPr>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sz="1400"/>
                <a:t>:Client</a:t>
              </a:r>
            </a:p>
          </p:txBody>
        </p:sp>
        <p:sp>
          <p:nvSpPr>
            <p:cNvPr id="61" name="Text Box 3"/>
            <p:cNvSpPr txBox="1">
              <a:spLocks noChangeArrowheads="1"/>
            </p:cNvSpPr>
            <p:nvPr/>
          </p:nvSpPr>
          <p:spPr bwMode="auto">
            <a:xfrm>
              <a:off x="5715000" y="1600200"/>
              <a:ext cx="1384300" cy="314325"/>
            </a:xfrm>
            <a:prstGeom prst="rect">
              <a:avLst/>
            </a:prstGeom>
            <a:solidFill>
              <a:schemeClr val="accent1"/>
            </a:solidFill>
            <a:ln w="9525">
              <a:solidFill>
                <a:schemeClr val="tx1"/>
              </a:solidFill>
              <a:miter lim="800000"/>
              <a:headEnd/>
              <a:tailEnd/>
            </a:ln>
          </p:spPr>
          <p:txBody>
            <a:bodyPr wrap="none">
              <a:spAutoFit/>
            </a:bodyPr>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sz="1400"/>
                <a:t>:ATMMachine</a:t>
              </a:r>
            </a:p>
          </p:txBody>
        </p:sp>
        <p:sp>
          <p:nvSpPr>
            <p:cNvPr id="62" name="Text Box 4"/>
            <p:cNvSpPr txBox="1">
              <a:spLocks noChangeArrowheads="1"/>
            </p:cNvSpPr>
            <p:nvPr/>
          </p:nvSpPr>
          <p:spPr bwMode="auto">
            <a:xfrm>
              <a:off x="4419600" y="4419600"/>
              <a:ext cx="1590675" cy="314325"/>
            </a:xfrm>
            <a:prstGeom prst="rect">
              <a:avLst/>
            </a:prstGeom>
            <a:solidFill>
              <a:schemeClr val="accent1"/>
            </a:solidFill>
            <a:ln w="9525">
              <a:solidFill>
                <a:schemeClr val="tx1"/>
              </a:solidFill>
              <a:miter lim="800000"/>
              <a:headEnd/>
              <a:tailEnd/>
            </a:ln>
          </p:spPr>
          <p:txBody>
            <a:bodyPr wrap="none">
              <a:spAutoFit/>
            </a:bodyPr>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sz="1400"/>
                <a:t>:SavingAccount</a:t>
              </a:r>
            </a:p>
          </p:txBody>
        </p:sp>
        <p:sp>
          <p:nvSpPr>
            <p:cNvPr id="63" name="Line 5"/>
            <p:cNvSpPr>
              <a:spLocks noChangeShapeType="1"/>
            </p:cNvSpPr>
            <p:nvPr/>
          </p:nvSpPr>
          <p:spPr bwMode="auto">
            <a:xfrm flipV="1">
              <a:off x="1981200" y="1752600"/>
              <a:ext cx="3733800" cy="609600"/>
            </a:xfrm>
            <a:prstGeom prst="line">
              <a:avLst/>
            </a:prstGeom>
            <a:noFill/>
            <a:ln w="9525">
              <a:solidFill>
                <a:schemeClr val="tx1"/>
              </a:solidFill>
              <a:miter lim="800000"/>
              <a:headEnd/>
              <a:tailEnd/>
            </a:ln>
          </p:spPr>
          <p:txBody>
            <a:bodyPr wrap="none"/>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n-US"/>
            </a:p>
          </p:txBody>
        </p:sp>
        <p:sp>
          <p:nvSpPr>
            <p:cNvPr id="64" name="Line 6"/>
            <p:cNvSpPr>
              <a:spLocks noChangeShapeType="1"/>
            </p:cNvSpPr>
            <p:nvPr/>
          </p:nvSpPr>
          <p:spPr bwMode="auto">
            <a:xfrm flipH="1">
              <a:off x="4953000" y="1905000"/>
              <a:ext cx="1219200" cy="2514600"/>
            </a:xfrm>
            <a:prstGeom prst="line">
              <a:avLst/>
            </a:prstGeom>
            <a:noFill/>
            <a:ln w="9525">
              <a:solidFill>
                <a:schemeClr val="tx1"/>
              </a:solidFill>
              <a:miter lim="800000"/>
              <a:headEnd/>
              <a:tailEnd/>
            </a:ln>
          </p:spPr>
          <p:txBody>
            <a:bodyPr wrap="none"/>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n-US"/>
            </a:p>
          </p:txBody>
        </p:sp>
        <p:sp>
          <p:nvSpPr>
            <p:cNvPr id="65" name="Text Box 7"/>
            <p:cNvSpPr txBox="1">
              <a:spLocks noChangeArrowheads="1"/>
            </p:cNvSpPr>
            <p:nvPr/>
          </p:nvSpPr>
          <p:spPr bwMode="auto">
            <a:xfrm>
              <a:off x="2362200" y="990600"/>
              <a:ext cx="1692275" cy="639763"/>
            </a:xfrm>
            <a:prstGeom prst="rect">
              <a:avLst/>
            </a:prstGeom>
            <a:noFill/>
            <a:ln w="9525">
              <a:noFill/>
              <a:miter lim="800000"/>
              <a:headEnd/>
              <a:tailEnd/>
            </a:ln>
          </p:spPr>
          <p:txBody>
            <a:bodyPr>
              <a:spAutoFit/>
            </a:bodyPr>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sz="1200" dirty="0"/>
                <a:t>1: insert ATM card</a:t>
              </a:r>
            </a:p>
            <a:p>
              <a:r>
                <a:rPr lang="en-US" sz="1200" dirty="0"/>
                <a:t>3: enter PIN code</a:t>
              </a:r>
            </a:p>
            <a:p>
              <a:r>
                <a:rPr lang="en-US" sz="1200" dirty="0"/>
                <a:t>7: enter amount</a:t>
              </a:r>
            </a:p>
          </p:txBody>
        </p:sp>
        <p:sp>
          <p:nvSpPr>
            <p:cNvPr id="66" name="Text Box 8"/>
            <p:cNvSpPr txBox="1">
              <a:spLocks noChangeArrowheads="1"/>
            </p:cNvSpPr>
            <p:nvPr/>
          </p:nvSpPr>
          <p:spPr bwMode="auto">
            <a:xfrm>
              <a:off x="2895600" y="2514600"/>
              <a:ext cx="1692275" cy="822325"/>
            </a:xfrm>
            <a:prstGeom prst="rect">
              <a:avLst/>
            </a:prstGeom>
            <a:noFill/>
            <a:ln w="9525">
              <a:noFill/>
              <a:miter lim="800000"/>
              <a:headEnd/>
              <a:tailEnd/>
            </a:ln>
          </p:spPr>
          <p:txBody>
            <a:bodyPr>
              <a:spAutoFit/>
            </a:bodyPr>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sz="1200"/>
                <a:t>2: request PIN</a:t>
              </a:r>
            </a:p>
            <a:p>
              <a:r>
                <a:rPr lang="en-US" sz="1200"/>
                <a:t>6: request amount</a:t>
              </a:r>
            </a:p>
            <a:p>
              <a:r>
                <a:rPr lang="en-US" sz="1200"/>
                <a:t>10: dispense cash</a:t>
              </a:r>
            </a:p>
            <a:p>
              <a:r>
                <a:rPr lang="en-US" sz="1200"/>
                <a:t>11: print receipt</a:t>
              </a:r>
            </a:p>
          </p:txBody>
        </p:sp>
        <p:sp>
          <p:nvSpPr>
            <p:cNvPr id="67" name="Line 9"/>
            <p:cNvSpPr>
              <a:spLocks noChangeShapeType="1"/>
            </p:cNvSpPr>
            <p:nvPr/>
          </p:nvSpPr>
          <p:spPr bwMode="auto">
            <a:xfrm flipV="1">
              <a:off x="2743200" y="1752600"/>
              <a:ext cx="1676400" cy="228600"/>
            </a:xfrm>
            <a:prstGeom prst="line">
              <a:avLst/>
            </a:prstGeom>
            <a:noFill/>
            <a:ln w="28575">
              <a:solidFill>
                <a:schemeClr val="tx1"/>
              </a:solidFill>
              <a:miter lim="800000"/>
              <a:headEnd/>
              <a:tailEnd type="triangle" w="med" len="med"/>
            </a:ln>
          </p:spPr>
          <p:txBody>
            <a:bodyPr wrap="none"/>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n-US"/>
            </a:p>
          </p:txBody>
        </p:sp>
        <p:sp>
          <p:nvSpPr>
            <p:cNvPr id="68" name="Line 10"/>
            <p:cNvSpPr>
              <a:spLocks noChangeShapeType="1"/>
            </p:cNvSpPr>
            <p:nvPr/>
          </p:nvSpPr>
          <p:spPr bwMode="auto">
            <a:xfrm flipH="1">
              <a:off x="2895600" y="2209800"/>
              <a:ext cx="1524000" cy="228600"/>
            </a:xfrm>
            <a:prstGeom prst="line">
              <a:avLst/>
            </a:prstGeom>
            <a:noFill/>
            <a:ln w="28575">
              <a:solidFill>
                <a:schemeClr val="tx1"/>
              </a:solidFill>
              <a:miter lim="800000"/>
              <a:headEnd/>
              <a:tailEnd type="triangle" w="med" len="med"/>
            </a:ln>
          </p:spPr>
          <p:txBody>
            <a:bodyPr wrap="none"/>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n-US"/>
            </a:p>
          </p:txBody>
        </p:sp>
        <p:sp>
          <p:nvSpPr>
            <p:cNvPr id="69" name="Text Box 11"/>
            <p:cNvSpPr txBox="1">
              <a:spLocks noChangeArrowheads="1"/>
            </p:cNvSpPr>
            <p:nvPr/>
          </p:nvSpPr>
          <p:spPr bwMode="auto">
            <a:xfrm>
              <a:off x="6248400" y="2895600"/>
              <a:ext cx="2133600" cy="457200"/>
            </a:xfrm>
            <a:prstGeom prst="rect">
              <a:avLst/>
            </a:prstGeom>
            <a:noFill/>
            <a:ln w="9525">
              <a:noFill/>
              <a:miter lim="800000"/>
              <a:headEnd/>
              <a:tailEnd/>
            </a:ln>
          </p:spPr>
          <p:txBody>
            <a:bodyPr>
              <a:spAutoFit/>
            </a:bodyPr>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sz="1200"/>
                <a:t>4: verify PIN code</a:t>
              </a:r>
            </a:p>
            <a:p>
              <a:r>
                <a:rPr lang="en-US" sz="1200"/>
                <a:t>8: process transaction</a:t>
              </a:r>
            </a:p>
          </p:txBody>
        </p:sp>
        <p:sp>
          <p:nvSpPr>
            <p:cNvPr id="70" name="Line 12"/>
            <p:cNvSpPr>
              <a:spLocks noChangeShapeType="1"/>
            </p:cNvSpPr>
            <p:nvPr/>
          </p:nvSpPr>
          <p:spPr bwMode="auto">
            <a:xfrm flipH="1">
              <a:off x="5562600" y="2590800"/>
              <a:ext cx="533400" cy="990600"/>
            </a:xfrm>
            <a:prstGeom prst="line">
              <a:avLst/>
            </a:prstGeom>
            <a:noFill/>
            <a:ln w="28575">
              <a:solidFill>
                <a:schemeClr val="tx1"/>
              </a:solidFill>
              <a:miter lim="800000"/>
              <a:headEnd/>
              <a:tailEnd type="triangle" w="med" len="med"/>
            </a:ln>
          </p:spPr>
          <p:txBody>
            <a:bodyPr wrap="none"/>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n-US"/>
            </a:p>
          </p:txBody>
        </p:sp>
        <p:sp>
          <p:nvSpPr>
            <p:cNvPr id="71" name="Text Box 13"/>
            <p:cNvSpPr txBox="1">
              <a:spLocks noChangeArrowheads="1"/>
            </p:cNvSpPr>
            <p:nvPr/>
          </p:nvSpPr>
          <p:spPr bwMode="auto">
            <a:xfrm>
              <a:off x="3200400" y="3505200"/>
              <a:ext cx="2149475" cy="457200"/>
            </a:xfrm>
            <a:prstGeom prst="rect">
              <a:avLst/>
            </a:prstGeom>
            <a:noFill/>
            <a:ln w="9525">
              <a:noFill/>
              <a:miter lim="800000"/>
              <a:headEnd/>
              <a:tailEnd/>
            </a:ln>
          </p:spPr>
          <p:txBody>
            <a:bodyPr>
              <a:spAutoFit/>
            </a:bodyPr>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en-US" sz="1200"/>
                <a:t>5: valid PIN code</a:t>
              </a:r>
            </a:p>
            <a:p>
              <a:r>
                <a:rPr lang="en-US" sz="1200"/>
                <a:t>9: transaction successful</a:t>
              </a:r>
            </a:p>
          </p:txBody>
        </p:sp>
        <p:sp>
          <p:nvSpPr>
            <p:cNvPr id="72" name="Line 14"/>
            <p:cNvSpPr>
              <a:spLocks noChangeShapeType="1"/>
            </p:cNvSpPr>
            <p:nvPr/>
          </p:nvSpPr>
          <p:spPr bwMode="auto">
            <a:xfrm flipV="1">
              <a:off x="5105400" y="2667000"/>
              <a:ext cx="457200" cy="838200"/>
            </a:xfrm>
            <a:prstGeom prst="line">
              <a:avLst/>
            </a:prstGeom>
            <a:noFill/>
            <a:ln w="28575">
              <a:solidFill>
                <a:schemeClr val="tx1"/>
              </a:solidFill>
              <a:miter lim="800000"/>
              <a:headEnd/>
              <a:tailEnd type="triangle" w="med" len="med"/>
            </a:ln>
          </p:spPr>
          <p:txBody>
            <a:bodyPr wrap="none"/>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n-US"/>
            </a:p>
          </p:txBody>
        </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p>
        </p:txBody>
      </p:sp>
      <p:sp>
        <p:nvSpPr>
          <p:cNvPr id="3" name="Content Placeholder 2"/>
          <p:cNvSpPr>
            <a:spLocks noGrp="1"/>
          </p:cNvSpPr>
          <p:nvPr>
            <p:ph idx="1"/>
          </p:nvPr>
        </p:nvSpPr>
        <p:spPr>
          <a:xfrm>
            <a:off x="533400" y="2017713"/>
            <a:ext cx="8421688" cy="4114800"/>
          </a:xfrm>
        </p:spPr>
        <p:txBody>
          <a:bodyPr/>
          <a:lstStyle/>
          <a:p>
            <a:pPr marL="363538" indent="-363538">
              <a:tabLst>
                <a:tab pos="363538" algn="l"/>
              </a:tabLst>
            </a:pPr>
            <a:r>
              <a:rPr lang="en-GB" sz="2000" dirty="0"/>
              <a:t>Draw a sequence diagram that shows Andy (</a:t>
            </a:r>
            <a:r>
              <a:rPr lang="en-GB" sz="2000" dirty="0" err="1"/>
              <a:t>Madeup</a:t>
            </a:r>
            <a:r>
              <a:rPr lang="en-GB" sz="2000" dirty="0"/>
              <a:t>-Name) interacting with objects in the system that achieves the same effect that follows this flow:</a:t>
            </a:r>
            <a:br>
              <a:rPr lang="en-GB" sz="2000" dirty="0"/>
            </a:br>
            <a:br>
              <a:rPr lang="en-GB" sz="2000" dirty="0"/>
            </a:br>
            <a:r>
              <a:rPr lang="en-GB" sz="2000" dirty="0"/>
              <a:t>1. Andy creates a new order item</a:t>
            </a:r>
            <a:br>
              <a:rPr lang="en-GB" sz="2000" dirty="0"/>
            </a:br>
            <a:r>
              <a:rPr lang="en-GB" sz="2000" dirty="0"/>
              <a:t>2. Andy selects the product Snow Flake Templates from the product catalogue</a:t>
            </a:r>
            <a:br>
              <a:rPr lang="en-GB" sz="2000" dirty="0"/>
            </a:br>
            <a:r>
              <a:rPr lang="en-GB" sz="2000" dirty="0"/>
              <a:t>3. Andy specifies the order item quantity 5</a:t>
            </a:r>
            <a:br>
              <a:rPr lang="en-GB" sz="2000" dirty="0"/>
            </a:br>
            <a:r>
              <a:rPr lang="en-GB" sz="2000" dirty="0"/>
              <a:t>4. Andy adds the item to the order</a:t>
            </a:r>
          </a:p>
          <a:p>
            <a:pPr>
              <a:buNone/>
            </a:pPr>
            <a:endParaRPr lang="en-GB" sz="2000" dirty="0"/>
          </a:p>
          <a:p>
            <a:pPr>
              <a:buNone/>
            </a:pPr>
            <a:r>
              <a:rPr lang="en-GB" sz="2000" dirty="0"/>
              <a:t>(</a:t>
            </a:r>
            <a:r>
              <a:rPr lang="en-GB" sz="1600" i="1" dirty="0" err="1"/>
              <a:t>Hint:your</a:t>
            </a:r>
            <a:r>
              <a:rPr lang="en-GB" sz="1600" i="1" dirty="0"/>
              <a:t> sequence diagram should conform to the class model in previous exercise</a:t>
            </a:r>
            <a:r>
              <a:rPr lang="en-GB" sz="2000" dirty="0"/>
              <a:t>)</a:t>
            </a:r>
            <a:endParaRPr lang="en-US" sz="2000" dirty="0"/>
          </a:p>
        </p:txBody>
      </p:sp>
      <p:sp>
        <p:nvSpPr>
          <p:cNvPr id="4" name="Footer Placeholder 3"/>
          <p:cNvSpPr>
            <a:spLocks noGrp="1"/>
          </p:cNvSpPr>
          <p:nvPr>
            <p:ph type="ftr" sz="quarter" idx="11"/>
          </p:nvPr>
        </p:nvSpPr>
        <p:spPr/>
        <p:txBody>
          <a:bodyPr/>
          <a:lstStyle/>
          <a:p>
            <a:r>
              <a:rPr lang="en-US"/>
              <a:t>Chapter 6-Object-oriented design</a:t>
            </a:r>
          </a:p>
        </p:txBody>
      </p:sp>
      <p:sp>
        <p:nvSpPr>
          <p:cNvPr id="5" name="Slide Number Placeholder 4"/>
          <p:cNvSpPr>
            <a:spLocks noGrp="1"/>
          </p:cNvSpPr>
          <p:nvPr>
            <p:ph type="sldNum" sz="quarter" idx="12"/>
          </p:nvPr>
        </p:nvSpPr>
        <p:spPr/>
        <p:txBody>
          <a:bodyPr/>
          <a:lstStyle/>
          <a:p>
            <a:fld id="{20317CA6-3557-4F90-84AF-53D5354FC7C6}" type="slidenum">
              <a:rPr lang="en-US" smtClean="0"/>
              <a:pPr/>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2920B4F4-4E9C-49D6-AECB-3CE8C7E11430}" type="slidenum">
              <a:rPr lang="en-US"/>
              <a:pPr/>
              <a:t>94</a:t>
            </a:fld>
            <a:endParaRPr lang="en-US"/>
          </a:p>
        </p:txBody>
      </p:sp>
      <p:sp>
        <p:nvSpPr>
          <p:cNvPr id="32770" name="Rectangle 2"/>
          <p:cNvSpPr>
            <a:spLocks noGrp="1" noChangeArrowheads="1"/>
          </p:cNvSpPr>
          <p:nvPr>
            <p:ph type="title"/>
          </p:nvPr>
        </p:nvSpPr>
        <p:spPr/>
        <p:txBody>
          <a:bodyPr/>
          <a:lstStyle/>
          <a:p>
            <a:r>
              <a:rPr lang="en-US" sz="3600"/>
              <a:t>Design Classes – Define State</a:t>
            </a:r>
          </a:p>
        </p:txBody>
      </p:sp>
      <p:sp>
        <p:nvSpPr>
          <p:cNvPr id="32771" name="Rectangle 3"/>
          <p:cNvSpPr>
            <a:spLocks noGrp="1" noChangeArrowheads="1"/>
          </p:cNvSpPr>
          <p:nvPr>
            <p:ph type="body" idx="1"/>
          </p:nvPr>
        </p:nvSpPr>
        <p:spPr>
          <a:xfrm>
            <a:off x="914400" y="1981200"/>
            <a:ext cx="7772400" cy="4114800"/>
          </a:xfrm>
        </p:spPr>
        <p:txBody>
          <a:bodyPr/>
          <a:lstStyle/>
          <a:p>
            <a:r>
              <a:rPr lang="en-US" sz="2800" dirty="0"/>
              <a:t>The </a:t>
            </a:r>
            <a:r>
              <a:rPr lang="en-US" sz="2800" dirty="0">
                <a:solidFill>
                  <a:srgbClr val="FF0000"/>
                </a:solidFill>
              </a:rPr>
              <a:t>state an object resides</a:t>
            </a:r>
            <a:r>
              <a:rPr lang="en-US" sz="2800" dirty="0"/>
              <a:t>, in is a computational state, and is define by the stimuli the object can receive and what operations can be performed as a result</a:t>
            </a:r>
          </a:p>
          <a:p>
            <a:r>
              <a:rPr lang="en-US" sz="2800" dirty="0"/>
              <a:t>Design how an object’s state affects its behavior</a:t>
            </a:r>
          </a:p>
          <a:p>
            <a:r>
              <a:rPr lang="en-US" sz="2800" dirty="0"/>
              <a:t>Develop </a:t>
            </a:r>
            <a:r>
              <a:rPr lang="en-US" sz="2800" dirty="0" err="1"/>
              <a:t>statecharts</a:t>
            </a:r>
            <a:r>
              <a:rPr lang="en-US" sz="2800" dirty="0"/>
              <a:t>(state diagram) to model this behavior</a:t>
            </a:r>
          </a:p>
          <a:p>
            <a:pPr>
              <a:buFont typeface="Wingdings" pitchFamily="2" charset="2"/>
              <a:buNone/>
            </a:pPr>
            <a:endParaRPr lang="en-US" sz="2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C1501FE3-2A66-4EA0-A4AC-9B51C0FA3AE6}" type="slidenum">
              <a:rPr lang="en-US"/>
              <a:pPr/>
              <a:t>95</a:t>
            </a:fld>
            <a:endParaRPr lang="en-US"/>
          </a:p>
        </p:txBody>
      </p:sp>
      <p:sp>
        <p:nvSpPr>
          <p:cNvPr id="34818" name="Rectangle 2"/>
          <p:cNvSpPr>
            <a:spLocks noGrp="1" noChangeArrowheads="1"/>
          </p:cNvSpPr>
          <p:nvPr>
            <p:ph type="title"/>
          </p:nvPr>
        </p:nvSpPr>
        <p:spPr/>
        <p:txBody>
          <a:bodyPr/>
          <a:lstStyle/>
          <a:p>
            <a:r>
              <a:rPr lang="en-US" sz="3600"/>
              <a:t>Design Classes – Define State</a:t>
            </a:r>
          </a:p>
        </p:txBody>
      </p:sp>
      <p:sp>
        <p:nvSpPr>
          <p:cNvPr id="34819" name="Rectangle 3"/>
          <p:cNvSpPr>
            <a:spLocks noGrp="1" noChangeArrowheads="1"/>
          </p:cNvSpPr>
          <p:nvPr>
            <p:ph type="body" idx="1"/>
          </p:nvPr>
        </p:nvSpPr>
        <p:spPr>
          <a:xfrm>
            <a:off x="685800" y="2017713"/>
            <a:ext cx="7848600" cy="4114800"/>
          </a:xfrm>
        </p:spPr>
        <p:txBody>
          <a:bodyPr/>
          <a:lstStyle/>
          <a:p>
            <a:pPr algn="just"/>
            <a:r>
              <a:rPr lang="en-US" sz="2400" dirty="0"/>
              <a:t>A </a:t>
            </a:r>
            <a:r>
              <a:rPr lang="en-US" sz="2400" dirty="0" err="1"/>
              <a:t>statechart</a:t>
            </a:r>
            <a:r>
              <a:rPr lang="en-US" sz="2400" dirty="0"/>
              <a:t> is a diagram used to show the </a:t>
            </a:r>
            <a:r>
              <a:rPr lang="en-US" sz="2400" dirty="0">
                <a:solidFill>
                  <a:srgbClr val="FF0000"/>
                </a:solidFill>
              </a:rPr>
              <a:t>life history </a:t>
            </a:r>
            <a:r>
              <a:rPr lang="en-US" sz="2400" dirty="0"/>
              <a:t>of </a:t>
            </a:r>
            <a:r>
              <a:rPr lang="en-US" sz="2400" dirty="0">
                <a:solidFill>
                  <a:srgbClr val="FF0000"/>
                </a:solidFill>
              </a:rPr>
              <a:t>a given class</a:t>
            </a:r>
            <a:r>
              <a:rPr lang="en-US" sz="2400" dirty="0"/>
              <a:t>, the events that cause a transition from one state to another, and the actions that result from a state change.</a:t>
            </a:r>
          </a:p>
          <a:p>
            <a:pPr algn="just">
              <a:lnSpc>
                <a:spcPct val="90000"/>
              </a:lnSpc>
            </a:pPr>
            <a:r>
              <a:rPr lang="en-US" sz="2400" dirty="0"/>
              <a:t>State diagrams are useful </a:t>
            </a:r>
            <a:r>
              <a:rPr lang="en-US" sz="2400" dirty="0">
                <a:solidFill>
                  <a:srgbClr val="FF0000"/>
                </a:solidFill>
              </a:rPr>
              <a:t>high-level models </a:t>
            </a:r>
            <a:r>
              <a:rPr lang="en-US" sz="2400" dirty="0"/>
              <a:t>of a system or an object’s run-time behavior. </a:t>
            </a:r>
          </a:p>
          <a:p>
            <a:pPr algn="just">
              <a:lnSpc>
                <a:spcPct val="90000"/>
              </a:lnSpc>
            </a:pPr>
            <a:r>
              <a:rPr lang="en-US" sz="2400" dirty="0"/>
              <a:t>You don’t usually need a state diagram for all of the objects in the system. Many of the objects in a system are relatively simple and a state model adds unnecessary detail to the design.</a:t>
            </a:r>
            <a:endParaRPr lang="en-GB" sz="2400" dirty="0"/>
          </a:p>
          <a:p>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1"/>
          </p:nvPr>
        </p:nvSpPr>
        <p:spPr/>
        <p:txBody>
          <a:bodyPr/>
          <a:lstStyle/>
          <a:p>
            <a:r>
              <a:rPr lang="en-US"/>
              <a:t>Chapter 6-Object-oriented design</a:t>
            </a:r>
          </a:p>
        </p:txBody>
      </p:sp>
      <p:sp>
        <p:nvSpPr>
          <p:cNvPr id="13" name="Slide Number Placeholder 5"/>
          <p:cNvSpPr>
            <a:spLocks noGrp="1"/>
          </p:cNvSpPr>
          <p:nvPr>
            <p:ph type="sldNum" sz="quarter" idx="12"/>
          </p:nvPr>
        </p:nvSpPr>
        <p:spPr/>
        <p:txBody>
          <a:bodyPr/>
          <a:lstStyle/>
          <a:p>
            <a:fld id="{39105962-429B-48C4-B0D3-E14D1677ECC0}" type="slidenum">
              <a:rPr lang="en-US"/>
              <a:pPr/>
              <a:t>96</a:t>
            </a:fld>
            <a:endParaRPr lang="en-US"/>
          </a:p>
        </p:txBody>
      </p:sp>
      <p:sp>
        <p:nvSpPr>
          <p:cNvPr id="33794" name="Rectangle 2"/>
          <p:cNvSpPr>
            <a:spLocks noGrp="1" noChangeArrowheads="1"/>
          </p:cNvSpPr>
          <p:nvPr>
            <p:ph type="title"/>
          </p:nvPr>
        </p:nvSpPr>
        <p:spPr/>
        <p:txBody>
          <a:bodyPr/>
          <a:lstStyle/>
          <a:p>
            <a:r>
              <a:rPr lang="en-US" sz="3600"/>
              <a:t>Design Classes – Define State</a:t>
            </a:r>
          </a:p>
        </p:txBody>
      </p:sp>
      <p:grpSp>
        <p:nvGrpSpPr>
          <p:cNvPr id="2" name="Group 12"/>
          <p:cNvGrpSpPr>
            <a:grpSpLocks/>
          </p:cNvGrpSpPr>
          <p:nvPr/>
        </p:nvGrpSpPr>
        <p:grpSpPr bwMode="auto">
          <a:xfrm>
            <a:off x="685800" y="2209800"/>
            <a:ext cx="2895600" cy="3657600"/>
            <a:chOff x="528" y="1392"/>
            <a:chExt cx="2352" cy="2400"/>
          </a:xfrm>
        </p:grpSpPr>
        <p:sp>
          <p:nvSpPr>
            <p:cNvPr id="33796" name="AutoShape 4"/>
            <p:cNvSpPr>
              <a:spLocks noChangeArrowheads="1"/>
            </p:cNvSpPr>
            <p:nvPr/>
          </p:nvSpPr>
          <p:spPr bwMode="auto">
            <a:xfrm>
              <a:off x="528" y="1392"/>
              <a:ext cx="2352" cy="2400"/>
            </a:xfrm>
            <a:prstGeom prst="flowChartAlternateProcess">
              <a:avLst/>
            </a:prstGeom>
            <a:noFill/>
            <a:ln w="9525">
              <a:solidFill>
                <a:schemeClr val="tx1"/>
              </a:solidFill>
              <a:miter lim="800000"/>
              <a:headEnd/>
              <a:tailEnd/>
            </a:ln>
            <a:effectLst/>
          </p:spPr>
          <p:txBody>
            <a:bodyPr wrap="none" anchor="ctr"/>
            <a:lstStyle/>
            <a:p>
              <a:endParaRPr lang="en-US"/>
            </a:p>
          </p:txBody>
        </p:sp>
        <p:sp>
          <p:nvSpPr>
            <p:cNvPr id="33797" name="Rectangle 5"/>
            <p:cNvSpPr>
              <a:spLocks noChangeArrowheads="1"/>
            </p:cNvSpPr>
            <p:nvPr/>
          </p:nvSpPr>
          <p:spPr bwMode="auto">
            <a:xfrm>
              <a:off x="528" y="2009"/>
              <a:ext cx="2352" cy="719"/>
            </a:xfrm>
            <a:prstGeom prst="rect">
              <a:avLst/>
            </a:prstGeom>
            <a:noFill/>
            <a:ln w="9525">
              <a:solidFill>
                <a:schemeClr val="tx1"/>
              </a:solidFill>
              <a:miter lim="800000"/>
              <a:headEnd/>
              <a:tailEnd/>
            </a:ln>
            <a:effectLst/>
          </p:spPr>
          <p:txBody>
            <a:bodyPr wrap="none" anchor="ctr"/>
            <a:lstStyle/>
            <a:p>
              <a:endParaRPr lang="en-US"/>
            </a:p>
          </p:txBody>
        </p:sp>
        <p:sp>
          <p:nvSpPr>
            <p:cNvPr id="33799" name="Text Box 7"/>
            <p:cNvSpPr txBox="1">
              <a:spLocks noChangeArrowheads="1"/>
            </p:cNvSpPr>
            <p:nvPr/>
          </p:nvSpPr>
          <p:spPr bwMode="auto">
            <a:xfrm>
              <a:off x="700" y="1855"/>
              <a:ext cx="1367" cy="240"/>
            </a:xfrm>
            <a:prstGeom prst="rect">
              <a:avLst/>
            </a:prstGeom>
            <a:noFill/>
            <a:ln w="9525">
              <a:noFill/>
              <a:miter lim="800000"/>
              <a:headEnd/>
              <a:tailEnd/>
            </a:ln>
            <a:effectLst/>
          </p:spPr>
          <p:txBody>
            <a:bodyPr>
              <a:spAutoFit/>
            </a:bodyPr>
            <a:lstStyle/>
            <a:p>
              <a:endParaRPr lang="en-US" sz="1800"/>
            </a:p>
          </p:txBody>
        </p:sp>
        <p:sp>
          <p:nvSpPr>
            <p:cNvPr id="33800" name="Text Box 8"/>
            <p:cNvSpPr txBox="1">
              <a:spLocks noChangeArrowheads="1"/>
            </p:cNvSpPr>
            <p:nvPr/>
          </p:nvSpPr>
          <p:spPr bwMode="auto">
            <a:xfrm>
              <a:off x="700" y="1649"/>
              <a:ext cx="1196" cy="241"/>
            </a:xfrm>
            <a:prstGeom prst="rect">
              <a:avLst/>
            </a:prstGeom>
            <a:noFill/>
            <a:ln w="9525">
              <a:noFill/>
              <a:miter lim="800000"/>
              <a:headEnd/>
              <a:tailEnd/>
            </a:ln>
            <a:effectLst/>
          </p:spPr>
          <p:txBody>
            <a:bodyPr>
              <a:spAutoFit/>
            </a:bodyPr>
            <a:lstStyle/>
            <a:p>
              <a:pPr>
                <a:spcBef>
                  <a:spcPct val="50000"/>
                </a:spcBef>
              </a:pPr>
              <a:r>
                <a:rPr lang="en-US" sz="1800"/>
                <a:t>State name</a:t>
              </a:r>
            </a:p>
          </p:txBody>
        </p:sp>
        <p:sp>
          <p:nvSpPr>
            <p:cNvPr id="33801" name="Text Box 9"/>
            <p:cNvSpPr txBox="1">
              <a:spLocks noChangeArrowheads="1"/>
            </p:cNvSpPr>
            <p:nvPr/>
          </p:nvSpPr>
          <p:spPr bwMode="auto">
            <a:xfrm>
              <a:off x="571" y="2214"/>
              <a:ext cx="2223" cy="241"/>
            </a:xfrm>
            <a:prstGeom prst="rect">
              <a:avLst/>
            </a:prstGeom>
            <a:noFill/>
            <a:ln w="9525">
              <a:noFill/>
              <a:miter lim="800000"/>
              <a:headEnd/>
              <a:tailEnd/>
            </a:ln>
            <a:effectLst/>
          </p:spPr>
          <p:txBody>
            <a:bodyPr>
              <a:spAutoFit/>
            </a:bodyPr>
            <a:lstStyle/>
            <a:p>
              <a:pPr>
                <a:spcBef>
                  <a:spcPct val="50000"/>
                </a:spcBef>
              </a:pPr>
              <a:r>
                <a:rPr lang="en-US" sz="1800"/>
                <a:t>stateVar: type = value</a:t>
              </a:r>
            </a:p>
          </p:txBody>
        </p:sp>
        <p:sp>
          <p:nvSpPr>
            <p:cNvPr id="33802" name="Text Box 10"/>
            <p:cNvSpPr txBox="1">
              <a:spLocks noChangeArrowheads="1"/>
            </p:cNvSpPr>
            <p:nvPr/>
          </p:nvSpPr>
          <p:spPr bwMode="auto">
            <a:xfrm>
              <a:off x="742" y="2811"/>
              <a:ext cx="1538" cy="962"/>
            </a:xfrm>
            <a:prstGeom prst="rect">
              <a:avLst/>
            </a:prstGeom>
            <a:noFill/>
            <a:ln w="9525">
              <a:noFill/>
              <a:miter lim="800000"/>
              <a:headEnd/>
              <a:tailEnd/>
            </a:ln>
            <a:effectLst/>
          </p:spPr>
          <p:txBody>
            <a:bodyPr>
              <a:spAutoFit/>
            </a:bodyPr>
            <a:lstStyle/>
            <a:p>
              <a:pPr>
                <a:spcBef>
                  <a:spcPct val="50000"/>
                </a:spcBef>
              </a:pPr>
              <a:r>
                <a:rPr lang="en-US" sz="1800"/>
                <a:t>Entry/entry action</a:t>
              </a:r>
            </a:p>
            <a:p>
              <a:pPr>
                <a:spcBef>
                  <a:spcPct val="50000"/>
                </a:spcBef>
              </a:pPr>
              <a:r>
                <a:rPr lang="en-US" sz="1800"/>
                <a:t>Do/activity</a:t>
              </a:r>
            </a:p>
            <a:p>
              <a:pPr>
                <a:spcBef>
                  <a:spcPct val="50000"/>
                </a:spcBef>
              </a:pPr>
              <a:r>
                <a:rPr lang="en-US" sz="1800"/>
                <a:t>Exit/exit action</a:t>
              </a:r>
            </a:p>
          </p:txBody>
        </p:sp>
      </p:grpSp>
      <p:sp>
        <p:nvSpPr>
          <p:cNvPr id="33805" name="Line 13"/>
          <p:cNvSpPr>
            <a:spLocks noChangeShapeType="1"/>
          </p:cNvSpPr>
          <p:nvPr/>
        </p:nvSpPr>
        <p:spPr bwMode="auto">
          <a:xfrm>
            <a:off x="3581400" y="3962400"/>
            <a:ext cx="4572000" cy="0"/>
          </a:xfrm>
          <a:prstGeom prst="line">
            <a:avLst/>
          </a:prstGeom>
          <a:noFill/>
          <a:ln w="19050">
            <a:solidFill>
              <a:schemeClr val="tx1"/>
            </a:solidFill>
            <a:miter lim="800000"/>
            <a:headEnd/>
            <a:tailEnd type="triangle" w="med" len="med"/>
          </a:ln>
          <a:effectLst/>
        </p:spPr>
        <p:txBody>
          <a:bodyPr wrap="none"/>
          <a:lstStyle/>
          <a:p>
            <a:endParaRPr lang="en-US"/>
          </a:p>
        </p:txBody>
      </p:sp>
      <p:sp>
        <p:nvSpPr>
          <p:cNvPr id="33806" name="Text Box 14"/>
          <p:cNvSpPr txBox="1">
            <a:spLocks noChangeArrowheads="1"/>
          </p:cNvSpPr>
          <p:nvPr/>
        </p:nvSpPr>
        <p:spPr bwMode="auto">
          <a:xfrm>
            <a:off x="3536950" y="3376613"/>
            <a:ext cx="4999038" cy="581025"/>
          </a:xfrm>
          <a:prstGeom prst="rect">
            <a:avLst/>
          </a:prstGeom>
          <a:noFill/>
          <a:ln w="9525">
            <a:noFill/>
            <a:miter lim="800000"/>
            <a:headEnd/>
            <a:tailEnd/>
          </a:ln>
          <a:effectLst/>
        </p:spPr>
        <p:txBody>
          <a:bodyPr wrap="none">
            <a:spAutoFit/>
          </a:bodyPr>
          <a:lstStyle/>
          <a:p>
            <a:r>
              <a:rPr lang="en-US" sz="1600"/>
              <a:t>Event(arguments)[guard condiiton]</a:t>
            </a:r>
          </a:p>
          <a:p>
            <a:r>
              <a:rPr lang="en-US" sz="1600"/>
              <a:t>/operation(arguments)^target.sendEvent(arguments)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4"/>
          <p:cNvSpPr>
            <a:spLocks noGrp="1"/>
          </p:cNvSpPr>
          <p:nvPr>
            <p:ph type="ftr" sz="quarter" idx="11"/>
          </p:nvPr>
        </p:nvSpPr>
        <p:spPr/>
        <p:txBody>
          <a:bodyPr/>
          <a:lstStyle/>
          <a:p>
            <a:r>
              <a:rPr lang="en-US"/>
              <a:t>Chapter 6-Object-oriented design</a:t>
            </a:r>
          </a:p>
        </p:txBody>
      </p:sp>
      <p:sp>
        <p:nvSpPr>
          <p:cNvPr id="14" name="Slide Number Placeholder 5"/>
          <p:cNvSpPr>
            <a:spLocks noGrp="1"/>
          </p:cNvSpPr>
          <p:nvPr>
            <p:ph type="sldNum" sz="quarter" idx="12"/>
          </p:nvPr>
        </p:nvSpPr>
        <p:spPr/>
        <p:txBody>
          <a:bodyPr/>
          <a:lstStyle/>
          <a:p>
            <a:fld id="{A9354DA8-3114-4C67-A085-B68166EFAE76}" type="slidenum">
              <a:rPr lang="en-US"/>
              <a:pPr/>
              <a:t>97</a:t>
            </a:fld>
            <a:endParaRPr lang="en-US"/>
          </a:p>
        </p:txBody>
      </p:sp>
      <p:sp>
        <p:nvSpPr>
          <p:cNvPr id="35842" name="Rectangle 2"/>
          <p:cNvSpPr>
            <a:spLocks noGrp="1" noChangeArrowheads="1"/>
          </p:cNvSpPr>
          <p:nvPr>
            <p:ph type="title"/>
          </p:nvPr>
        </p:nvSpPr>
        <p:spPr/>
        <p:txBody>
          <a:bodyPr/>
          <a:lstStyle/>
          <a:p>
            <a:r>
              <a:rPr lang="en-US" sz="3600"/>
              <a:t>Design Classes – Define State</a:t>
            </a:r>
          </a:p>
        </p:txBody>
      </p:sp>
      <p:sp>
        <p:nvSpPr>
          <p:cNvPr id="35843" name="Rectangle 3"/>
          <p:cNvSpPr>
            <a:spLocks noGrp="1" noChangeArrowheads="1"/>
          </p:cNvSpPr>
          <p:nvPr>
            <p:ph type="body" idx="1"/>
          </p:nvPr>
        </p:nvSpPr>
        <p:spPr>
          <a:xfrm>
            <a:off x="990600" y="4267200"/>
            <a:ext cx="7772400" cy="1639888"/>
          </a:xfrm>
        </p:spPr>
        <p:txBody>
          <a:bodyPr/>
          <a:lstStyle/>
          <a:p>
            <a:r>
              <a:rPr lang="en-US"/>
              <a:t>Statechart is to model a specific class (not all class need to have a statechart diagram)</a:t>
            </a:r>
          </a:p>
        </p:txBody>
      </p:sp>
      <p:sp>
        <p:nvSpPr>
          <p:cNvPr id="35844" name="Oval 4"/>
          <p:cNvSpPr>
            <a:spLocks noChangeArrowheads="1"/>
          </p:cNvSpPr>
          <p:nvPr/>
        </p:nvSpPr>
        <p:spPr bwMode="auto">
          <a:xfrm>
            <a:off x="1219200" y="2133600"/>
            <a:ext cx="304800" cy="304800"/>
          </a:xfrm>
          <a:prstGeom prst="ellipse">
            <a:avLst/>
          </a:prstGeom>
          <a:solidFill>
            <a:schemeClr val="tx1"/>
          </a:solidFill>
          <a:ln w="9525">
            <a:solidFill>
              <a:schemeClr val="tx1"/>
            </a:solidFill>
            <a:miter lim="800000"/>
            <a:headEnd/>
            <a:tailEnd/>
          </a:ln>
          <a:effectLst/>
        </p:spPr>
        <p:txBody>
          <a:bodyPr wrap="none" anchor="ctr"/>
          <a:lstStyle/>
          <a:p>
            <a:endParaRPr lang="en-US"/>
          </a:p>
        </p:txBody>
      </p:sp>
      <p:sp>
        <p:nvSpPr>
          <p:cNvPr id="35845" name="Line 5"/>
          <p:cNvSpPr>
            <a:spLocks noChangeShapeType="1"/>
          </p:cNvSpPr>
          <p:nvPr/>
        </p:nvSpPr>
        <p:spPr bwMode="auto">
          <a:xfrm>
            <a:off x="1524000" y="2286000"/>
            <a:ext cx="762000" cy="0"/>
          </a:xfrm>
          <a:prstGeom prst="line">
            <a:avLst/>
          </a:prstGeom>
          <a:noFill/>
          <a:ln w="9525">
            <a:solidFill>
              <a:schemeClr val="tx1"/>
            </a:solidFill>
            <a:miter lim="800000"/>
            <a:headEnd/>
            <a:tailEnd type="triangle" w="med" len="med"/>
          </a:ln>
          <a:effectLst/>
        </p:spPr>
        <p:txBody>
          <a:bodyPr wrap="none"/>
          <a:lstStyle/>
          <a:p>
            <a:endParaRPr lang="en-US"/>
          </a:p>
        </p:txBody>
      </p:sp>
      <p:sp>
        <p:nvSpPr>
          <p:cNvPr id="35846" name="AutoShape 6"/>
          <p:cNvSpPr>
            <a:spLocks noChangeArrowheads="1"/>
          </p:cNvSpPr>
          <p:nvPr/>
        </p:nvSpPr>
        <p:spPr bwMode="auto">
          <a:xfrm>
            <a:off x="2286000" y="1981200"/>
            <a:ext cx="1524000" cy="685800"/>
          </a:xfrm>
          <a:prstGeom prst="roundRect">
            <a:avLst>
              <a:gd name="adj" fmla="val 16667"/>
            </a:avLst>
          </a:prstGeom>
          <a:noFill/>
          <a:ln w="9525">
            <a:solidFill>
              <a:schemeClr val="tx1"/>
            </a:solidFill>
            <a:miter lim="800000"/>
            <a:headEnd/>
            <a:tailEnd/>
          </a:ln>
          <a:effectLst/>
        </p:spPr>
        <p:txBody>
          <a:bodyPr wrap="none" anchor="ctr"/>
          <a:lstStyle/>
          <a:p>
            <a:endParaRPr lang="en-US"/>
          </a:p>
        </p:txBody>
      </p:sp>
      <p:sp>
        <p:nvSpPr>
          <p:cNvPr id="35847" name="AutoShape 7"/>
          <p:cNvSpPr>
            <a:spLocks noChangeArrowheads="1"/>
          </p:cNvSpPr>
          <p:nvPr/>
        </p:nvSpPr>
        <p:spPr bwMode="auto">
          <a:xfrm>
            <a:off x="1676400" y="3048000"/>
            <a:ext cx="1524000" cy="685800"/>
          </a:xfrm>
          <a:prstGeom prst="roundRect">
            <a:avLst>
              <a:gd name="adj" fmla="val 16667"/>
            </a:avLst>
          </a:prstGeom>
          <a:noFill/>
          <a:ln w="9525">
            <a:solidFill>
              <a:schemeClr val="tx1"/>
            </a:solidFill>
            <a:miter lim="800000"/>
            <a:headEnd/>
            <a:tailEnd/>
          </a:ln>
          <a:effectLst/>
        </p:spPr>
        <p:txBody>
          <a:bodyPr wrap="none" anchor="ctr"/>
          <a:lstStyle/>
          <a:p>
            <a:endParaRPr lang="en-US"/>
          </a:p>
        </p:txBody>
      </p:sp>
      <p:sp>
        <p:nvSpPr>
          <p:cNvPr id="35848" name="Line 8"/>
          <p:cNvSpPr>
            <a:spLocks noChangeShapeType="1"/>
          </p:cNvSpPr>
          <p:nvPr/>
        </p:nvSpPr>
        <p:spPr bwMode="auto">
          <a:xfrm>
            <a:off x="3200400" y="3352800"/>
            <a:ext cx="838200" cy="0"/>
          </a:xfrm>
          <a:prstGeom prst="line">
            <a:avLst/>
          </a:prstGeom>
          <a:noFill/>
          <a:ln w="9525">
            <a:solidFill>
              <a:schemeClr val="tx1"/>
            </a:solidFill>
            <a:miter lim="800000"/>
            <a:headEnd/>
            <a:tailEnd type="triangle" w="med" len="med"/>
          </a:ln>
          <a:effectLst/>
        </p:spPr>
        <p:txBody>
          <a:bodyPr wrap="none"/>
          <a:lstStyle/>
          <a:p>
            <a:endParaRPr lang="en-US"/>
          </a:p>
        </p:txBody>
      </p:sp>
      <p:sp>
        <p:nvSpPr>
          <p:cNvPr id="35849" name="Oval 9"/>
          <p:cNvSpPr>
            <a:spLocks noChangeArrowheads="1"/>
          </p:cNvSpPr>
          <p:nvPr/>
        </p:nvSpPr>
        <p:spPr bwMode="auto">
          <a:xfrm>
            <a:off x="4114800" y="3200400"/>
            <a:ext cx="304800" cy="304800"/>
          </a:xfrm>
          <a:prstGeom prst="ellipse">
            <a:avLst/>
          </a:prstGeom>
          <a:solidFill>
            <a:schemeClr val="tx1"/>
          </a:solidFill>
          <a:ln w="9525">
            <a:solidFill>
              <a:schemeClr val="tx1"/>
            </a:solidFill>
            <a:miter lim="800000"/>
            <a:headEnd/>
            <a:tailEnd/>
          </a:ln>
          <a:effectLst/>
        </p:spPr>
        <p:txBody>
          <a:bodyPr wrap="none" anchor="ctr"/>
          <a:lstStyle/>
          <a:p>
            <a:endParaRPr lang="en-US"/>
          </a:p>
        </p:txBody>
      </p:sp>
      <p:sp>
        <p:nvSpPr>
          <p:cNvPr id="35850" name="Oval 10"/>
          <p:cNvSpPr>
            <a:spLocks noChangeArrowheads="1"/>
          </p:cNvSpPr>
          <p:nvPr/>
        </p:nvSpPr>
        <p:spPr bwMode="auto">
          <a:xfrm>
            <a:off x="4038600" y="3124200"/>
            <a:ext cx="457200" cy="457200"/>
          </a:xfrm>
          <a:prstGeom prst="ellipse">
            <a:avLst/>
          </a:prstGeom>
          <a:noFill/>
          <a:ln w="9525">
            <a:solidFill>
              <a:schemeClr val="tx1"/>
            </a:solidFill>
            <a:miter lim="800000"/>
            <a:headEnd/>
            <a:tailEnd/>
          </a:ln>
          <a:effectLst/>
        </p:spPr>
        <p:txBody>
          <a:bodyPr wrap="none" anchor="ctr"/>
          <a:lstStyle/>
          <a:p>
            <a:endParaRPr lang="en-US"/>
          </a:p>
        </p:txBody>
      </p:sp>
      <p:sp>
        <p:nvSpPr>
          <p:cNvPr id="35851" name="Text Box 11"/>
          <p:cNvSpPr txBox="1">
            <a:spLocks noChangeArrowheads="1"/>
          </p:cNvSpPr>
          <p:nvPr/>
        </p:nvSpPr>
        <p:spPr bwMode="auto">
          <a:xfrm>
            <a:off x="4632325" y="1938338"/>
            <a:ext cx="1695450" cy="457200"/>
          </a:xfrm>
          <a:prstGeom prst="rect">
            <a:avLst/>
          </a:prstGeom>
          <a:noFill/>
          <a:ln w="9525">
            <a:noFill/>
            <a:miter lim="800000"/>
            <a:headEnd/>
            <a:tailEnd/>
          </a:ln>
          <a:effectLst/>
        </p:spPr>
        <p:txBody>
          <a:bodyPr wrap="none">
            <a:spAutoFit/>
          </a:bodyPr>
          <a:lstStyle/>
          <a:p>
            <a:r>
              <a:rPr lang="en-US"/>
              <a:t>Initial state</a:t>
            </a:r>
          </a:p>
        </p:txBody>
      </p:sp>
      <p:sp>
        <p:nvSpPr>
          <p:cNvPr id="35852" name="Text Box 12"/>
          <p:cNvSpPr txBox="1">
            <a:spLocks noChangeArrowheads="1"/>
          </p:cNvSpPr>
          <p:nvPr/>
        </p:nvSpPr>
        <p:spPr bwMode="auto">
          <a:xfrm>
            <a:off x="4800600" y="3048000"/>
            <a:ext cx="1568450" cy="457200"/>
          </a:xfrm>
          <a:prstGeom prst="rect">
            <a:avLst/>
          </a:prstGeom>
          <a:noFill/>
          <a:ln w="9525">
            <a:noFill/>
            <a:miter lim="800000"/>
            <a:headEnd/>
            <a:tailEnd/>
          </a:ln>
          <a:effectLst/>
        </p:spPr>
        <p:txBody>
          <a:bodyPr wrap="none">
            <a:spAutoFit/>
          </a:bodyPr>
          <a:lstStyle/>
          <a:p>
            <a:r>
              <a:rPr lang="en-US"/>
              <a:t>Final state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Example: Weather station state diagram</a:t>
            </a:r>
            <a:r>
              <a:rPr lang="en-GB" sz="3600" dirty="0"/>
              <a:t> </a:t>
            </a:r>
            <a:endParaRPr lang="en-US" sz="3600" dirty="0"/>
          </a:p>
        </p:txBody>
      </p:sp>
      <p:pic>
        <p:nvPicPr>
          <p:cNvPr id="4" name="Content Placeholder 3" descr="7.8 WS-StateModel.eps"/>
          <p:cNvPicPr>
            <a:picLocks noGrp="1" noChangeAspect="1"/>
          </p:cNvPicPr>
          <p:nvPr>
            <p:ph idx="1"/>
          </p:nvPr>
        </p:nvPicPr>
        <p:blipFill>
          <a:blip r:embed="rId2" cstate="print"/>
          <a:srcRect l="-4549" r="-4549"/>
          <a:stretch>
            <a:fillRect/>
          </a:stretch>
        </p:blipFill>
        <p:spPr/>
      </p:pic>
      <p:sp>
        <p:nvSpPr>
          <p:cNvPr id="5" name="Slide Number Placeholder 4"/>
          <p:cNvSpPr>
            <a:spLocks noGrp="1"/>
          </p:cNvSpPr>
          <p:nvPr>
            <p:ph type="sldNum" sz="quarter" idx="12"/>
          </p:nvPr>
        </p:nvSpPr>
        <p:spPr/>
        <p:txBody>
          <a:bodyPr/>
          <a:lstStyle/>
          <a:p>
            <a:fld id="{EC83099C-5FA5-B04A-B819-64718E2A253A}" type="slidenum">
              <a:rPr lang="en-US" smtClean="0"/>
              <a:pPr/>
              <a:t>98</a:t>
            </a:fld>
            <a:endParaRPr lang="en-US"/>
          </a:p>
        </p:txBody>
      </p:sp>
      <p:sp>
        <p:nvSpPr>
          <p:cNvPr id="6" name="Footer Placeholder 5"/>
          <p:cNvSpPr>
            <a:spLocks noGrp="1"/>
          </p:cNvSpPr>
          <p:nvPr>
            <p:ph type="ftr" sz="quarter" idx="11"/>
          </p:nvPr>
        </p:nvSpPr>
        <p:spPr/>
        <p:txBody>
          <a:bodyPr/>
          <a:lstStyle/>
          <a:p>
            <a:r>
              <a:rPr lang="en-US"/>
              <a:t>Chapter 6-Object-oriented design</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 </a:t>
            </a:r>
            <a:r>
              <a:rPr lang="en-US" dirty="0" err="1"/>
              <a:t>DigitalPet</a:t>
            </a:r>
            <a:endParaRPr lang="en-US" dirty="0"/>
          </a:p>
        </p:txBody>
      </p:sp>
      <p:sp>
        <p:nvSpPr>
          <p:cNvPr id="4" name="Footer Placeholder 3"/>
          <p:cNvSpPr>
            <a:spLocks noGrp="1"/>
          </p:cNvSpPr>
          <p:nvPr>
            <p:ph type="ftr" sz="quarter" idx="11"/>
          </p:nvPr>
        </p:nvSpPr>
        <p:spPr/>
        <p:txBody>
          <a:bodyPr/>
          <a:lstStyle/>
          <a:p>
            <a:r>
              <a:rPr lang="en-US" dirty="0"/>
              <a:t>Chapter 6-Object-oriented design</a:t>
            </a:r>
          </a:p>
        </p:txBody>
      </p:sp>
      <p:sp>
        <p:nvSpPr>
          <p:cNvPr id="5" name="Slide Number Placeholder 4"/>
          <p:cNvSpPr>
            <a:spLocks noGrp="1"/>
          </p:cNvSpPr>
          <p:nvPr>
            <p:ph type="sldNum" sz="quarter" idx="12"/>
          </p:nvPr>
        </p:nvSpPr>
        <p:spPr/>
        <p:txBody>
          <a:bodyPr/>
          <a:lstStyle/>
          <a:p>
            <a:fld id="{20317CA6-3557-4F90-84AF-53D5354FC7C6}" type="slidenum">
              <a:rPr lang="en-US" smtClean="0"/>
              <a:pPr/>
              <a:t>99</a:t>
            </a:fld>
            <a:endParaRPr lang="en-US"/>
          </a:p>
        </p:txBody>
      </p:sp>
      <p:sp>
        <p:nvSpPr>
          <p:cNvPr id="6" name="Content Placeholder 5"/>
          <p:cNvSpPr>
            <a:spLocks noGrp="1"/>
          </p:cNvSpPr>
          <p:nvPr>
            <p:ph idx="1"/>
          </p:nvPr>
        </p:nvSpPr>
        <p:spPr>
          <a:xfrm>
            <a:off x="304800" y="2017713"/>
            <a:ext cx="8650288" cy="4114800"/>
          </a:xfrm>
        </p:spPr>
        <p:txBody>
          <a:bodyPr/>
          <a:lstStyle/>
          <a:p>
            <a:r>
              <a:rPr lang="en-US" sz="2000" dirty="0"/>
              <a:t>Identify the states and transitions of the digital pet and draw a state diagram. </a:t>
            </a:r>
          </a:p>
          <a:p>
            <a:pPr algn="just">
              <a:buNone/>
            </a:pPr>
            <a:r>
              <a:rPr lang="en-US" sz="2000" dirty="0"/>
              <a:t>	</a:t>
            </a:r>
            <a:r>
              <a:rPr lang="en-US" sz="2000" dirty="0">
                <a:solidFill>
                  <a:srgbClr val="0070C0"/>
                </a:solidFill>
              </a:rPr>
              <a:t>You’re creating a digital pet program. What happens to the pet when he receives different stimuli is determined by the state he’s in, so you decide to model the digital pet with a state diagram. The behavior of the digital pet program is as follows:</a:t>
            </a:r>
          </a:p>
          <a:p>
            <a:r>
              <a:rPr lang="en-US" sz="2000" dirty="0">
                <a:solidFill>
                  <a:srgbClr val="0070C0"/>
                </a:solidFill>
              </a:rPr>
              <a:t>When the pet is turned on, it starts out happy</a:t>
            </a:r>
          </a:p>
          <a:p>
            <a:r>
              <a:rPr lang="en-US" sz="2000" dirty="0">
                <a:solidFill>
                  <a:srgbClr val="0070C0"/>
                </a:solidFill>
              </a:rPr>
              <a:t>If the pet is happy and receives punishment, then he becomes sad</a:t>
            </a:r>
          </a:p>
          <a:p>
            <a:r>
              <a:rPr lang="en-US" sz="2000" dirty="0">
                <a:solidFill>
                  <a:srgbClr val="0070C0"/>
                </a:solidFill>
              </a:rPr>
              <a:t>If the pet is sad and receives praise, it becomes happy</a:t>
            </a:r>
          </a:p>
          <a:p>
            <a:r>
              <a:rPr lang="en-US" sz="2000" dirty="0">
                <a:solidFill>
                  <a:srgbClr val="0070C0"/>
                </a:solidFill>
              </a:rPr>
              <a:t>If the pet is sad and receives punishment, it is heart-broken</a:t>
            </a:r>
          </a:p>
          <a:p>
            <a:pPr>
              <a:buNone/>
            </a:pPr>
            <a:endParaRPr lang="en-US" sz="2000" dirty="0"/>
          </a:p>
          <a:p>
            <a:pPr algn="r">
              <a:buNone/>
            </a:pPr>
            <a:r>
              <a:rPr lang="en-US" sz="2000" dirty="0"/>
              <a:t>[</a:t>
            </a:r>
            <a:r>
              <a:rPr lang="en-US" sz="1800" i="1" dirty="0"/>
              <a:t>Copyright: Russ Miles</a:t>
            </a:r>
            <a:r>
              <a:rPr lang="en-US" sz="2000" dirty="0"/>
              <a:t>]</a:t>
            </a:r>
          </a:p>
          <a:p>
            <a:pPr>
              <a:buNone/>
            </a:pPr>
            <a:endParaRPr lang="en-US" sz="2000" dirty="0"/>
          </a:p>
          <a:p>
            <a:endParaRPr lang="en-US" sz="2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066800" y="914400"/>
            <a:ext cx="7178634" cy="687263"/>
          </a:xfrm>
          <a:noFill/>
          <a:ln/>
        </p:spPr>
        <p:txBody>
          <a:bodyPr lIns="90840" tIns="44623" rIns="90840" bIns="44623"/>
          <a:lstStyle/>
          <a:p>
            <a:r>
              <a:rPr lang="en-US" dirty="0"/>
              <a:t>Activity Diagram </a:t>
            </a:r>
          </a:p>
        </p:txBody>
      </p:sp>
      <p:sp>
        <p:nvSpPr>
          <p:cNvPr id="41987" name="Rectangle 3"/>
          <p:cNvSpPr>
            <a:spLocks noGrp="1" noChangeArrowheads="1"/>
          </p:cNvSpPr>
          <p:nvPr>
            <p:ph sz="quarter" idx="1"/>
          </p:nvPr>
        </p:nvSpPr>
        <p:spPr>
          <a:xfrm>
            <a:off x="457200" y="1905000"/>
            <a:ext cx="8229600" cy="4495800"/>
          </a:xfrm>
          <a:noFill/>
          <a:ln/>
        </p:spPr>
        <p:txBody>
          <a:bodyPr lIns="90840" tIns="44623" rIns="90840" bIns="44623">
            <a:normAutofit/>
          </a:bodyPr>
          <a:lstStyle/>
          <a:p>
            <a:r>
              <a:rPr lang="en-US" sz="2000" dirty="0"/>
              <a:t>Show the conditional logic for the sequence of system activities needed to accomplish a business process.</a:t>
            </a:r>
          </a:p>
          <a:p>
            <a:r>
              <a:rPr lang="en-US" sz="2000" dirty="0"/>
              <a:t>Clearly show parallel and alternative behaviors.</a:t>
            </a:r>
          </a:p>
          <a:p>
            <a:r>
              <a:rPr lang="en-US" sz="2000" dirty="0"/>
              <a:t>Can be used to show the logic of a use case.</a:t>
            </a:r>
          </a:p>
          <a:p>
            <a:r>
              <a:rPr lang="en-US" sz="2000" dirty="0"/>
              <a:t>Use Activity Diagram to:</a:t>
            </a:r>
          </a:p>
          <a:p>
            <a:pPr lvl="1"/>
            <a:r>
              <a:rPr lang="en-US" sz="2000" dirty="0"/>
              <a:t>Depict the flow of control from activity to activity.</a:t>
            </a:r>
          </a:p>
          <a:p>
            <a:pPr lvl="1"/>
            <a:r>
              <a:rPr lang="en-US" sz="2000" dirty="0"/>
              <a:t>Help in use case analysis to understand what actions need to take place.</a:t>
            </a:r>
          </a:p>
          <a:p>
            <a:pPr lvl="1"/>
            <a:r>
              <a:rPr lang="en-US" sz="2000" dirty="0"/>
              <a:t>Help in identifying extensions in a use case.</a:t>
            </a:r>
          </a:p>
          <a:p>
            <a:pPr lvl="1"/>
            <a:r>
              <a:rPr lang="en-US" sz="2000" dirty="0"/>
              <a:t>Model work flow and business processes.</a:t>
            </a:r>
          </a:p>
          <a:p>
            <a:pPr lvl="1"/>
            <a:r>
              <a:rPr lang="en-US" sz="2000" dirty="0"/>
              <a:t>Model the sequential and concurrent steps in a computation process.</a:t>
            </a:r>
          </a:p>
          <a:p>
            <a:endParaRPr lang="en-US" sz="2000" dirty="0"/>
          </a:p>
          <a:p>
            <a:endParaRPr lang="en-US" sz="2000" dirty="0"/>
          </a:p>
          <a:p>
            <a:endParaRPr lang="en-US" sz="2000" dirty="0"/>
          </a:p>
          <a:p>
            <a:endParaRPr lang="en-US" sz="2000" dirty="0"/>
          </a:p>
          <a:p>
            <a:pPr>
              <a:buNone/>
            </a:pPr>
            <a:endParaRPr lang="en-US" sz="2000" dirty="0"/>
          </a:p>
        </p:txBody>
      </p:sp>
      <p:sp>
        <p:nvSpPr>
          <p:cNvPr id="4" name="Slide Number Placeholder 3"/>
          <p:cNvSpPr>
            <a:spLocks noGrp="1"/>
          </p:cNvSpPr>
          <p:nvPr>
            <p:ph type="sldNum" sz="quarter" idx="12"/>
          </p:nvPr>
        </p:nvSpPr>
        <p:spPr>
          <a:xfrm>
            <a:off x="612648" y="6356350"/>
            <a:ext cx="1981200" cy="365760"/>
          </a:xfrm>
        </p:spPr>
        <p:txBody>
          <a:bodyPr/>
          <a:lstStyle/>
          <a:p>
            <a:fld id="{EC83099C-5FA5-B04A-B819-64718E2A253A}" type="slidenum">
              <a:rPr lang="en-US" smtClean="0"/>
              <a:pPr/>
              <a:t>100</a:t>
            </a:fld>
            <a:endParaRPr lang="en-US" dirty="0"/>
          </a:p>
        </p:txBody>
      </p:sp>
      <p:sp>
        <p:nvSpPr>
          <p:cNvPr id="5" name="Footer Placeholder 4"/>
          <p:cNvSpPr>
            <a:spLocks noGrp="1"/>
          </p:cNvSpPr>
          <p:nvPr>
            <p:ph type="ftr" sz="quarter" idx="11"/>
          </p:nvPr>
        </p:nvSpPr>
        <p:spPr>
          <a:xfrm>
            <a:off x="2898648" y="6356350"/>
            <a:ext cx="3505200" cy="365760"/>
          </a:xfrm>
        </p:spPr>
        <p:txBody>
          <a:bodyPr/>
          <a:lstStyle/>
          <a:p>
            <a:r>
              <a:rPr lang="en-US" dirty="0"/>
              <a:t>Chapter 6 Object-Oriented Design</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914400" y="609600"/>
            <a:ext cx="7178634" cy="687263"/>
          </a:xfrm>
          <a:noFill/>
          <a:ln/>
        </p:spPr>
        <p:txBody>
          <a:bodyPr lIns="90840" tIns="44623" rIns="90840" bIns="44623"/>
          <a:lstStyle/>
          <a:p>
            <a:r>
              <a:rPr lang="en-US" dirty="0"/>
              <a:t>Activity Diagram </a:t>
            </a:r>
          </a:p>
        </p:txBody>
      </p:sp>
      <p:grpSp>
        <p:nvGrpSpPr>
          <p:cNvPr id="2" name="Group 11"/>
          <p:cNvGrpSpPr>
            <a:grpSpLocks noGrp="1"/>
          </p:cNvGrpSpPr>
          <p:nvPr/>
        </p:nvGrpSpPr>
        <p:grpSpPr bwMode="auto">
          <a:xfrm>
            <a:off x="1295400" y="1295400"/>
            <a:ext cx="7010400" cy="5029200"/>
            <a:chOff x="1066800" y="609600"/>
            <a:chExt cx="4648200" cy="5476875"/>
          </a:xfrm>
        </p:grpSpPr>
        <p:pic>
          <p:nvPicPr>
            <p:cNvPr id="60419" name="Picture 9" descr="Noname.gif"/>
            <p:cNvPicPr>
              <a:picLocks noChangeAspect="1"/>
            </p:cNvPicPr>
            <p:nvPr/>
          </p:nvPicPr>
          <p:blipFill>
            <a:blip r:embed="rId3" cstate="print"/>
            <a:srcRect/>
            <a:stretch>
              <a:fillRect/>
            </a:stretch>
          </p:blipFill>
          <p:spPr bwMode="auto">
            <a:xfrm>
              <a:off x="1143000" y="609600"/>
              <a:ext cx="4572000" cy="5476875"/>
            </a:xfrm>
            <a:prstGeom prst="rect">
              <a:avLst/>
            </a:prstGeom>
            <a:noFill/>
            <a:ln w="9525">
              <a:noFill/>
              <a:miter lim="800000"/>
              <a:headEnd/>
              <a:tailEnd/>
            </a:ln>
          </p:spPr>
        </p:pic>
        <p:sp>
          <p:nvSpPr>
            <p:cNvPr id="11" name="Rectangle 10"/>
            <p:cNvSpPr/>
            <p:nvPr/>
          </p:nvSpPr>
          <p:spPr bwMode="auto">
            <a:xfrm>
              <a:off x="1066800" y="5715000"/>
              <a:ext cx="609600" cy="228600"/>
            </a:xfrm>
            <a:prstGeom prst="rect">
              <a:avLst/>
            </a:prstGeom>
            <a:solidFill>
              <a:schemeClr val="accent3"/>
            </a:solidFill>
            <a:ln w="9525" cap="flat" cmpd="sng" algn="ctr">
              <a:noFill/>
              <a:prstDash val="solid"/>
              <a:round/>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rial" charset="0"/>
                <a:ea typeface="+mn-ea"/>
                <a:cs typeface="Arial" charset="0"/>
              </a:endParaRPr>
            </a:p>
          </p:txBody>
        </p:sp>
      </p:grpSp>
      <p:sp>
        <p:nvSpPr>
          <p:cNvPr id="60421" name="Rectangle 12"/>
          <p:cNvSpPr>
            <a:spLocks noChangeArrowheads="1"/>
          </p:cNvSpPr>
          <p:nvPr/>
        </p:nvSpPr>
        <p:spPr bwMode="auto">
          <a:xfrm>
            <a:off x="304800" y="5334000"/>
            <a:ext cx="2362200" cy="9233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Activity diagram for a customer order</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process</a:t>
            </a:r>
          </a:p>
        </p:txBody>
      </p:sp>
      <p:sp>
        <p:nvSpPr>
          <p:cNvPr id="8" name="Slide Number Placeholder 3"/>
          <p:cNvSpPr>
            <a:spLocks noGrp="1"/>
          </p:cNvSpPr>
          <p:nvPr>
            <p:ph type="sldNum" sz="quarter" idx="12"/>
          </p:nvPr>
        </p:nvSpPr>
        <p:spPr>
          <a:xfrm>
            <a:off x="612648" y="6356350"/>
            <a:ext cx="1981200" cy="365760"/>
          </a:xfrm>
        </p:spPr>
        <p:txBody>
          <a:bodyPr/>
          <a:lstStyle/>
          <a:p>
            <a:pPr algn="l"/>
            <a:fld id="{EC83099C-5FA5-B04A-B819-64718E2A253A}" type="slidenum">
              <a:rPr lang="en-US" smtClean="0"/>
              <a:pPr algn="l"/>
              <a:t>101</a:t>
            </a:fld>
            <a:endParaRPr lang="en-US" dirty="0"/>
          </a:p>
        </p:txBody>
      </p:sp>
      <p:sp>
        <p:nvSpPr>
          <p:cNvPr id="9" name="Footer Placeholder 4"/>
          <p:cNvSpPr>
            <a:spLocks noGrp="1"/>
          </p:cNvSpPr>
          <p:nvPr>
            <p:ph type="ftr" sz="quarter" idx="11"/>
          </p:nvPr>
        </p:nvSpPr>
        <p:spPr>
          <a:xfrm>
            <a:off x="2898648" y="6356350"/>
            <a:ext cx="3505200" cy="365760"/>
          </a:xfrm>
        </p:spPr>
        <p:txBody>
          <a:bodyPr/>
          <a:lstStyle/>
          <a:p>
            <a:r>
              <a:rPr lang="en-US" dirty="0"/>
              <a:t>Chapter 6 Object-Oriented Design</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066800" y="990600"/>
            <a:ext cx="7178634" cy="687263"/>
          </a:xfrm>
          <a:noFill/>
          <a:ln/>
        </p:spPr>
        <p:txBody>
          <a:bodyPr lIns="90840" tIns="44623" rIns="90840" bIns="44623"/>
          <a:lstStyle/>
          <a:p>
            <a:r>
              <a:rPr lang="en-US" dirty="0"/>
              <a:t>Activity Diagram </a:t>
            </a:r>
          </a:p>
        </p:txBody>
      </p:sp>
      <p:sp>
        <p:nvSpPr>
          <p:cNvPr id="41987" name="Rectangle 3"/>
          <p:cNvSpPr>
            <a:spLocks noGrp="1" noChangeArrowheads="1"/>
          </p:cNvSpPr>
          <p:nvPr>
            <p:ph sz="quarter" idx="1"/>
          </p:nvPr>
        </p:nvSpPr>
        <p:spPr>
          <a:xfrm>
            <a:off x="609600" y="2057400"/>
            <a:ext cx="8229600" cy="4343400"/>
          </a:xfrm>
          <a:noFill/>
          <a:ln/>
        </p:spPr>
        <p:txBody>
          <a:bodyPr lIns="90840" tIns="44623" rIns="90840" bIns="44623">
            <a:normAutofit fontScale="70000" lnSpcReduction="20000"/>
          </a:bodyPr>
          <a:lstStyle/>
          <a:p>
            <a:r>
              <a:rPr lang="en-US" dirty="0"/>
              <a:t>Elements of Activity Diagram:</a:t>
            </a:r>
          </a:p>
          <a:p>
            <a:r>
              <a:rPr lang="en-US" b="1" i="1" dirty="0"/>
              <a:t>Activity</a:t>
            </a:r>
            <a:r>
              <a:rPr lang="en-US" dirty="0"/>
              <a:t>: a behavior that an object carries out while in a particular state</a:t>
            </a:r>
          </a:p>
          <a:p>
            <a:r>
              <a:rPr lang="en-US" b="1" i="1" dirty="0"/>
              <a:t>Transition</a:t>
            </a:r>
            <a:r>
              <a:rPr lang="en-US" dirty="0"/>
              <a:t>: a movement from one activity or state to another</a:t>
            </a:r>
          </a:p>
          <a:p>
            <a:r>
              <a:rPr lang="en-US" b="1" i="1" dirty="0"/>
              <a:t>Branch</a:t>
            </a:r>
            <a:r>
              <a:rPr lang="en-US" dirty="0"/>
              <a:t>: a diamond symbol containing a condition whose results provide transitions to different paths of activities</a:t>
            </a:r>
          </a:p>
          <a:p>
            <a:r>
              <a:rPr lang="en-US" b="1" i="1" dirty="0"/>
              <a:t>Synchronization bar</a:t>
            </a:r>
            <a:r>
              <a:rPr lang="en-US" dirty="0"/>
              <a:t>: horizontal or vertical bars denoting parallel or concurrent paths of activities</a:t>
            </a:r>
          </a:p>
          <a:p>
            <a:r>
              <a:rPr lang="en-US" b="1" dirty="0"/>
              <a:t>Fork</a:t>
            </a:r>
            <a:r>
              <a:rPr lang="en-US" dirty="0"/>
              <a:t>: the beginning of parallel activities</a:t>
            </a:r>
          </a:p>
          <a:p>
            <a:r>
              <a:rPr lang="en-US" b="1" dirty="0"/>
              <a:t>Join</a:t>
            </a:r>
            <a:r>
              <a:rPr lang="en-US" dirty="0"/>
              <a:t>: the end of parallel activities</a:t>
            </a:r>
          </a:p>
          <a:p>
            <a:r>
              <a:rPr lang="en-US" b="1" i="1" dirty="0" err="1"/>
              <a:t>Swimlanes</a:t>
            </a:r>
            <a:r>
              <a:rPr lang="en-US" dirty="0"/>
              <a:t>: columns representing different organizational units of the system</a:t>
            </a:r>
          </a:p>
        </p:txBody>
      </p:sp>
      <p:sp>
        <p:nvSpPr>
          <p:cNvPr id="4" name="Slide Number Placeholder 3"/>
          <p:cNvSpPr>
            <a:spLocks noGrp="1"/>
          </p:cNvSpPr>
          <p:nvPr>
            <p:ph type="sldNum" sz="quarter" idx="12"/>
          </p:nvPr>
        </p:nvSpPr>
        <p:spPr>
          <a:xfrm>
            <a:off x="612648" y="6356350"/>
            <a:ext cx="1981200" cy="365760"/>
          </a:xfrm>
        </p:spPr>
        <p:txBody>
          <a:bodyPr/>
          <a:lstStyle/>
          <a:p>
            <a:fld id="{EC83099C-5FA5-B04A-B819-64718E2A253A}" type="slidenum">
              <a:rPr lang="en-US" smtClean="0"/>
              <a:pPr/>
              <a:t>102</a:t>
            </a:fld>
            <a:endParaRPr lang="en-US" dirty="0"/>
          </a:p>
        </p:txBody>
      </p:sp>
      <p:sp>
        <p:nvSpPr>
          <p:cNvPr id="5" name="Footer Placeholder 4"/>
          <p:cNvSpPr>
            <a:spLocks noGrp="1"/>
          </p:cNvSpPr>
          <p:nvPr>
            <p:ph type="ftr" sz="quarter" idx="11"/>
          </p:nvPr>
        </p:nvSpPr>
        <p:spPr>
          <a:xfrm>
            <a:off x="2898648" y="6356350"/>
            <a:ext cx="3505200" cy="365760"/>
          </a:xfrm>
        </p:spPr>
        <p:txBody>
          <a:bodyPr/>
          <a:lstStyle/>
          <a:p>
            <a:r>
              <a:rPr lang="en-US" dirty="0"/>
              <a:t>Chapter 6 Object-Oriented Design</a:t>
            </a: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In-Class Exercise:</a:t>
            </a:r>
            <a:endParaRPr lang="en-US" dirty="0"/>
          </a:p>
        </p:txBody>
      </p:sp>
      <p:sp>
        <p:nvSpPr>
          <p:cNvPr id="3" name="Content Placeholder 2"/>
          <p:cNvSpPr>
            <a:spLocks noGrp="1"/>
          </p:cNvSpPr>
          <p:nvPr>
            <p:ph idx="1"/>
          </p:nvPr>
        </p:nvSpPr>
        <p:spPr>
          <a:xfrm>
            <a:off x="609600" y="2895600"/>
            <a:ext cx="7620000" cy="3163887"/>
          </a:xfrm>
          <a:ln>
            <a:solidFill>
              <a:schemeClr val="tx1"/>
            </a:solidFill>
          </a:ln>
        </p:spPr>
        <p:txBody>
          <a:bodyPr/>
          <a:lstStyle/>
          <a:p>
            <a:pPr algn="just">
              <a:buNone/>
            </a:pPr>
            <a:r>
              <a:rPr lang="en-US" sz="2000" dirty="0">
                <a:solidFill>
                  <a:srgbClr val="002060"/>
                </a:solidFill>
              </a:rPr>
              <a:t>	When customer requests a room, the hotel employee looks for room availability, then he insert customer’s data and verifies if the provided credit card number has enough credit to pay the room: in this case the booking is confirmed and we wait customer arrival.</a:t>
            </a:r>
          </a:p>
          <a:p>
            <a:pPr algn="just">
              <a:buNone/>
            </a:pPr>
            <a:r>
              <a:rPr lang="en-US" sz="2000" dirty="0">
                <a:solidFill>
                  <a:srgbClr val="002060"/>
                </a:solidFill>
              </a:rPr>
              <a:t>	The Hotel information system allows customer to modify or cancel his/her reservation. If customer arrives he uses the room and then he pays, in case of no-show a penalty is accounted on his credit card and the booking is canceled.</a:t>
            </a:r>
          </a:p>
        </p:txBody>
      </p:sp>
      <p:sp>
        <p:nvSpPr>
          <p:cNvPr id="4" name="Footer Placeholder 3"/>
          <p:cNvSpPr>
            <a:spLocks noGrp="1"/>
          </p:cNvSpPr>
          <p:nvPr>
            <p:ph type="ftr" sz="quarter" idx="11"/>
          </p:nvPr>
        </p:nvSpPr>
        <p:spPr/>
        <p:txBody>
          <a:bodyPr/>
          <a:lstStyle/>
          <a:p>
            <a:r>
              <a:rPr lang="en-US"/>
              <a:t>Chapter 6-Object-oriented design</a:t>
            </a:r>
          </a:p>
        </p:txBody>
      </p:sp>
      <p:sp>
        <p:nvSpPr>
          <p:cNvPr id="5" name="Slide Number Placeholder 4"/>
          <p:cNvSpPr>
            <a:spLocks noGrp="1"/>
          </p:cNvSpPr>
          <p:nvPr>
            <p:ph type="sldNum" sz="quarter" idx="12"/>
          </p:nvPr>
        </p:nvSpPr>
        <p:spPr/>
        <p:txBody>
          <a:bodyPr/>
          <a:lstStyle/>
          <a:p>
            <a:fld id="{20317CA6-3557-4F90-84AF-53D5354FC7C6}" type="slidenum">
              <a:rPr lang="en-US" smtClean="0"/>
              <a:pPr/>
              <a:t>103</a:t>
            </a:fld>
            <a:endParaRPr lang="en-US"/>
          </a:p>
        </p:txBody>
      </p:sp>
      <p:sp>
        <p:nvSpPr>
          <p:cNvPr id="6" name="Rectangle 5"/>
          <p:cNvSpPr/>
          <p:nvPr/>
        </p:nvSpPr>
        <p:spPr>
          <a:xfrm>
            <a:off x="762000" y="1905000"/>
            <a:ext cx="7620000" cy="830997"/>
          </a:xfrm>
          <a:prstGeom prst="rect">
            <a:avLst/>
          </a:prstGeom>
        </p:spPr>
        <p:txBody>
          <a:bodyPr wrap="square">
            <a:spAutoFit/>
          </a:bodyPr>
          <a:lstStyle/>
          <a:p>
            <a:r>
              <a:rPr lang="en-US" dirty="0"/>
              <a:t>Booking a Room in a hotel. Model processes with activity diagram</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5"/>
          <p:cNvSpPr>
            <a:spLocks noGrp="1" noChangeArrowheads="1"/>
          </p:cNvSpPr>
          <p:nvPr>
            <p:ph type="ftr" sz="quarter" idx="3"/>
          </p:nvPr>
        </p:nvSpPr>
        <p:spPr/>
        <p:txBody>
          <a:bodyPr/>
          <a:lstStyle/>
          <a:p>
            <a:r>
              <a:rPr lang="en-US"/>
              <a:t>Chapter 6-Object-oriented design</a:t>
            </a:r>
          </a:p>
        </p:txBody>
      </p:sp>
      <p:sp>
        <p:nvSpPr>
          <p:cNvPr id="4" name="Rectangle 16"/>
          <p:cNvSpPr>
            <a:spLocks noGrp="1" noChangeArrowheads="1"/>
          </p:cNvSpPr>
          <p:nvPr>
            <p:ph type="sldNum" sz="quarter" idx="4"/>
          </p:nvPr>
        </p:nvSpPr>
        <p:spPr/>
        <p:txBody>
          <a:bodyPr/>
          <a:lstStyle/>
          <a:p>
            <a:fld id="{95020E0F-B077-4D65-8C55-885668F290B1}" type="slidenum">
              <a:rPr lang="en-US"/>
              <a:pPr/>
              <a:t>104</a:t>
            </a:fld>
            <a:endParaRPr lang="en-US"/>
          </a:p>
        </p:txBody>
      </p:sp>
      <p:sp>
        <p:nvSpPr>
          <p:cNvPr id="74754" name="Rectangle 2"/>
          <p:cNvSpPr>
            <a:spLocks noGrp="1" noChangeArrowheads="1"/>
          </p:cNvSpPr>
          <p:nvPr>
            <p:ph type="ctrTitle"/>
          </p:nvPr>
        </p:nvSpPr>
        <p:spPr/>
        <p:txBody>
          <a:bodyPr/>
          <a:lstStyle/>
          <a:p>
            <a:r>
              <a:rPr lang="en-US"/>
              <a:t>DESIGN INTERFACE OBJECTS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GB" dirty="0"/>
              <a:t>Interface specification</a:t>
            </a:r>
          </a:p>
        </p:txBody>
      </p:sp>
      <p:sp>
        <p:nvSpPr>
          <p:cNvPr id="116739" name="Rectangle 3"/>
          <p:cNvSpPr>
            <a:spLocks noGrp="1" noChangeArrowheads="1"/>
          </p:cNvSpPr>
          <p:nvPr>
            <p:ph type="body" idx="1"/>
          </p:nvPr>
        </p:nvSpPr>
        <p:spPr>
          <a:xfrm>
            <a:off x="838200" y="2017713"/>
            <a:ext cx="8116888" cy="4114800"/>
          </a:xfrm>
        </p:spPr>
        <p:txBody>
          <a:bodyPr/>
          <a:lstStyle/>
          <a:p>
            <a:pPr algn="just"/>
            <a:r>
              <a:rPr lang="en-GB" sz="2400" dirty="0">
                <a:solidFill>
                  <a:srgbClr val="FF0000"/>
                </a:solidFill>
              </a:rPr>
              <a:t>Object interfaces </a:t>
            </a:r>
            <a:r>
              <a:rPr lang="en-GB" sz="2400" dirty="0"/>
              <a:t>have to be specified so that the objects and other components can be designed in parallel.</a:t>
            </a:r>
          </a:p>
          <a:p>
            <a:pPr algn="just"/>
            <a:r>
              <a:rPr lang="en-GB" sz="2400" dirty="0"/>
              <a:t>Designers </a:t>
            </a:r>
            <a:r>
              <a:rPr lang="en-GB" sz="2400" dirty="0">
                <a:solidFill>
                  <a:srgbClr val="FF0000"/>
                </a:solidFill>
              </a:rPr>
              <a:t>should avoid </a:t>
            </a:r>
            <a:r>
              <a:rPr lang="en-GB" sz="2400" dirty="0"/>
              <a:t>designing </a:t>
            </a:r>
            <a:r>
              <a:rPr lang="en-GB" sz="2400"/>
              <a:t>the data representation </a:t>
            </a:r>
            <a:r>
              <a:rPr lang="en-GB" sz="2400" dirty="0"/>
              <a:t>but </a:t>
            </a:r>
            <a:r>
              <a:rPr lang="en-GB" sz="2400" dirty="0">
                <a:solidFill>
                  <a:srgbClr val="FF0000"/>
                </a:solidFill>
              </a:rPr>
              <a:t>should hide </a:t>
            </a:r>
            <a:r>
              <a:rPr lang="en-GB" sz="2400" dirty="0"/>
              <a:t>this in the object itself.</a:t>
            </a:r>
          </a:p>
          <a:p>
            <a:pPr algn="just"/>
            <a:r>
              <a:rPr lang="en-GB" sz="2400" dirty="0"/>
              <a:t>Objects may have </a:t>
            </a:r>
            <a:r>
              <a:rPr lang="en-GB" sz="2400" dirty="0">
                <a:solidFill>
                  <a:srgbClr val="FF0000"/>
                </a:solidFill>
              </a:rPr>
              <a:t>several interfaces </a:t>
            </a:r>
            <a:r>
              <a:rPr lang="en-GB" sz="2400" dirty="0"/>
              <a:t>which are viewpoints on the methods provided.</a:t>
            </a:r>
          </a:p>
          <a:p>
            <a:pPr algn="just"/>
            <a:r>
              <a:rPr lang="en-GB" sz="2400" dirty="0"/>
              <a:t>The UML uses class diagrams  for interface specification but Java may also be used.</a:t>
            </a:r>
          </a:p>
        </p:txBody>
      </p:sp>
      <p:sp>
        <p:nvSpPr>
          <p:cNvPr id="4" name="Slide Number Placeholder 3"/>
          <p:cNvSpPr>
            <a:spLocks noGrp="1"/>
          </p:cNvSpPr>
          <p:nvPr>
            <p:ph type="sldNum" sz="quarter" idx="12"/>
          </p:nvPr>
        </p:nvSpPr>
        <p:spPr/>
        <p:txBody>
          <a:bodyPr/>
          <a:lstStyle/>
          <a:p>
            <a:fld id="{EC83099C-5FA5-B04A-B819-64718E2A253A}" type="slidenum">
              <a:rPr lang="en-US" smtClean="0"/>
              <a:pPr/>
              <a:t>105</a:t>
            </a:fld>
            <a:endParaRPr lang="en-US"/>
          </a:p>
        </p:txBody>
      </p:sp>
      <p:sp>
        <p:nvSpPr>
          <p:cNvPr id="5" name="Footer Placeholder 4"/>
          <p:cNvSpPr>
            <a:spLocks noGrp="1"/>
          </p:cNvSpPr>
          <p:nvPr>
            <p:ph type="ftr" sz="quarter" idx="11"/>
          </p:nvPr>
        </p:nvSpPr>
        <p:spPr/>
        <p:txBody>
          <a:bodyPr/>
          <a:lstStyle/>
          <a:p>
            <a:r>
              <a:rPr lang="en-US"/>
              <a:t>Chapter 6-Object-oriented design</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Example: Weather station interfaces</a:t>
            </a:r>
            <a:r>
              <a:rPr lang="en-GB" sz="3600" dirty="0"/>
              <a:t> </a:t>
            </a:r>
            <a:endParaRPr lang="en-US" sz="3600" dirty="0"/>
          </a:p>
        </p:txBody>
      </p:sp>
      <p:pic>
        <p:nvPicPr>
          <p:cNvPr id="4" name="Content Placeholder 3" descr="7.9 Interfaces.eps"/>
          <p:cNvPicPr>
            <a:picLocks noGrp="1" noChangeAspect="1"/>
          </p:cNvPicPr>
          <p:nvPr>
            <p:ph idx="1"/>
          </p:nvPr>
        </p:nvPicPr>
        <p:blipFill>
          <a:blip r:embed="rId2" cstate="print"/>
          <a:srcRect t="-45645" b="-45645"/>
          <a:stretch>
            <a:fillRect/>
          </a:stretch>
        </p:blipFill>
        <p:spPr>
          <a:xfrm>
            <a:off x="1143643" y="1600200"/>
            <a:ext cx="6739016" cy="3706199"/>
          </a:xfrm>
        </p:spPr>
      </p:pic>
      <p:sp>
        <p:nvSpPr>
          <p:cNvPr id="5" name="Slide Number Placeholder 4"/>
          <p:cNvSpPr>
            <a:spLocks noGrp="1"/>
          </p:cNvSpPr>
          <p:nvPr>
            <p:ph type="sldNum" sz="quarter" idx="12"/>
          </p:nvPr>
        </p:nvSpPr>
        <p:spPr/>
        <p:txBody>
          <a:bodyPr/>
          <a:lstStyle/>
          <a:p>
            <a:fld id="{EC83099C-5FA5-B04A-B819-64718E2A253A}" type="slidenum">
              <a:rPr lang="en-US" smtClean="0"/>
              <a:pPr/>
              <a:t>106</a:t>
            </a:fld>
            <a:endParaRPr lang="en-US"/>
          </a:p>
        </p:txBody>
      </p:sp>
      <p:sp>
        <p:nvSpPr>
          <p:cNvPr id="6" name="Footer Placeholder 5"/>
          <p:cNvSpPr>
            <a:spLocks noGrp="1"/>
          </p:cNvSpPr>
          <p:nvPr>
            <p:ph type="ftr" sz="quarter" idx="11"/>
          </p:nvPr>
        </p:nvSpPr>
        <p:spPr/>
        <p:txBody>
          <a:bodyPr/>
          <a:lstStyle/>
          <a:p>
            <a:r>
              <a:rPr lang="en-US"/>
              <a:t>Chapter 6-Object-oriented design</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5"/>
          <p:cNvSpPr>
            <a:spLocks noGrp="1" noChangeArrowheads="1"/>
          </p:cNvSpPr>
          <p:nvPr>
            <p:ph type="ftr" sz="quarter" idx="3"/>
          </p:nvPr>
        </p:nvSpPr>
        <p:spPr/>
        <p:txBody>
          <a:bodyPr/>
          <a:lstStyle/>
          <a:p>
            <a:r>
              <a:rPr lang="en-US"/>
              <a:t>Chapter 6-Object-oriented design</a:t>
            </a:r>
          </a:p>
        </p:txBody>
      </p:sp>
      <p:sp>
        <p:nvSpPr>
          <p:cNvPr id="4" name="Rectangle 16"/>
          <p:cNvSpPr>
            <a:spLocks noGrp="1" noChangeArrowheads="1"/>
          </p:cNvSpPr>
          <p:nvPr>
            <p:ph type="sldNum" sz="quarter" idx="4"/>
          </p:nvPr>
        </p:nvSpPr>
        <p:spPr/>
        <p:txBody>
          <a:bodyPr/>
          <a:lstStyle/>
          <a:p>
            <a:fld id="{32240D38-ADFE-4546-BC10-D51E8EA2DEFD}" type="slidenum">
              <a:rPr lang="en-US"/>
              <a:pPr/>
              <a:t>107</a:t>
            </a:fld>
            <a:endParaRPr lang="en-US"/>
          </a:p>
        </p:txBody>
      </p:sp>
      <p:sp>
        <p:nvSpPr>
          <p:cNvPr id="69634" name="Rectangle 2"/>
          <p:cNvSpPr>
            <a:spLocks noGrp="1" noChangeArrowheads="1"/>
          </p:cNvSpPr>
          <p:nvPr>
            <p:ph type="ctrTitle"/>
          </p:nvPr>
        </p:nvSpPr>
        <p:spPr>
          <a:xfrm>
            <a:off x="914400" y="2057400"/>
            <a:ext cx="7772400" cy="1143000"/>
          </a:xfrm>
        </p:spPr>
        <p:txBody>
          <a:bodyPr/>
          <a:lstStyle/>
          <a:p>
            <a:pPr algn="ctr"/>
            <a:r>
              <a:rPr lang="en-US" dirty="0"/>
              <a:t>IMPLEMENTATION MODEL VIEW-</a:t>
            </a:r>
            <a:r>
              <a:rPr lang="en-US" dirty="0">
                <a:solidFill>
                  <a:srgbClr val="FF0000"/>
                </a:solidFill>
              </a:rPr>
              <a:t>Component Diagram</a:t>
            </a:r>
            <a:br>
              <a:rPr lang="en-US" dirty="0">
                <a:solidFill>
                  <a:srgbClr val="FF0000"/>
                </a:solidFill>
              </a:rPr>
            </a:br>
            <a:r>
              <a:rPr lang="en-US" dirty="0">
                <a:solidFill>
                  <a:schemeClr val="tx1"/>
                </a:solidFill>
              </a:rPr>
              <a:t>&amp;</a:t>
            </a:r>
          </a:p>
        </p:txBody>
      </p:sp>
      <p:sp>
        <p:nvSpPr>
          <p:cNvPr id="7" name="Rectangle 2"/>
          <p:cNvSpPr txBox="1">
            <a:spLocks noChangeArrowheads="1"/>
          </p:cNvSpPr>
          <p:nvPr/>
        </p:nvSpPr>
        <p:spPr bwMode="auto">
          <a:xfrm>
            <a:off x="1219200" y="3581400"/>
            <a:ext cx="7543800"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400" b="0" i="0" u="none" strike="noStrike" kern="0" cap="none" spc="0" normalizeH="0" baseline="0" noProof="0" dirty="0">
                <a:ln>
                  <a:noFill/>
                </a:ln>
                <a:solidFill>
                  <a:schemeClr val="tx2"/>
                </a:solidFill>
                <a:effectLst/>
                <a:uLnTx/>
                <a:uFillTx/>
                <a:latin typeface="+mj-lt"/>
                <a:ea typeface="+mj-ea"/>
                <a:cs typeface="+mj-cs"/>
              </a:rPr>
              <a:t>ENVIRONMENTAL MODEL VIEW-</a:t>
            </a:r>
            <a:r>
              <a:rPr kumimoji="0" lang="en-US" sz="4400" b="0" i="0" u="none" strike="noStrike" kern="0" cap="none" spc="0" normalizeH="0" baseline="0" noProof="0" dirty="0">
                <a:ln>
                  <a:noFill/>
                </a:ln>
                <a:solidFill>
                  <a:srgbClr val="FF0000"/>
                </a:solidFill>
                <a:effectLst/>
                <a:uLnTx/>
                <a:uFillTx/>
                <a:latin typeface="+mj-lt"/>
                <a:ea typeface="+mj-ea"/>
                <a:cs typeface="+mj-cs"/>
              </a:rPr>
              <a:t>Deployment Diagram</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lide Number Placeholder 4"/>
          <p:cNvSpPr>
            <a:spLocks noGrp="1"/>
          </p:cNvSpPr>
          <p:nvPr>
            <p:ph type="sldNum" sz="quarter" idx="11"/>
          </p:nvPr>
        </p:nvSpPr>
        <p:spPr/>
        <p:txBody>
          <a:bodyPr/>
          <a:lstStyle/>
          <a:p>
            <a:fld id="{E85991D0-FC4C-44B8-847F-0EBBC33A5BE4}" type="slidenum">
              <a:rPr lang="en-US"/>
              <a:pPr/>
              <a:t>108</a:t>
            </a:fld>
            <a:endParaRPr lang="en-US"/>
          </a:p>
        </p:txBody>
      </p:sp>
      <p:sp>
        <p:nvSpPr>
          <p:cNvPr id="74754" name="Rectangle 2"/>
          <p:cNvSpPr>
            <a:spLocks noGrp="1" noChangeArrowheads="1"/>
          </p:cNvSpPr>
          <p:nvPr>
            <p:ph type="title"/>
          </p:nvPr>
        </p:nvSpPr>
        <p:spPr/>
        <p:txBody>
          <a:bodyPr/>
          <a:lstStyle/>
          <a:p>
            <a:r>
              <a:rPr lang="en-US" dirty="0"/>
              <a:t>Component diagram</a:t>
            </a:r>
          </a:p>
        </p:txBody>
      </p:sp>
      <p:sp>
        <p:nvSpPr>
          <p:cNvPr id="74755" name="Rectangle 3"/>
          <p:cNvSpPr>
            <a:spLocks noGrp="1" noChangeArrowheads="1"/>
          </p:cNvSpPr>
          <p:nvPr>
            <p:ph type="body" idx="1"/>
          </p:nvPr>
        </p:nvSpPr>
        <p:spPr>
          <a:xfrm>
            <a:off x="457200" y="1828800"/>
            <a:ext cx="8382000" cy="1662113"/>
          </a:xfrm>
        </p:spPr>
        <p:txBody>
          <a:bodyPr/>
          <a:lstStyle/>
          <a:p>
            <a:pPr lvl="1" algn="just"/>
            <a:r>
              <a:rPr lang="en-US" sz="2400" dirty="0"/>
              <a:t>Dependencies among components are shown, including source code components, binary code components, and executable components</a:t>
            </a:r>
          </a:p>
          <a:p>
            <a:pPr algn="just"/>
            <a:endParaRPr lang="en-US" sz="2400" dirty="0"/>
          </a:p>
        </p:txBody>
      </p:sp>
      <p:grpSp>
        <p:nvGrpSpPr>
          <p:cNvPr id="2" name="Group 75"/>
          <p:cNvGrpSpPr>
            <a:grpSpLocks/>
          </p:cNvGrpSpPr>
          <p:nvPr/>
        </p:nvGrpSpPr>
        <p:grpSpPr bwMode="auto">
          <a:xfrm>
            <a:off x="1600200" y="3200400"/>
            <a:ext cx="6296025" cy="3230563"/>
            <a:chOff x="1248" y="1824"/>
            <a:chExt cx="3966" cy="2035"/>
          </a:xfrm>
        </p:grpSpPr>
        <p:sp>
          <p:nvSpPr>
            <p:cNvPr id="74760" name="Rectangle 8"/>
            <p:cNvSpPr>
              <a:spLocks noChangeArrowheads="1"/>
            </p:cNvSpPr>
            <p:nvPr/>
          </p:nvSpPr>
          <p:spPr bwMode="auto">
            <a:xfrm>
              <a:off x="2125" y="2358"/>
              <a:ext cx="381" cy="576"/>
            </a:xfrm>
            <a:prstGeom prst="rect">
              <a:avLst/>
            </a:prstGeom>
            <a:noFill/>
            <a:ln w="0">
              <a:solidFill>
                <a:srgbClr val="000000"/>
              </a:solidFill>
              <a:miter lim="800000"/>
              <a:headEnd/>
              <a:tailEnd/>
            </a:ln>
          </p:spPr>
          <p:txBody>
            <a:bodyPr/>
            <a:lstStyle/>
            <a:p>
              <a:endParaRPr lang="en-US"/>
            </a:p>
          </p:txBody>
        </p:sp>
        <p:sp>
          <p:nvSpPr>
            <p:cNvPr id="74761" name="Oval 9"/>
            <p:cNvSpPr>
              <a:spLocks noChangeArrowheads="1"/>
            </p:cNvSpPr>
            <p:nvPr/>
          </p:nvSpPr>
          <p:spPr bwMode="auto">
            <a:xfrm>
              <a:off x="1968" y="2417"/>
              <a:ext cx="315" cy="91"/>
            </a:xfrm>
            <a:prstGeom prst="ellipse">
              <a:avLst/>
            </a:prstGeom>
            <a:solidFill>
              <a:srgbClr val="0442F0"/>
            </a:solidFill>
            <a:ln w="0">
              <a:solidFill>
                <a:srgbClr val="000000"/>
              </a:solidFill>
              <a:round/>
              <a:headEnd/>
              <a:tailEnd/>
            </a:ln>
          </p:spPr>
          <p:txBody>
            <a:bodyPr/>
            <a:lstStyle/>
            <a:p>
              <a:endParaRPr lang="en-US"/>
            </a:p>
          </p:txBody>
        </p:sp>
        <p:sp>
          <p:nvSpPr>
            <p:cNvPr id="74762" name="Rectangle 10"/>
            <p:cNvSpPr>
              <a:spLocks noChangeArrowheads="1"/>
            </p:cNvSpPr>
            <p:nvPr/>
          </p:nvSpPr>
          <p:spPr bwMode="auto">
            <a:xfrm>
              <a:off x="1968" y="2598"/>
              <a:ext cx="315" cy="90"/>
            </a:xfrm>
            <a:prstGeom prst="rect">
              <a:avLst/>
            </a:prstGeom>
            <a:solidFill>
              <a:srgbClr val="0442F0"/>
            </a:solidFill>
            <a:ln w="0">
              <a:solidFill>
                <a:srgbClr val="000000"/>
              </a:solidFill>
              <a:miter lim="800000"/>
              <a:headEnd/>
              <a:tailEnd/>
            </a:ln>
          </p:spPr>
          <p:txBody>
            <a:bodyPr/>
            <a:lstStyle/>
            <a:p>
              <a:endParaRPr lang="en-US"/>
            </a:p>
          </p:txBody>
        </p:sp>
        <p:sp>
          <p:nvSpPr>
            <p:cNvPr id="74763" name="Rectangle 11"/>
            <p:cNvSpPr>
              <a:spLocks noChangeArrowheads="1"/>
            </p:cNvSpPr>
            <p:nvPr/>
          </p:nvSpPr>
          <p:spPr bwMode="auto">
            <a:xfrm>
              <a:off x="1968" y="2778"/>
              <a:ext cx="315" cy="91"/>
            </a:xfrm>
            <a:prstGeom prst="rect">
              <a:avLst/>
            </a:prstGeom>
            <a:solidFill>
              <a:srgbClr val="0442F0"/>
            </a:solidFill>
            <a:ln w="0">
              <a:solidFill>
                <a:srgbClr val="000000"/>
              </a:solidFill>
              <a:miter lim="800000"/>
              <a:headEnd/>
              <a:tailEnd/>
            </a:ln>
          </p:spPr>
          <p:txBody>
            <a:bodyPr/>
            <a:lstStyle/>
            <a:p>
              <a:endParaRPr lang="en-US"/>
            </a:p>
          </p:txBody>
        </p:sp>
        <p:sp>
          <p:nvSpPr>
            <p:cNvPr id="74764" name="Rectangle 12"/>
            <p:cNvSpPr>
              <a:spLocks noChangeArrowheads="1"/>
            </p:cNvSpPr>
            <p:nvPr/>
          </p:nvSpPr>
          <p:spPr bwMode="auto">
            <a:xfrm>
              <a:off x="2125" y="2231"/>
              <a:ext cx="359" cy="96"/>
            </a:xfrm>
            <a:prstGeom prst="rect">
              <a:avLst/>
            </a:prstGeom>
            <a:noFill/>
            <a:ln w="9525">
              <a:noFill/>
              <a:miter lim="800000"/>
              <a:headEnd/>
              <a:tailEnd/>
            </a:ln>
          </p:spPr>
          <p:txBody>
            <a:bodyPr wrap="none" lIns="0" tIns="0" rIns="0" bIns="0">
              <a:spAutoFit/>
            </a:bodyPr>
            <a:lstStyle/>
            <a:p>
              <a:pPr algn="l" eaLnBrk="0" hangingPunct="0">
                <a:spcBef>
                  <a:spcPct val="0"/>
                </a:spcBef>
              </a:pPr>
              <a:r>
                <a:rPr lang="en-US" sz="1000">
                  <a:latin typeface="Arial" pitchFamily="34" charset="0"/>
                </a:rPr>
                <a:t>Course.dll</a:t>
              </a:r>
              <a:endParaRPr lang="en-US"/>
            </a:p>
          </p:txBody>
        </p:sp>
        <p:sp>
          <p:nvSpPr>
            <p:cNvPr id="74765" name="Rectangle 13"/>
            <p:cNvSpPr>
              <a:spLocks noChangeArrowheads="1"/>
            </p:cNvSpPr>
            <p:nvPr/>
          </p:nvSpPr>
          <p:spPr bwMode="auto">
            <a:xfrm>
              <a:off x="3876" y="2143"/>
              <a:ext cx="381" cy="576"/>
            </a:xfrm>
            <a:prstGeom prst="rect">
              <a:avLst/>
            </a:prstGeom>
            <a:noFill/>
            <a:ln w="0">
              <a:solidFill>
                <a:srgbClr val="000000"/>
              </a:solidFill>
              <a:miter lim="800000"/>
              <a:headEnd/>
              <a:tailEnd/>
            </a:ln>
          </p:spPr>
          <p:txBody>
            <a:bodyPr/>
            <a:lstStyle/>
            <a:p>
              <a:endParaRPr lang="en-US"/>
            </a:p>
          </p:txBody>
        </p:sp>
        <p:sp>
          <p:nvSpPr>
            <p:cNvPr id="74766" name="Oval 14"/>
            <p:cNvSpPr>
              <a:spLocks noChangeArrowheads="1"/>
            </p:cNvSpPr>
            <p:nvPr/>
          </p:nvSpPr>
          <p:spPr bwMode="auto">
            <a:xfrm>
              <a:off x="3719" y="2202"/>
              <a:ext cx="315" cy="91"/>
            </a:xfrm>
            <a:prstGeom prst="ellipse">
              <a:avLst/>
            </a:prstGeom>
            <a:solidFill>
              <a:srgbClr val="0442F0"/>
            </a:solidFill>
            <a:ln w="0">
              <a:solidFill>
                <a:srgbClr val="000000"/>
              </a:solidFill>
              <a:round/>
              <a:headEnd/>
              <a:tailEnd/>
            </a:ln>
          </p:spPr>
          <p:txBody>
            <a:bodyPr/>
            <a:lstStyle/>
            <a:p>
              <a:endParaRPr lang="en-US"/>
            </a:p>
          </p:txBody>
        </p:sp>
        <p:sp>
          <p:nvSpPr>
            <p:cNvPr id="74767" name="Rectangle 15"/>
            <p:cNvSpPr>
              <a:spLocks noChangeArrowheads="1"/>
            </p:cNvSpPr>
            <p:nvPr/>
          </p:nvSpPr>
          <p:spPr bwMode="auto">
            <a:xfrm>
              <a:off x="3719" y="2383"/>
              <a:ext cx="315" cy="90"/>
            </a:xfrm>
            <a:prstGeom prst="rect">
              <a:avLst/>
            </a:prstGeom>
            <a:solidFill>
              <a:srgbClr val="0442F0"/>
            </a:solidFill>
            <a:ln w="0">
              <a:solidFill>
                <a:srgbClr val="000000"/>
              </a:solidFill>
              <a:miter lim="800000"/>
              <a:headEnd/>
              <a:tailEnd/>
            </a:ln>
          </p:spPr>
          <p:txBody>
            <a:bodyPr/>
            <a:lstStyle/>
            <a:p>
              <a:endParaRPr lang="en-US"/>
            </a:p>
          </p:txBody>
        </p:sp>
        <p:sp>
          <p:nvSpPr>
            <p:cNvPr id="74768" name="Rectangle 16"/>
            <p:cNvSpPr>
              <a:spLocks noChangeArrowheads="1"/>
            </p:cNvSpPr>
            <p:nvPr/>
          </p:nvSpPr>
          <p:spPr bwMode="auto">
            <a:xfrm>
              <a:off x="3719" y="2563"/>
              <a:ext cx="315" cy="91"/>
            </a:xfrm>
            <a:prstGeom prst="rect">
              <a:avLst/>
            </a:prstGeom>
            <a:solidFill>
              <a:srgbClr val="0442F0"/>
            </a:solidFill>
            <a:ln w="0">
              <a:solidFill>
                <a:srgbClr val="000000"/>
              </a:solidFill>
              <a:miter lim="800000"/>
              <a:headEnd/>
              <a:tailEnd/>
            </a:ln>
          </p:spPr>
          <p:txBody>
            <a:bodyPr/>
            <a:lstStyle/>
            <a:p>
              <a:endParaRPr lang="en-US"/>
            </a:p>
          </p:txBody>
        </p:sp>
        <p:sp>
          <p:nvSpPr>
            <p:cNvPr id="74769" name="Rectangle 17"/>
            <p:cNvSpPr>
              <a:spLocks noChangeArrowheads="1"/>
            </p:cNvSpPr>
            <p:nvPr/>
          </p:nvSpPr>
          <p:spPr bwMode="auto">
            <a:xfrm>
              <a:off x="3876" y="2016"/>
              <a:ext cx="349" cy="96"/>
            </a:xfrm>
            <a:prstGeom prst="rect">
              <a:avLst/>
            </a:prstGeom>
            <a:noFill/>
            <a:ln w="9525">
              <a:noFill/>
              <a:miter lim="800000"/>
              <a:headEnd/>
              <a:tailEnd/>
            </a:ln>
          </p:spPr>
          <p:txBody>
            <a:bodyPr wrap="none" lIns="0" tIns="0" rIns="0" bIns="0">
              <a:spAutoFit/>
            </a:bodyPr>
            <a:lstStyle/>
            <a:p>
              <a:pPr algn="l" eaLnBrk="0" hangingPunct="0">
                <a:spcBef>
                  <a:spcPct val="0"/>
                </a:spcBef>
              </a:pPr>
              <a:r>
                <a:rPr lang="en-US" sz="1000">
                  <a:latin typeface="Arial" pitchFamily="34" charset="0"/>
                </a:rPr>
                <a:t>People.dll</a:t>
              </a:r>
              <a:endParaRPr lang="en-US"/>
            </a:p>
          </p:txBody>
        </p:sp>
        <p:sp>
          <p:nvSpPr>
            <p:cNvPr id="74771" name="Rectangle 19"/>
            <p:cNvSpPr>
              <a:spLocks noChangeArrowheads="1"/>
            </p:cNvSpPr>
            <p:nvPr/>
          </p:nvSpPr>
          <p:spPr bwMode="auto">
            <a:xfrm>
              <a:off x="1405" y="3264"/>
              <a:ext cx="381" cy="576"/>
            </a:xfrm>
            <a:prstGeom prst="rect">
              <a:avLst/>
            </a:prstGeom>
            <a:noFill/>
            <a:ln w="0">
              <a:solidFill>
                <a:srgbClr val="000000"/>
              </a:solidFill>
              <a:miter lim="800000"/>
              <a:headEnd/>
              <a:tailEnd/>
            </a:ln>
          </p:spPr>
          <p:txBody>
            <a:bodyPr/>
            <a:lstStyle/>
            <a:p>
              <a:endParaRPr lang="en-US"/>
            </a:p>
          </p:txBody>
        </p:sp>
        <p:sp>
          <p:nvSpPr>
            <p:cNvPr id="74772" name="Oval 20"/>
            <p:cNvSpPr>
              <a:spLocks noChangeArrowheads="1"/>
            </p:cNvSpPr>
            <p:nvPr/>
          </p:nvSpPr>
          <p:spPr bwMode="auto">
            <a:xfrm>
              <a:off x="1248" y="3323"/>
              <a:ext cx="315" cy="90"/>
            </a:xfrm>
            <a:prstGeom prst="ellipse">
              <a:avLst/>
            </a:prstGeom>
            <a:solidFill>
              <a:srgbClr val="0442F0"/>
            </a:solidFill>
            <a:ln w="0">
              <a:solidFill>
                <a:srgbClr val="000000"/>
              </a:solidFill>
              <a:round/>
              <a:headEnd/>
              <a:tailEnd/>
            </a:ln>
          </p:spPr>
          <p:txBody>
            <a:bodyPr/>
            <a:lstStyle/>
            <a:p>
              <a:endParaRPr lang="en-US"/>
            </a:p>
          </p:txBody>
        </p:sp>
        <p:sp>
          <p:nvSpPr>
            <p:cNvPr id="74773" name="Rectangle 21"/>
            <p:cNvSpPr>
              <a:spLocks noChangeArrowheads="1"/>
            </p:cNvSpPr>
            <p:nvPr/>
          </p:nvSpPr>
          <p:spPr bwMode="auto">
            <a:xfrm>
              <a:off x="1248" y="3504"/>
              <a:ext cx="315" cy="90"/>
            </a:xfrm>
            <a:prstGeom prst="rect">
              <a:avLst/>
            </a:prstGeom>
            <a:solidFill>
              <a:srgbClr val="0442F0"/>
            </a:solidFill>
            <a:ln w="0">
              <a:solidFill>
                <a:srgbClr val="000000"/>
              </a:solidFill>
              <a:miter lim="800000"/>
              <a:headEnd/>
              <a:tailEnd/>
            </a:ln>
          </p:spPr>
          <p:txBody>
            <a:bodyPr/>
            <a:lstStyle/>
            <a:p>
              <a:endParaRPr lang="en-US"/>
            </a:p>
          </p:txBody>
        </p:sp>
        <p:sp>
          <p:nvSpPr>
            <p:cNvPr id="74774" name="Rectangle 22"/>
            <p:cNvSpPr>
              <a:spLocks noChangeArrowheads="1"/>
            </p:cNvSpPr>
            <p:nvPr/>
          </p:nvSpPr>
          <p:spPr bwMode="auto">
            <a:xfrm>
              <a:off x="1248" y="3684"/>
              <a:ext cx="315" cy="90"/>
            </a:xfrm>
            <a:prstGeom prst="rect">
              <a:avLst/>
            </a:prstGeom>
            <a:solidFill>
              <a:srgbClr val="0442F0"/>
            </a:solidFill>
            <a:ln w="0">
              <a:solidFill>
                <a:srgbClr val="000000"/>
              </a:solidFill>
              <a:miter lim="800000"/>
              <a:headEnd/>
              <a:tailEnd/>
            </a:ln>
          </p:spPr>
          <p:txBody>
            <a:bodyPr/>
            <a:lstStyle/>
            <a:p>
              <a:endParaRPr lang="en-US"/>
            </a:p>
          </p:txBody>
        </p:sp>
        <p:sp>
          <p:nvSpPr>
            <p:cNvPr id="74775" name="Rectangle 23"/>
            <p:cNvSpPr>
              <a:spLocks noChangeArrowheads="1"/>
            </p:cNvSpPr>
            <p:nvPr/>
          </p:nvSpPr>
          <p:spPr bwMode="auto">
            <a:xfrm>
              <a:off x="1405" y="3137"/>
              <a:ext cx="257" cy="96"/>
            </a:xfrm>
            <a:prstGeom prst="rect">
              <a:avLst/>
            </a:prstGeom>
            <a:noFill/>
            <a:ln w="9525">
              <a:noFill/>
              <a:miter lim="800000"/>
              <a:headEnd/>
              <a:tailEnd/>
            </a:ln>
          </p:spPr>
          <p:txBody>
            <a:bodyPr wrap="none" lIns="0" tIns="0" rIns="0" bIns="0">
              <a:spAutoFit/>
            </a:bodyPr>
            <a:lstStyle/>
            <a:p>
              <a:pPr algn="l" eaLnBrk="0" hangingPunct="0">
                <a:spcBef>
                  <a:spcPct val="0"/>
                </a:spcBef>
              </a:pPr>
              <a:r>
                <a:rPr lang="en-US" sz="1000">
                  <a:latin typeface="Arial" pitchFamily="34" charset="0"/>
                </a:rPr>
                <a:t>Course</a:t>
              </a:r>
              <a:endParaRPr lang="en-US"/>
            </a:p>
          </p:txBody>
        </p:sp>
        <p:sp>
          <p:nvSpPr>
            <p:cNvPr id="74776" name="Rectangle 24"/>
            <p:cNvSpPr>
              <a:spLocks noChangeArrowheads="1"/>
            </p:cNvSpPr>
            <p:nvPr/>
          </p:nvSpPr>
          <p:spPr bwMode="auto">
            <a:xfrm>
              <a:off x="2911" y="3283"/>
              <a:ext cx="380" cy="576"/>
            </a:xfrm>
            <a:prstGeom prst="rect">
              <a:avLst/>
            </a:prstGeom>
            <a:noFill/>
            <a:ln w="0">
              <a:solidFill>
                <a:srgbClr val="000000"/>
              </a:solidFill>
              <a:miter lim="800000"/>
              <a:headEnd/>
              <a:tailEnd/>
            </a:ln>
          </p:spPr>
          <p:txBody>
            <a:bodyPr/>
            <a:lstStyle/>
            <a:p>
              <a:endParaRPr lang="en-US"/>
            </a:p>
          </p:txBody>
        </p:sp>
        <p:sp>
          <p:nvSpPr>
            <p:cNvPr id="74777" name="Oval 25"/>
            <p:cNvSpPr>
              <a:spLocks noChangeArrowheads="1"/>
            </p:cNvSpPr>
            <p:nvPr/>
          </p:nvSpPr>
          <p:spPr bwMode="auto">
            <a:xfrm>
              <a:off x="2753" y="3343"/>
              <a:ext cx="315" cy="90"/>
            </a:xfrm>
            <a:prstGeom prst="ellipse">
              <a:avLst/>
            </a:prstGeom>
            <a:solidFill>
              <a:srgbClr val="0442F0"/>
            </a:solidFill>
            <a:ln w="0">
              <a:solidFill>
                <a:srgbClr val="000000"/>
              </a:solidFill>
              <a:round/>
              <a:headEnd/>
              <a:tailEnd/>
            </a:ln>
          </p:spPr>
          <p:txBody>
            <a:bodyPr/>
            <a:lstStyle/>
            <a:p>
              <a:endParaRPr lang="en-US"/>
            </a:p>
          </p:txBody>
        </p:sp>
        <p:sp>
          <p:nvSpPr>
            <p:cNvPr id="74778" name="Rectangle 26"/>
            <p:cNvSpPr>
              <a:spLocks noChangeArrowheads="1"/>
            </p:cNvSpPr>
            <p:nvPr/>
          </p:nvSpPr>
          <p:spPr bwMode="auto">
            <a:xfrm>
              <a:off x="2753" y="3523"/>
              <a:ext cx="315" cy="90"/>
            </a:xfrm>
            <a:prstGeom prst="rect">
              <a:avLst/>
            </a:prstGeom>
            <a:solidFill>
              <a:srgbClr val="0442F0"/>
            </a:solidFill>
            <a:ln w="0">
              <a:solidFill>
                <a:srgbClr val="000000"/>
              </a:solidFill>
              <a:miter lim="800000"/>
              <a:headEnd/>
              <a:tailEnd/>
            </a:ln>
          </p:spPr>
          <p:txBody>
            <a:bodyPr/>
            <a:lstStyle/>
            <a:p>
              <a:endParaRPr lang="en-US"/>
            </a:p>
          </p:txBody>
        </p:sp>
        <p:sp>
          <p:nvSpPr>
            <p:cNvPr id="74779" name="Rectangle 27"/>
            <p:cNvSpPr>
              <a:spLocks noChangeArrowheads="1"/>
            </p:cNvSpPr>
            <p:nvPr/>
          </p:nvSpPr>
          <p:spPr bwMode="auto">
            <a:xfrm>
              <a:off x="2753" y="3703"/>
              <a:ext cx="315" cy="91"/>
            </a:xfrm>
            <a:prstGeom prst="rect">
              <a:avLst/>
            </a:prstGeom>
            <a:solidFill>
              <a:srgbClr val="0442F0"/>
            </a:solidFill>
            <a:ln w="0">
              <a:solidFill>
                <a:srgbClr val="000000"/>
              </a:solidFill>
              <a:miter lim="800000"/>
              <a:headEnd/>
              <a:tailEnd/>
            </a:ln>
          </p:spPr>
          <p:txBody>
            <a:bodyPr/>
            <a:lstStyle/>
            <a:p>
              <a:endParaRPr lang="en-US"/>
            </a:p>
          </p:txBody>
        </p:sp>
        <p:sp>
          <p:nvSpPr>
            <p:cNvPr id="74780" name="Rectangle 28"/>
            <p:cNvSpPr>
              <a:spLocks noChangeArrowheads="1"/>
            </p:cNvSpPr>
            <p:nvPr/>
          </p:nvSpPr>
          <p:spPr bwMode="auto">
            <a:xfrm>
              <a:off x="2911" y="3156"/>
              <a:ext cx="540" cy="96"/>
            </a:xfrm>
            <a:prstGeom prst="rect">
              <a:avLst/>
            </a:prstGeom>
            <a:noFill/>
            <a:ln w="9525">
              <a:noFill/>
              <a:miter lim="800000"/>
              <a:headEnd/>
              <a:tailEnd/>
            </a:ln>
          </p:spPr>
          <p:txBody>
            <a:bodyPr wrap="none" lIns="0" tIns="0" rIns="0" bIns="0">
              <a:spAutoFit/>
            </a:bodyPr>
            <a:lstStyle/>
            <a:p>
              <a:pPr algn="l" eaLnBrk="0" hangingPunct="0">
                <a:spcBef>
                  <a:spcPct val="0"/>
                </a:spcBef>
              </a:pPr>
              <a:r>
                <a:rPr lang="en-US" sz="1000">
                  <a:latin typeface="Arial" pitchFamily="34" charset="0"/>
                </a:rPr>
                <a:t>CourseOffering</a:t>
              </a:r>
              <a:endParaRPr lang="en-US"/>
            </a:p>
          </p:txBody>
        </p:sp>
        <p:sp>
          <p:nvSpPr>
            <p:cNvPr id="74781" name="Rectangle 29"/>
            <p:cNvSpPr>
              <a:spLocks noChangeArrowheads="1"/>
            </p:cNvSpPr>
            <p:nvPr/>
          </p:nvSpPr>
          <p:spPr bwMode="auto">
            <a:xfrm>
              <a:off x="3758" y="3133"/>
              <a:ext cx="380" cy="576"/>
            </a:xfrm>
            <a:prstGeom prst="rect">
              <a:avLst/>
            </a:prstGeom>
            <a:noFill/>
            <a:ln w="0">
              <a:solidFill>
                <a:srgbClr val="000000"/>
              </a:solidFill>
              <a:miter lim="800000"/>
              <a:headEnd/>
              <a:tailEnd/>
            </a:ln>
          </p:spPr>
          <p:txBody>
            <a:bodyPr/>
            <a:lstStyle/>
            <a:p>
              <a:endParaRPr lang="en-US"/>
            </a:p>
          </p:txBody>
        </p:sp>
        <p:sp>
          <p:nvSpPr>
            <p:cNvPr id="74782" name="Oval 30"/>
            <p:cNvSpPr>
              <a:spLocks noChangeArrowheads="1"/>
            </p:cNvSpPr>
            <p:nvPr/>
          </p:nvSpPr>
          <p:spPr bwMode="auto">
            <a:xfrm>
              <a:off x="3600" y="3193"/>
              <a:ext cx="315" cy="90"/>
            </a:xfrm>
            <a:prstGeom prst="ellipse">
              <a:avLst/>
            </a:prstGeom>
            <a:solidFill>
              <a:srgbClr val="0442F0"/>
            </a:solidFill>
            <a:ln w="0">
              <a:solidFill>
                <a:srgbClr val="000000"/>
              </a:solidFill>
              <a:round/>
              <a:headEnd/>
              <a:tailEnd/>
            </a:ln>
          </p:spPr>
          <p:txBody>
            <a:bodyPr/>
            <a:lstStyle/>
            <a:p>
              <a:endParaRPr lang="en-US"/>
            </a:p>
          </p:txBody>
        </p:sp>
        <p:sp>
          <p:nvSpPr>
            <p:cNvPr id="74783" name="Rectangle 31"/>
            <p:cNvSpPr>
              <a:spLocks noChangeArrowheads="1"/>
            </p:cNvSpPr>
            <p:nvPr/>
          </p:nvSpPr>
          <p:spPr bwMode="auto">
            <a:xfrm>
              <a:off x="3600" y="3373"/>
              <a:ext cx="315" cy="91"/>
            </a:xfrm>
            <a:prstGeom prst="rect">
              <a:avLst/>
            </a:prstGeom>
            <a:solidFill>
              <a:srgbClr val="0442F0"/>
            </a:solidFill>
            <a:ln w="0">
              <a:solidFill>
                <a:srgbClr val="000000"/>
              </a:solidFill>
              <a:miter lim="800000"/>
              <a:headEnd/>
              <a:tailEnd/>
            </a:ln>
          </p:spPr>
          <p:txBody>
            <a:bodyPr/>
            <a:lstStyle/>
            <a:p>
              <a:endParaRPr lang="en-US"/>
            </a:p>
          </p:txBody>
        </p:sp>
        <p:sp>
          <p:nvSpPr>
            <p:cNvPr id="74784" name="Rectangle 32"/>
            <p:cNvSpPr>
              <a:spLocks noChangeArrowheads="1"/>
            </p:cNvSpPr>
            <p:nvPr/>
          </p:nvSpPr>
          <p:spPr bwMode="auto">
            <a:xfrm>
              <a:off x="3600" y="3554"/>
              <a:ext cx="315" cy="90"/>
            </a:xfrm>
            <a:prstGeom prst="rect">
              <a:avLst/>
            </a:prstGeom>
            <a:solidFill>
              <a:srgbClr val="0442F0"/>
            </a:solidFill>
            <a:ln w="0">
              <a:solidFill>
                <a:srgbClr val="000000"/>
              </a:solidFill>
              <a:miter lim="800000"/>
              <a:headEnd/>
              <a:tailEnd/>
            </a:ln>
          </p:spPr>
          <p:txBody>
            <a:bodyPr/>
            <a:lstStyle/>
            <a:p>
              <a:endParaRPr lang="en-US"/>
            </a:p>
          </p:txBody>
        </p:sp>
        <p:sp>
          <p:nvSpPr>
            <p:cNvPr id="74785" name="Rectangle 33"/>
            <p:cNvSpPr>
              <a:spLocks noChangeArrowheads="1"/>
            </p:cNvSpPr>
            <p:nvPr/>
          </p:nvSpPr>
          <p:spPr bwMode="auto">
            <a:xfrm>
              <a:off x="3758" y="3007"/>
              <a:ext cx="405" cy="96"/>
            </a:xfrm>
            <a:prstGeom prst="rect">
              <a:avLst/>
            </a:prstGeom>
            <a:noFill/>
            <a:ln w="9525">
              <a:noFill/>
              <a:miter lim="800000"/>
              <a:headEnd/>
              <a:tailEnd/>
            </a:ln>
          </p:spPr>
          <p:txBody>
            <a:bodyPr wrap="none" lIns="0" tIns="0" rIns="0" bIns="0">
              <a:spAutoFit/>
            </a:bodyPr>
            <a:lstStyle/>
            <a:p>
              <a:pPr algn="l" eaLnBrk="0" hangingPunct="0">
                <a:spcBef>
                  <a:spcPct val="0"/>
                </a:spcBef>
              </a:pPr>
              <a:r>
                <a:rPr lang="en-US" sz="1000">
                  <a:latin typeface="Arial" pitchFamily="34" charset="0"/>
                </a:rPr>
                <a:t>StudentInfo</a:t>
              </a:r>
              <a:endParaRPr lang="en-US"/>
            </a:p>
          </p:txBody>
        </p:sp>
        <p:sp>
          <p:nvSpPr>
            <p:cNvPr id="74786" name="Rectangle 34"/>
            <p:cNvSpPr>
              <a:spLocks noChangeArrowheads="1"/>
            </p:cNvSpPr>
            <p:nvPr/>
          </p:nvSpPr>
          <p:spPr bwMode="auto">
            <a:xfrm>
              <a:off x="4741" y="3103"/>
              <a:ext cx="380" cy="576"/>
            </a:xfrm>
            <a:prstGeom prst="rect">
              <a:avLst/>
            </a:prstGeom>
            <a:noFill/>
            <a:ln w="0">
              <a:solidFill>
                <a:srgbClr val="000000"/>
              </a:solidFill>
              <a:miter lim="800000"/>
              <a:headEnd/>
              <a:tailEnd/>
            </a:ln>
          </p:spPr>
          <p:txBody>
            <a:bodyPr/>
            <a:lstStyle/>
            <a:p>
              <a:endParaRPr lang="en-US"/>
            </a:p>
          </p:txBody>
        </p:sp>
        <p:sp>
          <p:nvSpPr>
            <p:cNvPr id="74787" name="Oval 35"/>
            <p:cNvSpPr>
              <a:spLocks noChangeArrowheads="1"/>
            </p:cNvSpPr>
            <p:nvPr/>
          </p:nvSpPr>
          <p:spPr bwMode="auto">
            <a:xfrm>
              <a:off x="4583" y="3162"/>
              <a:ext cx="315" cy="90"/>
            </a:xfrm>
            <a:prstGeom prst="ellipse">
              <a:avLst/>
            </a:prstGeom>
            <a:solidFill>
              <a:srgbClr val="0442F0"/>
            </a:solidFill>
            <a:ln w="0">
              <a:solidFill>
                <a:srgbClr val="000000"/>
              </a:solidFill>
              <a:round/>
              <a:headEnd/>
              <a:tailEnd/>
            </a:ln>
          </p:spPr>
          <p:txBody>
            <a:bodyPr/>
            <a:lstStyle/>
            <a:p>
              <a:endParaRPr lang="en-US"/>
            </a:p>
          </p:txBody>
        </p:sp>
        <p:sp>
          <p:nvSpPr>
            <p:cNvPr id="74788" name="Rectangle 36"/>
            <p:cNvSpPr>
              <a:spLocks noChangeArrowheads="1"/>
            </p:cNvSpPr>
            <p:nvPr/>
          </p:nvSpPr>
          <p:spPr bwMode="auto">
            <a:xfrm>
              <a:off x="4583" y="3343"/>
              <a:ext cx="315" cy="90"/>
            </a:xfrm>
            <a:prstGeom prst="rect">
              <a:avLst/>
            </a:prstGeom>
            <a:solidFill>
              <a:srgbClr val="0442F0"/>
            </a:solidFill>
            <a:ln w="0">
              <a:solidFill>
                <a:srgbClr val="000000"/>
              </a:solidFill>
              <a:miter lim="800000"/>
              <a:headEnd/>
              <a:tailEnd/>
            </a:ln>
          </p:spPr>
          <p:txBody>
            <a:bodyPr/>
            <a:lstStyle/>
            <a:p>
              <a:endParaRPr lang="en-US"/>
            </a:p>
          </p:txBody>
        </p:sp>
        <p:sp>
          <p:nvSpPr>
            <p:cNvPr id="74789" name="Rectangle 37"/>
            <p:cNvSpPr>
              <a:spLocks noChangeArrowheads="1"/>
            </p:cNvSpPr>
            <p:nvPr/>
          </p:nvSpPr>
          <p:spPr bwMode="auto">
            <a:xfrm>
              <a:off x="4583" y="3523"/>
              <a:ext cx="315" cy="90"/>
            </a:xfrm>
            <a:prstGeom prst="rect">
              <a:avLst/>
            </a:prstGeom>
            <a:solidFill>
              <a:srgbClr val="0442F0"/>
            </a:solidFill>
            <a:ln w="0">
              <a:solidFill>
                <a:srgbClr val="000000"/>
              </a:solidFill>
              <a:miter lim="800000"/>
              <a:headEnd/>
              <a:tailEnd/>
            </a:ln>
          </p:spPr>
          <p:txBody>
            <a:bodyPr/>
            <a:lstStyle/>
            <a:p>
              <a:endParaRPr lang="en-US"/>
            </a:p>
          </p:txBody>
        </p:sp>
        <p:sp>
          <p:nvSpPr>
            <p:cNvPr id="74790" name="Rectangle 38"/>
            <p:cNvSpPr>
              <a:spLocks noChangeArrowheads="1"/>
            </p:cNvSpPr>
            <p:nvPr/>
          </p:nvSpPr>
          <p:spPr bwMode="auto">
            <a:xfrm>
              <a:off x="4741" y="2976"/>
              <a:ext cx="473" cy="96"/>
            </a:xfrm>
            <a:prstGeom prst="rect">
              <a:avLst/>
            </a:prstGeom>
            <a:noFill/>
            <a:ln w="9525">
              <a:noFill/>
              <a:miter lim="800000"/>
              <a:headEnd/>
              <a:tailEnd/>
            </a:ln>
          </p:spPr>
          <p:txBody>
            <a:bodyPr wrap="none" lIns="0" tIns="0" rIns="0" bIns="0">
              <a:spAutoFit/>
            </a:bodyPr>
            <a:lstStyle/>
            <a:p>
              <a:pPr algn="l" eaLnBrk="0" hangingPunct="0">
                <a:spcBef>
                  <a:spcPct val="0"/>
                </a:spcBef>
              </a:pPr>
              <a:r>
                <a:rPr lang="en-US" sz="1000">
                  <a:latin typeface="Arial" pitchFamily="34" charset="0"/>
                </a:rPr>
                <a:t>ProfessorInfo</a:t>
              </a:r>
              <a:endParaRPr lang="en-US"/>
            </a:p>
          </p:txBody>
        </p:sp>
        <p:sp>
          <p:nvSpPr>
            <p:cNvPr id="74808" name="Line 56"/>
            <p:cNvSpPr>
              <a:spLocks noChangeShapeType="1"/>
            </p:cNvSpPr>
            <p:nvPr/>
          </p:nvSpPr>
          <p:spPr bwMode="auto">
            <a:xfrm flipH="1" flipV="1">
              <a:off x="3894" y="2095"/>
              <a:ext cx="42" cy="61"/>
            </a:xfrm>
            <a:prstGeom prst="line">
              <a:avLst/>
            </a:prstGeom>
            <a:noFill/>
            <a:ln w="9525">
              <a:solidFill>
                <a:schemeClr val="folHlink"/>
              </a:solidFill>
              <a:prstDash val="dash"/>
              <a:round/>
              <a:headEnd/>
              <a:tailEnd/>
            </a:ln>
          </p:spPr>
          <p:txBody>
            <a:bodyPr/>
            <a:lstStyle/>
            <a:p>
              <a:endParaRPr lang="en-US"/>
            </a:p>
          </p:txBody>
        </p:sp>
        <p:sp>
          <p:nvSpPr>
            <p:cNvPr id="74809" name="Line 57"/>
            <p:cNvSpPr>
              <a:spLocks noChangeShapeType="1"/>
            </p:cNvSpPr>
            <p:nvPr/>
          </p:nvSpPr>
          <p:spPr bwMode="auto">
            <a:xfrm flipH="1" flipV="1">
              <a:off x="3863" y="2145"/>
              <a:ext cx="73" cy="11"/>
            </a:xfrm>
            <a:prstGeom prst="line">
              <a:avLst/>
            </a:prstGeom>
            <a:noFill/>
            <a:ln w="9525">
              <a:solidFill>
                <a:schemeClr val="folHlink"/>
              </a:solidFill>
              <a:prstDash val="dash"/>
              <a:round/>
              <a:headEnd/>
              <a:tailEnd/>
            </a:ln>
          </p:spPr>
          <p:txBody>
            <a:bodyPr/>
            <a:lstStyle/>
            <a:p>
              <a:endParaRPr lang="en-US"/>
            </a:p>
          </p:txBody>
        </p:sp>
        <p:sp>
          <p:nvSpPr>
            <p:cNvPr id="74811" name="Rectangle 59"/>
            <p:cNvSpPr>
              <a:spLocks noChangeArrowheads="1"/>
            </p:cNvSpPr>
            <p:nvPr/>
          </p:nvSpPr>
          <p:spPr bwMode="auto">
            <a:xfrm>
              <a:off x="3085" y="1951"/>
              <a:ext cx="380" cy="576"/>
            </a:xfrm>
            <a:prstGeom prst="rect">
              <a:avLst/>
            </a:prstGeom>
            <a:noFill/>
            <a:ln w="0">
              <a:solidFill>
                <a:srgbClr val="000000"/>
              </a:solidFill>
              <a:miter lim="800000"/>
              <a:headEnd/>
              <a:tailEnd/>
            </a:ln>
          </p:spPr>
          <p:txBody>
            <a:bodyPr/>
            <a:lstStyle/>
            <a:p>
              <a:endParaRPr lang="en-US"/>
            </a:p>
          </p:txBody>
        </p:sp>
        <p:sp>
          <p:nvSpPr>
            <p:cNvPr id="74812" name="Rectangle 60"/>
            <p:cNvSpPr>
              <a:spLocks noChangeArrowheads="1"/>
            </p:cNvSpPr>
            <p:nvPr/>
          </p:nvSpPr>
          <p:spPr bwMode="auto">
            <a:xfrm>
              <a:off x="3085" y="1824"/>
              <a:ext cx="447" cy="96"/>
            </a:xfrm>
            <a:prstGeom prst="rect">
              <a:avLst/>
            </a:prstGeom>
            <a:noFill/>
            <a:ln w="9525">
              <a:noFill/>
              <a:miter lim="800000"/>
              <a:headEnd/>
              <a:tailEnd/>
            </a:ln>
          </p:spPr>
          <p:txBody>
            <a:bodyPr wrap="none" lIns="0" tIns="0" rIns="0" bIns="0">
              <a:spAutoFit/>
            </a:bodyPr>
            <a:lstStyle/>
            <a:p>
              <a:pPr algn="l" eaLnBrk="0" hangingPunct="0">
                <a:spcBef>
                  <a:spcPct val="0"/>
                </a:spcBef>
              </a:pPr>
              <a:r>
                <a:rPr lang="en-US" sz="1000">
                  <a:latin typeface="Arial" pitchFamily="34" charset="0"/>
                </a:rPr>
                <a:t>Register.exe</a:t>
              </a:r>
              <a:endParaRPr lang="en-US"/>
            </a:p>
          </p:txBody>
        </p:sp>
        <p:sp>
          <p:nvSpPr>
            <p:cNvPr id="74813" name="Oval 61"/>
            <p:cNvSpPr>
              <a:spLocks noChangeArrowheads="1"/>
            </p:cNvSpPr>
            <p:nvPr/>
          </p:nvSpPr>
          <p:spPr bwMode="auto">
            <a:xfrm>
              <a:off x="2928" y="2010"/>
              <a:ext cx="315" cy="90"/>
            </a:xfrm>
            <a:prstGeom prst="ellipse">
              <a:avLst/>
            </a:prstGeom>
            <a:solidFill>
              <a:srgbClr val="0442F0"/>
            </a:solidFill>
            <a:ln w="0">
              <a:solidFill>
                <a:schemeClr val="folHlink"/>
              </a:solidFill>
              <a:round/>
              <a:headEnd/>
              <a:tailEnd/>
            </a:ln>
          </p:spPr>
          <p:txBody>
            <a:bodyPr/>
            <a:lstStyle/>
            <a:p>
              <a:endParaRPr lang="en-US"/>
            </a:p>
          </p:txBody>
        </p:sp>
        <p:sp>
          <p:nvSpPr>
            <p:cNvPr id="74814" name="Rectangle 62"/>
            <p:cNvSpPr>
              <a:spLocks noChangeArrowheads="1"/>
            </p:cNvSpPr>
            <p:nvPr/>
          </p:nvSpPr>
          <p:spPr bwMode="auto">
            <a:xfrm>
              <a:off x="2928" y="2191"/>
              <a:ext cx="315" cy="90"/>
            </a:xfrm>
            <a:prstGeom prst="rect">
              <a:avLst/>
            </a:prstGeom>
            <a:solidFill>
              <a:schemeClr val="tx2"/>
            </a:solidFill>
            <a:ln w="0">
              <a:solidFill>
                <a:schemeClr val="folHlink"/>
              </a:solidFill>
              <a:miter lim="800000"/>
              <a:headEnd/>
              <a:tailEnd/>
            </a:ln>
          </p:spPr>
          <p:txBody>
            <a:bodyPr/>
            <a:lstStyle/>
            <a:p>
              <a:endParaRPr lang="en-US"/>
            </a:p>
          </p:txBody>
        </p:sp>
        <p:sp>
          <p:nvSpPr>
            <p:cNvPr id="74815" name="Rectangle 63"/>
            <p:cNvSpPr>
              <a:spLocks noChangeArrowheads="1"/>
            </p:cNvSpPr>
            <p:nvPr/>
          </p:nvSpPr>
          <p:spPr bwMode="auto">
            <a:xfrm>
              <a:off x="2928" y="2371"/>
              <a:ext cx="315" cy="90"/>
            </a:xfrm>
            <a:prstGeom prst="rect">
              <a:avLst/>
            </a:prstGeom>
            <a:solidFill>
              <a:schemeClr val="tx2"/>
            </a:solidFill>
            <a:ln w="0">
              <a:solidFill>
                <a:schemeClr val="folHlink"/>
              </a:solidFill>
              <a:miter lim="800000"/>
              <a:headEnd/>
              <a:tailEnd/>
            </a:ln>
          </p:spPr>
          <p:txBody>
            <a:bodyPr/>
            <a:lstStyle/>
            <a:p>
              <a:endParaRPr lang="en-US"/>
            </a:p>
          </p:txBody>
        </p:sp>
        <p:sp>
          <p:nvSpPr>
            <p:cNvPr id="74816" name="Line 64"/>
            <p:cNvSpPr>
              <a:spLocks noChangeShapeType="1"/>
            </p:cNvSpPr>
            <p:nvPr/>
          </p:nvSpPr>
          <p:spPr bwMode="auto">
            <a:xfrm flipH="1">
              <a:off x="2496" y="2160"/>
              <a:ext cx="432" cy="432"/>
            </a:xfrm>
            <a:prstGeom prst="line">
              <a:avLst/>
            </a:prstGeom>
            <a:noFill/>
            <a:ln w="12700">
              <a:solidFill>
                <a:srgbClr val="000000"/>
              </a:solidFill>
              <a:prstDash val="sysDot"/>
              <a:miter lim="800000"/>
              <a:headEnd type="none" w="sm" len="sm"/>
              <a:tailEnd type="triangle" w="sm" len="sm"/>
            </a:ln>
            <a:effectLst/>
          </p:spPr>
          <p:txBody>
            <a:bodyPr wrap="none"/>
            <a:lstStyle/>
            <a:p>
              <a:endParaRPr lang="en-US"/>
            </a:p>
          </p:txBody>
        </p:sp>
        <p:sp>
          <p:nvSpPr>
            <p:cNvPr id="74817" name="Line 65"/>
            <p:cNvSpPr>
              <a:spLocks noChangeShapeType="1"/>
            </p:cNvSpPr>
            <p:nvPr/>
          </p:nvSpPr>
          <p:spPr bwMode="auto">
            <a:xfrm>
              <a:off x="3456" y="2064"/>
              <a:ext cx="288" cy="336"/>
            </a:xfrm>
            <a:prstGeom prst="line">
              <a:avLst/>
            </a:prstGeom>
            <a:noFill/>
            <a:ln w="12700">
              <a:solidFill>
                <a:srgbClr val="000000"/>
              </a:solidFill>
              <a:prstDash val="sysDot"/>
              <a:miter lim="800000"/>
              <a:headEnd type="none" w="sm" len="sm"/>
              <a:tailEnd type="triangle" w="sm" len="sm"/>
            </a:ln>
            <a:effectLst/>
          </p:spPr>
          <p:txBody>
            <a:bodyPr wrap="none"/>
            <a:lstStyle/>
            <a:p>
              <a:endParaRPr lang="en-US"/>
            </a:p>
          </p:txBody>
        </p:sp>
        <p:sp>
          <p:nvSpPr>
            <p:cNvPr id="74820" name="Line 68"/>
            <p:cNvSpPr>
              <a:spLocks noChangeShapeType="1"/>
            </p:cNvSpPr>
            <p:nvPr/>
          </p:nvSpPr>
          <p:spPr bwMode="auto">
            <a:xfrm flipH="1">
              <a:off x="3984" y="2784"/>
              <a:ext cx="48" cy="240"/>
            </a:xfrm>
            <a:prstGeom prst="line">
              <a:avLst/>
            </a:prstGeom>
            <a:noFill/>
            <a:ln w="19050">
              <a:solidFill>
                <a:srgbClr val="000000"/>
              </a:solidFill>
              <a:prstDash val="sysDot"/>
              <a:miter lim="800000"/>
              <a:headEnd type="none" w="sm" len="sm"/>
              <a:tailEnd type="triangle" w="sm" len="sm"/>
            </a:ln>
            <a:effectLst/>
          </p:spPr>
          <p:txBody>
            <a:bodyPr wrap="none"/>
            <a:lstStyle/>
            <a:p>
              <a:endParaRPr lang="en-US"/>
            </a:p>
          </p:txBody>
        </p:sp>
        <p:sp>
          <p:nvSpPr>
            <p:cNvPr id="74821" name="Line 69"/>
            <p:cNvSpPr>
              <a:spLocks noChangeShapeType="1"/>
            </p:cNvSpPr>
            <p:nvPr/>
          </p:nvSpPr>
          <p:spPr bwMode="auto">
            <a:xfrm>
              <a:off x="4272" y="2688"/>
              <a:ext cx="432" cy="288"/>
            </a:xfrm>
            <a:prstGeom prst="line">
              <a:avLst/>
            </a:prstGeom>
            <a:noFill/>
            <a:ln w="19050">
              <a:solidFill>
                <a:srgbClr val="000000"/>
              </a:solidFill>
              <a:prstDash val="sysDot"/>
              <a:miter lim="800000"/>
              <a:headEnd type="none" w="sm" len="sm"/>
              <a:tailEnd type="triangle" w="sm" len="sm"/>
            </a:ln>
            <a:effectLst/>
          </p:spPr>
          <p:txBody>
            <a:bodyPr wrap="none"/>
            <a:lstStyle/>
            <a:p>
              <a:endParaRPr lang="en-US"/>
            </a:p>
          </p:txBody>
        </p:sp>
        <p:sp>
          <p:nvSpPr>
            <p:cNvPr id="74822" name="Line 70"/>
            <p:cNvSpPr>
              <a:spLocks noChangeShapeType="1"/>
            </p:cNvSpPr>
            <p:nvPr/>
          </p:nvSpPr>
          <p:spPr bwMode="auto">
            <a:xfrm flipH="1">
              <a:off x="1776" y="2976"/>
              <a:ext cx="432" cy="288"/>
            </a:xfrm>
            <a:prstGeom prst="line">
              <a:avLst/>
            </a:prstGeom>
            <a:noFill/>
            <a:ln w="19050">
              <a:solidFill>
                <a:srgbClr val="000000"/>
              </a:solidFill>
              <a:prstDash val="sysDot"/>
              <a:miter lim="800000"/>
              <a:headEnd type="none" w="sm" len="sm"/>
              <a:tailEnd type="triangle" w="sm" len="sm"/>
            </a:ln>
            <a:effectLst/>
          </p:spPr>
          <p:txBody>
            <a:bodyPr wrap="none"/>
            <a:lstStyle/>
            <a:p>
              <a:endParaRPr lang="en-US"/>
            </a:p>
          </p:txBody>
        </p:sp>
        <p:sp>
          <p:nvSpPr>
            <p:cNvPr id="74823" name="Line 71"/>
            <p:cNvSpPr>
              <a:spLocks noChangeShapeType="1"/>
            </p:cNvSpPr>
            <p:nvPr/>
          </p:nvSpPr>
          <p:spPr bwMode="auto">
            <a:xfrm>
              <a:off x="2352" y="2928"/>
              <a:ext cx="480" cy="336"/>
            </a:xfrm>
            <a:prstGeom prst="line">
              <a:avLst/>
            </a:prstGeom>
            <a:noFill/>
            <a:ln w="19050">
              <a:solidFill>
                <a:srgbClr val="000000"/>
              </a:solidFill>
              <a:prstDash val="sysDot"/>
              <a:miter lim="800000"/>
              <a:headEnd type="none" w="sm" len="sm"/>
              <a:tailEnd type="triangle" w="sm" len="sm"/>
            </a:ln>
            <a:effectLst/>
          </p:spPr>
          <p:txBody>
            <a:bodyPr wrap="none"/>
            <a:lstStyle/>
            <a:p>
              <a:endParaRPr lang="en-US"/>
            </a:p>
          </p:txBody>
        </p:sp>
      </p:grpSp>
      <p:sp>
        <p:nvSpPr>
          <p:cNvPr id="50" name="Footer Placeholder 49"/>
          <p:cNvSpPr>
            <a:spLocks noGrp="1"/>
          </p:cNvSpPr>
          <p:nvPr>
            <p:ph type="ftr" sz="quarter" idx="11"/>
          </p:nvPr>
        </p:nvSpPr>
        <p:spPr/>
        <p:txBody>
          <a:bodyPr/>
          <a:lstStyle/>
          <a:p>
            <a:r>
              <a:rPr lang="en-US"/>
              <a:t>Chapter 6-Object-oriented design</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 name="Slide Number Placeholder 4"/>
          <p:cNvSpPr>
            <a:spLocks noGrp="1"/>
          </p:cNvSpPr>
          <p:nvPr>
            <p:ph type="sldNum" sz="quarter" idx="11"/>
          </p:nvPr>
        </p:nvSpPr>
        <p:spPr/>
        <p:txBody>
          <a:bodyPr/>
          <a:lstStyle/>
          <a:p>
            <a:fld id="{685F596B-AE1B-4F15-9715-F00DF022D9BD}" type="slidenum">
              <a:rPr lang="en-US"/>
              <a:pPr/>
              <a:t>109</a:t>
            </a:fld>
            <a:endParaRPr lang="en-US"/>
          </a:p>
        </p:txBody>
      </p:sp>
      <p:sp>
        <p:nvSpPr>
          <p:cNvPr id="15362" name="Rectangle 2"/>
          <p:cNvSpPr>
            <a:spLocks noGrp="1" noChangeArrowheads="1"/>
          </p:cNvSpPr>
          <p:nvPr>
            <p:ph type="title"/>
          </p:nvPr>
        </p:nvSpPr>
        <p:spPr/>
        <p:txBody>
          <a:bodyPr/>
          <a:lstStyle/>
          <a:p>
            <a:r>
              <a:rPr lang="en-US" dirty="0"/>
              <a:t>Deployment diagram</a:t>
            </a:r>
          </a:p>
        </p:txBody>
      </p:sp>
      <p:sp>
        <p:nvSpPr>
          <p:cNvPr id="15363" name="Rectangle 3"/>
          <p:cNvSpPr>
            <a:spLocks noGrp="1" noChangeArrowheads="1"/>
          </p:cNvSpPr>
          <p:nvPr>
            <p:ph type="body" idx="1"/>
          </p:nvPr>
        </p:nvSpPr>
        <p:spPr>
          <a:xfrm>
            <a:off x="685800" y="1752600"/>
            <a:ext cx="7769225" cy="1295400"/>
          </a:xfrm>
        </p:spPr>
        <p:txBody>
          <a:bodyPr/>
          <a:lstStyle/>
          <a:p>
            <a:pPr lvl="1" algn="just"/>
            <a:r>
              <a:rPr lang="en-US" sz="2400" dirty="0"/>
              <a:t>Displays the configuration of run-time processing elements and the software components, processes, and objects that live on them</a:t>
            </a:r>
          </a:p>
          <a:p>
            <a:pPr algn="just"/>
            <a:endParaRPr lang="en-US" sz="2400" dirty="0"/>
          </a:p>
          <a:p>
            <a:pPr algn="just">
              <a:buFontTx/>
              <a:buNone/>
            </a:pPr>
            <a:endParaRPr lang="en-US" sz="2400" dirty="0"/>
          </a:p>
        </p:txBody>
      </p:sp>
      <p:grpSp>
        <p:nvGrpSpPr>
          <p:cNvPr id="2" name="Group 36"/>
          <p:cNvGrpSpPr>
            <a:grpSpLocks/>
          </p:cNvGrpSpPr>
          <p:nvPr/>
        </p:nvGrpSpPr>
        <p:grpSpPr bwMode="auto">
          <a:xfrm>
            <a:off x="1828800" y="3124200"/>
            <a:ext cx="5835650" cy="2968625"/>
            <a:chOff x="1152" y="1968"/>
            <a:chExt cx="3676" cy="1870"/>
          </a:xfrm>
        </p:grpSpPr>
        <p:sp>
          <p:nvSpPr>
            <p:cNvPr id="15365" name="Rectangle 5"/>
            <p:cNvSpPr>
              <a:spLocks noChangeArrowheads="1"/>
            </p:cNvSpPr>
            <p:nvPr/>
          </p:nvSpPr>
          <p:spPr bwMode="auto">
            <a:xfrm>
              <a:off x="2261" y="2025"/>
              <a:ext cx="670" cy="576"/>
            </a:xfrm>
            <a:prstGeom prst="rect">
              <a:avLst/>
            </a:prstGeom>
            <a:noFill/>
            <a:ln w="0">
              <a:solidFill>
                <a:srgbClr val="000000"/>
              </a:solidFill>
              <a:miter lim="800000"/>
              <a:headEnd/>
              <a:tailEnd/>
            </a:ln>
          </p:spPr>
          <p:txBody>
            <a:bodyPr/>
            <a:lstStyle/>
            <a:p>
              <a:endParaRPr lang="en-US"/>
            </a:p>
          </p:txBody>
        </p:sp>
        <p:sp>
          <p:nvSpPr>
            <p:cNvPr id="15366" name="Freeform 6"/>
            <p:cNvSpPr>
              <a:spLocks/>
            </p:cNvSpPr>
            <p:nvPr/>
          </p:nvSpPr>
          <p:spPr bwMode="auto">
            <a:xfrm>
              <a:off x="2261" y="1968"/>
              <a:ext cx="791" cy="57"/>
            </a:xfrm>
            <a:custGeom>
              <a:avLst/>
              <a:gdLst/>
              <a:ahLst/>
              <a:cxnLst>
                <a:cxn ang="0">
                  <a:pos x="0" y="57"/>
                </a:cxn>
                <a:cxn ang="0">
                  <a:pos x="173" y="0"/>
                </a:cxn>
                <a:cxn ang="0">
                  <a:pos x="791" y="0"/>
                </a:cxn>
                <a:cxn ang="0">
                  <a:pos x="670" y="57"/>
                </a:cxn>
              </a:cxnLst>
              <a:rect l="0" t="0" r="r" b="b"/>
              <a:pathLst>
                <a:path w="791" h="57">
                  <a:moveTo>
                    <a:pt x="0" y="57"/>
                  </a:moveTo>
                  <a:lnTo>
                    <a:pt x="173" y="0"/>
                  </a:lnTo>
                  <a:lnTo>
                    <a:pt x="791" y="0"/>
                  </a:lnTo>
                  <a:lnTo>
                    <a:pt x="670" y="57"/>
                  </a:lnTo>
                </a:path>
              </a:pathLst>
            </a:custGeom>
            <a:noFill/>
            <a:ln w="0">
              <a:solidFill>
                <a:srgbClr val="000000"/>
              </a:solidFill>
              <a:prstDash val="solid"/>
              <a:round/>
              <a:headEnd/>
              <a:tailEnd/>
            </a:ln>
          </p:spPr>
          <p:txBody>
            <a:bodyPr/>
            <a:lstStyle/>
            <a:p>
              <a:endParaRPr lang="en-US"/>
            </a:p>
          </p:txBody>
        </p:sp>
        <p:sp>
          <p:nvSpPr>
            <p:cNvPr id="15367" name="Freeform 7"/>
            <p:cNvSpPr>
              <a:spLocks/>
            </p:cNvSpPr>
            <p:nvPr/>
          </p:nvSpPr>
          <p:spPr bwMode="auto">
            <a:xfrm>
              <a:off x="2931" y="1968"/>
              <a:ext cx="121" cy="633"/>
            </a:xfrm>
            <a:custGeom>
              <a:avLst/>
              <a:gdLst/>
              <a:ahLst/>
              <a:cxnLst>
                <a:cxn ang="0">
                  <a:pos x="0" y="57"/>
                </a:cxn>
                <a:cxn ang="0">
                  <a:pos x="121" y="0"/>
                </a:cxn>
                <a:cxn ang="0">
                  <a:pos x="121" y="547"/>
                </a:cxn>
                <a:cxn ang="0">
                  <a:pos x="0" y="633"/>
                </a:cxn>
              </a:cxnLst>
              <a:rect l="0" t="0" r="r" b="b"/>
              <a:pathLst>
                <a:path w="121" h="633">
                  <a:moveTo>
                    <a:pt x="0" y="57"/>
                  </a:moveTo>
                  <a:lnTo>
                    <a:pt x="121" y="0"/>
                  </a:lnTo>
                  <a:lnTo>
                    <a:pt x="121" y="547"/>
                  </a:lnTo>
                  <a:lnTo>
                    <a:pt x="0" y="633"/>
                  </a:lnTo>
                </a:path>
              </a:pathLst>
            </a:custGeom>
            <a:noFill/>
            <a:ln w="0">
              <a:solidFill>
                <a:srgbClr val="000000"/>
              </a:solidFill>
              <a:prstDash val="solid"/>
              <a:round/>
              <a:headEnd/>
              <a:tailEnd/>
            </a:ln>
          </p:spPr>
          <p:txBody>
            <a:bodyPr/>
            <a:lstStyle/>
            <a:p>
              <a:endParaRPr lang="en-US"/>
            </a:p>
          </p:txBody>
        </p:sp>
        <p:sp>
          <p:nvSpPr>
            <p:cNvPr id="15368" name="Rectangle 8"/>
            <p:cNvSpPr>
              <a:spLocks noChangeArrowheads="1"/>
            </p:cNvSpPr>
            <p:nvPr/>
          </p:nvSpPr>
          <p:spPr bwMode="auto">
            <a:xfrm>
              <a:off x="2299" y="2033"/>
              <a:ext cx="596" cy="134"/>
            </a:xfrm>
            <a:prstGeom prst="rect">
              <a:avLst/>
            </a:prstGeom>
            <a:noFill/>
            <a:ln w="9525">
              <a:noFill/>
              <a:miter lim="800000"/>
              <a:headEnd/>
              <a:tailEnd/>
            </a:ln>
          </p:spPr>
          <p:txBody>
            <a:bodyPr wrap="none" lIns="0" tIns="0" rIns="0" bIns="0">
              <a:spAutoFit/>
            </a:bodyPr>
            <a:lstStyle/>
            <a:p>
              <a:pPr algn="l" eaLnBrk="0" hangingPunct="0">
                <a:spcBef>
                  <a:spcPct val="0"/>
                </a:spcBef>
              </a:pPr>
              <a:r>
                <a:rPr lang="en-US" sz="1400">
                  <a:latin typeface="Arial" pitchFamily="34" charset="0"/>
                </a:rPr>
                <a:t>Registration</a:t>
              </a:r>
              <a:endParaRPr lang="en-US"/>
            </a:p>
          </p:txBody>
        </p:sp>
        <p:sp>
          <p:nvSpPr>
            <p:cNvPr id="15370" name="Rectangle 10"/>
            <p:cNvSpPr>
              <a:spLocks noChangeArrowheads="1"/>
            </p:cNvSpPr>
            <p:nvPr/>
          </p:nvSpPr>
          <p:spPr bwMode="auto">
            <a:xfrm>
              <a:off x="4037" y="2314"/>
              <a:ext cx="670" cy="576"/>
            </a:xfrm>
            <a:prstGeom prst="rect">
              <a:avLst/>
            </a:prstGeom>
            <a:noFill/>
            <a:ln w="0">
              <a:solidFill>
                <a:srgbClr val="000000"/>
              </a:solidFill>
              <a:miter lim="800000"/>
              <a:headEnd/>
              <a:tailEnd/>
            </a:ln>
          </p:spPr>
          <p:txBody>
            <a:bodyPr/>
            <a:lstStyle/>
            <a:p>
              <a:endParaRPr lang="en-US"/>
            </a:p>
          </p:txBody>
        </p:sp>
        <p:sp>
          <p:nvSpPr>
            <p:cNvPr id="15371" name="Freeform 11"/>
            <p:cNvSpPr>
              <a:spLocks/>
            </p:cNvSpPr>
            <p:nvPr/>
          </p:nvSpPr>
          <p:spPr bwMode="auto">
            <a:xfrm>
              <a:off x="4037" y="2256"/>
              <a:ext cx="791" cy="58"/>
            </a:xfrm>
            <a:custGeom>
              <a:avLst/>
              <a:gdLst/>
              <a:ahLst/>
              <a:cxnLst>
                <a:cxn ang="0">
                  <a:pos x="0" y="58"/>
                </a:cxn>
                <a:cxn ang="0">
                  <a:pos x="173" y="0"/>
                </a:cxn>
                <a:cxn ang="0">
                  <a:pos x="791" y="0"/>
                </a:cxn>
                <a:cxn ang="0">
                  <a:pos x="670" y="58"/>
                </a:cxn>
              </a:cxnLst>
              <a:rect l="0" t="0" r="r" b="b"/>
              <a:pathLst>
                <a:path w="791" h="58">
                  <a:moveTo>
                    <a:pt x="0" y="58"/>
                  </a:moveTo>
                  <a:lnTo>
                    <a:pt x="173" y="0"/>
                  </a:lnTo>
                  <a:lnTo>
                    <a:pt x="791" y="0"/>
                  </a:lnTo>
                  <a:lnTo>
                    <a:pt x="670" y="58"/>
                  </a:lnTo>
                </a:path>
              </a:pathLst>
            </a:custGeom>
            <a:noFill/>
            <a:ln w="0">
              <a:solidFill>
                <a:srgbClr val="000000"/>
              </a:solidFill>
              <a:prstDash val="solid"/>
              <a:round/>
              <a:headEnd/>
              <a:tailEnd/>
            </a:ln>
          </p:spPr>
          <p:txBody>
            <a:bodyPr/>
            <a:lstStyle/>
            <a:p>
              <a:endParaRPr lang="en-US"/>
            </a:p>
          </p:txBody>
        </p:sp>
        <p:sp>
          <p:nvSpPr>
            <p:cNvPr id="15372" name="Freeform 12"/>
            <p:cNvSpPr>
              <a:spLocks/>
            </p:cNvSpPr>
            <p:nvPr/>
          </p:nvSpPr>
          <p:spPr bwMode="auto">
            <a:xfrm>
              <a:off x="4707" y="2256"/>
              <a:ext cx="121" cy="634"/>
            </a:xfrm>
            <a:custGeom>
              <a:avLst/>
              <a:gdLst/>
              <a:ahLst/>
              <a:cxnLst>
                <a:cxn ang="0">
                  <a:pos x="0" y="58"/>
                </a:cxn>
                <a:cxn ang="0">
                  <a:pos x="121" y="0"/>
                </a:cxn>
                <a:cxn ang="0">
                  <a:pos x="121" y="548"/>
                </a:cxn>
                <a:cxn ang="0">
                  <a:pos x="0" y="634"/>
                </a:cxn>
              </a:cxnLst>
              <a:rect l="0" t="0" r="r" b="b"/>
              <a:pathLst>
                <a:path w="121" h="634">
                  <a:moveTo>
                    <a:pt x="0" y="58"/>
                  </a:moveTo>
                  <a:lnTo>
                    <a:pt x="121" y="0"/>
                  </a:lnTo>
                  <a:lnTo>
                    <a:pt x="121" y="548"/>
                  </a:lnTo>
                  <a:lnTo>
                    <a:pt x="0" y="634"/>
                  </a:lnTo>
                </a:path>
              </a:pathLst>
            </a:custGeom>
            <a:noFill/>
            <a:ln w="0">
              <a:solidFill>
                <a:srgbClr val="000000"/>
              </a:solidFill>
              <a:prstDash val="solid"/>
              <a:round/>
              <a:headEnd/>
              <a:tailEnd/>
            </a:ln>
          </p:spPr>
          <p:txBody>
            <a:bodyPr/>
            <a:lstStyle/>
            <a:p>
              <a:endParaRPr lang="en-US"/>
            </a:p>
          </p:txBody>
        </p:sp>
        <p:sp>
          <p:nvSpPr>
            <p:cNvPr id="15373" name="Rectangle 13"/>
            <p:cNvSpPr>
              <a:spLocks noChangeArrowheads="1"/>
            </p:cNvSpPr>
            <p:nvPr/>
          </p:nvSpPr>
          <p:spPr bwMode="auto">
            <a:xfrm>
              <a:off x="4132" y="2322"/>
              <a:ext cx="478" cy="134"/>
            </a:xfrm>
            <a:prstGeom prst="rect">
              <a:avLst/>
            </a:prstGeom>
            <a:noFill/>
            <a:ln w="9525">
              <a:noFill/>
              <a:miter lim="800000"/>
              <a:headEnd/>
              <a:tailEnd/>
            </a:ln>
          </p:spPr>
          <p:txBody>
            <a:bodyPr wrap="none" lIns="0" tIns="0" rIns="0" bIns="0">
              <a:spAutoFit/>
            </a:bodyPr>
            <a:lstStyle/>
            <a:p>
              <a:pPr algn="l" eaLnBrk="0" hangingPunct="0">
                <a:spcBef>
                  <a:spcPct val="0"/>
                </a:spcBef>
              </a:pPr>
              <a:r>
                <a:rPr lang="en-US" sz="1400">
                  <a:latin typeface="Arial" pitchFamily="34" charset="0"/>
                </a:rPr>
                <a:t>Database</a:t>
              </a:r>
              <a:endParaRPr lang="en-US"/>
            </a:p>
          </p:txBody>
        </p:sp>
        <p:sp>
          <p:nvSpPr>
            <p:cNvPr id="15375" name="Rectangle 15"/>
            <p:cNvSpPr>
              <a:spLocks noChangeArrowheads="1"/>
            </p:cNvSpPr>
            <p:nvPr/>
          </p:nvSpPr>
          <p:spPr bwMode="auto">
            <a:xfrm>
              <a:off x="1152" y="2892"/>
              <a:ext cx="658" cy="564"/>
            </a:xfrm>
            <a:prstGeom prst="rect">
              <a:avLst/>
            </a:prstGeom>
            <a:noFill/>
            <a:ln w="0">
              <a:solidFill>
                <a:srgbClr val="000000"/>
              </a:solidFill>
              <a:miter lim="800000"/>
              <a:headEnd/>
              <a:tailEnd/>
            </a:ln>
          </p:spPr>
          <p:txBody>
            <a:bodyPr/>
            <a:lstStyle/>
            <a:p>
              <a:endParaRPr lang="en-US"/>
            </a:p>
          </p:txBody>
        </p:sp>
        <p:sp>
          <p:nvSpPr>
            <p:cNvPr id="15376" name="Freeform 16"/>
            <p:cNvSpPr>
              <a:spLocks/>
            </p:cNvSpPr>
            <p:nvPr/>
          </p:nvSpPr>
          <p:spPr bwMode="auto">
            <a:xfrm>
              <a:off x="1152" y="2834"/>
              <a:ext cx="779" cy="58"/>
            </a:xfrm>
            <a:custGeom>
              <a:avLst/>
              <a:gdLst/>
              <a:ahLst/>
              <a:cxnLst>
                <a:cxn ang="0">
                  <a:pos x="0" y="58"/>
                </a:cxn>
                <a:cxn ang="0">
                  <a:pos x="172" y="0"/>
                </a:cxn>
                <a:cxn ang="0">
                  <a:pos x="779" y="0"/>
                </a:cxn>
                <a:cxn ang="0">
                  <a:pos x="658" y="58"/>
                </a:cxn>
              </a:cxnLst>
              <a:rect l="0" t="0" r="r" b="b"/>
              <a:pathLst>
                <a:path w="779" h="58">
                  <a:moveTo>
                    <a:pt x="0" y="58"/>
                  </a:moveTo>
                  <a:lnTo>
                    <a:pt x="172" y="0"/>
                  </a:lnTo>
                  <a:lnTo>
                    <a:pt x="779" y="0"/>
                  </a:lnTo>
                  <a:lnTo>
                    <a:pt x="658" y="58"/>
                  </a:lnTo>
                </a:path>
              </a:pathLst>
            </a:custGeom>
            <a:noFill/>
            <a:ln w="0">
              <a:solidFill>
                <a:srgbClr val="000000"/>
              </a:solidFill>
              <a:prstDash val="solid"/>
              <a:round/>
              <a:headEnd/>
              <a:tailEnd/>
            </a:ln>
          </p:spPr>
          <p:txBody>
            <a:bodyPr/>
            <a:lstStyle/>
            <a:p>
              <a:endParaRPr lang="en-US"/>
            </a:p>
          </p:txBody>
        </p:sp>
        <p:sp>
          <p:nvSpPr>
            <p:cNvPr id="15377" name="Freeform 17"/>
            <p:cNvSpPr>
              <a:spLocks/>
            </p:cNvSpPr>
            <p:nvPr/>
          </p:nvSpPr>
          <p:spPr bwMode="auto">
            <a:xfrm>
              <a:off x="1810" y="2834"/>
              <a:ext cx="121" cy="622"/>
            </a:xfrm>
            <a:custGeom>
              <a:avLst/>
              <a:gdLst/>
              <a:ahLst/>
              <a:cxnLst>
                <a:cxn ang="0">
                  <a:pos x="0" y="58"/>
                </a:cxn>
                <a:cxn ang="0">
                  <a:pos x="121" y="0"/>
                </a:cxn>
                <a:cxn ang="0">
                  <a:pos x="121" y="536"/>
                </a:cxn>
                <a:cxn ang="0">
                  <a:pos x="0" y="622"/>
                </a:cxn>
              </a:cxnLst>
              <a:rect l="0" t="0" r="r" b="b"/>
              <a:pathLst>
                <a:path w="121" h="622">
                  <a:moveTo>
                    <a:pt x="0" y="58"/>
                  </a:moveTo>
                  <a:lnTo>
                    <a:pt x="121" y="0"/>
                  </a:lnTo>
                  <a:lnTo>
                    <a:pt x="121" y="536"/>
                  </a:lnTo>
                  <a:lnTo>
                    <a:pt x="0" y="622"/>
                  </a:lnTo>
                </a:path>
              </a:pathLst>
            </a:custGeom>
            <a:noFill/>
            <a:ln w="0">
              <a:solidFill>
                <a:srgbClr val="000000"/>
              </a:solidFill>
              <a:prstDash val="solid"/>
              <a:round/>
              <a:headEnd/>
              <a:tailEnd/>
            </a:ln>
          </p:spPr>
          <p:txBody>
            <a:bodyPr/>
            <a:lstStyle/>
            <a:p>
              <a:endParaRPr lang="en-US"/>
            </a:p>
          </p:txBody>
        </p:sp>
        <p:sp>
          <p:nvSpPr>
            <p:cNvPr id="15378" name="Rectangle 18"/>
            <p:cNvSpPr>
              <a:spLocks noChangeArrowheads="1"/>
            </p:cNvSpPr>
            <p:nvPr/>
          </p:nvSpPr>
          <p:spPr bwMode="auto">
            <a:xfrm>
              <a:off x="1307" y="2900"/>
              <a:ext cx="341" cy="134"/>
            </a:xfrm>
            <a:prstGeom prst="rect">
              <a:avLst/>
            </a:prstGeom>
            <a:noFill/>
            <a:ln w="9525">
              <a:noFill/>
              <a:miter lim="800000"/>
              <a:headEnd/>
              <a:tailEnd/>
            </a:ln>
          </p:spPr>
          <p:txBody>
            <a:bodyPr wrap="none" lIns="0" tIns="0" rIns="0" bIns="0">
              <a:spAutoFit/>
            </a:bodyPr>
            <a:lstStyle/>
            <a:p>
              <a:pPr algn="l" eaLnBrk="0" hangingPunct="0">
                <a:spcBef>
                  <a:spcPct val="0"/>
                </a:spcBef>
              </a:pPr>
              <a:r>
                <a:rPr lang="en-US" sz="1400">
                  <a:latin typeface="Arial" pitchFamily="34" charset="0"/>
                </a:rPr>
                <a:t>Library</a:t>
              </a:r>
              <a:endParaRPr lang="en-US"/>
            </a:p>
          </p:txBody>
        </p:sp>
        <p:sp>
          <p:nvSpPr>
            <p:cNvPr id="15380" name="Rectangle 20"/>
            <p:cNvSpPr>
              <a:spLocks noChangeArrowheads="1"/>
            </p:cNvSpPr>
            <p:nvPr/>
          </p:nvSpPr>
          <p:spPr bwMode="auto">
            <a:xfrm>
              <a:off x="2117" y="3274"/>
              <a:ext cx="670" cy="564"/>
            </a:xfrm>
            <a:prstGeom prst="rect">
              <a:avLst/>
            </a:prstGeom>
            <a:noFill/>
            <a:ln w="0">
              <a:solidFill>
                <a:srgbClr val="000000"/>
              </a:solidFill>
              <a:miter lim="800000"/>
              <a:headEnd/>
              <a:tailEnd/>
            </a:ln>
          </p:spPr>
          <p:txBody>
            <a:bodyPr/>
            <a:lstStyle/>
            <a:p>
              <a:endParaRPr lang="en-US"/>
            </a:p>
          </p:txBody>
        </p:sp>
        <p:sp>
          <p:nvSpPr>
            <p:cNvPr id="15381" name="Freeform 21"/>
            <p:cNvSpPr>
              <a:spLocks/>
            </p:cNvSpPr>
            <p:nvPr/>
          </p:nvSpPr>
          <p:spPr bwMode="auto">
            <a:xfrm>
              <a:off x="2117" y="3216"/>
              <a:ext cx="791" cy="58"/>
            </a:xfrm>
            <a:custGeom>
              <a:avLst/>
              <a:gdLst/>
              <a:ahLst/>
              <a:cxnLst>
                <a:cxn ang="0">
                  <a:pos x="0" y="58"/>
                </a:cxn>
                <a:cxn ang="0">
                  <a:pos x="173" y="0"/>
                </a:cxn>
                <a:cxn ang="0">
                  <a:pos x="791" y="0"/>
                </a:cxn>
                <a:cxn ang="0">
                  <a:pos x="670" y="58"/>
                </a:cxn>
              </a:cxnLst>
              <a:rect l="0" t="0" r="r" b="b"/>
              <a:pathLst>
                <a:path w="791" h="58">
                  <a:moveTo>
                    <a:pt x="0" y="58"/>
                  </a:moveTo>
                  <a:lnTo>
                    <a:pt x="173" y="0"/>
                  </a:lnTo>
                  <a:lnTo>
                    <a:pt x="791" y="0"/>
                  </a:lnTo>
                  <a:lnTo>
                    <a:pt x="670" y="58"/>
                  </a:lnTo>
                </a:path>
              </a:pathLst>
            </a:custGeom>
            <a:noFill/>
            <a:ln w="0">
              <a:solidFill>
                <a:srgbClr val="000000"/>
              </a:solidFill>
              <a:prstDash val="solid"/>
              <a:round/>
              <a:headEnd/>
              <a:tailEnd/>
            </a:ln>
          </p:spPr>
          <p:txBody>
            <a:bodyPr/>
            <a:lstStyle/>
            <a:p>
              <a:endParaRPr lang="en-US"/>
            </a:p>
          </p:txBody>
        </p:sp>
        <p:sp>
          <p:nvSpPr>
            <p:cNvPr id="15382" name="Freeform 22"/>
            <p:cNvSpPr>
              <a:spLocks/>
            </p:cNvSpPr>
            <p:nvPr/>
          </p:nvSpPr>
          <p:spPr bwMode="auto">
            <a:xfrm>
              <a:off x="2784" y="3216"/>
              <a:ext cx="121" cy="622"/>
            </a:xfrm>
            <a:custGeom>
              <a:avLst/>
              <a:gdLst/>
              <a:ahLst/>
              <a:cxnLst>
                <a:cxn ang="0">
                  <a:pos x="0" y="58"/>
                </a:cxn>
                <a:cxn ang="0">
                  <a:pos x="121" y="0"/>
                </a:cxn>
                <a:cxn ang="0">
                  <a:pos x="121" y="536"/>
                </a:cxn>
                <a:cxn ang="0">
                  <a:pos x="0" y="622"/>
                </a:cxn>
              </a:cxnLst>
              <a:rect l="0" t="0" r="r" b="b"/>
              <a:pathLst>
                <a:path w="121" h="622">
                  <a:moveTo>
                    <a:pt x="0" y="58"/>
                  </a:moveTo>
                  <a:lnTo>
                    <a:pt x="121" y="0"/>
                  </a:lnTo>
                  <a:lnTo>
                    <a:pt x="121" y="536"/>
                  </a:lnTo>
                  <a:lnTo>
                    <a:pt x="0" y="622"/>
                  </a:lnTo>
                </a:path>
              </a:pathLst>
            </a:custGeom>
            <a:noFill/>
            <a:ln w="0">
              <a:solidFill>
                <a:srgbClr val="000000"/>
              </a:solidFill>
              <a:prstDash val="solid"/>
              <a:round/>
              <a:headEnd/>
              <a:tailEnd/>
            </a:ln>
          </p:spPr>
          <p:txBody>
            <a:bodyPr/>
            <a:lstStyle/>
            <a:p>
              <a:endParaRPr lang="en-US"/>
            </a:p>
          </p:txBody>
        </p:sp>
        <p:sp>
          <p:nvSpPr>
            <p:cNvPr id="15383" name="Rectangle 23"/>
            <p:cNvSpPr>
              <a:spLocks noChangeArrowheads="1"/>
            </p:cNvSpPr>
            <p:nvPr/>
          </p:nvSpPr>
          <p:spPr bwMode="auto">
            <a:xfrm>
              <a:off x="2315" y="3282"/>
              <a:ext cx="273" cy="134"/>
            </a:xfrm>
            <a:prstGeom prst="rect">
              <a:avLst/>
            </a:prstGeom>
            <a:noFill/>
            <a:ln w="9525">
              <a:noFill/>
              <a:miter lim="800000"/>
              <a:headEnd/>
              <a:tailEnd/>
            </a:ln>
          </p:spPr>
          <p:txBody>
            <a:bodyPr wrap="none" lIns="0" tIns="0" rIns="0" bIns="0">
              <a:spAutoFit/>
            </a:bodyPr>
            <a:lstStyle/>
            <a:p>
              <a:pPr algn="l" eaLnBrk="0" hangingPunct="0">
                <a:spcBef>
                  <a:spcPct val="0"/>
                </a:spcBef>
              </a:pPr>
              <a:r>
                <a:rPr lang="en-US" sz="1400">
                  <a:latin typeface="Arial" pitchFamily="34" charset="0"/>
                </a:rPr>
                <a:t>Dorm</a:t>
              </a:r>
              <a:endParaRPr lang="en-US"/>
            </a:p>
          </p:txBody>
        </p:sp>
        <p:sp>
          <p:nvSpPr>
            <p:cNvPr id="15385" name="Rectangle 25"/>
            <p:cNvSpPr>
              <a:spLocks noChangeArrowheads="1"/>
            </p:cNvSpPr>
            <p:nvPr/>
          </p:nvSpPr>
          <p:spPr bwMode="auto">
            <a:xfrm>
              <a:off x="3173" y="3034"/>
              <a:ext cx="658" cy="564"/>
            </a:xfrm>
            <a:prstGeom prst="rect">
              <a:avLst/>
            </a:prstGeom>
            <a:noFill/>
            <a:ln w="0">
              <a:solidFill>
                <a:srgbClr val="000000"/>
              </a:solidFill>
              <a:miter lim="800000"/>
              <a:headEnd/>
              <a:tailEnd/>
            </a:ln>
          </p:spPr>
          <p:txBody>
            <a:bodyPr/>
            <a:lstStyle/>
            <a:p>
              <a:endParaRPr lang="en-US"/>
            </a:p>
          </p:txBody>
        </p:sp>
        <p:sp>
          <p:nvSpPr>
            <p:cNvPr id="15386" name="Freeform 26"/>
            <p:cNvSpPr>
              <a:spLocks/>
            </p:cNvSpPr>
            <p:nvPr/>
          </p:nvSpPr>
          <p:spPr bwMode="auto">
            <a:xfrm>
              <a:off x="3173" y="2976"/>
              <a:ext cx="779" cy="58"/>
            </a:xfrm>
            <a:custGeom>
              <a:avLst/>
              <a:gdLst/>
              <a:ahLst/>
              <a:cxnLst>
                <a:cxn ang="0">
                  <a:pos x="0" y="58"/>
                </a:cxn>
                <a:cxn ang="0">
                  <a:pos x="172" y="0"/>
                </a:cxn>
                <a:cxn ang="0">
                  <a:pos x="779" y="0"/>
                </a:cxn>
                <a:cxn ang="0">
                  <a:pos x="658" y="58"/>
                </a:cxn>
              </a:cxnLst>
              <a:rect l="0" t="0" r="r" b="b"/>
              <a:pathLst>
                <a:path w="779" h="58">
                  <a:moveTo>
                    <a:pt x="0" y="58"/>
                  </a:moveTo>
                  <a:lnTo>
                    <a:pt x="172" y="0"/>
                  </a:lnTo>
                  <a:lnTo>
                    <a:pt x="779" y="0"/>
                  </a:lnTo>
                  <a:lnTo>
                    <a:pt x="658" y="58"/>
                  </a:lnTo>
                </a:path>
              </a:pathLst>
            </a:custGeom>
            <a:noFill/>
            <a:ln w="0">
              <a:solidFill>
                <a:srgbClr val="000000"/>
              </a:solidFill>
              <a:prstDash val="solid"/>
              <a:round/>
              <a:headEnd/>
              <a:tailEnd/>
            </a:ln>
          </p:spPr>
          <p:txBody>
            <a:bodyPr/>
            <a:lstStyle/>
            <a:p>
              <a:endParaRPr lang="en-US"/>
            </a:p>
          </p:txBody>
        </p:sp>
        <p:sp>
          <p:nvSpPr>
            <p:cNvPr id="15387" name="Freeform 27"/>
            <p:cNvSpPr>
              <a:spLocks/>
            </p:cNvSpPr>
            <p:nvPr/>
          </p:nvSpPr>
          <p:spPr bwMode="auto">
            <a:xfrm>
              <a:off x="3831" y="2976"/>
              <a:ext cx="121" cy="622"/>
            </a:xfrm>
            <a:custGeom>
              <a:avLst/>
              <a:gdLst/>
              <a:ahLst/>
              <a:cxnLst>
                <a:cxn ang="0">
                  <a:pos x="0" y="58"/>
                </a:cxn>
                <a:cxn ang="0">
                  <a:pos x="121" y="0"/>
                </a:cxn>
                <a:cxn ang="0">
                  <a:pos x="121" y="536"/>
                </a:cxn>
                <a:cxn ang="0">
                  <a:pos x="0" y="622"/>
                </a:cxn>
              </a:cxnLst>
              <a:rect l="0" t="0" r="r" b="b"/>
              <a:pathLst>
                <a:path w="121" h="622">
                  <a:moveTo>
                    <a:pt x="0" y="58"/>
                  </a:moveTo>
                  <a:lnTo>
                    <a:pt x="121" y="0"/>
                  </a:lnTo>
                  <a:lnTo>
                    <a:pt x="121" y="536"/>
                  </a:lnTo>
                  <a:lnTo>
                    <a:pt x="0" y="622"/>
                  </a:lnTo>
                </a:path>
              </a:pathLst>
            </a:custGeom>
            <a:noFill/>
            <a:ln w="0">
              <a:solidFill>
                <a:srgbClr val="000000"/>
              </a:solidFill>
              <a:prstDash val="solid"/>
              <a:round/>
              <a:headEnd/>
              <a:tailEnd/>
            </a:ln>
          </p:spPr>
          <p:txBody>
            <a:bodyPr/>
            <a:lstStyle/>
            <a:p>
              <a:endParaRPr lang="en-US"/>
            </a:p>
          </p:txBody>
        </p:sp>
        <p:sp>
          <p:nvSpPr>
            <p:cNvPr id="15388" name="Rectangle 28"/>
            <p:cNvSpPr>
              <a:spLocks noChangeArrowheads="1"/>
            </p:cNvSpPr>
            <p:nvPr/>
          </p:nvSpPr>
          <p:spPr bwMode="auto">
            <a:xfrm>
              <a:off x="3361" y="3042"/>
              <a:ext cx="273" cy="134"/>
            </a:xfrm>
            <a:prstGeom prst="rect">
              <a:avLst/>
            </a:prstGeom>
            <a:noFill/>
            <a:ln w="9525">
              <a:noFill/>
              <a:miter lim="800000"/>
              <a:headEnd/>
              <a:tailEnd/>
            </a:ln>
          </p:spPr>
          <p:txBody>
            <a:bodyPr wrap="none" lIns="0" tIns="0" rIns="0" bIns="0">
              <a:spAutoFit/>
            </a:bodyPr>
            <a:lstStyle/>
            <a:p>
              <a:pPr algn="l" eaLnBrk="0" hangingPunct="0">
                <a:spcBef>
                  <a:spcPct val="0"/>
                </a:spcBef>
              </a:pPr>
              <a:r>
                <a:rPr lang="en-US" sz="1400">
                  <a:latin typeface="Arial" pitchFamily="34" charset="0"/>
                </a:rPr>
                <a:t>Main </a:t>
              </a:r>
              <a:endParaRPr lang="en-US"/>
            </a:p>
          </p:txBody>
        </p:sp>
        <p:sp>
          <p:nvSpPr>
            <p:cNvPr id="15389" name="Rectangle 29"/>
            <p:cNvSpPr>
              <a:spLocks noChangeArrowheads="1"/>
            </p:cNvSpPr>
            <p:nvPr/>
          </p:nvSpPr>
          <p:spPr bwMode="auto">
            <a:xfrm>
              <a:off x="3301" y="3168"/>
              <a:ext cx="398" cy="134"/>
            </a:xfrm>
            <a:prstGeom prst="rect">
              <a:avLst/>
            </a:prstGeom>
            <a:noFill/>
            <a:ln w="9525">
              <a:noFill/>
              <a:miter lim="800000"/>
              <a:headEnd/>
              <a:tailEnd/>
            </a:ln>
          </p:spPr>
          <p:txBody>
            <a:bodyPr wrap="none" lIns="0" tIns="0" rIns="0" bIns="0">
              <a:spAutoFit/>
            </a:bodyPr>
            <a:lstStyle/>
            <a:p>
              <a:pPr algn="l" eaLnBrk="0" hangingPunct="0">
                <a:spcBef>
                  <a:spcPct val="0"/>
                </a:spcBef>
              </a:pPr>
              <a:r>
                <a:rPr lang="en-US" sz="1400">
                  <a:latin typeface="Arial" pitchFamily="34" charset="0"/>
                </a:rPr>
                <a:t>Building</a:t>
              </a:r>
              <a:endParaRPr lang="en-US"/>
            </a:p>
          </p:txBody>
        </p:sp>
        <p:sp>
          <p:nvSpPr>
            <p:cNvPr id="15391" name="Line 31"/>
            <p:cNvSpPr>
              <a:spLocks noChangeShapeType="1"/>
            </p:cNvSpPr>
            <p:nvPr/>
          </p:nvSpPr>
          <p:spPr bwMode="auto">
            <a:xfrm flipH="1">
              <a:off x="1925" y="2621"/>
              <a:ext cx="818" cy="451"/>
            </a:xfrm>
            <a:prstGeom prst="line">
              <a:avLst/>
            </a:prstGeom>
            <a:noFill/>
            <a:ln w="0">
              <a:solidFill>
                <a:srgbClr val="000000"/>
              </a:solidFill>
              <a:round/>
              <a:headEnd/>
              <a:tailEnd/>
            </a:ln>
          </p:spPr>
          <p:txBody>
            <a:bodyPr/>
            <a:lstStyle/>
            <a:p>
              <a:endParaRPr lang="en-US"/>
            </a:p>
          </p:txBody>
        </p:sp>
        <p:sp>
          <p:nvSpPr>
            <p:cNvPr id="15392" name="Line 32"/>
            <p:cNvSpPr>
              <a:spLocks noChangeShapeType="1"/>
            </p:cNvSpPr>
            <p:nvPr/>
          </p:nvSpPr>
          <p:spPr bwMode="auto">
            <a:xfrm flipH="1">
              <a:off x="2597" y="2621"/>
              <a:ext cx="146" cy="595"/>
            </a:xfrm>
            <a:prstGeom prst="line">
              <a:avLst/>
            </a:prstGeom>
            <a:noFill/>
            <a:ln w="0">
              <a:solidFill>
                <a:srgbClr val="000000"/>
              </a:solidFill>
              <a:round/>
              <a:headEnd/>
              <a:tailEnd/>
            </a:ln>
          </p:spPr>
          <p:txBody>
            <a:bodyPr/>
            <a:lstStyle/>
            <a:p>
              <a:endParaRPr lang="en-US"/>
            </a:p>
          </p:txBody>
        </p:sp>
        <p:sp>
          <p:nvSpPr>
            <p:cNvPr id="15393" name="Line 33"/>
            <p:cNvSpPr>
              <a:spLocks noChangeShapeType="1"/>
            </p:cNvSpPr>
            <p:nvPr/>
          </p:nvSpPr>
          <p:spPr bwMode="auto">
            <a:xfrm>
              <a:off x="2743" y="2621"/>
              <a:ext cx="430" cy="499"/>
            </a:xfrm>
            <a:prstGeom prst="line">
              <a:avLst/>
            </a:prstGeom>
            <a:noFill/>
            <a:ln w="0">
              <a:solidFill>
                <a:srgbClr val="000000"/>
              </a:solidFill>
              <a:round/>
              <a:headEnd/>
              <a:tailEnd/>
            </a:ln>
          </p:spPr>
          <p:txBody>
            <a:bodyPr/>
            <a:lstStyle/>
            <a:p>
              <a:endParaRPr lang="en-US"/>
            </a:p>
          </p:txBody>
        </p:sp>
        <p:sp>
          <p:nvSpPr>
            <p:cNvPr id="15394" name="Line 34"/>
            <p:cNvSpPr>
              <a:spLocks noChangeShapeType="1"/>
            </p:cNvSpPr>
            <p:nvPr/>
          </p:nvSpPr>
          <p:spPr bwMode="auto">
            <a:xfrm>
              <a:off x="3072" y="2352"/>
              <a:ext cx="965" cy="144"/>
            </a:xfrm>
            <a:prstGeom prst="line">
              <a:avLst/>
            </a:prstGeom>
            <a:noFill/>
            <a:ln w="0">
              <a:solidFill>
                <a:srgbClr val="000000"/>
              </a:solidFill>
              <a:round/>
              <a:headEnd/>
              <a:tailEnd/>
            </a:ln>
          </p:spPr>
          <p:txBody>
            <a:bodyPr/>
            <a:lstStyle/>
            <a:p>
              <a:endParaRPr lang="en-US"/>
            </a:p>
          </p:txBody>
        </p:sp>
      </p:grpSp>
      <p:sp>
        <p:nvSpPr>
          <p:cNvPr id="32" name="Footer Placeholder 31"/>
          <p:cNvSpPr>
            <a:spLocks noGrp="1"/>
          </p:cNvSpPr>
          <p:nvPr>
            <p:ph type="ftr" sz="quarter" idx="11"/>
          </p:nvPr>
        </p:nvSpPr>
        <p:spPr>
          <a:xfrm>
            <a:off x="1676400" y="6248400"/>
            <a:ext cx="2895600" cy="457200"/>
          </a:xfrm>
        </p:spPr>
        <p:txBody>
          <a:bodyPr/>
          <a:lstStyle/>
          <a:p>
            <a:r>
              <a:rPr lang="en-US" dirty="0"/>
              <a:t>Chapter 6-Object-oriented design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 calcmode="lin" valueType="num">
                                      <p:cBhvr additive="base">
                                        <p:cTn id="7" dur="500" fill="hold"/>
                                        <p:tgtEl>
                                          <p:spTgt spid="15362"/>
                                        </p:tgtEl>
                                        <p:attrNameLst>
                                          <p:attrName>ppt_x</p:attrName>
                                        </p:attrNameLst>
                                      </p:cBhvr>
                                      <p:tavLst>
                                        <p:tav tm="0">
                                          <p:val>
                                            <p:strVal val="1+#ppt_w/2"/>
                                          </p:val>
                                        </p:tav>
                                        <p:tav tm="100000">
                                          <p:val>
                                            <p:strVal val="#ppt_x"/>
                                          </p:val>
                                        </p:tav>
                                      </p:tavLst>
                                    </p:anim>
                                    <p:anim calcmode="lin" valueType="num">
                                      <p:cBhvr additive="base">
                                        <p:cTn id="8" dur="500" fill="hold"/>
                                        <p:tgtEl>
                                          <p:spTgt spid="153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5" fill="hold" grpId="0" nodeType="clickEffect">
                                  <p:stCondLst>
                                    <p:cond delay="0"/>
                                  </p:stCondLst>
                                  <p:childTnLst>
                                    <p:set>
                                      <p:cBhvr>
                                        <p:cTn id="12" dur="1" fill="hold">
                                          <p:stCondLst>
                                            <p:cond delay="0"/>
                                          </p:stCondLst>
                                        </p:cTn>
                                        <p:tgtEl>
                                          <p:spTgt spid="15363">
                                            <p:txEl>
                                              <p:pRg st="0" end="0"/>
                                            </p:txEl>
                                          </p:spTgt>
                                        </p:tgtEl>
                                        <p:attrNameLst>
                                          <p:attrName>style.visibility</p:attrName>
                                        </p:attrNameLst>
                                      </p:cBhvr>
                                      <p:to>
                                        <p:strVal val="visible"/>
                                      </p:to>
                                    </p:set>
                                    <p:animEffect transition="in" filter="checkerboard(down)">
                                      <p:cBhvr>
                                        <p:cTn id="13" dur="500"/>
                                        <p:tgtEl>
                                          <p:spTgt spid="153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3" grpId="0" build="p"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962C5170-6451-42AE-AEB6-25185F61B2A3}" type="slidenum">
              <a:rPr lang="en-US"/>
              <a:pPr/>
              <a:t>110</a:t>
            </a:fld>
            <a:endParaRPr lang="en-US"/>
          </a:p>
        </p:txBody>
      </p:sp>
      <p:sp>
        <p:nvSpPr>
          <p:cNvPr id="7170" name="Rectangle 2"/>
          <p:cNvSpPr>
            <a:spLocks noGrp="1" noChangeArrowheads="1"/>
          </p:cNvSpPr>
          <p:nvPr>
            <p:ph type="title"/>
          </p:nvPr>
        </p:nvSpPr>
        <p:spPr/>
        <p:txBody>
          <a:bodyPr/>
          <a:lstStyle/>
          <a:p>
            <a:r>
              <a:rPr lang="en-US"/>
              <a:t>DESIGN RULES</a:t>
            </a:r>
          </a:p>
        </p:txBody>
      </p:sp>
      <p:sp>
        <p:nvSpPr>
          <p:cNvPr id="7171" name="Rectangle 3"/>
          <p:cNvSpPr>
            <a:spLocks noGrp="1" noChangeArrowheads="1"/>
          </p:cNvSpPr>
          <p:nvPr>
            <p:ph type="body" idx="1"/>
          </p:nvPr>
        </p:nvSpPr>
        <p:spPr>
          <a:xfrm>
            <a:off x="914400" y="1981200"/>
            <a:ext cx="7772400" cy="4114800"/>
          </a:xfrm>
        </p:spPr>
        <p:txBody>
          <a:bodyPr/>
          <a:lstStyle/>
          <a:p>
            <a:r>
              <a:rPr lang="en-US"/>
              <a:t>1. Uncoupled design with less information content</a:t>
            </a:r>
          </a:p>
          <a:p>
            <a:r>
              <a:rPr lang="en-US"/>
              <a:t>2. Single purpose</a:t>
            </a:r>
          </a:p>
          <a:p>
            <a:r>
              <a:rPr lang="en-US"/>
              <a:t>3. Large number of simple classes</a:t>
            </a:r>
          </a:p>
          <a:p>
            <a:r>
              <a:rPr lang="en-US"/>
              <a:t>4. Strong mapping</a:t>
            </a:r>
          </a:p>
          <a:p>
            <a:r>
              <a:rPr lang="en-US"/>
              <a:t>5. Standardization</a:t>
            </a:r>
          </a:p>
          <a:p>
            <a:r>
              <a:rPr lang="en-US"/>
              <a:t>6. Design with inheritance</a:t>
            </a:r>
          </a:p>
          <a:p>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EBE5B1FD-1990-46FC-8FA0-6C0EBEB63CDE}" type="slidenum">
              <a:rPr lang="en-US"/>
              <a:pPr/>
              <a:t>111</a:t>
            </a:fld>
            <a:endParaRPr lang="en-US"/>
          </a:p>
        </p:txBody>
      </p:sp>
      <p:sp>
        <p:nvSpPr>
          <p:cNvPr id="8194" name="Rectangle 2"/>
          <p:cNvSpPr>
            <a:spLocks noGrp="1" noChangeArrowheads="1"/>
          </p:cNvSpPr>
          <p:nvPr>
            <p:ph type="title"/>
          </p:nvPr>
        </p:nvSpPr>
        <p:spPr/>
        <p:txBody>
          <a:bodyPr/>
          <a:lstStyle/>
          <a:p>
            <a:r>
              <a:rPr lang="en-US"/>
              <a:t>Design Rules</a:t>
            </a:r>
          </a:p>
        </p:txBody>
      </p:sp>
      <p:sp>
        <p:nvSpPr>
          <p:cNvPr id="8195" name="Rectangle 3"/>
          <p:cNvSpPr>
            <a:spLocks noGrp="1" noChangeArrowheads="1"/>
          </p:cNvSpPr>
          <p:nvPr>
            <p:ph type="body" idx="1"/>
          </p:nvPr>
        </p:nvSpPr>
        <p:spPr>
          <a:xfrm>
            <a:off x="1182688" y="2017712"/>
            <a:ext cx="7772400" cy="4230687"/>
          </a:xfrm>
        </p:spPr>
        <p:txBody>
          <a:bodyPr/>
          <a:lstStyle/>
          <a:p>
            <a:r>
              <a:rPr lang="en-US" sz="2800" dirty="0"/>
              <a:t>1. Uncoupled design with less information content</a:t>
            </a:r>
          </a:p>
          <a:p>
            <a:pPr lvl="1"/>
            <a:r>
              <a:rPr lang="en-US" sz="2400" dirty="0"/>
              <a:t>Highly cohesive objects can improve coupling because only a minimal amount of essential information need be passed between objects</a:t>
            </a:r>
          </a:p>
          <a:p>
            <a:pPr lvl="1"/>
            <a:r>
              <a:rPr lang="en-US" sz="2400" dirty="0"/>
              <a:t>Cohesion = interaction within a single object</a:t>
            </a:r>
          </a:p>
          <a:p>
            <a:pPr lvl="1"/>
            <a:r>
              <a:rPr lang="en-US" sz="2400" dirty="0"/>
              <a:t>Coupling = interaction between objects</a:t>
            </a:r>
          </a:p>
          <a:p>
            <a:pPr lvl="1"/>
            <a:r>
              <a:rPr lang="en-US" sz="2400" dirty="0"/>
              <a:t>High cohesion and Low coupling are desirable</a:t>
            </a:r>
            <a:r>
              <a:rPr lang="en-US" sz="2400" dirty="0">
                <a:sym typeface="Wingdings" pitchFamily="2" charset="2"/>
              </a:rPr>
              <a:t> </a:t>
            </a:r>
            <a:endParaRPr lang="en-US" sz="2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92EF5088-DE10-4170-99C4-EFD9CDD1A7F8}" type="slidenum">
              <a:rPr lang="en-US"/>
              <a:pPr/>
              <a:t>112</a:t>
            </a:fld>
            <a:endParaRPr lang="en-US"/>
          </a:p>
        </p:txBody>
      </p:sp>
      <p:sp>
        <p:nvSpPr>
          <p:cNvPr id="9218" name="Rectangle 2"/>
          <p:cNvSpPr>
            <a:spLocks noGrp="1" noChangeArrowheads="1"/>
          </p:cNvSpPr>
          <p:nvPr>
            <p:ph type="title"/>
          </p:nvPr>
        </p:nvSpPr>
        <p:spPr/>
        <p:txBody>
          <a:bodyPr/>
          <a:lstStyle/>
          <a:p>
            <a:r>
              <a:rPr lang="en-US"/>
              <a:t>Design Rules</a:t>
            </a:r>
          </a:p>
        </p:txBody>
      </p:sp>
      <p:sp>
        <p:nvSpPr>
          <p:cNvPr id="9219" name="Rectangle 3"/>
          <p:cNvSpPr>
            <a:spLocks noGrp="1" noChangeArrowheads="1"/>
          </p:cNvSpPr>
          <p:nvPr>
            <p:ph type="body" idx="1"/>
          </p:nvPr>
        </p:nvSpPr>
        <p:spPr/>
        <p:txBody>
          <a:bodyPr/>
          <a:lstStyle/>
          <a:p>
            <a:r>
              <a:rPr lang="en-US"/>
              <a:t>2. Single purpose</a:t>
            </a:r>
          </a:p>
          <a:p>
            <a:pPr lvl="1"/>
            <a:r>
              <a:rPr lang="en-US"/>
              <a:t>Each class must have a purpose and clearly defined</a:t>
            </a:r>
          </a:p>
          <a:p>
            <a:pPr lvl="1"/>
            <a:r>
              <a:rPr lang="en-US"/>
              <a:t>Each method must provide only one service</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605A5B6D-FAD0-44FE-93E0-120DBE8B703D}" type="slidenum">
              <a:rPr lang="en-US"/>
              <a:pPr/>
              <a:t>113</a:t>
            </a:fld>
            <a:endParaRPr lang="en-US"/>
          </a:p>
        </p:txBody>
      </p:sp>
      <p:sp>
        <p:nvSpPr>
          <p:cNvPr id="10242" name="Rectangle 2"/>
          <p:cNvSpPr>
            <a:spLocks noGrp="1" noChangeArrowheads="1"/>
          </p:cNvSpPr>
          <p:nvPr>
            <p:ph type="title"/>
          </p:nvPr>
        </p:nvSpPr>
        <p:spPr/>
        <p:txBody>
          <a:bodyPr/>
          <a:lstStyle/>
          <a:p>
            <a:r>
              <a:rPr lang="en-US"/>
              <a:t>Design Rules</a:t>
            </a:r>
          </a:p>
        </p:txBody>
      </p:sp>
      <p:sp>
        <p:nvSpPr>
          <p:cNvPr id="10243" name="Rectangle 3"/>
          <p:cNvSpPr>
            <a:spLocks noGrp="1" noChangeArrowheads="1"/>
          </p:cNvSpPr>
          <p:nvPr>
            <p:ph type="body" idx="1"/>
          </p:nvPr>
        </p:nvSpPr>
        <p:spPr/>
        <p:txBody>
          <a:bodyPr/>
          <a:lstStyle/>
          <a:p>
            <a:r>
              <a:rPr lang="en-US"/>
              <a:t>3. Large number of simple classes</a:t>
            </a:r>
          </a:p>
          <a:p>
            <a:pPr lvl="1"/>
            <a:r>
              <a:rPr lang="en-US"/>
              <a:t>Keeping the classes simple allows reusability</a:t>
            </a:r>
          </a:p>
          <a:p>
            <a:pPr lvl="1"/>
            <a:r>
              <a:rPr lang="en-US"/>
              <a:t>A class that easily can be understood and reused (or inherited) contributes to the overall system</a:t>
            </a:r>
          </a:p>
          <a:p>
            <a:pPr lvl="1"/>
            <a:r>
              <a:rPr lang="en-US"/>
              <a:t>Complex and poorly designed class usually cannot be reused</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A952C434-F9F2-427B-8AF9-0450C4A8E9BA}" type="slidenum">
              <a:rPr lang="en-US"/>
              <a:pPr/>
              <a:t>114</a:t>
            </a:fld>
            <a:endParaRPr lang="en-US"/>
          </a:p>
        </p:txBody>
      </p:sp>
      <p:sp>
        <p:nvSpPr>
          <p:cNvPr id="11266" name="Rectangle 2"/>
          <p:cNvSpPr>
            <a:spLocks noGrp="1" noChangeArrowheads="1"/>
          </p:cNvSpPr>
          <p:nvPr>
            <p:ph type="title"/>
          </p:nvPr>
        </p:nvSpPr>
        <p:spPr/>
        <p:txBody>
          <a:bodyPr/>
          <a:lstStyle/>
          <a:p>
            <a:r>
              <a:rPr lang="en-US"/>
              <a:t>Design Rules</a:t>
            </a:r>
          </a:p>
        </p:txBody>
      </p:sp>
      <p:sp>
        <p:nvSpPr>
          <p:cNvPr id="11267" name="Rectangle 3"/>
          <p:cNvSpPr>
            <a:spLocks noGrp="1" noChangeArrowheads="1"/>
          </p:cNvSpPr>
          <p:nvPr>
            <p:ph type="body" idx="1"/>
          </p:nvPr>
        </p:nvSpPr>
        <p:spPr/>
        <p:txBody>
          <a:bodyPr/>
          <a:lstStyle/>
          <a:p>
            <a:r>
              <a:rPr lang="en-US"/>
              <a:t>4. Strong mapping</a:t>
            </a:r>
          </a:p>
          <a:p>
            <a:pPr lvl="1"/>
            <a:r>
              <a:rPr lang="en-US"/>
              <a:t>There must be a strong association between analysis’s object and design’s object</a:t>
            </a:r>
          </a:p>
          <a:p>
            <a:pPr lvl="1"/>
            <a:r>
              <a:rPr lang="en-US"/>
              <a:t>OOA and OOD are based on the same model</a:t>
            </a:r>
          </a:p>
          <a:p>
            <a:pPr lvl="1"/>
            <a:r>
              <a:rPr lang="en-US"/>
              <a:t>As the model progresses from analysis to implementation, more detailed is added</a:t>
            </a:r>
          </a:p>
          <a:p>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AD45524D-A84B-46B7-9A09-97CBD224B36F}" type="slidenum">
              <a:rPr lang="en-US"/>
              <a:pPr/>
              <a:t>115</a:t>
            </a:fld>
            <a:endParaRPr lang="en-US"/>
          </a:p>
        </p:txBody>
      </p:sp>
      <p:sp>
        <p:nvSpPr>
          <p:cNvPr id="12290" name="Rectangle 2"/>
          <p:cNvSpPr>
            <a:spLocks noGrp="1" noChangeArrowheads="1"/>
          </p:cNvSpPr>
          <p:nvPr>
            <p:ph type="title"/>
          </p:nvPr>
        </p:nvSpPr>
        <p:spPr/>
        <p:txBody>
          <a:bodyPr/>
          <a:lstStyle/>
          <a:p>
            <a:r>
              <a:rPr lang="en-US"/>
              <a:t>Design Rules</a:t>
            </a:r>
          </a:p>
        </p:txBody>
      </p:sp>
      <p:sp>
        <p:nvSpPr>
          <p:cNvPr id="12291" name="Rectangle 3"/>
          <p:cNvSpPr>
            <a:spLocks noGrp="1" noChangeArrowheads="1"/>
          </p:cNvSpPr>
          <p:nvPr>
            <p:ph type="body" idx="1"/>
          </p:nvPr>
        </p:nvSpPr>
        <p:spPr/>
        <p:txBody>
          <a:bodyPr/>
          <a:lstStyle/>
          <a:p>
            <a:pPr>
              <a:lnSpc>
                <a:spcPct val="90000"/>
              </a:lnSpc>
            </a:pPr>
            <a:r>
              <a:rPr lang="en-US"/>
              <a:t>5. Standardization</a:t>
            </a:r>
          </a:p>
          <a:p>
            <a:pPr lvl="1">
              <a:lnSpc>
                <a:spcPct val="90000"/>
              </a:lnSpc>
            </a:pPr>
            <a:r>
              <a:rPr lang="en-US"/>
              <a:t>Promote standardization by designing interchangeable components and reusing existing classes or components</a:t>
            </a:r>
          </a:p>
          <a:p>
            <a:pPr lvl="1">
              <a:lnSpc>
                <a:spcPct val="90000"/>
              </a:lnSpc>
            </a:pPr>
            <a:r>
              <a:rPr lang="en-US"/>
              <a:t>The concept of design patterns might provide a way to capture the design knowledge, document it, and store it in a repository that can be shared and reused in different applications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5AA0E298-993E-4CB4-9AE1-890C9BD5F486}" type="slidenum">
              <a:rPr lang="en-US"/>
              <a:pPr/>
              <a:t>116</a:t>
            </a:fld>
            <a:endParaRPr lang="en-US"/>
          </a:p>
        </p:txBody>
      </p:sp>
      <p:sp>
        <p:nvSpPr>
          <p:cNvPr id="13314" name="Rectangle 2"/>
          <p:cNvSpPr>
            <a:spLocks noGrp="1" noChangeArrowheads="1"/>
          </p:cNvSpPr>
          <p:nvPr>
            <p:ph type="title"/>
          </p:nvPr>
        </p:nvSpPr>
        <p:spPr/>
        <p:txBody>
          <a:bodyPr/>
          <a:lstStyle/>
          <a:p>
            <a:r>
              <a:rPr lang="en-US"/>
              <a:t>Design Rules</a:t>
            </a:r>
          </a:p>
        </p:txBody>
      </p:sp>
      <p:sp>
        <p:nvSpPr>
          <p:cNvPr id="13315" name="Rectangle 3"/>
          <p:cNvSpPr>
            <a:spLocks noGrp="1" noChangeArrowheads="1"/>
          </p:cNvSpPr>
          <p:nvPr>
            <p:ph type="body" idx="1"/>
          </p:nvPr>
        </p:nvSpPr>
        <p:spPr/>
        <p:txBody>
          <a:bodyPr/>
          <a:lstStyle/>
          <a:p>
            <a:r>
              <a:rPr lang="en-US"/>
              <a:t>6. Design with inheritance</a:t>
            </a:r>
          </a:p>
          <a:p>
            <a:pPr lvl="1"/>
            <a:r>
              <a:rPr lang="en-US"/>
              <a:t>Common behavior (methods) must be moved to superclasses</a:t>
            </a:r>
          </a:p>
          <a:p>
            <a:pPr lvl="1"/>
            <a:r>
              <a:rPr lang="en-US"/>
              <a:t>The superclass-subclass structure must make logical sense</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685800" y="1981200"/>
            <a:ext cx="8116888" cy="4114800"/>
          </a:xfrm>
        </p:spPr>
        <p:txBody>
          <a:bodyPr/>
          <a:lstStyle/>
          <a:p>
            <a:r>
              <a:rPr lang="en-US" sz="2000" dirty="0"/>
              <a:t>Software design and implementation are inter-leaved activities. The level of detail in the design depends on the type of system and whether you are using a plan-driven or agile approach.</a:t>
            </a:r>
            <a:endParaRPr lang="en-GB" sz="2000" dirty="0"/>
          </a:p>
          <a:p>
            <a:r>
              <a:rPr lang="en-US" sz="2000" dirty="0"/>
              <a:t>The process of object-oriented design includes activities to design the system architecture, identify objects in the system, describe the design using different object models and document the component interfaces.</a:t>
            </a:r>
            <a:endParaRPr lang="en-GB" sz="2000" dirty="0"/>
          </a:p>
          <a:p>
            <a:r>
              <a:rPr lang="en-US" sz="2000" dirty="0"/>
              <a:t>A range of different models may be produced during an object-oriented design process. These include static models (class models, generalization models, association models) and dynamic models (sequence models, state machine models).</a:t>
            </a:r>
            <a:endParaRPr lang="en-GB" sz="2000" dirty="0"/>
          </a:p>
          <a:p>
            <a:r>
              <a:rPr lang="en-US" sz="2000" dirty="0"/>
              <a:t>Component interfaces must be defined precisely so that other objects can use them. A UML interface stereotype may be used to define interfaces.</a:t>
            </a:r>
            <a:endParaRPr lang="en-GB" sz="2000" dirty="0"/>
          </a:p>
          <a:p>
            <a:endParaRPr lang="en-US" dirty="0"/>
          </a:p>
        </p:txBody>
      </p:sp>
      <p:sp>
        <p:nvSpPr>
          <p:cNvPr id="4" name="Slide Number Placeholder 3"/>
          <p:cNvSpPr>
            <a:spLocks noGrp="1"/>
          </p:cNvSpPr>
          <p:nvPr>
            <p:ph type="sldNum" sz="quarter" idx="12"/>
          </p:nvPr>
        </p:nvSpPr>
        <p:spPr/>
        <p:txBody>
          <a:bodyPr/>
          <a:lstStyle/>
          <a:p>
            <a:fld id="{EC83099C-5FA5-B04A-B819-64718E2A253A}" type="slidenum">
              <a:rPr lang="en-US" smtClean="0"/>
              <a:pPr/>
              <a:t>117</a:t>
            </a:fld>
            <a:endParaRPr lang="en-US"/>
          </a:p>
        </p:txBody>
      </p:sp>
      <p:sp>
        <p:nvSpPr>
          <p:cNvPr id="5" name="Footer Placeholder 4"/>
          <p:cNvSpPr>
            <a:spLocks noGrp="1"/>
          </p:cNvSpPr>
          <p:nvPr>
            <p:ph type="ftr" sz="quarter" idx="11"/>
          </p:nvPr>
        </p:nvSpPr>
        <p:spPr/>
        <p:txBody>
          <a:bodyPr/>
          <a:lstStyle/>
          <a:p>
            <a:r>
              <a:rPr lang="en-US"/>
              <a:t>Chapter 6-Object-oriented design</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6BC73AFE-C031-46BF-A782-71951833F143}" type="slidenum">
              <a:rPr lang="en-US"/>
              <a:pPr/>
              <a:t>118</a:t>
            </a:fld>
            <a:endParaRPr lang="en-US"/>
          </a:p>
        </p:txBody>
      </p:sp>
      <p:sp>
        <p:nvSpPr>
          <p:cNvPr id="65538" name="Rectangle 2"/>
          <p:cNvSpPr>
            <a:spLocks noGrp="1" noChangeArrowheads="1"/>
          </p:cNvSpPr>
          <p:nvPr>
            <p:ph type="title"/>
          </p:nvPr>
        </p:nvSpPr>
        <p:spPr/>
        <p:txBody>
          <a:bodyPr/>
          <a:lstStyle/>
          <a:p>
            <a:r>
              <a:rPr lang="en-US" dirty="0"/>
              <a:t>Key points</a:t>
            </a:r>
          </a:p>
        </p:txBody>
      </p:sp>
      <p:sp>
        <p:nvSpPr>
          <p:cNvPr id="65539" name="Rectangle 3"/>
          <p:cNvSpPr>
            <a:spLocks noGrp="1" noChangeArrowheads="1"/>
          </p:cNvSpPr>
          <p:nvPr>
            <p:ph type="body" idx="1"/>
          </p:nvPr>
        </p:nvSpPr>
        <p:spPr>
          <a:xfrm>
            <a:off x="914400" y="1905000"/>
            <a:ext cx="7772400" cy="4114800"/>
          </a:xfrm>
        </p:spPr>
        <p:txBody>
          <a:bodyPr/>
          <a:lstStyle/>
          <a:p>
            <a:pPr>
              <a:lnSpc>
                <a:spcPct val="90000"/>
              </a:lnSpc>
            </a:pPr>
            <a:r>
              <a:rPr lang="en-US" sz="2000" dirty="0"/>
              <a:t>Classes identified during analysis provide the framework for the design phase</a:t>
            </a:r>
          </a:p>
          <a:p>
            <a:pPr>
              <a:lnSpc>
                <a:spcPct val="90000"/>
              </a:lnSpc>
            </a:pPr>
            <a:r>
              <a:rPr lang="en-US" sz="2000" dirty="0"/>
              <a:t>In design phase, analysis models are refined</a:t>
            </a:r>
          </a:p>
          <a:p>
            <a:pPr>
              <a:lnSpc>
                <a:spcPct val="90000"/>
              </a:lnSpc>
            </a:pPr>
            <a:r>
              <a:rPr lang="en-US" sz="2000" dirty="0"/>
              <a:t>Good design should exhibit high cohesion and low coupling</a:t>
            </a:r>
          </a:p>
          <a:p>
            <a:pPr>
              <a:lnSpc>
                <a:spcPct val="90000"/>
              </a:lnSpc>
            </a:pPr>
            <a:r>
              <a:rPr lang="en-US" sz="2000" dirty="0"/>
              <a:t>In design phase, need to consider : the class visibility(</a:t>
            </a:r>
            <a:r>
              <a:rPr lang="en-US" sz="2000" dirty="0" err="1"/>
              <a:t>attributes,operations</a:t>
            </a:r>
            <a:r>
              <a:rPr lang="en-US" sz="2000" dirty="0"/>
              <a:t>), class diagram refinement, user interface object, database design and packages</a:t>
            </a:r>
          </a:p>
          <a:p>
            <a:pPr>
              <a:lnSpc>
                <a:spcPct val="90000"/>
              </a:lnSpc>
            </a:pPr>
            <a:r>
              <a:rPr lang="en-US" sz="2000" dirty="0"/>
              <a:t>Design is about producing a solution that meets the requirements that have been specified during analysis</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Chapter 6-Object-oriented design</a:t>
            </a:r>
          </a:p>
        </p:txBody>
      </p:sp>
      <p:sp>
        <p:nvSpPr>
          <p:cNvPr id="5" name="Slide Number Placeholder 5"/>
          <p:cNvSpPr>
            <a:spLocks noGrp="1"/>
          </p:cNvSpPr>
          <p:nvPr>
            <p:ph type="sldNum" sz="quarter" idx="12"/>
          </p:nvPr>
        </p:nvSpPr>
        <p:spPr/>
        <p:txBody>
          <a:bodyPr/>
          <a:lstStyle/>
          <a:p>
            <a:fld id="{020C72D9-DF6F-456E-8D08-891B3435EE47}" type="slidenum">
              <a:rPr lang="en-US"/>
              <a:pPr/>
              <a:t>119</a:t>
            </a:fld>
            <a:endParaRPr lang="en-US"/>
          </a:p>
        </p:txBody>
      </p:sp>
      <p:sp>
        <p:nvSpPr>
          <p:cNvPr id="81922" name="Rectangle 2"/>
          <p:cNvSpPr>
            <a:spLocks noGrp="1" noChangeArrowheads="1"/>
          </p:cNvSpPr>
          <p:nvPr>
            <p:ph type="title"/>
          </p:nvPr>
        </p:nvSpPr>
        <p:spPr/>
        <p:txBody>
          <a:bodyPr/>
          <a:lstStyle/>
          <a:p>
            <a:r>
              <a:rPr lang="en-US"/>
              <a:t>Lecture Resources</a:t>
            </a:r>
          </a:p>
        </p:txBody>
      </p:sp>
      <p:sp>
        <p:nvSpPr>
          <p:cNvPr id="81923" name="Rectangle 3"/>
          <p:cNvSpPr>
            <a:spLocks noGrp="1" noChangeArrowheads="1"/>
          </p:cNvSpPr>
          <p:nvPr>
            <p:ph type="body" idx="1"/>
          </p:nvPr>
        </p:nvSpPr>
        <p:spPr>
          <a:xfrm>
            <a:off x="685800" y="1905000"/>
            <a:ext cx="7924800" cy="4114800"/>
          </a:xfrm>
        </p:spPr>
        <p:txBody>
          <a:bodyPr/>
          <a:lstStyle/>
          <a:p>
            <a:pPr>
              <a:lnSpc>
                <a:spcPct val="90000"/>
              </a:lnSpc>
            </a:pPr>
            <a:r>
              <a:rPr lang="en-US" sz="1800" dirty="0"/>
              <a:t>Credits : Material for the slides is extracted from a variety of sources :</a:t>
            </a:r>
          </a:p>
          <a:p>
            <a:pPr lvl="1">
              <a:lnSpc>
                <a:spcPct val="90000"/>
              </a:lnSpc>
            </a:pPr>
            <a:r>
              <a:rPr lang="en-US" sz="1800" dirty="0"/>
              <a:t>Internet</a:t>
            </a:r>
          </a:p>
          <a:p>
            <a:pPr lvl="1">
              <a:lnSpc>
                <a:spcPct val="90000"/>
              </a:lnSpc>
            </a:pPr>
            <a:r>
              <a:rPr lang="en-US" sz="1800" dirty="0"/>
              <a:t>Books :</a:t>
            </a:r>
          </a:p>
          <a:p>
            <a:pPr lvl="2">
              <a:lnSpc>
                <a:spcPct val="90000"/>
              </a:lnSpc>
            </a:pPr>
            <a:r>
              <a:rPr lang="en-US" sz="1800" dirty="0" err="1"/>
              <a:t>Sommerville</a:t>
            </a:r>
            <a:r>
              <a:rPr lang="en-US" sz="1800" dirty="0"/>
              <a:t>, I. (2011). Software Engineering,9</a:t>
            </a:r>
            <a:r>
              <a:rPr lang="en-US" sz="1800" baseline="30000" dirty="0"/>
              <a:t>th</a:t>
            </a:r>
            <a:r>
              <a:rPr lang="en-US" sz="1800" dirty="0"/>
              <a:t> edition, Pearson Education Inc.</a:t>
            </a:r>
          </a:p>
          <a:p>
            <a:pPr lvl="2">
              <a:lnSpc>
                <a:spcPct val="90000"/>
              </a:lnSpc>
            </a:pPr>
            <a:r>
              <a:rPr lang="en-US" sz="1800" dirty="0"/>
              <a:t>Ali </a:t>
            </a:r>
            <a:r>
              <a:rPr lang="en-US" sz="1800" dirty="0" err="1"/>
              <a:t>Bahrami</a:t>
            </a:r>
            <a:r>
              <a:rPr lang="en-US" sz="1800" dirty="0"/>
              <a:t> : Object-Oriented Systems Development Using the Unified Modeling Language, Irwin/McGraw-Hill 1999</a:t>
            </a:r>
          </a:p>
          <a:p>
            <a:pPr lvl="2">
              <a:lnSpc>
                <a:spcPct val="90000"/>
              </a:lnSpc>
            </a:pPr>
            <a:r>
              <a:rPr lang="en-US" sz="1800" dirty="0"/>
              <a:t>Simon Bennett, Steve </a:t>
            </a:r>
            <a:r>
              <a:rPr lang="en-US" sz="1800" dirty="0" err="1"/>
              <a:t>McRobb</a:t>
            </a:r>
            <a:r>
              <a:rPr lang="en-US" sz="1800" dirty="0"/>
              <a:t> and Ray Farmer : Object-Oriented Systems Analysis and Design Using UML, Second Edition, McGraw-Hill 2002</a:t>
            </a:r>
          </a:p>
          <a:p>
            <a:pPr lvl="2">
              <a:lnSpc>
                <a:spcPct val="90000"/>
              </a:lnSpc>
            </a:pPr>
            <a:r>
              <a:rPr lang="en-US" sz="1800" dirty="0" err="1"/>
              <a:t>Leszek</a:t>
            </a:r>
            <a:r>
              <a:rPr lang="en-US" sz="1800" dirty="0"/>
              <a:t> </a:t>
            </a:r>
            <a:r>
              <a:rPr lang="en-US" sz="1800" dirty="0" err="1"/>
              <a:t>A.Maciaszek</a:t>
            </a:r>
            <a:r>
              <a:rPr lang="en-US" sz="1800" dirty="0"/>
              <a:t> : Requirements Analysis and System Design, Developing </a:t>
            </a:r>
            <a:r>
              <a:rPr lang="en-US" sz="1800" dirty="0" err="1"/>
              <a:t>Inforamtion</a:t>
            </a:r>
            <a:r>
              <a:rPr lang="en-US" sz="1800" dirty="0"/>
              <a:t> Systems with UML, </a:t>
            </a:r>
            <a:r>
              <a:rPr lang="en-US" sz="1800" dirty="0" err="1"/>
              <a:t>Addison_Wesley</a:t>
            </a:r>
            <a:r>
              <a:rPr lang="en-US" sz="1800" dirty="0"/>
              <a:t> 2001</a:t>
            </a:r>
          </a:p>
          <a:p>
            <a:pPr lvl="2">
              <a:lnSpc>
                <a:spcPct val="90000"/>
              </a:lnSpc>
            </a:pPr>
            <a:r>
              <a:rPr lang="en-US" sz="1800" dirty="0"/>
              <a:t>Grady </a:t>
            </a:r>
            <a:r>
              <a:rPr lang="en-US" sz="1800" dirty="0" err="1"/>
              <a:t>Booch</a:t>
            </a:r>
            <a:r>
              <a:rPr lang="en-US" sz="1800" dirty="0"/>
              <a:t>, et al: The Unified Modeling Language User Guide, Addison-Wesley 1999</a:t>
            </a:r>
          </a:p>
        </p:txBody>
      </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2002</TotalTime>
  <Words>6572</Words>
  <Application>Microsoft Office PowerPoint</Application>
  <PresentationFormat>On-screen Show (4:3)</PresentationFormat>
  <Paragraphs>1034</Paragraphs>
  <Slides>119</Slides>
  <Notes>12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119</vt:i4>
      </vt:variant>
    </vt:vector>
  </HeadingPairs>
  <TitlesOfParts>
    <vt:vector size="127" baseType="lpstr">
      <vt:lpstr>Arial</vt:lpstr>
      <vt:lpstr>Garamond</vt:lpstr>
      <vt:lpstr>Tahoma</vt:lpstr>
      <vt:lpstr>Thorndale</vt:lpstr>
      <vt:lpstr>Times New Roman</vt:lpstr>
      <vt:lpstr>Wingdings</vt:lpstr>
      <vt:lpstr>Blends</vt:lpstr>
      <vt:lpstr>Bitmap Image</vt:lpstr>
      <vt:lpstr>PowerPoint Presentation</vt:lpstr>
      <vt:lpstr>Learning Outcomes</vt:lpstr>
      <vt:lpstr>Topics Covered</vt:lpstr>
      <vt:lpstr>An Overview of Object-Oriented Analysis and Design</vt:lpstr>
      <vt:lpstr>PowerPoint Presentation</vt:lpstr>
      <vt:lpstr>An Overview of Object-Oriented Analysis and Design</vt:lpstr>
      <vt:lpstr>An Overview of Object-Oriented Analysis and Design</vt:lpstr>
      <vt:lpstr>An Overview of Object-Oriented Analysis and Design</vt:lpstr>
      <vt:lpstr>Introduction to the  Unified Modeling Language</vt:lpstr>
      <vt:lpstr>Introduction to the  Unified Modeling Language</vt:lpstr>
      <vt:lpstr>Types of UML Diagrams</vt:lpstr>
      <vt:lpstr>Types of UML Diagrams</vt:lpstr>
      <vt:lpstr>Object-Oriented Analysis</vt:lpstr>
      <vt:lpstr>User Model View</vt:lpstr>
      <vt:lpstr>Concepts in Use-Case Modeling</vt:lpstr>
      <vt:lpstr>Concepts in Use-Case Modeling</vt:lpstr>
      <vt:lpstr>UML notation</vt:lpstr>
      <vt:lpstr>Identify Actors</vt:lpstr>
      <vt:lpstr>Identify Actors</vt:lpstr>
      <vt:lpstr>Identify Actors</vt:lpstr>
      <vt:lpstr>Description of an Actor</vt:lpstr>
      <vt:lpstr>Identify Use-Cases</vt:lpstr>
      <vt:lpstr>Identify Use-Cases</vt:lpstr>
      <vt:lpstr>Description of a Use-Case</vt:lpstr>
      <vt:lpstr>Association relationships</vt:lpstr>
      <vt:lpstr>Association relationships</vt:lpstr>
      <vt:lpstr>Association relationships</vt:lpstr>
      <vt:lpstr>Extend relationship</vt:lpstr>
      <vt:lpstr>Include relationship</vt:lpstr>
      <vt:lpstr>Generalization association</vt:lpstr>
      <vt:lpstr>Benefits of a use-case model</vt:lpstr>
      <vt:lpstr>Example:Use Case Diagram</vt:lpstr>
      <vt:lpstr>Use Case Flow of Events</vt:lpstr>
      <vt:lpstr>Use Case Flow of Events</vt:lpstr>
      <vt:lpstr>Use Case Flow of Events</vt:lpstr>
      <vt:lpstr>In-Class Exercise: Draw a Use-Case Diagram for the following  Library System </vt:lpstr>
      <vt:lpstr>Homework: Draw a use case diagram to illustrate the following use cases and the relationships between them</vt:lpstr>
      <vt:lpstr>Object-Oriented Design</vt:lpstr>
      <vt:lpstr>OBJECT CLASS IDENTIFICATION</vt:lpstr>
      <vt:lpstr>What Is an Object?</vt:lpstr>
      <vt:lpstr>What Is an Object?</vt:lpstr>
      <vt:lpstr>What Is an Object?</vt:lpstr>
      <vt:lpstr>What Is an Attribute?</vt:lpstr>
      <vt:lpstr>What Is an Operation?</vt:lpstr>
      <vt:lpstr>Approaches to object class identification</vt:lpstr>
      <vt:lpstr>Example: Weather station description</vt:lpstr>
      <vt:lpstr>Weather station object classes</vt:lpstr>
      <vt:lpstr>Weather station object classes </vt:lpstr>
      <vt:lpstr>Classes, Responsibilities, and Collaborators (CRC)</vt:lpstr>
      <vt:lpstr>CRC Card</vt:lpstr>
      <vt:lpstr>CRC Approach</vt:lpstr>
      <vt:lpstr>CRC Approach</vt:lpstr>
      <vt:lpstr>CRC Approach</vt:lpstr>
      <vt:lpstr>CRC Approach</vt:lpstr>
      <vt:lpstr>Example: CRC Model</vt:lpstr>
      <vt:lpstr>DESIGN CLASSES &amp; STRUCTURAL MODEL VIEW</vt:lpstr>
      <vt:lpstr>DESIGN CLASSES</vt:lpstr>
      <vt:lpstr>Designing Classes : the process</vt:lpstr>
      <vt:lpstr>Class Visibility : Public, Protected, Private Protocols</vt:lpstr>
      <vt:lpstr>Class Visibility : Public, Protected, Private Protocols</vt:lpstr>
      <vt:lpstr>Class Visibility : Public, Protected, Private Protocols</vt:lpstr>
      <vt:lpstr>Class Visibility : Public, Protected, Private Protocols</vt:lpstr>
      <vt:lpstr>Class Visibility : Public, Protected, Private Protocols</vt:lpstr>
      <vt:lpstr>Designing Classes : Refining Attributes</vt:lpstr>
      <vt:lpstr>Designing Classes : Refining Attributes</vt:lpstr>
      <vt:lpstr>Designing Classes : Refining Attributes</vt:lpstr>
      <vt:lpstr>Design Methods and Protocols</vt:lpstr>
      <vt:lpstr>Design Methods and Protocols</vt:lpstr>
      <vt:lpstr>Design Methods and Protocols</vt:lpstr>
      <vt:lpstr>Design Methods and Protocols</vt:lpstr>
      <vt:lpstr>Design Methods and Protocols</vt:lpstr>
      <vt:lpstr>Design Methods and Protocols</vt:lpstr>
      <vt:lpstr>Class Diagram</vt:lpstr>
      <vt:lpstr>Class Diagram</vt:lpstr>
      <vt:lpstr>In-Class Exercise</vt:lpstr>
      <vt:lpstr>BEHAVIORAL MODEL VIEW</vt:lpstr>
      <vt:lpstr>Interaction Diagrams</vt:lpstr>
      <vt:lpstr>Sequence Diagram</vt:lpstr>
      <vt:lpstr>Sequence Diagram</vt:lpstr>
      <vt:lpstr>Sequence Diagram</vt:lpstr>
      <vt:lpstr>Sequence Diagram</vt:lpstr>
      <vt:lpstr>Example: Sequence diagram describing data collection </vt:lpstr>
      <vt:lpstr>Drawing Sequence Diagrams</vt:lpstr>
      <vt:lpstr>Use Case: ATM</vt:lpstr>
      <vt:lpstr>Use Case: ATM approval</vt:lpstr>
      <vt:lpstr>PowerPoint Presentation</vt:lpstr>
      <vt:lpstr>Use Case: Withdraw saving</vt:lpstr>
      <vt:lpstr>Use Case: Withdraw saving</vt:lpstr>
      <vt:lpstr>Identifying Classes – noun phrase approach (example)</vt:lpstr>
      <vt:lpstr>PowerPoint Presentation</vt:lpstr>
      <vt:lpstr>Collaboration Diagram</vt:lpstr>
      <vt:lpstr>Collaboration Diagram</vt:lpstr>
      <vt:lpstr>In-Class Exercise</vt:lpstr>
      <vt:lpstr>Design Classes – Define State</vt:lpstr>
      <vt:lpstr>Design Classes – Define State</vt:lpstr>
      <vt:lpstr>Design Classes – Define State</vt:lpstr>
      <vt:lpstr>Design Classes – Define State</vt:lpstr>
      <vt:lpstr>Example: Weather station state diagram </vt:lpstr>
      <vt:lpstr>In-Class Exercise: DigitalPet</vt:lpstr>
      <vt:lpstr>Activity Diagram </vt:lpstr>
      <vt:lpstr>Activity Diagram </vt:lpstr>
      <vt:lpstr>Activity Diagram </vt:lpstr>
      <vt:lpstr>In-Class Exercise:</vt:lpstr>
      <vt:lpstr>DESIGN INTERFACE OBJECTS</vt:lpstr>
      <vt:lpstr>Interface specification</vt:lpstr>
      <vt:lpstr>Example: Weather station interfaces </vt:lpstr>
      <vt:lpstr>IMPLEMENTATION MODEL VIEW-Component Diagram &amp;</vt:lpstr>
      <vt:lpstr>Component diagram</vt:lpstr>
      <vt:lpstr>Deployment diagram</vt:lpstr>
      <vt:lpstr>DESIGN RULES</vt:lpstr>
      <vt:lpstr>Design Rules</vt:lpstr>
      <vt:lpstr>Design Rules</vt:lpstr>
      <vt:lpstr>Design Rules</vt:lpstr>
      <vt:lpstr>Design Rules</vt:lpstr>
      <vt:lpstr>Design Rules</vt:lpstr>
      <vt:lpstr>Design Rules</vt:lpstr>
      <vt:lpstr>Key points</vt:lpstr>
      <vt:lpstr>Key points</vt:lpstr>
      <vt:lpstr>Lecture Resources</vt:lpstr>
    </vt:vector>
  </TitlesOfParts>
  <Company>silver73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 OBJECT-ORIENTED DESIGN</dc:title>
  <dc:creator>lilmukramin</dc:creator>
  <cp:lastModifiedBy>Sufri</cp:lastModifiedBy>
  <cp:revision>176</cp:revision>
  <dcterms:created xsi:type="dcterms:W3CDTF">2003-07-24T17:24:07Z</dcterms:created>
  <dcterms:modified xsi:type="dcterms:W3CDTF">2020-11-01T11:45:43Z</dcterms:modified>
</cp:coreProperties>
</file>
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0" r:id="rId1"/>
  </p:sldMasterIdLst>
  <p:notesMasterIdLst>
    <p:notesMasterId r:id="rId91"/>
  </p:notesMasterIdLst>
  <p:handoutMasterIdLst>
    <p:handoutMasterId r:id="rId92"/>
  </p:handoutMasterIdLst>
  <p:sldIdLst>
    <p:sldId id="256" r:id="rId2"/>
    <p:sldId id="257" r:id="rId3"/>
    <p:sldId id="362" r:id="rId4"/>
    <p:sldId id="325" r:id="rId5"/>
    <p:sldId id="260" r:id="rId6"/>
    <p:sldId id="294" r:id="rId7"/>
    <p:sldId id="261" r:id="rId8"/>
    <p:sldId id="262" r:id="rId9"/>
    <p:sldId id="296" r:id="rId10"/>
    <p:sldId id="297" r:id="rId11"/>
    <p:sldId id="299" r:id="rId12"/>
    <p:sldId id="298" r:id="rId13"/>
    <p:sldId id="302" r:id="rId14"/>
    <p:sldId id="326" r:id="rId15"/>
    <p:sldId id="301" r:id="rId16"/>
    <p:sldId id="304" r:id="rId17"/>
    <p:sldId id="305" r:id="rId18"/>
    <p:sldId id="270" r:id="rId19"/>
    <p:sldId id="309" r:id="rId20"/>
    <p:sldId id="310" r:id="rId21"/>
    <p:sldId id="306" r:id="rId22"/>
    <p:sldId id="307" r:id="rId23"/>
    <p:sldId id="274" r:id="rId24"/>
    <p:sldId id="311" r:id="rId25"/>
    <p:sldId id="312" r:id="rId26"/>
    <p:sldId id="277" r:id="rId27"/>
    <p:sldId id="278" r:id="rId28"/>
    <p:sldId id="308" r:id="rId29"/>
    <p:sldId id="279" r:id="rId30"/>
    <p:sldId id="313" r:id="rId31"/>
    <p:sldId id="314" r:id="rId32"/>
    <p:sldId id="282" r:id="rId33"/>
    <p:sldId id="315" r:id="rId34"/>
    <p:sldId id="316" r:id="rId35"/>
    <p:sldId id="285" r:id="rId36"/>
    <p:sldId id="317" r:id="rId37"/>
    <p:sldId id="286" r:id="rId38"/>
    <p:sldId id="318" r:id="rId39"/>
    <p:sldId id="320" r:id="rId40"/>
    <p:sldId id="321" r:id="rId41"/>
    <p:sldId id="322" r:id="rId42"/>
    <p:sldId id="323" r:id="rId43"/>
    <p:sldId id="291" r:id="rId44"/>
    <p:sldId id="292" r:id="rId45"/>
    <p:sldId id="365" r:id="rId46"/>
    <p:sldId id="363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70" r:id="rId57"/>
    <p:sldId id="371" r:id="rId58"/>
    <p:sldId id="336" r:id="rId59"/>
    <p:sldId id="337" r:id="rId60"/>
    <p:sldId id="338" r:id="rId61"/>
    <p:sldId id="339" r:id="rId62"/>
    <p:sldId id="340" r:id="rId63"/>
    <p:sldId id="341" r:id="rId64"/>
    <p:sldId id="372" r:id="rId65"/>
    <p:sldId id="342" r:id="rId66"/>
    <p:sldId id="343" r:id="rId67"/>
    <p:sldId id="344" r:id="rId68"/>
    <p:sldId id="345" r:id="rId69"/>
    <p:sldId id="346" r:id="rId70"/>
    <p:sldId id="347" r:id="rId71"/>
    <p:sldId id="348" r:id="rId72"/>
    <p:sldId id="349" r:id="rId73"/>
    <p:sldId id="350" r:id="rId74"/>
    <p:sldId id="351" r:id="rId75"/>
    <p:sldId id="352" r:id="rId76"/>
    <p:sldId id="353" r:id="rId77"/>
    <p:sldId id="354" r:id="rId78"/>
    <p:sldId id="355" r:id="rId79"/>
    <p:sldId id="356" r:id="rId80"/>
    <p:sldId id="357" r:id="rId81"/>
    <p:sldId id="358" r:id="rId82"/>
    <p:sldId id="359" r:id="rId83"/>
    <p:sldId id="360" r:id="rId84"/>
    <p:sldId id="361" r:id="rId85"/>
    <p:sldId id="364" r:id="rId86"/>
    <p:sldId id="366" r:id="rId87"/>
    <p:sldId id="367" r:id="rId88"/>
    <p:sldId id="368" r:id="rId89"/>
    <p:sldId id="369" r:id="rId9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912"/>
    <a:srgbClr val="BA2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>
      <p:cViewPr varScale="1">
        <p:scale>
          <a:sx n="81" d="100"/>
          <a:sy n="81" d="100"/>
        </p:scale>
        <p:origin x="7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460"/>
    </p:cViewPr>
  </p:sorterViewPr>
  <p:notesViewPr>
    <p:cSldViewPr>
      <p:cViewPr varScale="1">
        <p:scale>
          <a:sx n="41" d="100"/>
          <a:sy n="41" d="100"/>
        </p:scale>
        <p:origin x="-147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1200"/>
            </a:lvl1pPr>
          </a:lstStyle>
          <a:p>
            <a:pPr>
              <a:defRPr/>
            </a:pPr>
            <a:fld id="{594EDE41-A2A0-4440-8D46-0D6F8E0775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50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30E19BFD-435C-4647-9F67-E7553ADA13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736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65541A-AA3A-4ADB-8DA2-F2E733CA764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CE5B3-3950-4485-991F-C08C605D7A6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AFDF7B-ECFD-4C8D-A608-65C207676FE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62A401-D1EC-4D36-B4B7-F27A176D2DE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6615D3-8FEC-4836-A3E0-0BC2359333B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43FA60-5B64-4557-9B06-18CFAE65B94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E19985-C73B-4505-9210-3C1D4F9FAAD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CAA3D1-412B-44B9-9CF0-0B9766A452B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B91EF3-1925-4730-8439-308CF33D41D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A69C63-F199-4D5D-AA31-8F19EE1DCFE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5FF3D7-B400-4AF8-99EC-913796E32817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5121E5-2EE7-4476-B1F6-9C825CED7FE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4B322D-CA76-4847-BFE4-BA5813A34B5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8E4D12-6BF1-4479-B486-B8EA8671232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FA46CD-4100-41D8-BDEB-24DDB54348E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1D3E3B-E153-48DE-A4D6-16CBF2CFA597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7683AF-0B2B-49E9-93C6-2868E65D476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291C03-D11E-423A-99FD-FFC22E568B45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6B3051-4A39-4708-BFE8-B83E651C493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291C03-D11E-423A-99FD-FFC22E568B45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D43D9B-4129-4F43-9968-3FC8C8324479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584FAC-6FF9-4CED-932C-A0E842BD2EA1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E13472-97E4-4E91-974D-333D627248A2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2D294-66B0-4060-BC30-A8D643FE4A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6F699-16E3-43C5-9D88-C6F894E172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B383B-01FD-4412-8964-DDF7AE9DEA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72439-8100-4CA8-ACCB-41B9CF7AA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3F584-C68B-4361-B4DE-2D1EE035E5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38AD0-A46D-4218-88A0-925A29C51D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18927-1176-4640-AABE-570B785D3B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48B5-2D2C-4CCB-9481-3E365BE78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F7408-1100-46AA-9D93-DB53D6B605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B79F5-4DDA-4AE3-B1D7-2B6D44D606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636EE-77F9-411C-A2C8-239A3AA8F1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0" y="6248400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53DE7E23-AC3F-4D3C-AC50-68182A0C31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867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867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2867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2867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867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2867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867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867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67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ransition>
    <p:zoom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514600"/>
            <a:ext cx="7086600" cy="1752600"/>
          </a:xfrm>
        </p:spPr>
        <p:txBody>
          <a:bodyPr/>
          <a:lstStyle/>
          <a:p>
            <a:pPr eaLnBrk="1" hangingPunct="1"/>
            <a:r>
              <a:rPr lang="en-US" sz="3600" b="1" dirty="0"/>
              <a:t>Chapter 7</a:t>
            </a:r>
          </a:p>
          <a:p>
            <a:pPr eaLnBrk="1" hangingPunct="1"/>
            <a:r>
              <a:rPr lang="en-US" sz="3600" b="1" dirty="0"/>
              <a:t>Interface Design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0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1C83536-3B37-4BC0-B5F7-513E55FD5D1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  <a:endParaRPr lang="en-US" dirty="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Learning Objectives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lvl="1" indent="-3429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Describe user interface design process (C1)</a:t>
            </a:r>
          </a:p>
          <a:p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dirty="0">
                <a:solidFill>
                  <a:schemeClr val="tx1"/>
                </a:solidFill>
                <a:latin typeface="+mn-lt"/>
                <a:cs typeface="+mn-cs"/>
              </a:rPr>
              <a:t>Illustrate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interface design (C3)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endParaRPr lang="en-US" sz="2800" dirty="0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371600"/>
          </a:xfrm>
        </p:spPr>
        <p:txBody>
          <a:bodyPr/>
          <a:lstStyle/>
          <a:p>
            <a:pPr algn="ctr"/>
            <a:r>
              <a:rPr lang="en-US" dirty="0"/>
              <a:t>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D647D2-7FF9-4636-98BE-B7E6D4B4619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77200" cy="3733800"/>
          </a:xfrm>
        </p:spPr>
        <p:txBody>
          <a:bodyPr/>
          <a:lstStyle/>
          <a:p>
            <a:pPr eaLnBrk="1" hangingPunct="1"/>
            <a:r>
              <a:rPr lang="en-US" sz="2800"/>
              <a:t>In general, </a:t>
            </a:r>
            <a:r>
              <a:rPr lang="en-US" sz="2800" b="1"/>
              <a:t>forms</a:t>
            </a:r>
            <a:r>
              <a:rPr lang="en-US" sz="2800"/>
              <a:t> are used to present and collect information on a single item such as customer, product and order.</a:t>
            </a:r>
          </a:p>
          <a:p>
            <a:pPr eaLnBrk="1" hangingPunct="1"/>
            <a:r>
              <a:rPr lang="en-US" sz="2800" b="1"/>
              <a:t>Reports</a:t>
            </a:r>
            <a:r>
              <a:rPr lang="en-US" sz="2800"/>
              <a:t>, on the other hand, are used to convey information on a collection of items.</a:t>
            </a:r>
          </a:p>
          <a:p>
            <a:pPr eaLnBrk="1" hangingPunct="1"/>
            <a:r>
              <a:rPr lang="en-US" sz="2800"/>
              <a:t>Form and report design is a key ingredient for successful systems as users often equate the quality of a system with quality of its input and output methods.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E1B91E9-A42B-4453-8F1F-4165E192CEE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 (Cont.)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7772400" cy="2895600"/>
          </a:xfrm>
        </p:spPr>
        <p:txBody>
          <a:bodyPr/>
          <a:lstStyle/>
          <a:p>
            <a:pPr eaLnBrk="1" hangingPunct="1"/>
            <a:r>
              <a:rPr lang="en-US" b="1"/>
              <a:t>Form</a:t>
            </a:r>
            <a:r>
              <a:rPr lang="en-US"/>
              <a:t>: a business document that contains some predefined data and may include some areas where additional data are to be filled in</a:t>
            </a:r>
          </a:p>
          <a:p>
            <a:pPr lvl="1" eaLnBrk="1" hangingPunct="1"/>
            <a:r>
              <a:rPr lang="en-US"/>
              <a:t>An instance of a form is typically based on one database record.</a:t>
            </a: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848525E-EC89-4AA5-B6AC-C0FE1A72F4F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17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 (Cont.)</a:t>
            </a:r>
            <a:endParaRPr lang="en-US" sz="4000" dirty="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057400"/>
            <a:ext cx="7772400" cy="3429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/>
              <a:t>Report</a:t>
            </a:r>
            <a:r>
              <a:rPr lang="en-US"/>
              <a:t>: a business document that contains only predefined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It is a passive document used solely for reading or viewing data.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A report typically contains data from many unrelated records or transactions.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827FCB-061C-42EF-BF96-96AED58C1D7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19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pc="-100" dirty="0"/>
              <a:t>Designing Forms and Reports (Cont.)</a:t>
            </a:r>
            <a:endParaRPr lang="en-US" sz="4000" dirty="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419600"/>
          </a:xfrm>
        </p:spPr>
        <p:txBody>
          <a:bodyPr/>
          <a:lstStyle/>
          <a:p>
            <a:pPr eaLnBrk="1" hangingPunct="1"/>
            <a:r>
              <a:rPr lang="en-US" sz="2800"/>
              <a:t>Common Types of Reports:</a:t>
            </a:r>
          </a:p>
          <a:p>
            <a:pPr lvl="1" eaLnBrk="1" hangingPunct="1"/>
            <a:r>
              <a:rPr lang="en-US" sz="2400" i="1"/>
              <a:t>Scheduled: </a:t>
            </a:r>
            <a:r>
              <a:rPr lang="en-US" sz="2400"/>
              <a:t>produced at predefined time intervals for routine information needs</a:t>
            </a:r>
          </a:p>
          <a:p>
            <a:pPr lvl="1" eaLnBrk="1" hangingPunct="1"/>
            <a:r>
              <a:rPr lang="en-US" sz="2400" i="1"/>
              <a:t>Key-indicator</a:t>
            </a:r>
            <a:r>
              <a:rPr lang="en-US" sz="2400"/>
              <a:t>: provides summary of critical information on regular basis</a:t>
            </a:r>
          </a:p>
          <a:p>
            <a:pPr lvl="1" eaLnBrk="1" hangingPunct="1"/>
            <a:r>
              <a:rPr lang="en-US" sz="2400" i="1"/>
              <a:t>Exception</a:t>
            </a:r>
            <a:r>
              <a:rPr lang="en-US" sz="2400"/>
              <a:t>: highlights data outside of normal operating ranges</a:t>
            </a:r>
          </a:p>
          <a:p>
            <a:pPr lvl="1" eaLnBrk="1" hangingPunct="1"/>
            <a:r>
              <a:rPr lang="en-US" sz="2400" i="1"/>
              <a:t>Drill-down</a:t>
            </a:r>
            <a:r>
              <a:rPr lang="en-US" sz="2400"/>
              <a:t>: provides details behind summary of key-indicator or exception reports</a:t>
            </a:r>
          </a:p>
          <a:p>
            <a:pPr lvl="1" eaLnBrk="1" hangingPunct="1"/>
            <a:r>
              <a:rPr lang="en-US" sz="2400" i="1"/>
              <a:t>Ad-hoc</a:t>
            </a:r>
            <a:r>
              <a:rPr lang="en-US" sz="2400"/>
              <a:t>: responds to unplanned requests for non-routine information needs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500EAAA-1639-4978-82C7-44F7C6FD26D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22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The Process of Designing Forms and Reports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572000"/>
          </a:xfrm>
        </p:spPr>
        <p:txBody>
          <a:bodyPr/>
          <a:lstStyle/>
          <a:p>
            <a:pPr eaLnBrk="1" hangingPunct="1"/>
            <a:r>
              <a:rPr lang="en-US"/>
              <a:t>Is user-focused activity.</a:t>
            </a:r>
          </a:p>
          <a:p>
            <a:pPr eaLnBrk="1" hangingPunct="1"/>
            <a:r>
              <a:rPr lang="en-US"/>
              <a:t>Follows a prototyping approach.</a:t>
            </a:r>
          </a:p>
          <a:p>
            <a:pPr eaLnBrk="1" hangingPunct="1"/>
            <a:r>
              <a:rPr lang="en-US"/>
              <a:t>First steps are to gain an understanding of the intended user and task objectives by collecting initial requirements during requirements determination.</a:t>
            </a: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C010946-EC06-4EE6-85AE-DD4E5156488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24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The Process of Designing Forms and Reports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572000"/>
          </a:xfrm>
        </p:spPr>
        <p:txBody>
          <a:bodyPr/>
          <a:lstStyle/>
          <a:p>
            <a:pPr eaLnBrk="1" hangingPunct="1"/>
            <a:r>
              <a:rPr lang="en-US"/>
              <a:t>Requirements determination:</a:t>
            </a:r>
          </a:p>
          <a:p>
            <a:pPr lvl="1" eaLnBrk="1" hangingPunct="1"/>
            <a:r>
              <a:rPr lang="en-US"/>
              <a:t>Who will use the form or report?</a:t>
            </a:r>
          </a:p>
          <a:p>
            <a:pPr lvl="1" eaLnBrk="1" hangingPunct="1"/>
            <a:r>
              <a:rPr lang="en-US"/>
              <a:t>What is the purpose of the form or report?</a:t>
            </a:r>
          </a:p>
          <a:p>
            <a:pPr lvl="1" eaLnBrk="1" hangingPunct="1"/>
            <a:r>
              <a:rPr lang="en-US"/>
              <a:t>When is the report needed or used?</a:t>
            </a:r>
          </a:p>
          <a:p>
            <a:pPr lvl="1" eaLnBrk="1" hangingPunct="1"/>
            <a:r>
              <a:rPr lang="en-US"/>
              <a:t>Where does the form or report need to be delivered and used?</a:t>
            </a:r>
          </a:p>
          <a:p>
            <a:pPr lvl="1" eaLnBrk="1" hangingPunct="1"/>
            <a:r>
              <a:rPr lang="en-US"/>
              <a:t>How many people need to use or view the form or report?</a:t>
            </a: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Process of Designing Forms and Reports (Cont.)</a:t>
            </a:r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A coding sheet is an “old” tool for designing forms and reports, usually associated with text-based forms and reports for mainframe applications.</a:t>
            </a:r>
          </a:p>
          <a:p>
            <a:pPr eaLnBrk="1" hangingPunct="1"/>
            <a:r>
              <a:rPr lang="en-US"/>
              <a:t>Visual Basic and other development tools provide computer aided GUI form and report generation.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71332BB-BB92-4F03-8A12-F076A203B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27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2291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pPr eaLnBrk="1" hangingPunct="1"/>
            <a:r>
              <a:rPr lang="en-US"/>
              <a:t>The Process of Designing Forms and Reports (Cont.)</a:t>
            </a: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052B166-8000-4937-A24C-1372D62F04A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29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12294" name="Picture 7" descr="Noname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752600"/>
            <a:ext cx="481012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381000" y="2971800"/>
            <a:ext cx="4572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10-2</a:t>
            </a:r>
          </a:p>
          <a:p>
            <a:r>
              <a:rPr lang="en-US"/>
              <a:t>The layout of a data input form</a:t>
            </a:r>
          </a:p>
          <a:p>
            <a:r>
              <a:rPr lang="en-US"/>
              <a:t>using a coding sheet</a:t>
            </a: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Process of Designing Forms and Reports (Cont.)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111100-86AE-494D-9311-DD64D66B454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317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13318" name="Picture 7" descr="Noname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05000"/>
            <a:ext cx="4657725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5562600" y="3200400"/>
            <a:ext cx="35814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10-3</a:t>
            </a:r>
          </a:p>
          <a:p>
            <a:r>
              <a:rPr lang="en-US"/>
              <a:t>A data input screen designed in</a:t>
            </a:r>
          </a:p>
          <a:p>
            <a:r>
              <a:rPr lang="en-US"/>
              <a:t>Microsoft’s Visual Basic .NET</a:t>
            </a: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Deliverables and Outcomes</a:t>
            </a:r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4572000"/>
          </a:xfrm>
        </p:spPr>
        <p:txBody>
          <a:bodyPr/>
          <a:lstStyle/>
          <a:p>
            <a:pPr eaLnBrk="1" hangingPunct="1"/>
            <a:r>
              <a:rPr lang="en-US" sz="2600" dirty="0"/>
              <a:t>Design specifications are the major deliverables and inputs to the system implementation phase.</a:t>
            </a:r>
          </a:p>
          <a:p>
            <a:pPr eaLnBrk="1" hangingPunct="1"/>
            <a:r>
              <a:rPr lang="en-US" sz="2600" dirty="0"/>
              <a:t>Design specifications have three sections:</a:t>
            </a:r>
          </a:p>
          <a:p>
            <a:pPr lvl="1" eaLnBrk="1" hangingPunct="1"/>
            <a:r>
              <a:rPr lang="en-US" sz="2600" i="1" dirty="0">
                <a:solidFill>
                  <a:srgbClr val="FF0000"/>
                </a:solidFill>
              </a:rPr>
              <a:t>Narrative overview</a:t>
            </a:r>
            <a:r>
              <a:rPr lang="en-US" sz="2600" dirty="0"/>
              <a:t>: characterizes users, tasks, system, and environmental factors</a:t>
            </a:r>
          </a:p>
          <a:p>
            <a:pPr lvl="1" eaLnBrk="1" hangingPunct="1"/>
            <a:r>
              <a:rPr lang="en-US" sz="2600" i="1" dirty="0">
                <a:solidFill>
                  <a:srgbClr val="FF0000"/>
                </a:solidFill>
              </a:rPr>
              <a:t>Sample design</a:t>
            </a:r>
            <a:r>
              <a:rPr lang="en-US" sz="2600" dirty="0"/>
              <a:t>: image of the form (from coding sheet or form building development tool)</a:t>
            </a:r>
          </a:p>
          <a:p>
            <a:pPr lvl="1" eaLnBrk="1" hangingPunct="1"/>
            <a:r>
              <a:rPr lang="en-US" sz="2600" i="1" dirty="0">
                <a:solidFill>
                  <a:srgbClr val="FF0000"/>
                </a:solidFill>
              </a:rPr>
              <a:t>Testing and usability assessment</a:t>
            </a:r>
            <a:r>
              <a:rPr lang="en-US" sz="2600" dirty="0"/>
              <a:t>: measuring test/usability results (consistency, sufficiency, accuracy, etc.)</a:t>
            </a:r>
          </a:p>
          <a:p>
            <a:pPr eaLnBrk="1" hangingPunct="1"/>
            <a:endParaRPr lang="en-US" sz="2600" dirty="0"/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252D0F9-C086-423E-8393-E7E28FB41AB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34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Deliverables and Outcomes (cont.)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sz="1800"/>
              <a:t>Sample of Customer Account Status form design specification </a:t>
            </a: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586A84-F551-44F6-8E89-D47D4C60D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536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grpSp>
        <p:nvGrpSpPr>
          <p:cNvPr id="15367" name="Group 8"/>
          <p:cNvGrpSpPr>
            <a:grpSpLocks/>
          </p:cNvGrpSpPr>
          <p:nvPr/>
        </p:nvGrpSpPr>
        <p:grpSpPr bwMode="auto">
          <a:xfrm>
            <a:off x="1752600" y="1981200"/>
            <a:ext cx="4953000" cy="3886200"/>
            <a:chOff x="1143000" y="914400"/>
            <a:chExt cx="4876800" cy="5181600"/>
          </a:xfrm>
        </p:grpSpPr>
        <p:pic>
          <p:nvPicPr>
            <p:cNvPr id="1536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43000" y="914400"/>
              <a:ext cx="4876800" cy="518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6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00200" y="2362200"/>
              <a:ext cx="3962400" cy="2339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63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Formatting Forms and Reports</a:t>
            </a:r>
          </a:p>
        </p:txBody>
      </p:sp>
      <p:sp>
        <p:nvSpPr>
          <p:cNvPr id="16388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 b="1" i="1"/>
              <a:t>Meaningful titles </a:t>
            </a:r>
            <a:r>
              <a:rPr lang="en-US" sz="3000"/>
              <a:t>— use clear, specific, version information, and current date</a:t>
            </a:r>
          </a:p>
          <a:p>
            <a:pPr eaLnBrk="1" hangingPunct="1">
              <a:lnSpc>
                <a:spcPct val="90000"/>
              </a:lnSpc>
            </a:pPr>
            <a:r>
              <a:rPr lang="en-US" sz="3000" b="1" i="1"/>
              <a:t>Meaningful information </a:t>
            </a:r>
            <a:r>
              <a:rPr lang="en-US" sz="3000"/>
              <a:t>— include only necessary information, with no need to modify</a:t>
            </a:r>
          </a:p>
          <a:p>
            <a:pPr eaLnBrk="1" hangingPunct="1">
              <a:lnSpc>
                <a:spcPct val="90000"/>
              </a:lnSpc>
            </a:pPr>
            <a:r>
              <a:rPr lang="en-US" sz="3000" b="1" i="1"/>
              <a:t>Balanced layout </a:t>
            </a:r>
            <a:r>
              <a:rPr lang="en-US" sz="3000"/>
              <a:t>— use adequate spacing, margins, and clear labels</a:t>
            </a:r>
          </a:p>
          <a:p>
            <a:pPr eaLnBrk="1" hangingPunct="1">
              <a:lnSpc>
                <a:spcPct val="90000"/>
              </a:lnSpc>
            </a:pPr>
            <a:r>
              <a:rPr lang="en-US" sz="3000" b="1" i="1"/>
              <a:t>Easy navigation system </a:t>
            </a:r>
            <a:r>
              <a:rPr lang="en-US" sz="3000"/>
              <a:t>— show how to move forward and backward, and where you are currently</a:t>
            </a:r>
          </a:p>
          <a:p>
            <a:pPr eaLnBrk="1" hangingPunct="1">
              <a:lnSpc>
                <a:spcPct val="90000"/>
              </a:lnSpc>
            </a:pPr>
            <a:endParaRPr lang="en-US" sz="3000"/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6E8B3A9-D7C4-42F1-BE43-7E9E56E0F5F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39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pic>
        <p:nvPicPr>
          <p:cNvPr id="17411" name="Picture 7" descr="Noname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143000"/>
            <a:ext cx="486727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Formatting Forms and Reports (Cont.)</a:t>
            </a: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DD60874-8992-4D02-BFFB-D9C33BEA90D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741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533400" y="2895600"/>
            <a:ext cx="31242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10-5</a:t>
            </a:r>
          </a:p>
          <a:p>
            <a:r>
              <a:rPr lang="en-US"/>
              <a:t>Contrasting customer information forms</a:t>
            </a:r>
          </a:p>
          <a:p>
            <a:r>
              <a:rPr lang="en-US"/>
              <a:t>(Pine Valley Furniture)</a:t>
            </a:r>
          </a:p>
          <a:p>
            <a:endParaRPr lang="en-US"/>
          </a:p>
          <a:p>
            <a:r>
              <a:rPr lang="en-US"/>
              <a:t>(a) Poorly designed form</a:t>
            </a:r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84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Formatting Forms and Reports (Cont.)</a:t>
            </a: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34C1FB1-3DCB-40BE-9522-013BAEF30D9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8437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18438" name="Picture 7" descr="Noname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219200"/>
            <a:ext cx="475297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228600" y="3200400"/>
            <a:ext cx="35052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10-5 (continued)</a:t>
            </a:r>
          </a:p>
          <a:p>
            <a:endParaRPr lang="en-US" b="1"/>
          </a:p>
          <a:p>
            <a:r>
              <a:rPr lang="en-US"/>
              <a:t>(b) Improved design for form</a:t>
            </a: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596F18A-7C8E-42A5-9481-2668ADC6402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946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990600"/>
          </a:xfrm>
        </p:spPr>
        <p:txBody>
          <a:bodyPr/>
          <a:lstStyle/>
          <a:p>
            <a:pPr eaLnBrk="1" hangingPunct="1"/>
            <a:r>
              <a:rPr lang="en-US" sz="4000"/>
              <a:t>Highlighting Information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Notify users of errors in data entry or processing.</a:t>
            </a:r>
          </a:p>
          <a:p>
            <a:pPr eaLnBrk="1" hangingPunct="1"/>
            <a:r>
              <a:rPr lang="en-US"/>
              <a:t>Provide warnings regarding possible problems.</a:t>
            </a:r>
          </a:p>
          <a:p>
            <a:pPr eaLnBrk="1" hangingPunct="1"/>
            <a:r>
              <a:rPr lang="en-US"/>
              <a:t>Draw attention to keywords, commands, high-priority messages, unusual data values.</a:t>
            </a:r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Highlighting Information (Cont.)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35113"/>
            <a:ext cx="7924800" cy="639762"/>
          </a:xfrm>
        </p:spPr>
        <p:txBody>
          <a:bodyPr/>
          <a:lstStyle/>
          <a:p>
            <a:pPr eaLnBrk="1" hangingPunct="1"/>
            <a:r>
              <a:rPr lang="en-US" sz="3000"/>
              <a:t>Highlighting can include use of </a:t>
            </a:r>
          </a:p>
        </p:txBody>
      </p:sp>
      <p:sp>
        <p:nvSpPr>
          <p:cNvPr id="20484" name="Content Placeholder 10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343400" cy="3951288"/>
          </a:xfrm>
        </p:spPr>
        <p:txBody>
          <a:bodyPr/>
          <a:lstStyle/>
          <a:p>
            <a:pPr lvl="1" eaLnBrk="1" hangingPunct="1"/>
            <a:r>
              <a:rPr lang="en-US" sz="2600"/>
              <a:t>upper case</a:t>
            </a:r>
          </a:p>
          <a:p>
            <a:pPr lvl="1" eaLnBrk="1" hangingPunct="1"/>
            <a:r>
              <a:rPr lang="en-US" sz="2600"/>
              <a:t>bold</a:t>
            </a:r>
          </a:p>
          <a:p>
            <a:pPr lvl="1" eaLnBrk="1" hangingPunct="1"/>
            <a:r>
              <a:rPr lang="en-US" sz="2600"/>
              <a:t>italics</a:t>
            </a:r>
          </a:p>
          <a:p>
            <a:pPr lvl="1" eaLnBrk="1" hangingPunct="1"/>
            <a:r>
              <a:rPr lang="en-US" sz="2600"/>
              <a:t>underlining</a:t>
            </a:r>
          </a:p>
          <a:p>
            <a:pPr lvl="1" eaLnBrk="1" hangingPunct="1"/>
            <a:r>
              <a:rPr lang="en-US" sz="2600"/>
              <a:t>boxing</a:t>
            </a:r>
          </a:p>
          <a:p>
            <a:pPr lvl="1" eaLnBrk="1" hangingPunct="1"/>
            <a:r>
              <a:rPr lang="en-US" sz="2600"/>
              <a:t>size and color differences</a:t>
            </a:r>
          </a:p>
          <a:p>
            <a:pPr lvl="1" eaLnBrk="1" hangingPunct="1"/>
            <a:endParaRPr lang="en-US" sz="2600"/>
          </a:p>
          <a:p>
            <a:endParaRPr lang="en-US"/>
          </a:p>
        </p:txBody>
      </p:sp>
      <p:sp>
        <p:nvSpPr>
          <p:cNvPr id="20485" name="Content Placeholder 12"/>
          <p:cNvSpPr>
            <a:spLocks noGrp="1"/>
          </p:cNvSpPr>
          <p:nvPr>
            <p:ph sz="quarter" idx="4"/>
          </p:nvPr>
        </p:nvSpPr>
        <p:spPr>
          <a:xfrm>
            <a:off x="4191000" y="2174875"/>
            <a:ext cx="4495800" cy="3951288"/>
          </a:xfrm>
        </p:spPr>
        <p:txBody>
          <a:bodyPr/>
          <a:lstStyle/>
          <a:p>
            <a:pPr lvl="1" eaLnBrk="1" hangingPunct="1"/>
            <a:r>
              <a:rPr lang="en-US" sz="2600"/>
              <a:t>all capital letters</a:t>
            </a:r>
          </a:p>
          <a:p>
            <a:pPr lvl="1" eaLnBrk="1" hangingPunct="1"/>
            <a:r>
              <a:rPr lang="en-US" sz="2600"/>
              <a:t>blinking </a:t>
            </a:r>
          </a:p>
          <a:p>
            <a:pPr lvl="1" eaLnBrk="1" hangingPunct="1"/>
            <a:r>
              <a:rPr lang="en-US" sz="2600"/>
              <a:t>reverse video </a:t>
            </a:r>
          </a:p>
          <a:p>
            <a:pPr lvl="1" eaLnBrk="1" hangingPunct="1"/>
            <a:r>
              <a:rPr lang="en-US" sz="2600"/>
              <a:t>audible tones </a:t>
            </a:r>
          </a:p>
          <a:p>
            <a:pPr lvl="1" eaLnBrk="1" hangingPunct="1"/>
            <a:r>
              <a:rPr lang="en-US" sz="2600"/>
              <a:t>intensity differences</a:t>
            </a:r>
          </a:p>
          <a:p>
            <a:pPr lvl="1"/>
            <a:r>
              <a:rPr lang="en-US" sz="2600"/>
              <a:t>offsetting nonstandard information</a:t>
            </a:r>
          </a:p>
          <a:p>
            <a:endParaRPr lang="en-US"/>
          </a:p>
        </p:txBody>
      </p:sp>
      <p:sp>
        <p:nvSpPr>
          <p:cNvPr id="204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04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296EA15-5B4A-4C40-8F74-542F3826B9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048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Highlighting Information (Cont.)</a:t>
            </a:r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3603CCF-B991-4301-9C4E-A1280CBFA0B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1509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21510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00400" y="1447800"/>
            <a:ext cx="5181600" cy="4724400"/>
          </a:xfrm>
        </p:spPr>
      </p:pic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457200" y="2895600"/>
            <a:ext cx="2895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10-6</a:t>
            </a:r>
          </a:p>
          <a:p>
            <a:r>
              <a:rPr lang="en-US"/>
              <a:t>Customer account status display using various highlighting techniques</a:t>
            </a:r>
          </a:p>
          <a:p>
            <a:endParaRPr lang="en-US"/>
          </a:p>
          <a:p>
            <a:r>
              <a:rPr lang="en-US"/>
              <a:t>(Pine Valley Furniture)</a:t>
            </a: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Color vs. No Color</a:t>
            </a:r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Benefits of Using Color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Soothes or strikes the eye.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Accents an uninteresting display.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Facilitates subtle discriminations in complex displays.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Emphasizes the logical organization of information.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Draws attention to warnings.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Evokes more emotional reactions.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EF2C7DD-756B-40CE-8C25-7336689930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53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Color vs. No Color (Cont.)</a:t>
            </a:r>
          </a:p>
        </p:txBody>
      </p:sp>
      <p:sp>
        <p:nvSpPr>
          <p:cNvPr id="2355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Problems from Using Color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Color pairings may wash out or cause problems for some users.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Resolution may degrade with different displays.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Color fidelity may degrade on different displays.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Printing or conversion to other media may not easily translate.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AB2159E-2CDD-4F26-B437-B42DACA4BE0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355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A6F650D-1C0D-450E-84B9-A34A745243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458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/>
              <a:t>Displaying Text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10600" cy="4572000"/>
          </a:xfrm>
        </p:spPr>
        <p:txBody>
          <a:bodyPr/>
          <a:lstStyle/>
          <a:p>
            <a:pPr eaLnBrk="1" hangingPunct="1"/>
            <a:r>
              <a:rPr lang="en-US" sz="2800" b="1"/>
              <a:t>Case</a:t>
            </a:r>
            <a:r>
              <a:rPr lang="en-US" sz="2800"/>
              <a:t>: mixed upper and lower case, use conventional punctuation</a:t>
            </a:r>
          </a:p>
          <a:p>
            <a:pPr eaLnBrk="1" hangingPunct="1"/>
            <a:r>
              <a:rPr lang="en-US" sz="2800" b="1"/>
              <a:t>Spacing</a:t>
            </a:r>
            <a:r>
              <a:rPr lang="en-US" sz="2800"/>
              <a:t>: double spacing if possible, otherwise blank lines between paragraphs</a:t>
            </a:r>
          </a:p>
          <a:p>
            <a:pPr eaLnBrk="1" hangingPunct="1"/>
            <a:r>
              <a:rPr lang="en-US" sz="2800" b="1"/>
              <a:t>Justification</a:t>
            </a:r>
            <a:r>
              <a:rPr lang="en-US" sz="2800"/>
              <a:t>: left justify text, ragged right margins</a:t>
            </a:r>
          </a:p>
          <a:p>
            <a:pPr eaLnBrk="1" hangingPunct="1"/>
            <a:r>
              <a:rPr lang="en-US" sz="2800" b="1"/>
              <a:t>Hyphenation: </a:t>
            </a:r>
            <a:r>
              <a:rPr lang="en-US" sz="2800"/>
              <a:t>no hyphenated words between lines</a:t>
            </a:r>
          </a:p>
          <a:p>
            <a:pPr eaLnBrk="1" hangingPunct="1"/>
            <a:r>
              <a:rPr lang="en-US" sz="2800" b="1"/>
              <a:t>Abbreviations</a:t>
            </a:r>
            <a:r>
              <a:rPr lang="en-US" sz="2800"/>
              <a:t>: only when widely understood and significantly shorter than full text</a:t>
            </a: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Displaying Text (Cont.)</a:t>
            </a: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F501597-A95A-4FE7-AC66-5C2B9079759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605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25606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1600200"/>
            <a:ext cx="5257800" cy="4643438"/>
          </a:xfrm>
        </p:spPr>
      </p:pic>
      <p:sp>
        <p:nvSpPr>
          <p:cNvPr id="25607" name="Rectangle 8"/>
          <p:cNvSpPr>
            <a:spLocks noChangeArrowheads="1"/>
          </p:cNvSpPr>
          <p:nvPr/>
        </p:nvSpPr>
        <p:spPr bwMode="auto">
          <a:xfrm>
            <a:off x="5562600" y="2819400"/>
            <a:ext cx="34290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10-7</a:t>
            </a:r>
          </a:p>
          <a:p>
            <a:r>
              <a:rPr lang="en-US"/>
              <a:t>Contrasting the display of textual help information</a:t>
            </a:r>
          </a:p>
          <a:p>
            <a:endParaRPr lang="en-US"/>
          </a:p>
          <a:p>
            <a:r>
              <a:rPr lang="en-US"/>
              <a:t>(a) Poorly designed help screen with many violations of the general guidelines for displaying text</a:t>
            </a: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Displaying Text (Cont.)</a:t>
            </a:r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C8D10F1-C259-411B-8C29-155D521AA5C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629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26630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8600" y="1524000"/>
            <a:ext cx="5154613" cy="4724400"/>
          </a:xfrm>
        </p:spPr>
      </p:pic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5486400" y="3124200"/>
            <a:ext cx="2895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10-7 (continued)</a:t>
            </a:r>
          </a:p>
          <a:p>
            <a:endParaRPr lang="en-US" b="1"/>
          </a:p>
          <a:p>
            <a:r>
              <a:rPr lang="en-US"/>
              <a:t>(b) An improved design for a help screen</a:t>
            </a: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6418544-1F4A-4679-98AF-24F3A31F8D2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765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Labels</a:t>
            </a:r>
          </a:p>
          <a:p>
            <a:pPr lvl="1" eaLnBrk="1" hangingPunct="1"/>
            <a:r>
              <a:rPr lang="en-US"/>
              <a:t>All columns and rows should have meaningful labels.</a:t>
            </a:r>
          </a:p>
          <a:p>
            <a:pPr lvl="1" eaLnBrk="1" hangingPunct="1"/>
            <a:r>
              <a:rPr lang="en-US"/>
              <a:t>Labels should be separated from other information by using highlighting.</a:t>
            </a:r>
          </a:p>
          <a:p>
            <a:pPr lvl="1" eaLnBrk="1" hangingPunct="1"/>
            <a:r>
              <a:rPr lang="en-US"/>
              <a:t>Redisplay labels when the data extend beyond a single screen or page.</a:t>
            </a:r>
          </a:p>
          <a:p>
            <a:pPr lvl="2" eaLnBrk="1" hangingPunct="1">
              <a:buFont typeface="Wingdings" pitchFamily="2" charset="2"/>
              <a:buNone/>
            </a:pPr>
            <a:endParaRPr lang="en-US"/>
          </a:p>
          <a:p>
            <a:pPr eaLnBrk="1" hangingPunct="1"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89D171A-1855-4545-8245-ACA3739AD95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867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01000" cy="990600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419600"/>
          </a:xfrm>
        </p:spPr>
        <p:txBody>
          <a:bodyPr/>
          <a:lstStyle/>
          <a:p>
            <a:pPr marL="533400" indent="-533400" eaLnBrk="1" hangingPunct="1"/>
            <a:r>
              <a:rPr lang="en-US"/>
              <a:t>Formatting columns, rows and text:</a:t>
            </a:r>
          </a:p>
          <a:p>
            <a:pPr marL="914400" lvl="1" indent="-457200" eaLnBrk="1" hangingPunct="1"/>
            <a:r>
              <a:rPr lang="en-US"/>
              <a:t>Sort in a meaningful order.</a:t>
            </a:r>
          </a:p>
          <a:p>
            <a:pPr marL="914400" lvl="1" indent="-457200" eaLnBrk="1" hangingPunct="1"/>
            <a:r>
              <a:rPr lang="en-US"/>
              <a:t>Place a blank line between every five rows in long columns.</a:t>
            </a:r>
          </a:p>
          <a:p>
            <a:pPr marL="914400" lvl="1" indent="-457200" eaLnBrk="1" hangingPunct="1"/>
            <a:r>
              <a:rPr lang="en-US"/>
              <a:t>Similar information displayed in multiple columns should be sorted vertically.</a:t>
            </a:r>
          </a:p>
          <a:p>
            <a:pPr marL="914400" lvl="1" indent="-457200" eaLnBrk="1" hangingPunct="1"/>
            <a:r>
              <a:rPr lang="en-US"/>
              <a:t>Columns should have at least two spaces between them.</a:t>
            </a: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32EB2B4-1F1F-4C9A-8CB0-346450F3FE2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970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01000" cy="990600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419600"/>
          </a:xfrm>
        </p:spPr>
        <p:txBody>
          <a:bodyPr/>
          <a:lstStyle/>
          <a:p>
            <a:pPr marL="914400" lvl="1" indent="-457200" eaLnBrk="1" hangingPunct="1"/>
            <a:r>
              <a:rPr lang="en-US"/>
              <a:t>Allow white space on printed reports for user to write notes.</a:t>
            </a:r>
          </a:p>
          <a:p>
            <a:pPr marL="914400" lvl="1" indent="-457200" eaLnBrk="1" hangingPunct="1"/>
            <a:r>
              <a:rPr lang="en-US"/>
              <a:t>Use a single typeface, except for emphasis.</a:t>
            </a:r>
          </a:p>
          <a:p>
            <a:pPr marL="914400" lvl="1" indent="-457200" eaLnBrk="1" hangingPunct="1"/>
            <a:r>
              <a:rPr lang="en-US"/>
              <a:t>Use same family of typefaces within and across displays and reports.</a:t>
            </a:r>
          </a:p>
          <a:p>
            <a:pPr marL="914400" lvl="1" indent="-457200" eaLnBrk="1" hangingPunct="1"/>
            <a:r>
              <a:rPr lang="en-US"/>
              <a:t>Avoid overly fancy fonts.</a:t>
            </a:r>
          </a:p>
          <a:p>
            <a:pPr marL="1295400" lvl="2" indent="-381000" eaLnBrk="1" hangingPunct="1">
              <a:buFont typeface="Wingdings" pitchFamily="2" charset="2"/>
              <a:buNone/>
            </a:pPr>
            <a:endParaRPr lang="en-US" sz="2100"/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A5A8B4C-4DF8-4672-AD3B-1BF0EA4A15F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072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89038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Formatting numeric, textual and alphanumeric data:</a:t>
            </a:r>
          </a:p>
          <a:p>
            <a:pPr lvl="1" eaLnBrk="1" hangingPunct="1"/>
            <a:r>
              <a:rPr lang="en-US"/>
              <a:t>Right justify numeric data and align columns by decimal points or other delimiter.</a:t>
            </a:r>
          </a:p>
          <a:p>
            <a:pPr lvl="1" eaLnBrk="1" hangingPunct="1"/>
            <a:r>
              <a:rPr lang="en-US"/>
              <a:t>Left justify textual data.  Use short line length, usually 30 to 40 characters per line.</a:t>
            </a:r>
          </a:p>
          <a:p>
            <a:pPr lvl="1" eaLnBrk="1" hangingPunct="1"/>
            <a:r>
              <a:rPr lang="en-US"/>
              <a:t>Break long sequences of alphanumeric data into small groups of three to four characters each.</a:t>
            </a:r>
          </a:p>
          <a:p>
            <a:pPr lvl="1" eaLnBrk="1" hangingPunct="1">
              <a:lnSpc>
                <a:spcPct val="80000"/>
              </a:lnSpc>
            </a:pPr>
            <a:endParaRPr lang="en-US"/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1747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Tables and Lists (Cont.)</a:t>
            </a:r>
          </a:p>
        </p:txBody>
      </p:sp>
      <p:sp>
        <p:nvSpPr>
          <p:cNvPr id="3174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872EF8B-815F-4C46-8B06-14E6942054A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1749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31750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62400" y="1371600"/>
            <a:ext cx="4419600" cy="4908550"/>
          </a:xfrm>
        </p:spPr>
      </p:pic>
      <p:sp>
        <p:nvSpPr>
          <p:cNvPr id="31751" name="Rectangle 8"/>
          <p:cNvSpPr>
            <a:spLocks noChangeArrowheads="1"/>
          </p:cNvSpPr>
          <p:nvPr/>
        </p:nvSpPr>
        <p:spPr bwMode="auto">
          <a:xfrm>
            <a:off x="152400" y="4114800"/>
            <a:ext cx="37338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10-8</a:t>
            </a:r>
          </a:p>
          <a:p>
            <a:r>
              <a:rPr lang="en-US"/>
              <a:t>Contrasting the display of tables and lists (Pine Valley Furniture)</a:t>
            </a:r>
          </a:p>
          <a:p>
            <a:endParaRPr lang="en-US"/>
          </a:p>
          <a:p>
            <a:r>
              <a:rPr lang="en-US"/>
              <a:t>(a) Poorly designed form</a:t>
            </a: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277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Tables and Lists (Cont.)</a:t>
            </a: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41ACAF2-F7A2-4D15-B550-0F72B86FBDA0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277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32774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333750" y="1371600"/>
            <a:ext cx="5048250" cy="4800600"/>
          </a:xfrm>
        </p:spPr>
      </p:pic>
      <p:sp>
        <p:nvSpPr>
          <p:cNvPr id="32775" name="Rectangle 8"/>
          <p:cNvSpPr>
            <a:spLocks noChangeArrowheads="1"/>
          </p:cNvSpPr>
          <p:nvPr/>
        </p:nvSpPr>
        <p:spPr bwMode="auto">
          <a:xfrm>
            <a:off x="304800" y="3505200"/>
            <a:ext cx="32004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10-8 (continued)</a:t>
            </a:r>
          </a:p>
          <a:p>
            <a:endParaRPr lang="en-US" b="1"/>
          </a:p>
          <a:p>
            <a:r>
              <a:rPr lang="en-US"/>
              <a:t>(b) Improved design for form</a:t>
            </a: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C2108E-A64C-416C-9085-E96EEECAFD8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379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89038"/>
          </a:xfrm>
        </p:spPr>
        <p:txBody>
          <a:bodyPr/>
          <a:lstStyle/>
          <a:p>
            <a:pPr eaLnBrk="1" hangingPunct="1"/>
            <a:r>
              <a:rPr lang="en-US" sz="4000"/>
              <a:t>Designing Tables and Lists (Cont.)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Use tables for reading individual data values.</a:t>
            </a:r>
          </a:p>
          <a:p>
            <a:pPr eaLnBrk="1" hangingPunct="1"/>
            <a:r>
              <a:rPr lang="en-US" sz="2800"/>
              <a:t>Use graphs for:</a:t>
            </a:r>
          </a:p>
          <a:p>
            <a:pPr lvl="1" eaLnBrk="1" hangingPunct="1"/>
            <a:r>
              <a:rPr lang="en-US" sz="2400"/>
              <a:t>Providing quick summary.</a:t>
            </a:r>
          </a:p>
          <a:p>
            <a:pPr lvl="1" eaLnBrk="1" hangingPunct="1"/>
            <a:r>
              <a:rPr lang="en-US" sz="2400"/>
              <a:t>Displaying trends over time.</a:t>
            </a:r>
          </a:p>
          <a:p>
            <a:pPr lvl="1" eaLnBrk="1" hangingPunct="1"/>
            <a:r>
              <a:rPr lang="en-US" sz="2400"/>
              <a:t>Comparing points and patterns of variables.</a:t>
            </a:r>
          </a:p>
          <a:p>
            <a:pPr lvl="1" eaLnBrk="1" hangingPunct="1"/>
            <a:r>
              <a:rPr lang="en-US" sz="2400"/>
              <a:t>Forecasting activity.</a:t>
            </a:r>
          </a:p>
          <a:p>
            <a:pPr lvl="1" eaLnBrk="1" hangingPunct="1"/>
            <a:r>
              <a:rPr lang="en-US" sz="2400"/>
              <a:t>Simple reporting of vast quantities of information.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000"/>
          </a:p>
          <a:p>
            <a:pPr eaLnBrk="1" hangingPunct="1">
              <a:buFont typeface="Wingdings" pitchFamily="2" charset="2"/>
              <a:buNone/>
            </a:pPr>
            <a:endParaRPr lang="en-US" sz="2800"/>
          </a:p>
          <a:p>
            <a:pPr lvl="1" eaLnBrk="1" hangingPunct="1"/>
            <a:endParaRPr lang="en-US" sz="2400"/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Tables and Lists (Cont.)</a:t>
            </a:r>
          </a:p>
        </p:txBody>
      </p:sp>
      <p:sp>
        <p:nvSpPr>
          <p:cNvPr id="3482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A54F26-381D-4240-B2C4-B4921F56399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4821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34822" name="Content Placeholder 7" descr="Noname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3400" y="1447800"/>
            <a:ext cx="5638800" cy="4651375"/>
          </a:xfrm>
        </p:spPr>
      </p:pic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2286000" y="2967038"/>
            <a:ext cx="45720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b="1"/>
          </a:p>
          <a:p>
            <a:endParaRPr lang="en-US"/>
          </a:p>
        </p:txBody>
      </p:sp>
      <p:sp>
        <p:nvSpPr>
          <p:cNvPr id="34824" name="Rectangle 9"/>
          <p:cNvSpPr>
            <a:spLocks noChangeArrowheads="1"/>
          </p:cNvSpPr>
          <p:nvPr/>
        </p:nvSpPr>
        <p:spPr bwMode="auto">
          <a:xfrm>
            <a:off x="6019800" y="2971800"/>
            <a:ext cx="2895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10-9</a:t>
            </a:r>
          </a:p>
          <a:p>
            <a:r>
              <a:rPr lang="en-US"/>
              <a:t>Tabular report illustrating numerous design guidelines </a:t>
            </a:r>
          </a:p>
          <a:p>
            <a:endParaRPr lang="en-US"/>
          </a:p>
          <a:p>
            <a:r>
              <a:rPr lang="en-US"/>
              <a:t>(Pine Valley Furniture)</a:t>
            </a: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Tables and Lists (Cont.)</a:t>
            </a:r>
          </a:p>
        </p:txBody>
      </p:sp>
      <p:sp>
        <p:nvSpPr>
          <p:cNvPr id="3584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1329D37-5BC6-472D-9582-04C79BC7A39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5845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pic>
        <p:nvPicPr>
          <p:cNvPr id="35846" name="Content Placeholder 8" descr="Noname.bmp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62000" y="1600200"/>
            <a:ext cx="4962525" cy="4687888"/>
          </a:xfrm>
        </p:spPr>
      </p:pic>
      <p:sp>
        <p:nvSpPr>
          <p:cNvPr id="35847" name="Rectangle 9"/>
          <p:cNvSpPr>
            <a:spLocks noChangeArrowheads="1"/>
          </p:cNvSpPr>
          <p:nvPr/>
        </p:nvSpPr>
        <p:spPr bwMode="auto">
          <a:xfrm>
            <a:off x="5562600" y="1600200"/>
            <a:ext cx="2895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10-10</a:t>
            </a:r>
          </a:p>
          <a:p>
            <a:r>
              <a:rPr lang="en-US"/>
              <a:t>Graphs for comparison</a:t>
            </a:r>
          </a:p>
        </p:txBody>
      </p:sp>
      <p:sp>
        <p:nvSpPr>
          <p:cNvPr id="35848" name="Rectangle 10"/>
          <p:cNvSpPr>
            <a:spLocks noChangeArrowheads="1"/>
          </p:cNvSpPr>
          <p:nvPr/>
        </p:nvSpPr>
        <p:spPr bwMode="auto">
          <a:xfrm>
            <a:off x="5638800" y="3048000"/>
            <a:ext cx="16208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(a) Line graph</a:t>
            </a:r>
          </a:p>
        </p:txBody>
      </p:sp>
      <p:sp>
        <p:nvSpPr>
          <p:cNvPr id="35849" name="Rectangle 11"/>
          <p:cNvSpPr>
            <a:spLocks noChangeArrowheads="1"/>
          </p:cNvSpPr>
          <p:nvPr/>
        </p:nvSpPr>
        <p:spPr bwMode="auto">
          <a:xfrm>
            <a:off x="5715000" y="5257800"/>
            <a:ext cx="15446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(b) Bar graph</a:t>
            </a: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6465213-B4F0-441D-90B2-34C897DE72D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686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Assessing Usability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458200" cy="4267200"/>
          </a:xfrm>
        </p:spPr>
        <p:txBody>
          <a:bodyPr/>
          <a:lstStyle/>
          <a:p>
            <a:pPr marL="609600" indent="-609600" eaLnBrk="1" hangingPunct="1"/>
            <a:r>
              <a:rPr lang="en-US" sz="3100"/>
              <a:t>Objective for designing forms, reports and all human-computer interactions is usability.</a:t>
            </a:r>
          </a:p>
          <a:p>
            <a:pPr marL="609600" indent="-609600" eaLnBrk="1" hangingPunct="1"/>
            <a:r>
              <a:rPr lang="en-US" sz="3100"/>
              <a:t>There are three characteristics:</a:t>
            </a:r>
          </a:p>
          <a:p>
            <a:pPr marL="1009650" lvl="1" indent="-609600" eaLnBrk="1" hangingPunct="1"/>
            <a:r>
              <a:rPr lang="en-US" sz="2700" i="1"/>
              <a:t>Speed </a:t>
            </a:r>
            <a:r>
              <a:rPr lang="en-US" sz="2700"/>
              <a:t>— Can you complete a task efficiently?</a:t>
            </a:r>
          </a:p>
          <a:p>
            <a:pPr marL="1009650" lvl="1" indent="-609600" eaLnBrk="1" hangingPunct="1"/>
            <a:r>
              <a:rPr lang="en-US" sz="2700" i="1"/>
              <a:t>Accuracy </a:t>
            </a:r>
            <a:r>
              <a:rPr lang="en-US" sz="2700"/>
              <a:t>— Does the output provide what you expect?</a:t>
            </a:r>
          </a:p>
          <a:p>
            <a:pPr marL="1009650" lvl="1" indent="-609600" eaLnBrk="1" hangingPunct="1"/>
            <a:r>
              <a:rPr lang="en-US" sz="2700" i="1"/>
              <a:t>Satisfaction </a:t>
            </a:r>
            <a:r>
              <a:rPr lang="en-US" sz="2700"/>
              <a:t>— Do you like using the output?</a:t>
            </a: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62E2476-4122-42F5-AFD0-42CF9B69D93E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789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Assessing Usability (Cont.)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b="1"/>
              <a:t>Usability</a:t>
            </a:r>
            <a:r>
              <a:rPr lang="en-US"/>
              <a:t>: an overall evaluation of how a system performs in supporting a particular user for a particular task.</a:t>
            </a: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0BC04B2-F69F-4B96-9C75-7EF2BB3977F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891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Usability Success Factors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82000" cy="3886200"/>
          </a:xfrm>
        </p:spPr>
        <p:txBody>
          <a:bodyPr/>
          <a:lstStyle/>
          <a:p>
            <a:pPr eaLnBrk="1" hangingPunct="1"/>
            <a:r>
              <a:rPr lang="en-US" sz="2800" b="1"/>
              <a:t>Consistency</a:t>
            </a:r>
            <a:r>
              <a:rPr lang="en-US" sz="2800" i="1"/>
              <a:t> </a:t>
            </a:r>
            <a:r>
              <a:rPr lang="en-US" sz="2800"/>
              <a:t>— of terminology, formatting, titles, navigation, response time</a:t>
            </a:r>
          </a:p>
          <a:p>
            <a:pPr eaLnBrk="1" hangingPunct="1"/>
            <a:r>
              <a:rPr lang="en-US" sz="2800" b="1"/>
              <a:t>Efficiency</a:t>
            </a:r>
            <a:r>
              <a:rPr lang="en-US" sz="2800" i="1"/>
              <a:t> </a:t>
            </a:r>
            <a:r>
              <a:rPr lang="en-US" sz="2800"/>
              <a:t>— minimize required user actions.</a:t>
            </a:r>
          </a:p>
          <a:p>
            <a:pPr eaLnBrk="1" hangingPunct="1"/>
            <a:r>
              <a:rPr lang="en-US" sz="2800" b="1"/>
              <a:t>Ease</a:t>
            </a:r>
            <a:r>
              <a:rPr lang="en-US" sz="2800" i="1"/>
              <a:t> </a:t>
            </a:r>
            <a:r>
              <a:rPr lang="en-US" sz="2800"/>
              <a:t>— self-explanatory outputs and labels.</a:t>
            </a:r>
          </a:p>
          <a:p>
            <a:pPr eaLnBrk="1" hangingPunct="1"/>
            <a:r>
              <a:rPr lang="en-US" sz="2800" b="1"/>
              <a:t>Format</a:t>
            </a:r>
            <a:r>
              <a:rPr lang="en-US" sz="2800" i="1"/>
              <a:t> </a:t>
            </a:r>
            <a:r>
              <a:rPr lang="en-US" sz="2800"/>
              <a:t>— appropriate display of data and symbols.</a:t>
            </a:r>
          </a:p>
          <a:p>
            <a:pPr eaLnBrk="1" hangingPunct="1"/>
            <a:r>
              <a:rPr lang="en-US" sz="2800" b="1"/>
              <a:t>Flexibility</a:t>
            </a:r>
            <a:r>
              <a:rPr lang="en-US" sz="2800" i="1"/>
              <a:t> </a:t>
            </a:r>
            <a:r>
              <a:rPr lang="en-US" sz="2800"/>
              <a:t>— maximize user options for data input according to preference.</a:t>
            </a: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99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Electronic Commerce Application: Designing Forms and Reports for Pine Valley Furniture Web Store</a:t>
            </a:r>
          </a:p>
        </p:txBody>
      </p:sp>
      <p:sp>
        <p:nvSpPr>
          <p:cNvPr id="39940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886200"/>
          </a:xfrm>
        </p:spPr>
        <p:txBody>
          <a:bodyPr/>
          <a:lstStyle/>
          <a:p>
            <a:r>
              <a:rPr lang="en-US" sz="2800"/>
              <a:t>General guidelines for rapid deployment of Internet Web sites have resulted</a:t>
            </a:r>
          </a:p>
          <a:p>
            <a:r>
              <a:rPr lang="en-US" sz="2800"/>
              <a:t>Three possible solutions to the problem:</a:t>
            </a:r>
          </a:p>
          <a:p>
            <a:pPr lvl="1"/>
            <a:r>
              <a:rPr lang="en-US" sz="2400"/>
              <a:t>Make it possible to design reasonably usable sites without having UI experience.</a:t>
            </a:r>
          </a:p>
          <a:p>
            <a:pPr lvl="1"/>
            <a:r>
              <a:rPr lang="en-US" sz="2400"/>
              <a:t>Train more people in good Web design.</a:t>
            </a:r>
          </a:p>
          <a:p>
            <a:pPr lvl="1"/>
            <a:r>
              <a:rPr lang="en-US" sz="2400"/>
              <a:t>Live with poorly designed sites that are hard to use.</a:t>
            </a:r>
          </a:p>
          <a:p>
            <a:pPr lvl="1"/>
            <a:endParaRPr lang="en-US"/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55F4EFB-4283-42F2-8178-86924D59481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994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409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Designing Forms and Reports at Pine Valley Furniture</a:t>
            </a:r>
          </a:p>
        </p:txBody>
      </p:sp>
      <p:sp>
        <p:nvSpPr>
          <p:cNvPr id="4096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PVF established the following guidelines:</a:t>
            </a:r>
          </a:p>
          <a:p>
            <a:pPr lvl="1"/>
            <a:r>
              <a:rPr lang="en-US"/>
              <a:t>Use lightweight graphics.</a:t>
            </a:r>
          </a:p>
          <a:p>
            <a:pPr lvl="1"/>
            <a:r>
              <a:rPr lang="en-US"/>
              <a:t>Establish forms and data integrity rules.</a:t>
            </a:r>
          </a:p>
          <a:p>
            <a:pPr lvl="1"/>
            <a:r>
              <a:rPr lang="en-US"/>
              <a:t>Use template-based HTML.</a:t>
            </a:r>
          </a:p>
          <a:p>
            <a:endParaRPr lang="en-US"/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0490D81-25E5-4838-888F-719702138E5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096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41987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r>
              <a:rPr lang="en-US"/>
              <a:t>Lightweight Graphics</a:t>
            </a:r>
          </a:p>
        </p:txBody>
      </p:sp>
      <p:sp>
        <p:nvSpPr>
          <p:cNvPr id="41988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91000"/>
          </a:xfrm>
        </p:spPr>
        <p:txBody>
          <a:bodyPr/>
          <a:lstStyle/>
          <a:p>
            <a:r>
              <a:rPr lang="en-US" b="1"/>
              <a:t>Lightweight Graphics</a:t>
            </a:r>
            <a:r>
              <a:rPr lang="en-US"/>
              <a:t>: the use of small, simple images to allow a Web page to more quickly be displayed</a:t>
            </a:r>
          </a:p>
          <a:p>
            <a:pPr lvl="1"/>
            <a:r>
              <a:rPr lang="en-US"/>
              <a:t>Quick image download</a:t>
            </a:r>
          </a:p>
          <a:p>
            <a:pPr lvl="1"/>
            <a:r>
              <a:rPr lang="en-US"/>
              <a:t>Quick feedback from the Web site will help to keep customers at the PVF WebStore longer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225D416-251F-42D1-9924-E6A3C909178E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199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430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/>
              <a:t>Forms and Data Integrity Rules</a:t>
            </a:r>
          </a:p>
        </p:txBody>
      </p:sp>
      <p:sp>
        <p:nvSpPr>
          <p:cNvPr id="43012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91000"/>
          </a:xfrm>
        </p:spPr>
        <p:txBody>
          <a:bodyPr/>
          <a:lstStyle/>
          <a:p>
            <a:r>
              <a:rPr lang="en-US"/>
              <a:t>All forms that request information should be clearly labeled and provide adequate room for input.</a:t>
            </a:r>
          </a:p>
          <a:p>
            <a:r>
              <a:rPr lang="en-US"/>
              <a:t>Specific fields requiring specific information must provide a clear example.</a:t>
            </a:r>
          </a:p>
          <a:p>
            <a:r>
              <a:rPr lang="en-US"/>
              <a:t>Must designate which fields are optional, required, and which have a range of values. </a:t>
            </a:r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16BCFD2-14C7-4841-AAD6-D40DCBAED6C7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301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Template-Based HTML</a:t>
            </a:r>
          </a:p>
        </p:txBody>
      </p:sp>
      <p:sp>
        <p:nvSpPr>
          <p:cNvPr id="44036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91000"/>
          </a:xfrm>
        </p:spPr>
        <p:txBody>
          <a:bodyPr/>
          <a:lstStyle/>
          <a:p>
            <a:r>
              <a:rPr lang="en-US" b="1"/>
              <a:t>Template-based HTML</a:t>
            </a:r>
            <a:r>
              <a:rPr lang="en-US"/>
              <a:t>: templates to display and process common attributes of higher-level, more abstract items</a:t>
            </a:r>
          </a:p>
          <a:p>
            <a:pPr lvl="1"/>
            <a:r>
              <a:rPr lang="en-US"/>
              <a:t>Creates an interface that is very easy to maintain</a:t>
            </a:r>
          </a:p>
          <a:p>
            <a:pPr lvl="1"/>
            <a:r>
              <a:rPr lang="en-US"/>
              <a:t>Advantageous to have a “few” templates that could be used for entire product line</a:t>
            </a:r>
          </a:p>
          <a:p>
            <a:pPr lvl="1"/>
            <a:r>
              <a:rPr lang="en-US"/>
              <a:t>Not every product needs its own page</a:t>
            </a: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813E3E2-3E29-46B6-B69A-57E47239B70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403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450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B388402-D6CC-4A6C-A2BC-ED4B6FB1384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506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Summary</a:t>
            </a: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724400"/>
          </a:xfrm>
        </p:spPr>
        <p:txBody>
          <a:bodyPr/>
          <a:lstStyle/>
          <a:p>
            <a:pPr eaLnBrk="1" hangingPunct="1"/>
            <a:r>
              <a:rPr lang="en-US" sz="3600" dirty="0"/>
              <a:t>In Part 1, you learned how to:</a:t>
            </a: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 dirty="0"/>
              <a:t>Explain the process of designing forms and reports and the deliverables for their creation.</a:t>
            </a: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 dirty="0"/>
              <a:t>Apply the general guidelines for formatting forms and reports.</a:t>
            </a: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 dirty="0"/>
              <a:t>Use color and know when color improves the usability of information.</a:t>
            </a:r>
          </a:p>
        </p:txBody>
      </p:sp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9B90DA-79F7-45B6-886A-9F0CAD83B084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608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(Cont.)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724400"/>
          </a:xfrm>
        </p:spPr>
        <p:txBody>
          <a:bodyPr/>
          <a:lstStyle/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/>
              <a:t>Format text, tables, and lists effectively.</a:t>
            </a: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/>
              <a:t>Explain how to assess usability influence the usability of forms and reports.</a:t>
            </a: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/>
              <a:t>Discuss guidelines for the design of forms and reports for Internet-based electronic commerce systems.</a:t>
            </a:r>
          </a:p>
        </p:txBody>
      </p:sp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9B90DA-79F7-45B6-886A-9F0CAD83B084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608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7</a:t>
            </a:r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Exercise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8077200" cy="4114800"/>
          </a:xfrm>
        </p:spPr>
        <p:txBody>
          <a:bodyPr/>
          <a:lstStyle/>
          <a:p>
            <a:pPr lvl="0" eaLnBrk="1" hangingPunct="1">
              <a:buClr>
                <a:srgbClr val="BA2212"/>
              </a:buClr>
              <a:buNone/>
            </a:pPr>
            <a:r>
              <a:rPr lang="en-US" dirty="0"/>
              <a:t>Design </a:t>
            </a:r>
            <a:r>
              <a:rPr lang="en-US" b="1" dirty="0"/>
              <a:t>ONE</a:t>
            </a:r>
            <a:r>
              <a:rPr lang="en-US" dirty="0"/>
              <a:t> data entry screen for a library registration system by using data entry guidelines. Provide </a:t>
            </a:r>
            <a:r>
              <a:rPr lang="en-US" b="1" dirty="0"/>
              <a:t>FOUR</a:t>
            </a:r>
            <a:r>
              <a:rPr lang="en-US" dirty="0"/>
              <a:t> justifications in designing the data entry screen</a:t>
            </a:r>
          </a:p>
          <a:p>
            <a:pPr eaLnBrk="1" hangingPunct="1">
              <a:buClr>
                <a:srgbClr val="BA2212"/>
              </a:buClr>
              <a:buNone/>
            </a:pP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371600"/>
          </a:xfrm>
        </p:spPr>
        <p:txBody>
          <a:bodyPr/>
          <a:lstStyle/>
          <a:p>
            <a:pPr algn="ctr"/>
            <a:r>
              <a:rPr lang="en-US" dirty="0"/>
              <a:t>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3886200"/>
          </a:xfrm>
        </p:spPr>
        <p:txBody>
          <a:bodyPr/>
          <a:lstStyle/>
          <a:p>
            <a:r>
              <a:rPr lang="en-US" sz="2100" b="1"/>
              <a:t>Interface design </a:t>
            </a:r>
            <a:r>
              <a:rPr lang="en-US" sz="2100"/>
              <a:t>focuses on how information is provided to and captured from users</a:t>
            </a:r>
          </a:p>
          <a:p>
            <a:r>
              <a:rPr lang="en-US" sz="2100" b="1"/>
              <a:t>Dialogue design </a:t>
            </a:r>
            <a:r>
              <a:rPr lang="en-US" sz="2100"/>
              <a:t>focuses on the sequencing of interface displays.</a:t>
            </a:r>
          </a:p>
          <a:p>
            <a:r>
              <a:rPr lang="en-US" sz="2100"/>
              <a:t>Thus, the design of interfaces and dialogues is defining the manner in which humans and computer exchange information.</a:t>
            </a:r>
          </a:p>
          <a:p>
            <a:r>
              <a:rPr lang="en-US" sz="2100"/>
              <a:t>It complements the design of forms and reports which addressed design guidelines for the content of forms and reports.</a:t>
            </a:r>
          </a:p>
          <a:p>
            <a:r>
              <a:rPr lang="en-US" sz="2100"/>
              <a:t>Also, it includes navigation between forms, alternative ways to make forms or reports to appear, and how to supplement the content of forms and reports with user help and error messages</a:t>
            </a:r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45C2C7D-6217-43F8-8D72-5B14C9CF72A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12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fld id="{DCCF98EF-86FE-4EAE-98B9-EC496A4871CB}" type="datetime1">
              <a:rPr lang="en-US" smtClean="0"/>
              <a:pPr/>
              <a:t>1/12/2021</a:t>
            </a:fld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Deliverables and Outcomes</a:t>
            </a:r>
          </a:p>
        </p:txBody>
      </p:sp>
      <p:sp>
        <p:nvSpPr>
          <p:cNvPr id="7172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8862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Creation of a design specification</a:t>
            </a:r>
          </a:p>
          <a:p>
            <a:pPr marL="857250" lvl="1" indent="-457200" eaLnBrk="1" hangingPunct="1">
              <a:defRPr/>
            </a:pPr>
            <a:r>
              <a:rPr lang="en-US" sz="2400" dirty="0"/>
              <a:t>A typical interface/dialogue design specification is similar to form design, but includes multiple forms and dialogue sequence specifications.</a:t>
            </a:r>
          </a:p>
          <a:p>
            <a:pPr eaLnBrk="1" hangingPunct="1">
              <a:defRPr/>
            </a:pPr>
            <a:r>
              <a:rPr lang="en-US" sz="2400" dirty="0"/>
              <a:t>The specification includes:</a:t>
            </a:r>
          </a:p>
          <a:p>
            <a:pPr lvl="1" eaLnBrk="1" hangingPunct="1">
              <a:defRPr/>
            </a:pPr>
            <a:r>
              <a:rPr lang="en-US" sz="2400" dirty="0"/>
              <a:t>Narrative overview</a:t>
            </a:r>
          </a:p>
          <a:p>
            <a:pPr lvl="1" eaLnBrk="1" hangingPunct="1">
              <a:defRPr/>
            </a:pPr>
            <a:r>
              <a:rPr lang="en-US" sz="2400" dirty="0"/>
              <a:t>Sample design</a:t>
            </a:r>
          </a:p>
          <a:p>
            <a:pPr lvl="1" eaLnBrk="1" hangingPunct="1">
              <a:defRPr/>
            </a:pPr>
            <a:r>
              <a:rPr lang="en-US" sz="2400" dirty="0"/>
              <a:t>Testing and usability assessment</a:t>
            </a:r>
          </a:p>
          <a:p>
            <a:pPr lvl="1" eaLnBrk="1" hangingPunct="1">
              <a:defRPr/>
            </a:pPr>
            <a:r>
              <a:rPr lang="en-US" sz="2400" dirty="0"/>
              <a:t>Dialogue sequence</a:t>
            </a:r>
          </a:p>
          <a:p>
            <a:pPr eaLnBrk="1" hangingPunct="1">
              <a:defRPr/>
            </a:pPr>
            <a:r>
              <a:rPr lang="en-US" sz="2400" i="1" dirty="0">
                <a:solidFill>
                  <a:srgbClr val="FF0000"/>
                </a:solidFill>
              </a:rPr>
              <a:t>Dialogue sequence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the ways a user can move from one display to another.</a:t>
            </a:r>
          </a:p>
          <a:p>
            <a:pPr marL="857250" lvl="1" indent="-457200" eaLnBrk="1" hangingPunct="1">
              <a:defRPr/>
            </a:pPr>
            <a:endParaRPr lang="en-US" sz="2400" dirty="0"/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D8CB25E-8EA5-4916-A945-196AEDF5CDB0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15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Deliverables and Outcomes (Cont.)</a:t>
            </a:r>
          </a:p>
        </p:txBody>
      </p:sp>
      <p:sp>
        <p:nvSpPr>
          <p:cNvPr id="7172" name="Content Placeholder 2"/>
          <p:cNvSpPr>
            <a:spLocks noGrp="1"/>
          </p:cNvSpPr>
          <p:nvPr>
            <p:ph idx="1"/>
          </p:nvPr>
        </p:nvSpPr>
        <p:spPr>
          <a:xfrm>
            <a:off x="152400" y="6324600"/>
            <a:ext cx="8229600" cy="381000"/>
          </a:xfrm>
          <a:solidFill>
            <a:schemeClr val="bg1"/>
          </a:solidFill>
        </p:spPr>
        <p:txBody>
          <a:bodyPr/>
          <a:lstStyle/>
          <a:p>
            <a:pPr algn="r" eaLnBrk="1" hangingPunct="1">
              <a:buFont typeface="Wingdings" pitchFamily="2" charset="2"/>
              <a:buNone/>
            </a:pPr>
            <a:r>
              <a:rPr lang="en-US" sz="2000"/>
              <a:t>Sample of dialogue sequence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7F34E6B-0DB4-4761-AD92-49F541C3B886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17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pic>
        <p:nvPicPr>
          <p:cNvPr id="7175" name="Picture 7" descr="Fig12-19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416050"/>
            <a:ext cx="5715000" cy="498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2008 by Prentice Hall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A1594AB-BD72-4A59-9AA2-70A2EA568E09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819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12</a:t>
            </a: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pPr eaLnBrk="1" hangingPunct="1"/>
            <a:r>
              <a:rPr lang="en-US" sz="4000"/>
              <a:t>Interaction Methods and Devices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u="sng"/>
              <a:t>Interface</a:t>
            </a:r>
            <a:r>
              <a:rPr lang="en-US" sz="2800" u="sng"/>
              <a:t>:</a:t>
            </a:r>
            <a:r>
              <a:rPr lang="en-US" sz="2800"/>
              <a:t> a method by which users interact with an information system.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All human-computer interfaces must: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have an interaction style; 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use some hardware device(s) for supporting this interaction.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Most popular styles of interacting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Command Line</a:t>
            </a:r>
            <a:r>
              <a:rPr lang="en-US" sz="2200"/>
              <a:t> -- includes keyboard shortcuts and function keys.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Menu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Form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Object-based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b="1"/>
              <a:t>Natural language</a:t>
            </a:r>
          </a:p>
        </p:txBody>
      </p:sp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1A14C92-DC18-43AE-B722-5883BE347118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22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Command Language Interaction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458200" cy="3886200"/>
          </a:xfrm>
        </p:spPr>
        <p:txBody>
          <a:bodyPr/>
          <a:lstStyle/>
          <a:p>
            <a:pPr eaLnBrk="1" hangingPunct="1"/>
            <a:r>
              <a:rPr lang="en-US" b="1"/>
              <a:t>Command language interaction:</a:t>
            </a:r>
            <a:r>
              <a:rPr lang="en-US"/>
              <a:t> a human-computer interaction method whereby users enter explicit statements into a system to invoke operations</a:t>
            </a:r>
          </a:p>
          <a:p>
            <a:pPr eaLnBrk="1" hangingPunct="1"/>
            <a:r>
              <a:rPr lang="en-US"/>
              <a:t>Example from MS DOS:</a:t>
            </a:r>
          </a:p>
          <a:p>
            <a:pPr lvl="1" eaLnBrk="1" hangingPunct="1"/>
            <a:r>
              <a:rPr lang="en-US"/>
              <a:t>COPY C:PAPER.DOC A:PAPER.DOC</a:t>
            </a:r>
          </a:p>
          <a:p>
            <a:pPr lvl="1" eaLnBrk="1" hangingPunct="1"/>
            <a:r>
              <a:rPr lang="en-US"/>
              <a:t>Command copies a file from C: drive to A: drive</a:t>
            </a:r>
          </a:p>
        </p:txBody>
      </p:sp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AF5A9AA-9623-4DEE-B400-69E0B8164A9D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024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Menu Interaction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458200" cy="3886200"/>
          </a:xfrm>
        </p:spPr>
        <p:txBody>
          <a:bodyPr/>
          <a:lstStyle/>
          <a:p>
            <a:pPr eaLnBrk="1" hangingPunct="1"/>
            <a:r>
              <a:rPr lang="en-US" sz="3000" b="1"/>
              <a:t>Menu interaction</a:t>
            </a:r>
            <a:r>
              <a:rPr lang="en-US" sz="3000"/>
              <a:t>: a human-computer interaction method in which a list of system options is provided and a specific command is invoked by user selection of a menu option</a:t>
            </a:r>
          </a:p>
          <a:p>
            <a:pPr eaLnBrk="1" hangingPunct="1"/>
            <a:r>
              <a:rPr lang="en-US" sz="3000" b="1"/>
              <a:t>Pop-up menu</a:t>
            </a:r>
            <a:r>
              <a:rPr lang="en-US" sz="3000"/>
              <a:t>: a menu-positioning method that places a menu near the current cursor position</a:t>
            </a:r>
          </a:p>
        </p:txBody>
      </p:sp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Menu Interaction (Cont.)</a:t>
            </a:r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/>
              <a:t>Drop-down menu</a:t>
            </a:r>
            <a:r>
              <a:rPr lang="en-US"/>
              <a:t> is a menu-positioning method that places the access point of the menu near the top line of the display.</a:t>
            </a:r>
          </a:p>
          <a:p>
            <a:pPr lvl="1" eaLnBrk="1" hangingPunct="1"/>
            <a:r>
              <a:rPr lang="en-US"/>
              <a:t>When accessed, menus open by dropping down onto the display.</a:t>
            </a:r>
          </a:p>
          <a:p>
            <a:pPr lvl="1" eaLnBrk="1" hangingPunct="1"/>
            <a:r>
              <a:rPr lang="en-US"/>
              <a:t>Visual editing tools help designers construct menus.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BD082F-215B-4BFC-AF01-1CEC55A31CE4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127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229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Menu Interaction (Cont.)</a:t>
            </a:r>
          </a:p>
        </p:txBody>
      </p:sp>
      <p:sp>
        <p:nvSpPr>
          <p:cNvPr id="12292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95800"/>
          </a:xfrm>
        </p:spPr>
        <p:txBody>
          <a:bodyPr/>
          <a:lstStyle/>
          <a:p>
            <a:pPr eaLnBrk="1" hangingPunct="1"/>
            <a:r>
              <a:rPr lang="en-US"/>
              <a:t>Guidelines for Menu Design</a:t>
            </a:r>
          </a:p>
          <a:p>
            <a:pPr lvl="1" eaLnBrk="1" hangingPunct="1"/>
            <a:r>
              <a:rPr lang="en-US" sz="2600" b="1"/>
              <a:t>Wording — </a:t>
            </a:r>
            <a:r>
              <a:rPr lang="en-US" sz="2600"/>
              <a:t>meaningful titles, clear command verbs, mixed upper/lower case</a:t>
            </a:r>
          </a:p>
          <a:p>
            <a:pPr lvl="1" eaLnBrk="1" hangingPunct="1"/>
            <a:r>
              <a:rPr lang="en-US" sz="2600" b="1"/>
              <a:t>Organization — </a:t>
            </a:r>
            <a:r>
              <a:rPr lang="en-US" sz="2600"/>
              <a:t>consistent organizing principle</a:t>
            </a:r>
          </a:p>
          <a:p>
            <a:pPr lvl="1" eaLnBrk="1" hangingPunct="1"/>
            <a:r>
              <a:rPr lang="en-US" sz="2600" b="1"/>
              <a:t>Length — </a:t>
            </a:r>
            <a:r>
              <a:rPr lang="en-US" sz="2600"/>
              <a:t>all choices fit within screen length</a:t>
            </a:r>
          </a:p>
          <a:p>
            <a:pPr lvl="1" eaLnBrk="1" hangingPunct="1"/>
            <a:r>
              <a:rPr lang="en-US" sz="2600" b="1"/>
              <a:t>Selection — </a:t>
            </a:r>
            <a:r>
              <a:rPr lang="en-US" sz="2600"/>
              <a:t>consistent, clear and easy selection methods</a:t>
            </a:r>
          </a:p>
          <a:p>
            <a:pPr lvl="1" eaLnBrk="1" hangingPunct="1"/>
            <a:r>
              <a:rPr lang="en-US" sz="2600" b="1"/>
              <a:t>Highlighting — </a:t>
            </a:r>
            <a:r>
              <a:rPr lang="en-US" sz="2600"/>
              <a:t>only for selected options or unavailable options</a:t>
            </a: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B5E86CC-8930-4C34-AEAF-E4A4B60E432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1229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en-US"/>
              <a:t>Menu Interaction (Cont.)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3AD730-0CDB-4D29-9C36-A7E04CEB69B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13317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pic>
        <p:nvPicPr>
          <p:cNvPr id="13318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4800" y="1143000"/>
            <a:ext cx="5638800" cy="5105400"/>
          </a:xfrm>
        </p:spPr>
      </p:pic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6019800" y="1828800"/>
            <a:ext cx="2743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11-8</a:t>
            </a:r>
          </a:p>
          <a:p>
            <a:r>
              <a:rPr lang="en-US"/>
              <a:t>Menu building with Microsoft Visual Basic .NET</a:t>
            </a:r>
          </a:p>
        </p:txBody>
      </p:sp>
    </p:spTree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23111" r="1667" b="4000"/>
          <a:stretch>
            <a:fillRect/>
          </a:stretch>
        </p:blipFill>
        <p:spPr bwMode="auto">
          <a:xfrm>
            <a:off x="152400" y="762000"/>
            <a:ext cx="8991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24000" r="1667" b="5778"/>
          <a:stretch>
            <a:fillRect/>
          </a:stretch>
        </p:blipFill>
        <p:spPr bwMode="auto">
          <a:xfrm>
            <a:off x="228600" y="914400"/>
            <a:ext cx="8915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6B297BC-4D4D-430F-9589-AB5E780FBB18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434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Form Interaction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/>
              <a:t>Form interaction</a:t>
            </a:r>
            <a:r>
              <a:rPr lang="en-US"/>
              <a:t>: a highly intuitive human-computer interaction method whereby data fields are formatted in a manner similar to paper-based forms</a:t>
            </a:r>
          </a:p>
          <a:p>
            <a:pPr lvl="1" eaLnBrk="1" hangingPunct="1"/>
            <a:r>
              <a:rPr lang="en-US"/>
              <a:t>Allows users to fill in the blanks when working with a system.</a:t>
            </a:r>
          </a:p>
        </p:txBody>
      </p:sp>
    </p:spTree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Form Interaction (Cont.)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912A2DA-A478-4583-890B-3836582B785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15365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pic>
        <p:nvPicPr>
          <p:cNvPr id="15366" name="Content Placeholder 8" descr="Nonam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438400" y="1371600"/>
            <a:ext cx="6477000" cy="4875213"/>
          </a:xfrm>
        </p:spPr>
      </p:pic>
      <p:sp>
        <p:nvSpPr>
          <p:cNvPr id="15367" name="Rectangle 9"/>
          <p:cNvSpPr>
            <a:spLocks noChangeArrowheads="1"/>
          </p:cNvSpPr>
          <p:nvPr/>
        </p:nvSpPr>
        <p:spPr bwMode="auto">
          <a:xfrm>
            <a:off x="228600" y="2819400"/>
            <a:ext cx="2514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11-9</a:t>
            </a:r>
          </a:p>
          <a:p>
            <a:r>
              <a:rPr lang="en-US"/>
              <a:t>Example of form interaction from the Google Advanced Search Engine</a:t>
            </a:r>
          </a:p>
          <a:p>
            <a:r>
              <a:rPr lang="en-US"/>
              <a:t>(</a:t>
            </a:r>
            <a:r>
              <a:rPr lang="en-US" i="1"/>
              <a:t>Source: Google.)</a:t>
            </a:r>
            <a:endParaRPr lang="en-US"/>
          </a:p>
        </p:txBody>
      </p:sp>
    </p:spTree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FF7B4ED-906B-4ED3-910A-2AE7C5D72245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1638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Object-Based Interaction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038600"/>
          </a:xfrm>
        </p:spPr>
        <p:txBody>
          <a:bodyPr/>
          <a:lstStyle/>
          <a:p>
            <a:pPr eaLnBrk="1" hangingPunct="1"/>
            <a:r>
              <a:rPr lang="en-US" b="1"/>
              <a:t>Object-based interaction</a:t>
            </a:r>
            <a:r>
              <a:rPr lang="en-US"/>
              <a:t>: a human-computer interaction method in which symbols are used to represent commands or functions</a:t>
            </a:r>
          </a:p>
          <a:p>
            <a:pPr eaLnBrk="1" hangingPunct="1"/>
            <a:r>
              <a:rPr lang="en-US" b="1"/>
              <a:t>Icons</a:t>
            </a:r>
            <a:r>
              <a:rPr lang="en-US"/>
              <a:t>: graphical pictures that represent specific functions within a system</a:t>
            </a:r>
          </a:p>
          <a:p>
            <a:pPr lvl="1" eaLnBrk="1" hangingPunct="1"/>
            <a:r>
              <a:rPr lang="en-US"/>
              <a:t>Use little screen space and are easily understood by users</a:t>
            </a:r>
          </a:p>
        </p:txBody>
      </p:sp>
    </p:spTree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74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/>
              <a:t>Object-Based Interaction (Cont.)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9D7BA0C-A7F5-4A0D-94B1-03FDBA0E6B32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1741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pic>
        <p:nvPicPr>
          <p:cNvPr id="17414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09800" y="1371600"/>
            <a:ext cx="6697663" cy="4886325"/>
          </a:xfrm>
        </p:spPr>
      </p:pic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304800" y="2590800"/>
            <a:ext cx="19812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11-10</a:t>
            </a:r>
          </a:p>
          <a:p>
            <a:r>
              <a:rPr lang="en-US"/>
              <a:t>Object-based (icon) interface from Microsoft Visual Basic .NET</a:t>
            </a:r>
          </a:p>
        </p:txBody>
      </p:sp>
    </p:spTree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F5E6DA9-200E-4BA4-9470-0ADAC25D0CF3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1843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Natural Language Interaction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267200"/>
          </a:xfrm>
        </p:spPr>
        <p:txBody>
          <a:bodyPr/>
          <a:lstStyle/>
          <a:p>
            <a:pPr eaLnBrk="1" hangingPunct="1"/>
            <a:r>
              <a:rPr lang="en-US" sz="3000" b="1"/>
              <a:t>Natural language interaction</a:t>
            </a:r>
            <a:r>
              <a:rPr lang="en-US" sz="3000"/>
              <a:t>: a human-computer interaction method whereby inputs to and outputs from a computer-based application are in a conventional spoken language such as English</a:t>
            </a:r>
          </a:p>
          <a:p>
            <a:pPr eaLnBrk="1" hangingPunct="1"/>
            <a:r>
              <a:rPr lang="en-US" sz="3000"/>
              <a:t>Based on research in artificial intelligence.</a:t>
            </a:r>
          </a:p>
          <a:p>
            <a:pPr eaLnBrk="1" hangingPunct="1"/>
            <a:r>
              <a:rPr lang="en-US" sz="3000"/>
              <a:t>Current implementations are tedious and difficult to work with, not as viable as other interaction methods.</a:t>
            </a:r>
          </a:p>
        </p:txBody>
      </p:sp>
    </p:spTree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19459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 b="1"/>
              <a:t>Hardware Options for System Interaction</a:t>
            </a:r>
          </a:p>
        </p:txBody>
      </p:sp>
      <p:sp>
        <p:nvSpPr>
          <p:cNvPr id="1946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96464F9-7FCC-4706-9667-74358439C1E6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19461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pic>
        <p:nvPicPr>
          <p:cNvPr id="19462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5800" y="1447800"/>
            <a:ext cx="7391400" cy="4724400"/>
          </a:xfrm>
        </p:spPr>
      </p:pic>
    </p:spTree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93B0B09-EC79-467B-A130-5625448510DC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2150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31838"/>
            <a:ext cx="8229600" cy="822325"/>
          </a:xfrm>
        </p:spPr>
        <p:txBody>
          <a:bodyPr/>
          <a:lstStyle/>
          <a:p>
            <a:pPr eaLnBrk="1" hangingPunct="1"/>
            <a:r>
              <a:rPr lang="en-US" b="1" dirty="0"/>
              <a:t>Designing Interfaces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Designing Layout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Structuring Data Entry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Controlling Data Input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Providing Feedback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Providing Help </a:t>
            </a:r>
          </a:p>
        </p:txBody>
      </p:sp>
    </p:spTree>
    <p:extLst>
      <p:ext uri="{BB962C8B-B14F-4D97-AF65-F5344CB8AC3E}">
        <p14:creationId xmlns:p14="http://schemas.microsoft.com/office/powerpoint/2010/main" val="3852501216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b="1" dirty="0"/>
              <a:t>Designing Interfaces (cont.)</a:t>
            </a:r>
          </a:p>
        </p:txBody>
      </p:sp>
      <p:graphicFrame>
        <p:nvGraphicFramePr>
          <p:cNvPr id="316419" name="Group 3"/>
          <p:cNvGraphicFramePr>
            <a:graphicFrameLocks noGrp="1"/>
          </p:cNvGraphicFramePr>
          <p:nvPr>
            <p:ph idx="1"/>
          </p:nvPr>
        </p:nvGraphicFramePr>
        <p:xfrm>
          <a:off x="457200" y="2667000"/>
          <a:ext cx="8382000" cy="3901440"/>
        </p:xfrm>
        <a:graphic>
          <a:graphicData uri="http://schemas.openxmlformats.org/drawingml/2006/table">
            <a:tbl>
              <a:tblPr/>
              <a:tblGrid>
                <a:gridCol w="2218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3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Entry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Never require data that are already online or that can be computed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Defaults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Always provide default values when appropriate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Units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Make clear the type of data units requested for entry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Replacement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Use character replacement when appropriate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Captioning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Always place a caption adjacent to fields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Format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Provide formatting examples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Justify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Automatically justify data entries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Help</a:t>
                      </a:r>
                    </a:p>
                  </a:txBody>
                  <a:tcPr marL="107343" marR="1073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Provide context-sensitive help when appropriate</a:t>
                      </a:r>
                    </a:p>
                  </a:txBody>
                  <a:tcPr marL="107343" marR="1073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51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05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FA0119B-5EB1-498C-BB93-3AAE1F3B36B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051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981200"/>
            <a:ext cx="4311650" cy="55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3000" dirty="0">
                <a:latin typeface="+mn-lt"/>
                <a:cs typeface="+mn-cs"/>
              </a:rPr>
              <a:t>Structuring Data Entry</a:t>
            </a:r>
          </a:p>
        </p:txBody>
      </p:sp>
    </p:spTree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93B0B09-EC79-467B-A130-5625448510DC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150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31838"/>
            <a:ext cx="8229600" cy="822325"/>
          </a:xfrm>
        </p:spPr>
        <p:txBody>
          <a:bodyPr/>
          <a:lstStyle/>
          <a:p>
            <a:pPr eaLnBrk="1" hangingPunct="1"/>
            <a:r>
              <a:rPr lang="en-US" sz="4000" b="1"/>
              <a:t>Designing Interfaces (cont.)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Controlling Data Input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Objective: Reduce data entry errors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Common sources data entry errors in a field: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Appending: adding additional characters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Truncating: losing characters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/>
              <a:t>Transcripting</a:t>
            </a:r>
            <a:r>
              <a:rPr lang="en-US" dirty="0"/>
              <a:t>: entering invalid 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Transposing: reversing sequence of characters</a:t>
            </a:r>
          </a:p>
        </p:txBody>
      </p:sp>
    </p:spTree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b="1"/>
              <a:t>Designing Interfaces (cont.)</a:t>
            </a:r>
            <a:endParaRPr lang="en-US"/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Providing Feedback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Three types of system feedback: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 b="1" i="1"/>
              <a:t>Status information</a:t>
            </a:r>
            <a:r>
              <a:rPr lang="en-US" sz="2800"/>
              <a:t>: keep user informed of what’s going on, helpful when user has to wait for response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 b="1" i="1"/>
              <a:t>Prompting cues</a:t>
            </a:r>
            <a:r>
              <a:rPr lang="en-US" sz="2800"/>
              <a:t>: tell user when input is needed, and how to provide the input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800" b="1" i="1"/>
              <a:t>Error or warning messages</a:t>
            </a:r>
            <a:r>
              <a:rPr lang="en-US" sz="2800"/>
              <a:t>: inform user that something is wrong, either with data entry or system operation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17EE5D6-A70D-4E40-8DC5-5D3E28774429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22534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45DDD1-C87F-49AE-AD5E-A5FF6643902D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2355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pPr eaLnBrk="1" hangingPunct="1"/>
            <a:r>
              <a:rPr lang="en-US" b="1"/>
              <a:t>Designing Interfaces (cont.)</a:t>
            </a:r>
            <a:endParaRPr lang="en-US"/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Providing Help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Place yourself in user’s place when designing help.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Guidelines for designing usable help: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/>
              <a:t>Simplicity </a:t>
            </a:r>
            <a:r>
              <a:rPr lang="en-US"/>
              <a:t>— Help messages should be short and to the point.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/>
              <a:t>Organize </a:t>
            </a:r>
            <a:r>
              <a:rPr lang="en-US"/>
              <a:t>— Information in help messages should be easily absorbed by users.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/>
              <a:t>Show </a:t>
            </a:r>
            <a:r>
              <a:rPr lang="en-US"/>
              <a:t>— It is useful to explicitly show users how to perform an operation.</a:t>
            </a:r>
          </a:p>
        </p:txBody>
      </p:sp>
    </p:spTree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69EE8F-F08A-4CAC-96BF-771FBCFB1022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2458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pPr eaLnBrk="1" hangingPunct="1"/>
            <a:r>
              <a:rPr lang="en-US" sz="4000" b="1"/>
              <a:t>Designing Dialogues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/>
              <a:t>Dialogues</a:t>
            </a:r>
            <a:r>
              <a:rPr lang="en-US"/>
              <a:t>: the sequence of interaction between a user and a system</a:t>
            </a:r>
          </a:p>
          <a:p>
            <a:pPr eaLnBrk="1" hangingPunct="1"/>
            <a:r>
              <a:rPr lang="en-US"/>
              <a:t>Dialogue design involves:</a:t>
            </a:r>
          </a:p>
          <a:p>
            <a:pPr lvl="1" eaLnBrk="1" hangingPunct="1"/>
            <a:r>
              <a:rPr lang="en-US"/>
              <a:t>Designing a dialogue sequence.</a:t>
            </a:r>
          </a:p>
          <a:p>
            <a:pPr lvl="1" eaLnBrk="1" hangingPunct="1"/>
            <a:r>
              <a:rPr lang="en-US"/>
              <a:t>Building a prototype.</a:t>
            </a:r>
          </a:p>
          <a:p>
            <a:pPr lvl="1" eaLnBrk="1" hangingPunct="1"/>
            <a:r>
              <a:rPr lang="en-US"/>
              <a:t>Assessing usability.</a:t>
            </a:r>
          </a:p>
        </p:txBody>
      </p:sp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 dirty="0"/>
              <a:t>Designing the Dialogue Sequence</a:t>
            </a:r>
          </a:p>
        </p:txBody>
      </p:sp>
      <p:sp>
        <p:nvSpPr>
          <p:cNvPr id="2560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Dialogue diagramming</a:t>
            </a:r>
            <a:r>
              <a:rPr lang="en-US"/>
              <a:t>: a formal method for designing and representing human-computer dialogues using box and line diagrams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04E20F4-D48D-411E-8A0C-49C17E15F2DF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2560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6627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26628" name="Content Placeholder 2"/>
          <p:cNvSpPr>
            <a:spLocks noGrp="1"/>
          </p:cNvSpPr>
          <p:nvPr>
            <p:ph idx="1"/>
          </p:nvPr>
        </p:nvSpPr>
        <p:spPr>
          <a:xfrm>
            <a:off x="228600" y="1981200"/>
            <a:ext cx="8610600" cy="3886200"/>
          </a:xfrm>
        </p:spPr>
        <p:txBody>
          <a:bodyPr/>
          <a:lstStyle/>
          <a:p>
            <a:r>
              <a:rPr lang="en-US"/>
              <a:t>Three sections of the box are used as:</a:t>
            </a:r>
          </a:p>
          <a:p>
            <a:pPr lvl="1"/>
            <a:r>
              <a:rPr lang="en-US" i="1"/>
              <a:t>Top</a:t>
            </a:r>
            <a:r>
              <a:rPr lang="en-US"/>
              <a:t> contains a unique display reference number used by other displays for referencing it.</a:t>
            </a:r>
          </a:p>
          <a:p>
            <a:pPr lvl="1"/>
            <a:r>
              <a:rPr lang="en-US" i="1"/>
              <a:t>Middle</a:t>
            </a:r>
            <a:r>
              <a:rPr lang="en-US"/>
              <a:t> contains the name or description of the display.</a:t>
            </a:r>
          </a:p>
          <a:p>
            <a:pPr lvl="1"/>
            <a:r>
              <a:rPr lang="en-US" i="1"/>
              <a:t>Bottom</a:t>
            </a:r>
            <a:r>
              <a:rPr lang="en-US"/>
              <a:t> contains display reference numbers that can be accessed from the current display.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DF49F8C-FDF2-4125-89E0-91737A928AFD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2663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6257BF3-BF18-4664-85D2-916F9AA74FEB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27653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pic>
        <p:nvPicPr>
          <p:cNvPr id="27654" name="Content Placeholder 7" descr="Nonam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438400" y="1600200"/>
            <a:ext cx="5486400" cy="3995738"/>
          </a:xfrm>
        </p:spPr>
      </p:pic>
      <p:sp>
        <p:nvSpPr>
          <p:cNvPr id="27655" name="Rectangle 8"/>
          <p:cNvSpPr>
            <a:spLocks noChangeArrowheads="1"/>
          </p:cNvSpPr>
          <p:nvPr/>
        </p:nvSpPr>
        <p:spPr bwMode="auto">
          <a:xfrm>
            <a:off x="304800" y="5257800"/>
            <a:ext cx="4572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11-17</a:t>
            </a:r>
          </a:p>
          <a:p>
            <a:r>
              <a:rPr lang="en-US"/>
              <a:t>Sections of a dialogue diagramming box</a:t>
            </a:r>
          </a:p>
        </p:txBody>
      </p:sp>
    </p:spTree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2867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Dialogue diagrams depict the sequence, conditional branching, and repetition of dialogues.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5C8BE09-5C0E-4435-AC44-034CFD613C3F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2867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BBD1142-66E5-40CF-986E-28559E556E74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29701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pic>
        <p:nvPicPr>
          <p:cNvPr id="29702" name="Content Placeholder 9" descr="Nonam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667000" y="1295400"/>
            <a:ext cx="5334000" cy="4970463"/>
          </a:xfrm>
        </p:spPr>
      </p:pic>
      <p:sp>
        <p:nvSpPr>
          <p:cNvPr id="29703" name="Rectangle 11"/>
          <p:cNvSpPr>
            <a:spLocks noChangeArrowheads="1"/>
          </p:cNvSpPr>
          <p:nvPr/>
        </p:nvSpPr>
        <p:spPr bwMode="auto">
          <a:xfrm>
            <a:off x="533400" y="2971800"/>
            <a:ext cx="39624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11-18</a:t>
            </a:r>
          </a:p>
          <a:p>
            <a:r>
              <a:rPr lang="en-US"/>
              <a:t>Dialogue diagram illustrating sequence, selection, and iteration</a:t>
            </a:r>
          </a:p>
        </p:txBody>
      </p:sp>
    </p:spTree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Prototypes and Assessing Usability</a:t>
            </a:r>
          </a:p>
        </p:txBody>
      </p:sp>
      <p:sp>
        <p:nvSpPr>
          <p:cNvPr id="307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Optional activities</a:t>
            </a:r>
          </a:p>
          <a:p>
            <a:r>
              <a:rPr lang="en-US"/>
              <a:t>Building prototypes displays using a graphical development environment</a:t>
            </a:r>
          </a:p>
          <a:p>
            <a:pPr lvl="1"/>
            <a:r>
              <a:rPr lang="en-US"/>
              <a:t>Microsoft’s Visual Studio .NET</a:t>
            </a:r>
          </a:p>
          <a:p>
            <a:pPr lvl="1"/>
            <a:r>
              <a:rPr lang="en-US"/>
              <a:t>Borland’s Enterprise Studio</a:t>
            </a:r>
          </a:p>
          <a:p>
            <a:pPr lvl="1"/>
            <a:r>
              <a:rPr lang="en-US"/>
              <a:t>Easy-to-use input and output (form, report, or window) design utilities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C2602DA-31C5-44BC-9FAA-B0C222C20BA3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3072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D92E6D-FD07-4C35-850F-E62E638CD689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3174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Graphical Interface Design Issues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Become an expert user of the GUI environment.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Understand how other applications have been designed. 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Understand standards.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Gain an understanding of the available resources and how they can be used.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Become familiar with standards for menus and forms.</a:t>
            </a:r>
          </a:p>
        </p:txBody>
      </p:sp>
    </p:spTree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0C20E1-8E54-4BA3-9BF5-3122325C12B8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32772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Graphical Interface Design Issues (Cont.)</a:t>
            </a:r>
          </a:p>
        </p:txBody>
      </p:sp>
      <p:pic>
        <p:nvPicPr>
          <p:cNvPr id="32774" name="Picture 6" descr="Nonam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2538" y="1019175"/>
            <a:ext cx="5935662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304800" y="2971800"/>
            <a:ext cx="2743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FIGURE 11-20</a:t>
            </a:r>
          </a:p>
          <a:p>
            <a:r>
              <a:rPr lang="en-US"/>
              <a:t>Highlighting graphical user interface design standards</a:t>
            </a:r>
          </a:p>
        </p:txBody>
      </p:sp>
    </p:spTree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3795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371600"/>
          </a:xfrm>
        </p:spPr>
        <p:txBody>
          <a:bodyPr/>
          <a:lstStyle/>
          <a:p>
            <a:r>
              <a:rPr lang="en-US" sz="3600"/>
              <a:t>Electronic Commerce Application: Designing Interfaces and Dialogues for Pine Valley Furniture WebStore</a:t>
            </a:r>
          </a:p>
        </p:txBody>
      </p:sp>
      <p:sp>
        <p:nvSpPr>
          <p:cNvPr id="33796" name="Content Placeholder 2"/>
          <p:cNvSpPr>
            <a:spLocks noGrp="1"/>
          </p:cNvSpPr>
          <p:nvPr>
            <p:ph idx="1"/>
          </p:nvPr>
        </p:nvSpPr>
        <p:spPr>
          <a:xfrm>
            <a:off x="685800" y="2819400"/>
            <a:ext cx="7924800" cy="3352800"/>
          </a:xfrm>
        </p:spPr>
        <p:txBody>
          <a:bodyPr/>
          <a:lstStyle/>
          <a:p>
            <a:r>
              <a:rPr lang="en-US" sz="2800"/>
              <a:t>Central and critical design activity</a:t>
            </a:r>
          </a:p>
          <a:p>
            <a:r>
              <a:rPr lang="en-US" sz="2800"/>
              <a:t>Where customer interacts with the company</a:t>
            </a:r>
          </a:p>
          <a:p>
            <a:pPr lvl="1"/>
            <a:r>
              <a:rPr lang="en-US" sz="2600"/>
              <a:t>Care must be put it design!</a:t>
            </a:r>
          </a:p>
          <a:p>
            <a:r>
              <a:rPr lang="en-US" sz="2800"/>
              <a:t>Prototyping design process is most appropriate to design the human interface.</a:t>
            </a:r>
          </a:p>
          <a:p>
            <a:r>
              <a:rPr lang="en-US" sz="2800"/>
              <a:t>Several general design guidelines have emerged. 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09506E-7CB1-46DA-9BD7-C5AE819CD3D2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33798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 wrap="square" anchor="ctr">
            <a:normAutofit/>
          </a:bodyPr>
          <a:lstStyle/>
          <a:p>
            <a:r>
              <a:rPr lang="en-US"/>
              <a:t>General Guidelines</a:t>
            </a:r>
          </a:p>
        </p:txBody>
      </p:sp>
      <p:sp>
        <p:nvSpPr>
          <p:cNvPr id="3482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Web’s single “click-to-act” method of loading static hypertext documents (i.e. most buttons on the Web do not provide click feedback).</a:t>
            </a:r>
          </a:p>
          <a:p>
            <a:pPr>
              <a:lnSpc>
                <a:spcPct val="90000"/>
              </a:lnSpc>
            </a:pPr>
            <a:r>
              <a:rPr lang="en-US" sz="2400"/>
              <a:t>Limited capabilities of most Web browsers to support finely grained user interactivity.</a:t>
            </a:r>
          </a:p>
        </p:txBody>
      </p:sp>
      <p:pic>
        <p:nvPicPr>
          <p:cNvPr id="2050" name="Picture 2" descr="How To Design The Perfect Call To Action">
            <a:extLst>
              <a:ext uri="{FF2B5EF4-FFF2-40B4-BE49-F238E27FC236}">
                <a16:creationId xmlns:a16="http://schemas.microsoft.com/office/drawing/2014/main" id="{EA6C4B18-CC09-4ACB-9BCB-BE2A768B9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7200" y="2316670"/>
            <a:ext cx="5103586" cy="321525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18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0" y="6248400"/>
            <a:ext cx="47244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4145D774-8F4E-41C2-B331-576631BC564C}" type="slidenum">
              <a:rPr lang="en-US" smtClean="0"/>
              <a:pPr>
                <a:spcAft>
                  <a:spcPts val="600"/>
                </a:spcAft>
              </a:pPr>
              <a:t>79</a:t>
            </a:fld>
            <a:endParaRPr lang="en-US"/>
          </a:p>
        </p:txBody>
      </p:sp>
      <p:sp>
        <p:nvSpPr>
          <p:cNvPr id="34822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Guidelines</a:t>
            </a:r>
          </a:p>
        </p:txBody>
      </p:sp>
      <p:sp>
        <p:nvSpPr>
          <p:cNvPr id="3584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Limited agreed-upon standards for encoding Web content and control mechanisms</a:t>
            </a:r>
          </a:p>
          <a:p>
            <a:r>
              <a:rPr lang="en-US"/>
              <a:t>Lack of maturity of Web scripting and programming languages as well as limitations in commonly used Web GUI component libraries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3A5E201-EF2D-43CD-9387-21D1F7119FA9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3584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6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Interfaces and Dialogues for Pine Valley Furniture</a:t>
            </a:r>
          </a:p>
        </p:txBody>
      </p:sp>
      <p:sp>
        <p:nvSpPr>
          <p:cNvPr id="368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Key feature PVF wants for their WebStore is:</a:t>
            </a:r>
          </a:p>
          <a:p>
            <a:pPr lvl="1"/>
            <a:r>
              <a:rPr lang="en-US"/>
              <a:t>To incorporate into design an interface with “menu-driven navigation with cookie crumbs”.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A590B43-4681-4C67-B553-22A847446A0C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3687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Menu-Driven Navigation with Cookie Crumbs</a:t>
            </a:r>
          </a:p>
        </p:txBody>
      </p:sp>
      <p:sp>
        <p:nvSpPr>
          <p:cNvPr id="37892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981200"/>
            <a:ext cx="4038600" cy="38862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/>
              <a:t>Cookie crumbs</a:t>
            </a:r>
            <a:r>
              <a:rPr lang="en-US" sz="2000" dirty="0"/>
              <a:t>: the technique of placing “tabs” on a Web page that show a user where he or she is on a site and where he or she has been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Allow users to navigate to a point previously visited and will assure they are not lost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Clearly show users where they have been and how far they have gone from home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</p:txBody>
      </p:sp>
      <p:pic>
        <p:nvPicPr>
          <p:cNvPr id="1026" name="Picture 2" descr="Breadcrumbs In Web Design: Examples And Best Practices — Smashing Magazine">
            <a:extLst>
              <a:ext uri="{FF2B5EF4-FFF2-40B4-BE49-F238E27FC236}">
                <a16:creationId xmlns:a16="http://schemas.microsoft.com/office/drawing/2014/main" id="{011E9B91-A6BE-4EAE-9385-3551EE630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8700" y="2594800"/>
            <a:ext cx="4038600" cy="144379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0" y="6248400"/>
            <a:ext cx="47244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ECB4D3A2-644F-4F1F-97C4-5B5C1772C316}" type="slidenum">
              <a:rPr lang="en-US" smtClean="0"/>
              <a:pPr>
                <a:spcAft>
                  <a:spcPts val="600"/>
                </a:spcAft>
              </a:pPr>
              <a:t>82</a:t>
            </a:fld>
            <a:endParaRPr lang="en-US"/>
          </a:p>
        </p:txBody>
      </p:sp>
      <p:sp>
        <p:nvSpPr>
          <p:cNvPr id="37894" name="Date Placeholder 5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Chapter 11</a:t>
            </a:r>
          </a:p>
        </p:txBody>
      </p:sp>
    </p:spTree>
  </p:cSld>
  <p:clrMapOvr>
    <a:masterClrMapping/>
  </p:clrMapOvr>
  <p:transition>
    <p:zo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94736B6-2579-4C5A-984C-031FB3EB92EA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38916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In this Part 2 you learned how to:</a:t>
            </a:r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itchFamily="2" charset="2"/>
              <a:buChar char="ü"/>
            </a:pPr>
            <a:r>
              <a:rPr lang="en-US" sz="2400" dirty="0"/>
              <a:t>Explain the process of designing interfaces and dialogues and the deliverables for their creation.</a:t>
            </a:r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itchFamily="2" charset="2"/>
              <a:buChar char="ü"/>
            </a:pPr>
            <a:r>
              <a:rPr lang="en-US" sz="2400" dirty="0"/>
              <a:t>Contrast and apply several methods for interacting with a system.</a:t>
            </a:r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itchFamily="2" charset="2"/>
              <a:buChar char="ü"/>
            </a:pPr>
            <a:r>
              <a:rPr lang="en-US" sz="2400" dirty="0"/>
              <a:t>List and describe various input devices and discuss usability issues for each in relation to performing different tasks.</a:t>
            </a:r>
          </a:p>
          <a:p>
            <a:pPr eaLnBrk="1" hangingPunct="1">
              <a:lnSpc>
                <a:spcPct val="90000"/>
              </a:lnSpc>
              <a:buClr>
                <a:srgbClr val="BA2212"/>
              </a:buClr>
              <a:buFont typeface="Wingdings" pitchFamily="2" charset="2"/>
              <a:buChar char="ü"/>
            </a:pPr>
            <a:r>
              <a:rPr lang="en-US" sz="2400" dirty="0"/>
              <a:t>Describe and apply the general guidelines for designing interfaces and specific guidelines for structuring data entry fields, providing feedback, and system help.</a:t>
            </a:r>
          </a:p>
        </p:txBody>
      </p:sp>
    </p:spTree>
  </p:cSld>
  <p:clrMapOvr>
    <a:masterClrMapping/>
  </p:clrMapOvr>
  <p:transition>
    <p:zo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 2011 Pearson Education, Inc. Publishing as Prentice Hall</a:t>
            </a: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763C07F-6432-43EC-8E4E-9BEEC0FBB2E5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39940" name="Date Placeholder 5"/>
          <p:cNvSpPr>
            <a:spLocks noGrp="1"/>
          </p:cNvSpPr>
          <p:nvPr>
            <p:ph type="dt" sz="quarter" idx="12"/>
          </p:nvPr>
        </p:nvSpPr>
        <p:spPr>
          <a:noFill/>
        </p:spPr>
        <p:txBody>
          <a:bodyPr/>
          <a:lstStyle/>
          <a:p>
            <a:r>
              <a:rPr lang="en-US"/>
              <a:t>Chapter 11</a:t>
            </a:r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(Cont.)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077200" cy="4495800"/>
          </a:xfrm>
        </p:spPr>
        <p:txBody>
          <a:bodyPr/>
          <a:lstStyle/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 sz="2400"/>
              <a:t>Design human-computer dialogues and understand how dialogue diagramming can be used to design dialogues. </a:t>
            </a: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 sz="2400"/>
              <a:t>Design graphical user interfaces.</a:t>
            </a:r>
          </a:p>
          <a:p>
            <a:pPr eaLnBrk="1" hangingPunct="1">
              <a:buClr>
                <a:srgbClr val="BA2212"/>
              </a:buClr>
              <a:buFont typeface="Wingdings" pitchFamily="2" charset="2"/>
              <a:buChar char="ü"/>
            </a:pPr>
            <a:r>
              <a:rPr lang="en-US" sz="2400"/>
              <a:t>Discuss guidelines for the design of interfaces and dialogues for Internet-based electronic commerce systems.</a:t>
            </a:r>
          </a:p>
        </p:txBody>
      </p:sp>
    </p:spTree>
  </p:cSld>
  <p:clrMapOvr>
    <a:masterClrMapping/>
  </p:clrMapOvr>
  <p:transition>
    <p:zo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b="1" dirty="0"/>
              <a:t>Chapter 10: Designing Forms and Reports And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/>
              <a:t>Chapter 11: Designing Interfaces and Dialogues</a:t>
            </a:r>
          </a:p>
          <a:p>
            <a:pPr eaLnBrk="1" hangingPunct="1">
              <a:buNone/>
            </a:pPr>
            <a:r>
              <a:rPr lang="en-US" sz="2400" b="1" dirty="0"/>
              <a:t>     from</a:t>
            </a:r>
          </a:p>
          <a:p>
            <a:pPr marL="1425575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Modern Systems Analysis and Design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Sixth Edition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Jeffrey A. </a:t>
            </a:r>
            <a:r>
              <a:rPr lang="en-US" sz="2400" b="1" dirty="0" err="1">
                <a:solidFill>
                  <a:schemeClr val="tx2"/>
                </a:solidFill>
              </a:rPr>
              <a:t>Hoffer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Joey F. George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Joseph S. </a:t>
            </a:r>
            <a:r>
              <a:rPr lang="en-US" sz="2400" b="1" dirty="0" err="1">
                <a:solidFill>
                  <a:schemeClr val="tx2"/>
                </a:solidFill>
              </a:rPr>
              <a:t>Valacich</a:t>
            </a:r>
            <a:endParaRPr lang="en-US" sz="2400" b="1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dirty="0"/>
              <a:t>Design dialogues in student registration system (</a:t>
            </a:r>
            <a:r>
              <a:rPr lang="en-US" dirty="0" err="1"/>
              <a:t>esmp</a:t>
            </a:r>
            <a:r>
              <a:rPr lang="en-US" dirty="0"/>
              <a:t>) used by UPM through the use of dialogue diagram.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</p:spTree>
  </p:cSld>
  <p:clrMapOvr>
    <a:masterClrMapping/>
  </p:clrMapOvr>
  <p:transition>
    <p:zo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8132" t="23443" r="20330" b="27717"/>
          <a:stretch>
            <a:fillRect/>
          </a:stretch>
        </p:blipFill>
        <p:spPr bwMode="auto">
          <a:xfrm>
            <a:off x="655320" y="1371600"/>
            <a:ext cx="757428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0280" t="9564" r="10280" b="4355"/>
          <a:stretch>
            <a:fillRect/>
          </a:stretch>
        </p:blipFill>
        <p:spPr bwMode="auto">
          <a:xfrm>
            <a:off x="838200" y="1066800"/>
            <a:ext cx="7467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2011 Pearson Education, Inc. Publishing as Prentice Hall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F6F699-16E3-43C5-9D88-C6F894E17270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0989" t="8526" r="10989" b="3375"/>
          <a:stretch>
            <a:fillRect/>
          </a:stretch>
        </p:blipFill>
        <p:spPr bwMode="auto">
          <a:xfrm>
            <a:off x="685800" y="1066800"/>
            <a:ext cx="7467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Pixel">
  <a:themeElements>
    <a:clrScheme name="Pixel 11">
      <a:dk1>
        <a:srgbClr val="000000"/>
      </a:dk1>
      <a:lt1>
        <a:srgbClr val="FFFFFF"/>
      </a:lt1>
      <a:dk2>
        <a:srgbClr val="000000"/>
      </a:dk2>
      <a:lt2>
        <a:srgbClr val="779F92"/>
      </a:lt2>
      <a:accent1>
        <a:srgbClr val="33CCCC"/>
      </a:accent1>
      <a:accent2>
        <a:srgbClr val="9DC2D7"/>
      </a:accent2>
      <a:accent3>
        <a:srgbClr val="FFFFFF"/>
      </a:accent3>
      <a:accent4>
        <a:srgbClr val="000000"/>
      </a:accent4>
      <a:accent5>
        <a:srgbClr val="ADE2E2"/>
      </a:accent5>
      <a:accent6>
        <a:srgbClr val="8EB0C3"/>
      </a:accent6>
      <a:hlink>
        <a:srgbClr val="006666"/>
      </a:hlink>
      <a:folHlink>
        <a:srgbClr val="CCCCFF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4479</Words>
  <Application>Microsoft Office PowerPoint</Application>
  <PresentationFormat>On-screen Show (4:3)</PresentationFormat>
  <Paragraphs>691</Paragraphs>
  <Slides>89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5" baseType="lpstr">
      <vt:lpstr>Arial</vt:lpstr>
      <vt:lpstr>Arial Black</vt:lpstr>
      <vt:lpstr>Tahoma</vt:lpstr>
      <vt:lpstr>Times New Roman</vt:lpstr>
      <vt:lpstr>Wingdings</vt:lpstr>
      <vt:lpstr>Pixel</vt:lpstr>
      <vt:lpstr>PowerPoint Presentation</vt:lpstr>
      <vt:lpstr>Learning Objectives</vt:lpstr>
      <vt:lpstr>PART 1</vt:lpstr>
      <vt:lpstr>Designing Forms and Reports</vt:lpstr>
      <vt:lpstr>Designing Forms and Reports (Cont.)</vt:lpstr>
      <vt:lpstr>Designing Forms and Reports (Cont.)</vt:lpstr>
      <vt:lpstr>Designing Forms and Reports (Cont.)</vt:lpstr>
      <vt:lpstr>The Process of Designing Forms and Reports</vt:lpstr>
      <vt:lpstr>The Process of Designing Forms and Reports</vt:lpstr>
      <vt:lpstr>The Process of Designing Forms and Reports (Cont.)</vt:lpstr>
      <vt:lpstr>The Process of Designing Forms and Reports (Cont.)</vt:lpstr>
      <vt:lpstr>The Process of Designing Forms and Reports (Cont.)</vt:lpstr>
      <vt:lpstr>Deliverables and Outcomes</vt:lpstr>
      <vt:lpstr>Deliverables and Outcomes (cont.)</vt:lpstr>
      <vt:lpstr>Formatting Forms and Reports</vt:lpstr>
      <vt:lpstr>Formatting Forms and Reports (Cont.)</vt:lpstr>
      <vt:lpstr>Formatting Forms and Reports (Cont.)</vt:lpstr>
      <vt:lpstr>Highlighting Information</vt:lpstr>
      <vt:lpstr>Highlighting Information (Cont.)</vt:lpstr>
      <vt:lpstr>Highlighting Information (Cont.)</vt:lpstr>
      <vt:lpstr>Color vs. No Color</vt:lpstr>
      <vt:lpstr>Color vs. No Color (Cont.)</vt:lpstr>
      <vt:lpstr>Displaying Text</vt:lpstr>
      <vt:lpstr>Displaying Text (Cont.)</vt:lpstr>
      <vt:lpstr>Displaying Text (Cont.)</vt:lpstr>
      <vt:lpstr>Designing Tables and Lists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Designing Tables and Lists (Cont.)</vt:lpstr>
      <vt:lpstr>Assessing Usability</vt:lpstr>
      <vt:lpstr>Assessing Usability (Cont.)</vt:lpstr>
      <vt:lpstr>Usability Success Factors</vt:lpstr>
      <vt:lpstr>Electronic Commerce Application: Designing Forms and Reports for Pine Valley Furniture Web Store</vt:lpstr>
      <vt:lpstr>Designing Forms and Reports at Pine Valley Furniture</vt:lpstr>
      <vt:lpstr>Lightweight Graphics</vt:lpstr>
      <vt:lpstr>Forms and Data Integrity Rules</vt:lpstr>
      <vt:lpstr>Template-Based HTML</vt:lpstr>
      <vt:lpstr>Summary</vt:lpstr>
      <vt:lpstr>Summary (Cont.)</vt:lpstr>
      <vt:lpstr>Exercise</vt:lpstr>
      <vt:lpstr>PART 2</vt:lpstr>
      <vt:lpstr>Introduction</vt:lpstr>
      <vt:lpstr>Deliverables and Outcomes</vt:lpstr>
      <vt:lpstr>Deliverables and Outcomes (Cont.)</vt:lpstr>
      <vt:lpstr>Interaction Methods and Devices</vt:lpstr>
      <vt:lpstr>Command Language Interaction</vt:lpstr>
      <vt:lpstr>Menu Interaction</vt:lpstr>
      <vt:lpstr>Menu Interaction (Cont.)</vt:lpstr>
      <vt:lpstr>Menu Interaction (Cont.)</vt:lpstr>
      <vt:lpstr>Menu Interaction (Cont.)</vt:lpstr>
      <vt:lpstr>PowerPoint Presentation</vt:lpstr>
      <vt:lpstr>PowerPoint Presentation</vt:lpstr>
      <vt:lpstr>Form Interaction</vt:lpstr>
      <vt:lpstr>Form Interaction (Cont.)</vt:lpstr>
      <vt:lpstr>Object-Based Interaction</vt:lpstr>
      <vt:lpstr>Object-Based Interaction (Cont.)</vt:lpstr>
      <vt:lpstr>Natural Language Interaction</vt:lpstr>
      <vt:lpstr>Hardware Options for System Interaction</vt:lpstr>
      <vt:lpstr>Designing Interfaces</vt:lpstr>
      <vt:lpstr>Designing Interfaces (cont.)</vt:lpstr>
      <vt:lpstr>Designing Interfaces (cont.)</vt:lpstr>
      <vt:lpstr>Designing Interfaces (cont.)</vt:lpstr>
      <vt:lpstr>Designing Interfaces (cont.)</vt:lpstr>
      <vt:lpstr>Designing Dialogues</vt:lpstr>
      <vt:lpstr>Designing the Dialogue Sequence</vt:lpstr>
      <vt:lpstr>Designing the Dialogue Sequence (Cont.)</vt:lpstr>
      <vt:lpstr>Designing the Dialogue Sequence (Cont.)</vt:lpstr>
      <vt:lpstr>Designing the Dialogue Sequence (Cont.)</vt:lpstr>
      <vt:lpstr>Designing the Dialogue Sequence (Cont.)</vt:lpstr>
      <vt:lpstr>Building Prototypes and Assessing Usability</vt:lpstr>
      <vt:lpstr>Graphical Interface Design Issues</vt:lpstr>
      <vt:lpstr>Graphical Interface Design Issues (Cont.)</vt:lpstr>
      <vt:lpstr>Electronic Commerce Application: Designing Interfaces and Dialogues for Pine Valley Furniture WebStore</vt:lpstr>
      <vt:lpstr>General Guidelines</vt:lpstr>
      <vt:lpstr>General Guidelines</vt:lpstr>
      <vt:lpstr>Designing Interfaces and Dialogues for Pine Valley Furniture</vt:lpstr>
      <vt:lpstr>Menu-Driven Navigation with Cookie Crumbs</vt:lpstr>
      <vt:lpstr>Summary</vt:lpstr>
      <vt:lpstr>Summary (Cont.)</vt:lpstr>
      <vt:lpstr>Reference</vt:lpstr>
      <vt:lpstr>Exercise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Sufri</dc:creator>
  <cp:lastModifiedBy>Sufri</cp:lastModifiedBy>
  <cp:revision>1</cp:revision>
  <dcterms:created xsi:type="dcterms:W3CDTF">2021-01-12T02:03:37Z</dcterms:created>
  <dcterms:modified xsi:type="dcterms:W3CDTF">2021-01-12T02:04:08Z</dcterms:modified>
</cp:coreProperties>
</file>
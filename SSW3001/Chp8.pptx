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256" r:id="rId2"/>
    <p:sldId id="273" r:id="rId3"/>
    <p:sldId id="328" r:id="rId4"/>
    <p:sldId id="313" r:id="rId5"/>
    <p:sldId id="312" r:id="rId6"/>
    <p:sldId id="281" r:id="rId7"/>
    <p:sldId id="282" r:id="rId8"/>
    <p:sldId id="257" r:id="rId9"/>
    <p:sldId id="274" r:id="rId10"/>
    <p:sldId id="275" r:id="rId11"/>
    <p:sldId id="276" r:id="rId12"/>
    <p:sldId id="258" r:id="rId13"/>
    <p:sldId id="278" r:id="rId14"/>
    <p:sldId id="314" r:id="rId15"/>
    <p:sldId id="280" r:id="rId16"/>
    <p:sldId id="259" r:id="rId17"/>
    <p:sldId id="315" r:id="rId18"/>
    <p:sldId id="329" r:id="rId19"/>
    <p:sldId id="316" r:id="rId20"/>
    <p:sldId id="283" r:id="rId21"/>
    <p:sldId id="284" r:id="rId22"/>
    <p:sldId id="260" r:id="rId23"/>
    <p:sldId id="285" r:id="rId24"/>
    <p:sldId id="317" r:id="rId25"/>
    <p:sldId id="286" r:id="rId26"/>
    <p:sldId id="321" r:id="rId27"/>
    <p:sldId id="287" r:id="rId28"/>
    <p:sldId id="261" r:id="rId29"/>
    <p:sldId id="262" r:id="rId30"/>
    <p:sldId id="289" r:id="rId31"/>
    <p:sldId id="319" r:id="rId32"/>
    <p:sldId id="290" r:id="rId33"/>
    <p:sldId id="263" r:id="rId34"/>
    <p:sldId id="334" r:id="rId35"/>
    <p:sldId id="330" r:id="rId36"/>
    <p:sldId id="268" r:id="rId37"/>
    <p:sldId id="271" r:id="rId38"/>
    <p:sldId id="272" r:id="rId39"/>
    <p:sldId id="333" r:id="rId40"/>
    <p:sldId id="331" r:id="rId41"/>
    <p:sldId id="332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7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E23BD3-D5ED-4FA1-9F7F-389F4735A2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FD89C9-ABCF-4E1F-8E4A-6DDBFF880810}">
      <dgm:prSet custT="1"/>
      <dgm:spPr/>
      <dgm:t>
        <a:bodyPr/>
        <a:lstStyle/>
        <a:p>
          <a:pPr algn="just" rtl="0"/>
          <a:r>
            <a:rPr lang="en-US" sz="2000" dirty="0" smtClean="0"/>
            <a:t>Apple just admitted that there's an issue with the </a:t>
          </a:r>
          <a:r>
            <a:rPr lang="en-US" sz="2000" dirty="0" err="1" smtClean="0"/>
            <a:t>iPhone</a:t>
          </a:r>
          <a:r>
            <a:rPr lang="en-US" sz="2000" dirty="0" smtClean="0"/>
            <a:t> 4's reception. Upon investigation, they were stunned to find that the </a:t>
          </a:r>
          <a:r>
            <a:rPr lang="en-US" sz="2000" i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formula that they use to calculate how many bars of signal strength to display is totally wrong</a:t>
          </a:r>
          <a:r>
            <a:rPr lang="en-US" sz="2000" dirty="0" smtClean="0"/>
            <a:t>. The formula, in many instances, mistakenly displays 2 more bars than it should for a given signal strength. For example, we sometimes display 4 bars when we should be displaying as few as 2 bars. Users observing a drop of several bars when they grip their </a:t>
          </a:r>
          <a:r>
            <a:rPr lang="en-US" sz="2000" dirty="0" err="1" smtClean="0"/>
            <a:t>iPhone</a:t>
          </a:r>
          <a:r>
            <a:rPr lang="en-US" sz="2000" dirty="0" smtClean="0"/>
            <a:t> in a certain way are most likely in an area with very weak signal strength, but they don't know it because we are erroneously displaying 4 or 5 bars. Their big drop in bars is because their high bars were never real in the first place.</a:t>
          </a:r>
          <a:endParaRPr lang="en-US" sz="2000" dirty="0"/>
        </a:p>
      </dgm:t>
    </dgm:pt>
    <dgm:pt modelId="{44A5C9BE-FB9B-495C-9434-D6217BC93F6D}" type="parTrans" cxnId="{6F17D284-B617-4023-BCB3-D10517FB8E23}">
      <dgm:prSet/>
      <dgm:spPr/>
      <dgm:t>
        <a:bodyPr/>
        <a:lstStyle/>
        <a:p>
          <a:endParaRPr lang="en-US"/>
        </a:p>
      </dgm:t>
    </dgm:pt>
    <dgm:pt modelId="{3932E644-C526-47BD-A6F4-93CF2369B4C6}" type="sibTrans" cxnId="{6F17D284-B617-4023-BCB3-D10517FB8E23}">
      <dgm:prSet/>
      <dgm:spPr/>
      <dgm:t>
        <a:bodyPr/>
        <a:lstStyle/>
        <a:p>
          <a:endParaRPr lang="en-US"/>
        </a:p>
      </dgm:t>
    </dgm:pt>
    <dgm:pt modelId="{E4CE2DE7-7FDB-46B1-8044-EB7A3ABADBF1}" type="pres">
      <dgm:prSet presAssocID="{08E23BD3-D5ED-4FA1-9F7F-389F4735A2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0B888B6-2840-462C-8FCF-EAD2DAB60106}" type="pres">
      <dgm:prSet presAssocID="{09FD89C9-ABCF-4E1F-8E4A-6DDBFF8808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379636-CAC2-495A-ABC0-3E4D38B4760F}" type="presOf" srcId="{08E23BD3-D5ED-4FA1-9F7F-389F4735A2E6}" destId="{E4CE2DE7-7FDB-46B1-8044-EB7A3ABADBF1}" srcOrd="0" destOrd="0" presId="urn:microsoft.com/office/officeart/2005/8/layout/vList2"/>
    <dgm:cxn modelId="{6F17D284-B617-4023-BCB3-D10517FB8E23}" srcId="{08E23BD3-D5ED-4FA1-9F7F-389F4735A2E6}" destId="{09FD89C9-ABCF-4E1F-8E4A-6DDBFF880810}" srcOrd="0" destOrd="0" parTransId="{44A5C9BE-FB9B-495C-9434-D6217BC93F6D}" sibTransId="{3932E644-C526-47BD-A6F4-93CF2369B4C6}"/>
    <dgm:cxn modelId="{311DDAE7-9074-401D-A945-E89385D2AC58}" type="presOf" srcId="{09FD89C9-ABCF-4E1F-8E4A-6DDBFF880810}" destId="{20B888B6-2840-462C-8FCF-EAD2DAB60106}" srcOrd="0" destOrd="0" presId="urn:microsoft.com/office/officeart/2005/8/layout/vList2"/>
    <dgm:cxn modelId="{7A3ECE2C-E10D-4695-ACD4-C13EF04BC16D}" type="presParOf" srcId="{E4CE2DE7-7FDB-46B1-8044-EB7A3ABADBF1}" destId="{20B888B6-2840-462C-8FCF-EAD2DAB601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2DE3F9-93A8-492F-BD18-34BEB96E5E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CB01AB-CC02-48C4-87E7-A369CCE75962}">
      <dgm:prSet custT="1"/>
      <dgm:spPr/>
      <dgm:t>
        <a:bodyPr/>
        <a:lstStyle/>
        <a:p>
          <a:pPr rtl="0"/>
          <a:r>
            <a:rPr lang="en-US" sz="1400" dirty="0" smtClean="0"/>
            <a:t>MOSCOW (AFP) – A programming error may have caused a rocket carrying three Russian navigation satellites to fail to reach orbit, a Russian space agency source told the RIA </a:t>
          </a:r>
          <a:r>
            <a:rPr lang="en-US" sz="1400" dirty="0" err="1" smtClean="0"/>
            <a:t>Novosti</a:t>
          </a:r>
          <a:r>
            <a:rPr lang="en-US" sz="1400" dirty="0" smtClean="0"/>
            <a:t> news agency on Monday. "A number of specialists think that </a:t>
          </a:r>
          <a:r>
            <a:rPr lang="en-US" sz="1600" i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mistakes in the programming of the onboard computer system of the Proton rocket led to the engines sending the rocket too high and onto a faulty trajectory</a:t>
          </a:r>
          <a:r>
            <a:rPr lang="en-US" sz="1400" dirty="0" smtClean="0"/>
            <a:t>," the source said. The rocket carrying satellites for the Russian government navigation system </a:t>
          </a:r>
          <a:r>
            <a:rPr lang="en-US" sz="1400" dirty="0" err="1" smtClean="0"/>
            <a:t>Glonass</a:t>
          </a:r>
          <a:r>
            <a:rPr lang="en-US" sz="1400" dirty="0" smtClean="0"/>
            <a:t>, failed to reach the correct orbit Sunday after blasting off from </a:t>
          </a:r>
          <a:r>
            <a:rPr lang="en-US" sz="1400" dirty="0" err="1" smtClean="0"/>
            <a:t>Baikonur</a:t>
          </a:r>
          <a:r>
            <a:rPr lang="en-US" sz="1400" dirty="0" smtClean="0"/>
            <a:t> </a:t>
          </a:r>
          <a:r>
            <a:rPr lang="en-US" sz="1400" dirty="0" err="1" smtClean="0"/>
            <a:t>cosmodrome</a:t>
          </a:r>
          <a:r>
            <a:rPr lang="en-US" sz="1400" dirty="0" smtClean="0"/>
            <a:t>, the Russian space agency said. The satellites crashed into the Pacific Ocean near Hawaii, the spacecraft corporation RKK </a:t>
          </a:r>
          <a:r>
            <a:rPr lang="en-US" sz="1400" dirty="0" err="1" smtClean="0"/>
            <a:t>Energiya</a:t>
          </a:r>
          <a:r>
            <a:rPr lang="en-US" sz="1400" dirty="0" smtClean="0"/>
            <a:t> said in a statement, confirming earlier reports. "The Proton launch rocket functioned abnormally, sending the three </a:t>
          </a:r>
          <a:r>
            <a:rPr lang="en-US" sz="1400" dirty="0" err="1" smtClean="0"/>
            <a:t>Glonass</a:t>
          </a:r>
          <a:r>
            <a:rPr lang="en-US" sz="1400" dirty="0" smtClean="0"/>
            <a:t> satellites and the upper-stage booster rocket on the wrong trajectory and they fell into the Pacific Ocean 1,500 kilometers northwest of Honolulu," the statement said. </a:t>
          </a:r>
          <a:endParaRPr lang="en-US" sz="1400" dirty="0"/>
        </a:p>
      </dgm:t>
    </dgm:pt>
    <dgm:pt modelId="{DB9E58C3-3A39-4BC0-A1FC-33A0338C04D6}" type="parTrans" cxnId="{B62B772C-89DF-436A-B87B-C4BB1DCF8D79}">
      <dgm:prSet/>
      <dgm:spPr/>
      <dgm:t>
        <a:bodyPr/>
        <a:lstStyle/>
        <a:p>
          <a:endParaRPr lang="en-US"/>
        </a:p>
      </dgm:t>
    </dgm:pt>
    <dgm:pt modelId="{ACED5E0E-5DBA-43A0-BD75-71F243240861}" type="sibTrans" cxnId="{B62B772C-89DF-436A-B87B-C4BB1DCF8D79}">
      <dgm:prSet/>
      <dgm:spPr/>
      <dgm:t>
        <a:bodyPr/>
        <a:lstStyle/>
        <a:p>
          <a:endParaRPr lang="en-US"/>
        </a:p>
      </dgm:t>
    </dgm:pt>
    <dgm:pt modelId="{112187A0-D011-463F-B794-D2362D029A1B}" type="pres">
      <dgm:prSet presAssocID="{812DE3F9-93A8-492F-BD18-34BEB96E5E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18BA41C-8B78-4123-B435-1CB953AC45D7}" type="pres">
      <dgm:prSet presAssocID="{F1CB01AB-CC02-48C4-87E7-A369CCE7596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16A6F9D-5B7D-436E-B14C-3A8B10A78FAD}" type="presOf" srcId="{812DE3F9-93A8-492F-BD18-34BEB96E5EE2}" destId="{112187A0-D011-463F-B794-D2362D029A1B}" srcOrd="0" destOrd="0" presId="urn:microsoft.com/office/officeart/2005/8/layout/vList2"/>
    <dgm:cxn modelId="{B62B772C-89DF-436A-B87B-C4BB1DCF8D79}" srcId="{812DE3F9-93A8-492F-BD18-34BEB96E5EE2}" destId="{F1CB01AB-CC02-48C4-87E7-A369CCE75962}" srcOrd="0" destOrd="0" parTransId="{DB9E58C3-3A39-4BC0-A1FC-33A0338C04D6}" sibTransId="{ACED5E0E-5DBA-43A0-BD75-71F243240861}"/>
    <dgm:cxn modelId="{1AE1BB8A-BF8C-44FA-BE97-9C898918D5A2}" type="presOf" srcId="{F1CB01AB-CC02-48C4-87E7-A369CCE75962}" destId="{C18BA41C-8B78-4123-B435-1CB953AC45D7}" srcOrd="0" destOrd="0" presId="urn:microsoft.com/office/officeart/2005/8/layout/vList2"/>
    <dgm:cxn modelId="{E9636D9D-CEE3-42D4-BC42-89888BC7AB9F}" type="presParOf" srcId="{112187A0-D011-463F-B794-D2362D029A1B}" destId="{C18BA41C-8B78-4123-B435-1CB953AC45D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1B7DB5-A0F2-4C02-9381-5E590D0AEB68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4F6A61-8AD1-43A1-8F28-185E98DB4156}">
      <dgm:prSet phldrT="[Text]"/>
      <dgm:spPr/>
      <dgm:t>
        <a:bodyPr/>
        <a:lstStyle/>
        <a:p>
          <a:r>
            <a:rPr lang="en-US" dirty="0" smtClean="0"/>
            <a:t>Testing</a:t>
          </a:r>
          <a:endParaRPr lang="en-US" dirty="0"/>
        </a:p>
      </dgm:t>
    </dgm:pt>
    <dgm:pt modelId="{A7734580-9DC9-4563-BFE4-688FE809E6BD}" type="parTrans" cxnId="{01F5B5C5-BBA8-49A3-803B-45C2633CF27E}">
      <dgm:prSet/>
      <dgm:spPr/>
      <dgm:t>
        <a:bodyPr/>
        <a:lstStyle/>
        <a:p>
          <a:endParaRPr lang="en-US"/>
        </a:p>
      </dgm:t>
    </dgm:pt>
    <dgm:pt modelId="{4552D613-3B0A-4B50-BBD1-69E1651DE38F}" type="sibTrans" cxnId="{01F5B5C5-BBA8-49A3-803B-45C2633CF27E}">
      <dgm:prSet/>
      <dgm:spPr/>
      <dgm:t>
        <a:bodyPr/>
        <a:lstStyle/>
        <a:p>
          <a:endParaRPr lang="en-US"/>
        </a:p>
      </dgm:t>
    </dgm:pt>
    <dgm:pt modelId="{BA68EA35-08BB-49E6-BB87-50C1ADA417ED}">
      <dgm:prSet phldrT="[Text]"/>
      <dgm:spPr/>
      <dgm:t>
        <a:bodyPr/>
        <a:lstStyle/>
        <a:p>
          <a:r>
            <a:rPr lang="en-US" dirty="0" smtClean="0"/>
            <a:t>Static</a:t>
          </a:r>
          <a:endParaRPr lang="en-US" dirty="0"/>
        </a:p>
      </dgm:t>
    </dgm:pt>
    <dgm:pt modelId="{E7E57A74-65CD-40F8-A61A-D687340E4098}" type="parTrans" cxnId="{51F9C92C-41BA-4DB2-A3AE-94839D2763F9}">
      <dgm:prSet/>
      <dgm:spPr/>
      <dgm:t>
        <a:bodyPr/>
        <a:lstStyle/>
        <a:p>
          <a:endParaRPr lang="en-US"/>
        </a:p>
      </dgm:t>
    </dgm:pt>
    <dgm:pt modelId="{B7F8760F-6AC6-491F-8B66-3C32E78B57CA}" type="sibTrans" cxnId="{51F9C92C-41BA-4DB2-A3AE-94839D2763F9}">
      <dgm:prSet/>
      <dgm:spPr/>
      <dgm:t>
        <a:bodyPr/>
        <a:lstStyle/>
        <a:p>
          <a:endParaRPr lang="en-US"/>
        </a:p>
      </dgm:t>
    </dgm:pt>
    <dgm:pt modelId="{027728C3-8B07-4257-87BB-D24F9A72B79C}">
      <dgm:prSet phldrT="[Text]"/>
      <dgm:spPr/>
      <dgm:t>
        <a:bodyPr/>
        <a:lstStyle/>
        <a:p>
          <a:r>
            <a:rPr lang="en-US" dirty="0" smtClean="0"/>
            <a:t>Static Analysis</a:t>
          </a:r>
          <a:endParaRPr lang="en-US" dirty="0"/>
        </a:p>
      </dgm:t>
    </dgm:pt>
    <dgm:pt modelId="{103DF605-9417-4004-9321-FB3FBF952556}" type="parTrans" cxnId="{34454D94-49C3-4EF8-B4DD-4F77ACD07E04}">
      <dgm:prSet/>
      <dgm:spPr/>
      <dgm:t>
        <a:bodyPr/>
        <a:lstStyle/>
        <a:p>
          <a:endParaRPr lang="en-US"/>
        </a:p>
      </dgm:t>
    </dgm:pt>
    <dgm:pt modelId="{569DA930-6550-4F51-93E9-9B4D05AF2D86}" type="sibTrans" cxnId="{34454D94-49C3-4EF8-B4DD-4F77ACD07E04}">
      <dgm:prSet/>
      <dgm:spPr/>
      <dgm:t>
        <a:bodyPr/>
        <a:lstStyle/>
        <a:p>
          <a:endParaRPr lang="en-US"/>
        </a:p>
      </dgm:t>
    </dgm:pt>
    <dgm:pt modelId="{649E4915-E481-4EED-A0C9-985929FFF3B8}">
      <dgm:prSet phldrT="[Text]"/>
      <dgm:spPr/>
      <dgm:t>
        <a:bodyPr/>
        <a:lstStyle/>
        <a:p>
          <a:r>
            <a:rPr lang="en-US" dirty="0" smtClean="0"/>
            <a:t>Review</a:t>
          </a:r>
          <a:endParaRPr lang="en-US" dirty="0"/>
        </a:p>
      </dgm:t>
    </dgm:pt>
    <dgm:pt modelId="{ACD73D97-0660-43C6-B69C-30A14A12A402}" type="parTrans" cxnId="{1F5FD67A-46C1-47D2-BD2F-693FCBFE3431}">
      <dgm:prSet/>
      <dgm:spPr/>
      <dgm:t>
        <a:bodyPr/>
        <a:lstStyle/>
        <a:p>
          <a:endParaRPr lang="en-US"/>
        </a:p>
      </dgm:t>
    </dgm:pt>
    <dgm:pt modelId="{58DBCFCA-8BC1-419B-B21C-7DFC97A27CCF}" type="sibTrans" cxnId="{1F5FD67A-46C1-47D2-BD2F-693FCBFE3431}">
      <dgm:prSet/>
      <dgm:spPr/>
      <dgm:t>
        <a:bodyPr/>
        <a:lstStyle/>
        <a:p>
          <a:endParaRPr lang="en-US"/>
        </a:p>
      </dgm:t>
    </dgm:pt>
    <dgm:pt modelId="{E234033A-0A60-4CF8-8757-115BE3A875AB}">
      <dgm:prSet phldrT="[Text]"/>
      <dgm:spPr/>
      <dgm:t>
        <a:bodyPr/>
        <a:lstStyle/>
        <a:p>
          <a:r>
            <a:rPr lang="en-US" dirty="0" smtClean="0"/>
            <a:t>Dynamic</a:t>
          </a:r>
          <a:endParaRPr lang="en-US" dirty="0"/>
        </a:p>
      </dgm:t>
    </dgm:pt>
    <dgm:pt modelId="{3BC1156F-3C40-41C8-80DF-94370B51BE7A}" type="parTrans" cxnId="{57D8BB65-ECD4-4351-B3B8-2A9877E3715A}">
      <dgm:prSet/>
      <dgm:spPr/>
      <dgm:t>
        <a:bodyPr/>
        <a:lstStyle/>
        <a:p>
          <a:endParaRPr lang="en-US"/>
        </a:p>
      </dgm:t>
    </dgm:pt>
    <dgm:pt modelId="{3043F3DF-7D37-48CF-B522-5573F26B8D32}" type="sibTrans" cxnId="{57D8BB65-ECD4-4351-B3B8-2A9877E3715A}">
      <dgm:prSet/>
      <dgm:spPr/>
      <dgm:t>
        <a:bodyPr/>
        <a:lstStyle/>
        <a:p>
          <a:endParaRPr lang="en-US"/>
        </a:p>
      </dgm:t>
    </dgm:pt>
    <dgm:pt modelId="{AB311E31-BBAD-498B-B171-2BB1398D72D1}">
      <dgm:prSet phldrT="[Text]" custT="1"/>
      <dgm:spPr/>
      <dgm:t>
        <a:bodyPr/>
        <a:lstStyle/>
        <a:p>
          <a:r>
            <a:rPr lang="en-US" sz="1800" dirty="0" smtClean="0"/>
            <a:t>White-box</a:t>
          </a:r>
          <a:endParaRPr lang="en-US" sz="1800" dirty="0"/>
        </a:p>
      </dgm:t>
    </dgm:pt>
    <dgm:pt modelId="{9B1AE70E-4F95-4245-A038-98537A34D80E}" type="parTrans" cxnId="{EE5858B3-9091-4B71-AC1C-11788814FC08}">
      <dgm:prSet/>
      <dgm:spPr/>
      <dgm:t>
        <a:bodyPr/>
        <a:lstStyle/>
        <a:p>
          <a:endParaRPr lang="en-US"/>
        </a:p>
      </dgm:t>
    </dgm:pt>
    <dgm:pt modelId="{0361A71E-1A78-480B-81F7-4A968F9367CC}" type="sibTrans" cxnId="{EE5858B3-9091-4B71-AC1C-11788814FC08}">
      <dgm:prSet/>
      <dgm:spPr/>
      <dgm:t>
        <a:bodyPr/>
        <a:lstStyle/>
        <a:p>
          <a:endParaRPr lang="en-US"/>
        </a:p>
      </dgm:t>
    </dgm:pt>
    <dgm:pt modelId="{E58299CB-6D73-4A5F-84E4-799B9AFC5FCF}">
      <dgm:prSet custT="1"/>
      <dgm:spPr/>
      <dgm:t>
        <a:bodyPr/>
        <a:lstStyle/>
        <a:p>
          <a:r>
            <a:rPr lang="en-US" sz="1800" dirty="0" smtClean="0"/>
            <a:t>Black-box</a:t>
          </a:r>
          <a:endParaRPr lang="en-US" sz="1800" dirty="0"/>
        </a:p>
      </dgm:t>
    </dgm:pt>
    <dgm:pt modelId="{657B373F-8551-4B78-B090-BA01D3560810}" type="parTrans" cxnId="{265F480D-45AF-4073-8AE7-3EAC778DB42C}">
      <dgm:prSet/>
      <dgm:spPr/>
      <dgm:t>
        <a:bodyPr/>
        <a:lstStyle/>
        <a:p>
          <a:endParaRPr lang="en-US"/>
        </a:p>
      </dgm:t>
    </dgm:pt>
    <dgm:pt modelId="{171CFEBA-6074-4797-854B-AA11C77CEABE}" type="sibTrans" cxnId="{265F480D-45AF-4073-8AE7-3EAC778DB42C}">
      <dgm:prSet/>
      <dgm:spPr/>
      <dgm:t>
        <a:bodyPr/>
        <a:lstStyle/>
        <a:p>
          <a:endParaRPr lang="en-US"/>
        </a:p>
      </dgm:t>
    </dgm:pt>
    <dgm:pt modelId="{89FB0387-4484-41E0-BC91-2F45A1C916AB}">
      <dgm:prSet/>
      <dgm:spPr/>
      <dgm:t>
        <a:bodyPr/>
        <a:lstStyle/>
        <a:p>
          <a:r>
            <a:rPr lang="en-US" dirty="0" smtClean="0"/>
            <a:t>Functional</a:t>
          </a:r>
          <a:endParaRPr lang="en-US" dirty="0"/>
        </a:p>
      </dgm:t>
    </dgm:pt>
    <dgm:pt modelId="{9210380A-34E2-499B-B9E8-FD1F787E7E5E}" type="parTrans" cxnId="{66726686-656C-46F9-8C66-D36D7E72E729}">
      <dgm:prSet/>
      <dgm:spPr/>
      <dgm:t>
        <a:bodyPr/>
        <a:lstStyle/>
        <a:p>
          <a:endParaRPr lang="en-US"/>
        </a:p>
      </dgm:t>
    </dgm:pt>
    <dgm:pt modelId="{452AB44B-7A9F-4213-A14B-E43101CD28F0}" type="sibTrans" cxnId="{66726686-656C-46F9-8C66-D36D7E72E729}">
      <dgm:prSet/>
      <dgm:spPr/>
      <dgm:t>
        <a:bodyPr/>
        <a:lstStyle/>
        <a:p>
          <a:endParaRPr lang="en-US"/>
        </a:p>
      </dgm:t>
    </dgm:pt>
    <dgm:pt modelId="{0AAC6CB1-FF90-43CF-86E5-4007553BC410}">
      <dgm:prSet/>
      <dgm:spPr/>
      <dgm:t>
        <a:bodyPr/>
        <a:lstStyle/>
        <a:p>
          <a:r>
            <a:rPr lang="en-US" dirty="0" smtClean="0"/>
            <a:t>Non-functional</a:t>
          </a:r>
          <a:endParaRPr lang="en-US" dirty="0"/>
        </a:p>
      </dgm:t>
    </dgm:pt>
    <dgm:pt modelId="{138D7CD7-1DCB-4C8B-88D9-2860B4DF7CFA}" type="parTrans" cxnId="{7225FCFF-ADC0-483A-9980-AD8904BD1B0B}">
      <dgm:prSet/>
      <dgm:spPr/>
      <dgm:t>
        <a:bodyPr/>
        <a:lstStyle/>
        <a:p>
          <a:endParaRPr lang="en-US"/>
        </a:p>
      </dgm:t>
    </dgm:pt>
    <dgm:pt modelId="{85C0620C-AA3C-4A5C-A745-DD23D087C325}" type="sibTrans" cxnId="{7225FCFF-ADC0-483A-9980-AD8904BD1B0B}">
      <dgm:prSet/>
      <dgm:spPr/>
      <dgm:t>
        <a:bodyPr/>
        <a:lstStyle/>
        <a:p>
          <a:endParaRPr lang="en-US"/>
        </a:p>
      </dgm:t>
    </dgm:pt>
    <dgm:pt modelId="{A692793D-0EE1-4991-871B-7B4588FEC4C6}" type="pres">
      <dgm:prSet presAssocID="{151B7DB5-A0F2-4C02-9381-5E590D0AEB6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39D9AE-E307-4DE6-83A3-AFC22E525AD1}" type="pres">
      <dgm:prSet presAssocID="{151B7DB5-A0F2-4C02-9381-5E590D0AEB68}" presName="hierFlow" presStyleCnt="0"/>
      <dgm:spPr/>
    </dgm:pt>
    <dgm:pt modelId="{A3CD6BF0-F5EB-4564-8B28-8BFBC6BA3055}" type="pres">
      <dgm:prSet presAssocID="{151B7DB5-A0F2-4C02-9381-5E590D0AEB6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692B069D-9DDB-4781-A09D-5ECFE95AE044}" type="pres">
      <dgm:prSet presAssocID="{8C4F6A61-8AD1-43A1-8F28-185E98DB4156}" presName="Name14" presStyleCnt="0"/>
      <dgm:spPr/>
    </dgm:pt>
    <dgm:pt modelId="{0C688AA1-A1CD-47F2-97EC-9C33C6BB1082}" type="pres">
      <dgm:prSet presAssocID="{8C4F6A61-8AD1-43A1-8F28-185E98DB4156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3F1F9E-31A0-441C-A5B9-6EF11B58121F}" type="pres">
      <dgm:prSet presAssocID="{8C4F6A61-8AD1-43A1-8F28-185E98DB4156}" presName="hierChild2" presStyleCnt="0"/>
      <dgm:spPr/>
    </dgm:pt>
    <dgm:pt modelId="{8DF2953F-4313-4F83-B70F-705CD0059344}" type="pres">
      <dgm:prSet presAssocID="{E7E57A74-65CD-40F8-A61A-D687340E4098}" presName="Name19" presStyleLbl="parChTrans1D2" presStyleIdx="0" presStyleCnt="2"/>
      <dgm:spPr/>
      <dgm:t>
        <a:bodyPr/>
        <a:lstStyle/>
        <a:p>
          <a:endParaRPr lang="en-US"/>
        </a:p>
      </dgm:t>
    </dgm:pt>
    <dgm:pt modelId="{DCC40884-A2E3-4D5B-9E42-87B1381ABC26}" type="pres">
      <dgm:prSet presAssocID="{BA68EA35-08BB-49E6-BB87-50C1ADA417ED}" presName="Name21" presStyleCnt="0"/>
      <dgm:spPr/>
    </dgm:pt>
    <dgm:pt modelId="{BBE03299-6EAF-4B70-9FA7-507B5B01E4E5}" type="pres">
      <dgm:prSet presAssocID="{BA68EA35-08BB-49E6-BB87-50C1ADA417ED}" presName="level2Shape" presStyleLbl="node2" presStyleIdx="0" presStyleCnt="2"/>
      <dgm:spPr/>
      <dgm:t>
        <a:bodyPr/>
        <a:lstStyle/>
        <a:p>
          <a:endParaRPr lang="en-US"/>
        </a:p>
      </dgm:t>
    </dgm:pt>
    <dgm:pt modelId="{F44B2682-F574-4F3B-BB25-9A1FF1623C32}" type="pres">
      <dgm:prSet presAssocID="{BA68EA35-08BB-49E6-BB87-50C1ADA417ED}" presName="hierChild3" presStyleCnt="0"/>
      <dgm:spPr/>
    </dgm:pt>
    <dgm:pt modelId="{E2AD583D-39E7-42F7-9126-8508A3824567}" type="pres">
      <dgm:prSet presAssocID="{103DF605-9417-4004-9321-FB3FBF952556}" presName="Name19" presStyleLbl="parChTrans1D3" presStyleIdx="0" presStyleCnt="4"/>
      <dgm:spPr/>
      <dgm:t>
        <a:bodyPr/>
        <a:lstStyle/>
        <a:p>
          <a:endParaRPr lang="en-US"/>
        </a:p>
      </dgm:t>
    </dgm:pt>
    <dgm:pt modelId="{627E19EA-E499-45AB-8AA5-68C1D855D826}" type="pres">
      <dgm:prSet presAssocID="{027728C3-8B07-4257-87BB-D24F9A72B79C}" presName="Name21" presStyleCnt="0"/>
      <dgm:spPr/>
    </dgm:pt>
    <dgm:pt modelId="{8BA16052-5909-4714-8DCD-606DE79677F9}" type="pres">
      <dgm:prSet presAssocID="{027728C3-8B07-4257-87BB-D24F9A72B79C}" presName="level2Shape" presStyleLbl="node3" presStyleIdx="0" presStyleCnt="4"/>
      <dgm:spPr/>
      <dgm:t>
        <a:bodyPr/>
        <a:lstStyle/>
        <a:p>
          <a:endParaRPr lang="en-US"/>
        </a:p>
      </dgm:t>
    </dgm:pt>
    <dgm:pt modelId="{2DC40060-544A-4B8A-BCA8-4C9A05C3FF4C}" type="pres">
      <dgm:prSet presAssocID="{027728C3-8B07-4257-87BB-D24F9A72B79C}" presName="hierChild3" presStyleCnt="0"/>
      <dgm:spPr/>
    </dgm:pt>
    <dgm:pt modelId="{5E307645-513F-4A16-92B5-0ED36716D5B6}" type="pres">
      <dgm:prSet presAssocID="{ACD73D97-0660-43C6-B69C-30A14A12A402}" presName="Name19" presStyleLbl="parChTrans1D3" presStyleIdx="1" presStyleCnt="4"/>
      <dgm:spPr/>
      <dgm:t>
        <a:bodyPr/>
        <a:lstStyle/>
        <a:p>
          <a:endParaRPr lang="en-US"/>
        </a:p>
      </dgm:t>
    </dgm:pt>
    <dgm:pt modelId="{570826BD-9CF8-4800-AECB-805EFA013227}" type="pres">
      <dgm:prSet presAssocID="{649E4915-E481-4EED-A0C9-985929FFF3B8}" presName="Name21" presStyleCnt="0"/>
      <dgm:spPr/>
    </dgm:pt>
    <dgm:pt modelId="{1DEF54E7-C380-41D8-A225-376FDD02B3E5}" type="pres">
      <dgm:prSet presAssocID="{649E4915-E481-4EED-A0C9-985929FFF3B8}" presName="level2Shape" presStyleLbl="node3" presStyleIdx="1" presStyleCnt="4"/>
      <dgm:spPr/>
      <dgm:t>
        <a:bodyPr/>
        <a:lstStyle/>
        <a:p>
          <a:endParaRPr lang="en-US"/>
        </a:p>
      </dgm:t>
    </dgm:pt>
    <dgm:pt modelId="{085BAD09-746A-4CCB-82CF-D6EF64F23AEA}" type="pres">
      <dgm:prSet presAssocID="{649E4915-E481-4EED-A0C9-985929FFF3B8}" presName="hierChild3" presStyleCnt="0"/>
      <dgm:spPr/>
    </dgm:pt>
    <dgm:pt modelId="{D7880BDB-57FA-4775-9B74-3FE701C7612E}" type="pres">
      <dgm:prSet presAssocID="{3BC1156F-3C40-41C8-80DF-94370B51BE7A}" presName="Name19" presStyleLbl="parChTrans1D2" presStyleIdx="1" presStyleCnt="2"/>
      <dgm:spPr/>
      <dgm:t>
        <a:bodyPr/>
        <a:lstStyle/>
        <a:p>
          <a:endParaRPr lang="en-US"/>
        </a:p>
      </dgm:t>
    </dgm:pt>
    <dgm:pt modelId="{02AD5B32-46EE-494F-ACCF-50F33154E694}" type="pres">
      <dgm:prSet presAssocID="{E234033A-0A60-4CF8-8757-115BE3A875AB}" presName="Name21" presStyleCnt="0"/>
      <dgm:spPr/>
    </dgm:pt>
    <dgm:pt modelId="{4ABFB55F-B958-4EE7-BDCB-9465F95227B0}" type="pres">
      <dgm:prSet presAssocID="{E234033A-0A60-4CF8-8757-115BE3A875AB}" presName="level2Shape" presStyleLbl="node2" presStyleIdx="1" presStyleCnt="2"/>
      <dgm:spPr/>
      <dgm:t>
        <a:bodyPr/>
        <a:lstStyle/>
        <a:p>
          <a:endParaRPr lang="en-US"/>
        </a:p>
      </dgm:t>
    </dgm:pt>
    <dgm:pt modelId="{CF00D80E-5AF9-4534-918B-F20D24B6B1FF}" type="pres">
      <dgm:prSet presAssocID="{E234033A-0A60-4CF8-8757-115BE3A875AB}" presName="hierChild3" presStyleCnt="0"/>
      <dgm:spPr/>
    </dgm:pt>
    <dgm:pt modelId="{90144804-6C52-453D-8442-8BA9A8CB2AB8}" type="pres">
      <dgm:prSet presAssocID="{9B1AE70E-4F95-4245-A038-98537A34D80E}" presName="Name19" presStyleLbl="parChTrans1D3" presStyleIdx="2" presStyleCnt="4"/>
      <dgm:spPr/>
      <dgm:t>
        <a:bodyPr/>
        <a:lstStyle/>
        <a:p>
          <a:endParaRPr lang="en-US"/>
        </a:p>
      </dgm:t>
    </dgm:pt>
    <dgm:pt modelId="{6FF9DC6B-18CA-4B5A-95F2-82443A939623}" type="pres">
      <dgm:prSet presAssocID="{AB311E31-BBAD-498B-B171-2BB1398D72D1}" presName="Name21" presStyleCnt="0"/>
      <dgm:spPr/>
    </dgm:pt>
    <dgm:pt modelId="{CB920D9F-BEA1-4989-8F96-3ADA579DE0FD}" type="pres">
      <dgm:prSet presAssocID="{AB311E31-BBAD-498B-B171-2BB1398D72D1}" presName="level2Shape" presStyleLbl="node3" presStyleIdx="2" presStyleCnt="4"/>
      <dgm:spPr/>
      <dgm:t>
        <a:bodyPr/>
        <a:lstStyle/>
        <a:p>
          <a:endParaRPr lang="en-US"/>
        </a:p>
      </dgm:t>
    </dgm:pt>
    <dgm:pt modelId="{2C7A4C7F-446B-49D4-8C3D-4474D2E3046A}" type="pres">
      <dgm:prSet presAssocID="{AB311E31-BBAD-498B-B171-2BB1398D72D1}" presName="hierChild3" presStyleCnt="0"/>
      <dgm:spPr/>
    </dgm:pt>
    <dgm:pt modelId="{59E1AE62-2EDF-40F8-9E20-0EEC9A947497}" type="pres">
      <dgm:prSet presAssocID="{657B373F-8551-4B78-B090-BA01D3560810}" presName="Name19" presStyleLbl="parChTrans1D3" presStyleIdx="3" presStyleCnt="4"/>
      <dgm:spPr/>
      <dgm:t>
        <a:bodyPr/>
        <a:lstStyle/>
        <a:p>
          <a:endParaRPr lang="en-US"/>
        </a:p>
      </dgm:t>
    </dgm:pt>
    <dgm:pt modelId="{D6EDB3EB-7A1C-4E19-8780-E664A2B149C9}" type="pres">
      <dgm:prSet presAssocID="{E58299CB-6D73-4A5F-84E4-799B9AFC5FCF}" presName="Name21" presStyleCnt="0"/>
      <dgm:spPr/>
    </dgm:pt>
    <dgm:pt modelId="{E2CF770A-2017-4E10-A6F2-A6A096249E4B}" type="pres">
      <dgm:prSet presAssocID="{E58299CB-6D73-4A5F-84E4-799B9AFC5FCF}" presName="level2Shape" presStyleLbl="node3" presStyleIdx="3" presStyleCnt="4"/>
      <dgm:spPr/>
      <dgm:t>
        <a:bodyPr/>
        <a:lstStyle/>
        <a:p>
          <a:endParaRPr lang="en-US"/>
        </a:p>
      </dgm:t>
    </dgm:pt>
    <dgm:pt modelId="{5830C64F-6398-4B8E-9DFF-AB24A3B838A6}" type="pres">
      <dgm:prSet presAssocID="{E58299CB-6D73-4A5F-84E4-799B9AFC5FCF}" presName="hierChild3" presStyleCnt="0"/>
      <dgm:spPr/>
    </dgm:pt>
    <dgm:pt modelId="{C7151291-146D-4DF3-89F2-F3A7EACACF30}" type="pres">
      <dgm:prSet presAssocID="{9210380A-34E2-499B-B9E8-FD1F787E7E5E}" presName="Name19" presStyleLbl="parChTrans1D4" presStyleIdx="0" presStyleCnt="2"/>
      <dgm:spPr/>
      <dgm:t>
        <a:bodyPr/>
        <a:lstStyle/>
        <a:p>
          <a:endParaRPr lang="en-US"/>
        </a:p>
      </dgm:t>
    </dgm:pt>
    <dgm:pt modelId="{BE0E2375-2B6C-48B0-8333-21C4D83E5DE1}" type="pres">
      <dgm:prSet presAssocID="{89FB0387-4484-41E0-BC91-2F45A1C916AB}" presName="Name21" presStyleCnt="0"/>
      <dgm:spPr/>
    </dgm:pt>
    <dgm:pt modelId="{AC1ED3A2-9EDA-4107-98F2-3C0AA1E8A7F4}" type="pres">
      <dgm:prSet presAssocID="{89FB0387-4484-41E0-BC91-2F45A1C916AB}" presName="level2Shape" presStyleLbl="node4" presStyleIdx="0" presStyleCnt="2"/>
      <dgm:spPr/>
      <dgm:t>
        <a:bodyPr/>
        <a:lstStyle/>
        <a:p>
          <a:endParaRPr lang="en-US"/>
        </a:p>
      </dgm:t>
    </dgm:pt>
    <dgm:pt modelId="{114EE6D6-C998-4C55-87F2-9049E9CEABC1}" type="pres">
      <dgm:prSet presAssocID="{89FB0387-4484-41E0-BC91-2F45A1C916AB}" presName="hierChild3" presStyleCnt="0"/>
      <dgm:spPr/>
    </dgm:pt>
    <dgm:pt modelId="{ED91672E-2CA5-4048-A241-2F7799750CFD}" type="pres">
      <dgm:prSet presAssocID="{138D7CD7-1DCB-4C8B-88D9-2860B4DF7CFA}" presName="Name19" presStyleLbl="parChTrans1D4" presStyleIdx="1" presStyleCnt="2"/>
      <dgm:spPr/>
      <dgm:t>
        <a:bodyPr/>
        <a:lstStyle/>
        <a:p>
          <a:endParaRPr lang="en-US"/>
        </a:p>
      </dgm:t>
    </dgm:pt>
    <dgm:pt modelId="{6079B568-C8C1-4AC0-83C8-134CB4CA517B}" type="pres">
      <dgm:prSet presAssocID="{0AAC6CB1-FF90-43CF-86E5-4007553BC410}" presName="Name21" presStyleCnt="0"/>
      <dgm:spPr/>
    </dgm:pt>
    <dgm:pt modelId="{A9CE6992-2523-47C5-8F45-DB0417D1F07F}" type="pres">
      <dgm:prSet presAssocID="{0AAC6CB1-FF90-43CF-86E5-4007553BC410}" presName="level2Shape" presStyleLbl="node4" presStyleIdx="1" presStyleCnt="2"/>
      <dgm:spPr/>
      <dgm:t>
        <a:bodyPr/>
        <a:lstStyle/>
        <a:p>
          <a:endParaRPr lang="en-US"/>
        </a:p>
      </dgm:t>
    </dgm:pt>
    <dgm:pt modelId="{9BA9EDD6-48BF-479F-A6EA-D1CCE101B0D4}" type="pres">
      <dgm:prSet presAssocID="{0AAC6CB1-FF90-43CF-86E5-4007553BC410}" presName="hierChild3" presStyleCnt="0"/>
      <dgm:spPr/>
    </dgm:pt>
    <dgm:pt modelId="{613D9189-EDEF-4FD9-9645-B50D0D1C6ABF}" type="pres">
      <dgm:prSet presAssocID="{151B7DB5-A0F2-4C02-9381-5E590D0AEB68}" presName="bgShapesFlow" presStyleCnt="0"/>
      <dgm:spPr/>
    </dgm:pt>
  </dgm:ptLst>
  <dgm:cxnLst>
    <dgm:cxn modelId="{A843A6F2-5649-4148-A41C-B43284AD37C9}" type="presOf" srcId="{657B373F-8551-4B78-B090-BA01D3560810}" destId="{59E1AE62-2EDF-40F8-9E20-0EEC9A947497}" srcOrd="0" destOrd="0" presId="urn:microsoft.com/office/officeart/2005/8/layout/hierarchy6"/>
    <dgm:cxn modelId="{51F9C92C-41BA-4DB2-A3AE-94839D2763F9}" srcId="{8C4F6A61-8AD1-43A1-8F28-185E98DB4156}" destId="{BA68EA35-08BB-49E6-BB87-50C1ADA417ED}" srcOrd="0" destOrd="0" parTransId="{E7E57A74-65CD-40F8-A61A-D687340E4098}" sibTransId="{B7F8760F-6AC6-491F-8B66-3C32E78B57CA}"/>
    <dgm:cxn modelId="{50228E5D-2FA8-4EBF-A60F-F5116BD20324}" type="presOf" srcId="{8C4F6A61-8AD1-43A1-8F28-185E98DB4156}" destId="{0C688AA1-A1CD-47F2-97EC-9C33C6BB1082}" srcOrd="0" destOrd="0" presId="urn:microsoft.com/office/officeart/2005/8/layout/hierarchy6"/>
    <dgm:cxn modelId="{34454D94-49C3-4EF8-B4DD-4F77ACD07E04}" srcId="{BA68EA35-08BB-49E6-BB87-50C1ADA417ED}" destId="{027728C3-8B07-4257-87BB-D24F9A72B79C}" srcOrd="0" destOrd="0" parTransId="{103DF605-9417-4004-9321-FB3FBF952556}" sibTransId="{569DA930-6550-4F51-93E9-9B4D05AF2D86}"/>
    <dgm:cxn modelId="{E64D089C-A48B-4DD4-83AD-D02318922CFC}" type="presOf" srcId="{9B1AE70E-4F95-4245-A038-98537A34D80E}" destId="{90144804-6C52-453D-8442-8BA9A8CB2AB8}" srcOrd="0" destOrd="0" presId="urn:microsoft.com/office/officeart/2005/8/layout/hierarchy6"/>
    <dgm:cxn modelId="{3F67B653-09F5-4383-A7D0-D9D8F88AAF05}" type="presOf" srcId="{E234033A-0A60-4CF8-8757-115BE3A875AB}" destId="{4ABFB55F-B958-4EE7-BDCB-9465F95227B0}" srcOrd="0" destOrd="0" presId="urn:microsoft.com/office/officeart/2005/8/layout/hierarchy6"/>
    <dgm:cxn modelId="{0F4D17C5-1C0A-476B-94DA-3484C951EEDB}" type="presOf" srcId="{AB311E31-BBAD-498B-B171-2BB1398D72D1}" destId="{CB920D9F-BEA1-4989-8F96-3ADA579DE0FD}" srcOrd="0" destOrd="0" presId="urn:microsoft.com/office/officeart/2005/8/layout/hierarchy6"/>
    <dgm:cxn modelId="{A791BC3C-273A-4948-943C-86935CB4D979}" type="presOf" srcId="{E58299CB-6D73-4A5F-84E4-799B9AFC5FCF}" destId="{E2CF770A-2017-4E10-A6F2-A6A096249E4B}" srcOrd="0" destOrd="0" presId="urn:microsoft.com/office/officeart/2005/8/layout/hierarchy6"/>
    <dgm:cxn modelId="{52570CEC-A9C4-4D22-B808-1E2BC9BE851E}" type="presOf" srcId="{151B7DB5-A0F2-4C02-9381-5E590D0AEB68}" destId="{A692793D-0EE1-4991-871B-7B4588FEC4C6}" srcOrd="0" destOrd="0" presId="urn:microsoft.com/office/officeart/2005/8/layout/hierarchy6"/>
    <dgm:cxn modelId="{2693C387-AAB6-4488-8402-F0EC786BB8BD}" type="presOf" srcId="{649E4915-E481-4EED-A0C9-985929FFF3B8}" destId="{1DEF54E7-C380-41D8-A225-376FDD02B3E5}" srcOrd="0" destOrd="0" presId="urn:microsoft.com/office/officeart/2005/8/layout/hierarchy6"/>
    <dgm:cxn modelId="{20FA640A-B306-46FE-9400-C095193CE2C3}" type="presOf" srcId="{ACD73D97-0660-43C6-B69C-30A14A12A402}" destId="{5E307645-513F-4A16-92B5-0ED36716D5B6}" srcOrd="0" destOrd="0" presId="urn:microsoft.com/office/officeart/2005/8/layout/hierarchy6"/>
    <dgm:cxn modelId="{95F878B7-74A5-4C79-9309-ADCFCD5D91BC}" type="presOf" srcId="{027728C3-8B07-4257-87BB-D24F9A72B79C}" destId="{8BA16052-5909-4714-8DCD-606DE79677F9}" srcOrd="0" destOrd="0" presId="urn:microsoft.com/office/officeart/2005/8/layout/hierarchy6"/>
    <dgm:cxn modelId="{BEF4B060-E82D-4183-9C3A-A9730A2D4B5D}" type="presOf" srcId="{3BC1156F-3C40-41C8-80DF-94370B51BE7A}" destId="{D7880BDB-57FA-4775-9B74-3FE701C7612E}" srcOrd="0" destOrd="0" presId="urn:microsoft.com/office/officeart/2005/8/layout/hierarchy6"/>
    <dgm:cxn modelId="{B46B92F9-AC73-4163-B710-B88D655E31D6}" type="presOf" srcId="{89FB0387-4484-41E0-BC91-2F45A1C916AB}" destId="{AC1ED3A2-9EDA-4107-98F2-3C0AA1E8A7F4}" srcOrd="0" destOrd="0" presId="urn:microsoft.com/office/officeart/2005/8/layout/hierarchy6"/>
    <dgm:cxn modelId="{14D4BE97-7AF7-40DC-97F9-14366A73AB03}" type="presOf" srcId="{103DF605-9417-4004-9321-FB3FBF952556}" destId="{E2AD583D-39E7-42F7-9126-8508A3824567}" srcOrd="0" destOrd="0" presId="urn:microsoft.com/office/officeart/2005/8/layout/hierarchy6"/>
    <dgm:cxn modelId="{EDD757DE-E391-4774-8CF6-DC242BD2A87B}" type="presOf" srcId="{0AAC6CB1-FF90-43CF-86E5-4007553BC410}" destId="{A9CE6992-2523-47C5-8F45-DB0417D1F07F}" srcOrd="0" destOrd="0" presId="urn:microsoft.com/office/officeart/2005/8/layout/hierarchy6"/>
    <dgm:cxn modelId="{E775570E-D1D9-453C-8EB6-D5085F7869B1}" type="presOf" srcId="{138D7CD7-1DCB-4C8B-88D9-2860B4DF7CFA}" destId="{ED91672E-2CA5-4048-A241-2F7799750CFD}" srcOrd="0" destOrd="0" presId="urn:microsoft.com/office/officeart/2005/8/layout/hierarchy6"/>
    <dgm:cxn modelId="{DE483F8D-DA35-4475-8C6C-16FC434FC080}" type="presOf" srcId="{E7E57A74-65CD-40F8-A61A-D687340E4098}" destId="{8DF2953F-4313-4F83-B70F-705CD0059344}" srcOrd="0" destOrd="0" presId="urn:microsoft.com/office/officeart/2005/8/layout/hierarchy6"/>
    <dgm:cxn modelId="{01F5B5C5-BBA8-49A3-803B-45C2633CF27E}" srcId="{151B7DB5-A0F2-4C02-9381-5E590D0AEB68}" destId="{8C4F6A61-8AD1-43A1-8F28-185E98DB4156}" srcOrd="0" destOrd="0" parTransId="{A7734580-9DC9-4563-BFE4-688FE809E6BD}" sibTransId="{4552D613-3B0A-4B50-BBD1-69E1651DE38F}"/>
    <dgm:cxn modelId="{ECDCE776-2B57-4587-A3C7-27DD9BB05D59}" type="presOf" srcId="{BA68EA35-08BB-49E6-BB87-50C1ADA417ED}" destId="{BBE03299-6EAF-4B70-9FA7-507B5B01E4E5}" srcOrd="0" destOrd="0" presId="urn:microsoft.com/office/officeart/2005/8/layout/hierarchy6"/>
    <dgm:cxn modelId="{1F5FD67A-46C1-47D2-BD2F-693FCBFE3431}" srcId="{BA68EA35-08BB-49E6-BB87-50C1ADA417ED}" destId="{649E4915-E481-4EED-A0C9-985929FFF3B8}" srcOrd="1" destOrd="0" parTransId="{ACD73D97-0660-43C6-B69C-30A14A12A402}" sibTransId="{58DBCFCA-8BC1-419B-B21C-7DFC97A27CCF}"/>
    <dgm:cxn modelId="{66726686-656C-46F9-8C66-D36D7E72E729}" srcId="{E58299CB-6D73-4A5F-84E4-799B9AFC5FCF}" destId="{89FB0387-4484-41E0-BC91-2F45A1C916AB}" srcOrd="0" destOrd="0" parTransId="{9210380A-34E2-499B-B9E8-FD1F787E7E5E}" sibTransId="{452AB44B-7A9F-4213-A14B-E43101CD28F0}"/>
    <dgm:cxn modelId="{265F480D-45AF-4073-8AE7-3EAC778DB42C}" srcId="{E234033A-0A60-4CF8-8757-115BE3A875AB}" destId="{E58299CB-6D73-4A5F-84E4-799B9AFC5FCF}" srcOrd="1" destOrd="0" parTransId="{657B373F-8551-4B78-B090-BA01D3560810}" sibTransId="{171CFEBA-6074-4797-854B-AA11C77CEABE}"/>
    <dgm:cxn modelId="{57D8BB65-ECD4-4351-B3B8-2A9877E3715A}" srcId="{8C4F6A61-8AD1-43A1-8F28-185E98DB4156}" destId="{E234033A-0A60-4CF8-8757-115BE3A875AB}" srcOrd="1" destOrd="0" parTransId="{3BC1156F-3C40-41C8-80DF-94370B51BE7A}" sibTransId="{3043F3DF-7D37-48CF-B522-5573F26B8D32}"/>
    <dgm:cxn modelId="{7225FCFF-ADC0-483A-9980-AD8904BD1B0B}" srcId="{E58299CB-6D73-4A5F-84E4-799B9AFC5FCF}" destId="{0AAC6CB1-FF90-43CF-86E5-4007553BC410}" srcOrd="1" destOrd="0" parTransId="{138D7CD7-1DCB-4C8B-88D9-2860B4DF7CFA}" sibTransId="{85C0620C-AA3C-4A5C-A745-DD23D087C325}"/>
    <dgm:cxn modelId="{591948FE-19F0-4C60-8733-7B868690F891}" type="presOf" srcId="{9210380A-34E2-499B-B9E8-FD1F787E7E5E}" destId="{C7151291-146D-4DF3-89F2-F3A7EACACF30}" srcOrd="0" destOrd="0" presId="urn:microsoft.com/office/officeart/2005/8/layout/hierarchy6"/>
    <dgm:cxn modelId="{EE5858B3-9091-4B71-AC1C-11788814FC08}" srcId="{E234033A-0A60-4CF8-8757-115BE3A875AB}" destId="{AB311E31-BBAD-498B-B171-2BB1398D72D1}" srcOrd="0" destOrd="0" parTransId="{9B1AE70E-4F95-4245-A038-98537A34D80E}" sibTransId="{0361A71E-1A78-480B-81F7-4A968F9367CC}"/>
    <dgm:cxn modelId="{7D8CE71A-95D6-418D-9883-9ED79D2D0B70}" type="presParOf" srcId="{A692793D-0EE1-4991-871B-7B4588FEC4C6}" destId="{EA39D9AE-E307-4DE6-83A3-AFC22E525AD1}" srcOrd="0" destOrd="0" presId="urn:microsoft.com/office/officeart/2005/8/layout/hierarchy6"/>
    <dgm:cxn modelId="{450DEC3F-D78C-4D93-BDE1-440CA939FA48}" type="presParOf" srcId="{EA39D9AE-E307-4DE6-83A3-AFC22E525AD1}" destId="{A3CD6BF0-F5EB-4564-8B28-8BFBC6BA3055}" srcOrd="0" destOrd="0" presId="urn:microsoft.com/office/officeart/2005/8/layout/hierarchy6"/>
    <dgm:cxn modelId="{F77B5DA1-21FE-4D08-BCAD-C564E1A9DCA3}" type="presParOf" srcId="{A3CD6BF0-F5EB-4564-8B28-8BFBC6BA3055}" destId="{692B069D-9DDB-4781-A09D-5ECFE95AE044}" srcOrd="0" destOrd="0" presId="urn:microsoft.com/office/officeart/2005/8/layout/hierarchy6"/>
    <dgm:cxn modelId="{0C9AD5B4-4E5F-4233-8E5E-8470D1DC2FB9}" type="presParOf" srcId="{692B069D-9DDB-4781-A09D-5ECFE95AE044}" destId="{0C688AA1-A1CD-47F2-97EC-9C33C6BB1082}" srcOrd="0" destOrd="0" presId="urn:microsoft.com/office/officeart/2005/8/layout/hierarchy6"/>
    <dgm:cxn modelId="{12749478-75F4-4EA8-808C-173373FF3D7E}" type="presParOf" srcId="{692B069D-9DDB-4781-A09D-5ECFE95AE044}" destId="{853F1F9E-31A0-441C-A5B9-6EF11B58121F}" srcOrd="1" destOrd="0" presId="urn:microsoft.com/office/officeart/2005/8/layout/hierarchy6"/>
    <dgm:cxn modelId="{EF722B7F-7ACE-4AD6-83B4-F1BA6E1E0665}" type="presParOf" srcId="{853F1F9E-31A0-441C-A5B9-6EF11B58121F}" destId="{8DF2953F-4313-4F83-B70F-705CD0059344}" srcOrd="0" destOrd="0" presId="urn:microsoft.com/office/officeart/2005/8/layout/hierarchy6"/>
    <dgm:cxn modelId="{FD1FFF6A-2EC9-4140-A4E4-9054BBD6DB6B}" type="presParOf" srcId="{853F1F9E-31A0-441C-A5B9-6EF11B58121F}" destId="{DCC40884-A2E3-4D5B-9E42-87B1381ABC26}" srcOrd="1" destOrd="0" presId="urn:microsoft.com/office/officeart/2005/8/layout/hierarchy6"/>
    <dgm:cxn modelId="{5CFEF4C0-DFF5-4730-8445-E0D9CA11D377}" type="presParOf" srcId="{DCC40884-A2E3-4D5B-9E42-87B1381ABC26}" destId="{BBE03299-6EAF-4B70-9FA7-507B5B01E4E5}" srcOrd="0" destOrd="0" presId="urn:microsoft.com/office/officeart/2005/8/layout/hierarchy6"/>
    <dgm:cxn modelId="{221FF491-59BE-477E-B2B0-C89ACB28ED30}" type="presParOf" srcId="{DCC40884-A2E3-4D5B-9E42-87B1381ABC26}" destId="{F44B2682-F574-4F3B-BB25-9A1FF1623C32}" srcOrd="1" destOrd="0" presId="urn:microsoft.com/office/officeart/2005/8/layout/hierarchy6"/>
    <dgm:cxn modelId="{B055CD15-BE4D-43DA-ABA3-DE6ED3AA91D6}" type="presParOf" srcId="{F44B2682-F574-4F3B-BB25-9A1FF1623C32}" destId="{E2AD583D-39E7-42F7-9126-8508A3824567}" srcOrd="0" destOrd="0" presId="urn:microsoft.com/office/officeart/2005/8/layout/hierarchy6"/>
    <dgm:cxn modelId="{9D938F17-A040-4094-917F-E553F788EDC2}" type="presParOf" srcId="{F44B2682-F574-4F3B-BB25-9A1FF1623C32}" destId="{627E19EA-E499-45AB-8AA5-68C1D855D826}" srcOrd="1" destOrd="0" presId="urn:microsoft.com/office/officeart/2005/8/layout/hierarchy6"/>
    <dgm:cxn modelId="{85916CB0-4DE8-4C14-9B0C-168658EC224D}" type="presParOf" srcId="{627E19EA-E499-45AB-8AA5-68C1D855D826}" destId="{8BA16052-5909-4714-8DCD-606DE79677F9}" srcOrd="0" destOrd="0" presId="urn:microsoft.com/office/officeart/2005/8/layout/hierarchy6"/>
    <dgm:cxn modelId="{EA978675-D61C-4E42-902D-83EF2828DAE9}" type="presParOf" srcId="{627E19EA-E499-45AB-8AA5-68C1D855D826}" destId="{2DC40060-544A-4B8A-BCA8-4C9A05C3FF4C}" srcOrd="1" destOrd="0" presId="urn:microsoft.com/office/officeart/2005/8/layout/hierarchy6"/>
    <dgm:cxn modelId="{4F3A489C-972E-486E-8E06-7BA7A04F1430}" type="presParOf" srcId="{F44B2682-F574-4F3B-BB25-9A1FF1623C32}" destId="{5E307645-513F-4A16-92B5-0ED36716D5B6}" srcOrd="2" destOrd="0" presId="urn:microsoft.com/office/officeart/2005/8/layout/hierarchy6"/>
    <dgm:cxn modelId="{CE3202A1-E692-47E5-ACC9-3CE6B6731896}" type="presParOf" srcId="{F44B2682-F574-4F3B-BB25-9A1FF1623C32}" destId="{570826BD-9CF8-4800-AECB-805EFA013227}" srcOrd="3" destOrd="0" presId="urn:microsoft.com/office/officeart/2005/8/layout/hierarchy6"/>
    <dgm:cxn modelId="{83B9DC58-3BEA-4638-9F0B-F372BC929955}" type="presParOf" srcId="{570826BD-9CF8-4800-AECB-805EFA013227}" destId="{1DEF54E7-C380-41D8-A225-376FDD02B3E5}" srcOrd="0" destOrd="0" presId="urn:microsoft.com/office/officeart/2005/8/layout/hierarchy6"/>
    <dgm:cxn modelId="{32C5FCB4-792A-4425-931C-3F9C9CC40B26}" type="presParOf" srcId="{570826BD-9CF8-4800-AECB-805EFA013227}" destId="{085BAD09-746A-4CCB-82CF-D6EF64F23AEA}" srcOrd="1" destOrd="0" presId="urn:microsoft.com/office/officeart/2005/8/layout/hierarchy6"/>
    <dgm:cxn modelId="{6AE313DA-F7A7-4BC3-BC25-FC91B33C095A}" type="presParOf" srcId="{853F1F9E-31A0-441C-A5B9-6EF11B58121F}" destId="{D7880BDB-57FA-4775-9B74-3FE701C7612E}" srcOrd="2" destOrd="0" presId="urn:microsoft.com/office/officeart/2005/8/layout/hierarchy6"/>
    <dgm:cxn modelId="{1CCCDB03-509F-48E9-B19C-FD72AEC9210A}" type="presParOf" srcId="{853F1F9E-31A0-441C-A5B9-6EF11B58121F}" destId="{02AD5B32-46EE-494F-ACCF-50F33154E694}" srcOrd="3" destOrd="0" presId="urn:microsoft.com/office/officeart/2005/8/layout/hierarchy6"/>
    <dgm:cxn modelId="{CD11AED2-8AB7-4D82-9C3D-08E152F6907B}" type="presParOf" srcId="{02AD5B32-46EE-494F-ACCF-50F33154E694}" destId="{4ABFB55F-B958-4EE7-BDCB-9465F95227B0}" srcOrd="0" destOrd="0" presId="urn:microsoft.com/office/officeart/2005/8/layout/hierarchy6"/>
    <dgm:cxn modelId="{8DC2E301-BD6A-48E9-9175-D709E84D20FA}" type="presParOf" srcId="{02AD5B32-46EE-494F-ACCF-50F33154E694}" destId="{CF00D80E-5AF9-4534-918B-F20D24B6B1FF}" srcOrd="1" destOrd="0" presId="urn:microsoft.com/office/officeart/2005/8/layout/hierarchy6"/>
    <dgm:cxn modelId="{B8AF1517-44F2-4D8E-BD8E-5522D471CABC}" type="presParOf" srcId="{CF00D80E-5AF9-4534-918B-F20D24B6B1FF}" destId="{90144804-6C52-453D-8442-8BA9A8CB2AB8}" srcOrd="0" destOrd="0" presId="urn:microsoft.com/office/officeart/2005/8/layout/hierarchy6"/>
    <dgm:cxn modelId="{F38D20BE-36E6-4048-9DCF-DBFBB07E86F9}" type="presParOf" srcId="{CF00D80E-5AF9-4534-918B-F20D24B6B1FF}" destId="{6FF9DC6B-18CA-4B5A-95F2-82443A939623}" srcOrd="1" destOrd="0" presId="urn:microsoft.com/office/officeart/2005/8/layout/hierarchy6"/>
    <dgm:cxn modelId="{52800775-E5DB-438C-BCDA-8AE15866BBF7}" type="presParOf" srcId="{6FF9DC6B-18CA-4B5A-95F2-82443A939623}" destId="{CB920D9F-BEA1-4989-8F96-3ADA579DE0FD}" srcOrd="0" destOrd="0" presId="urn:microsoft.com/office/officeart/2005/8/layout/hierarchy6"/>
    <dgm:cxn modelId="{1C87AC9A-4CC3-4C59-9708-0CA5A4DE5548}" type="presParOf" srcId="{6FF9DC6B-18CA-4B5A-95F2-82443A939623}" destId="{2C7A4C7F-446B-49D4-8C3D-4474D2E3046A}" srcOrd="1" destOrd="0" presId="urn:microsoft.com/office/officeart/2005/8/layout/hierarchy6"/>
    <dgm:cxn modelId="{561A644C-09D0-479A-AFAC-9EF16AADFCFB}" type="presParOf" srcId="{CF00D80E-5AF9-4534-918B-F20D24B6B1FF}" destId="{59E1AE62-2EDF-40F8-9E20-0EEC9A947497}" srcOrd="2" destOrd="0" presId="urn:microsoft.com/office/officeart/2005/8/layout/hierarchy6"/>
    <dgm:cxn modelId="{1933400F-7928-43BB-9CC2-2AF94EB9FA58}" type="presParOf" srcId="{CF00D80E-5AF9-4534-918B-F20D24B6B1FF}" destId="{D6EDB3EB-7A1C-4E19-8780-E664A2B149C9}" srcOrd="3" destOrd="0" presId="urn:microsoft.com/office/officeart/2005/8/layout/hierarchy6"/>
    <dgm:cxn modelId="{0D9327F1-27CD-40BD-89D9-E4772150DA69}" type="presParOf" srcId="{D6EDB3EB-7A1C-4E19-8780-E664A2B149C9}" destId="{E2CF770A-2017-4E10-A6F2-A6A096249E4B}" srcOrd="0" destOrd="0" presId="urn:microsoft.com/office/officeart/2005/8/layout/hierarchy6"/>
    <dgm:cxn modelId="{E6AF73D6-BE02-466E-910B-3680E833B9DA}" type="presParOf" srcId="{D6EDB3EB-7A1C-4E19-8780-E664A2B149C9}" destId="{5830C64F-6398-4B8E-9DFF-AB24A3B838A6}" srcOrd="1" destOrd="0" presId="urn:microsoft.com/office/officeart/2005/8/layout/hierarchy6"/>
    <dgm:cxn modelId="{B5AF48E5-A794-4936-A24E-DA805BEB6C57}" type="presParOf" srcId="{5830C64F-6398-4B8E-9DFF-AB24A3B838A6}" destId="{C7151291-146D-4DF3-89F2-F3A7EACACF30}" srcOrd="0" destOrd="0" presId="urn:microsoft.com/office/officeart/2005/8/layout/hierarchy6"/>
    <dgm:cxn modelId="{72468209-937E-4BCB-BD5F-7FE1C66FEF5D}" type="presParOf" srcId="{5830C64F-6398-4B8E-9DFF-AB24A3B838A6}" destId="{BE0E2375-2B6C-48B0-8333-21C4D83E5DE1}" srcOrd="1" destOrd="0" presId="urn:microsoft.com/office/officeart/2005/8/layout/hierarchy6"/>
    <dgm:cxn modelId="{C2267D44-EC1C-43C1-B274-9548ED219B64}" type="presParOf" srcId="{BE0E2375-2B6C-48B0-8333-21C4D83E5DE1}" destId="{AC1ED3A2-9EDA-4107-98F2-3C0AA1E8A7F4}" srcOrd="0" destOrd="0" presId="urn:microsoft.com/office/officeart/2005/8/layout/hierarchy6"/>
    <dgm:cxn modelId="{CCB26EA0-4002-4069-978C-36DB80FAF305}" type="presParOf" srcId="{BE0E2375-2B6C-48B0-8333-21C4D83E5DE1}" destId="{114EE6D6-C998-4C55-87F2-9049E9CEABC1}" srcOrd="1" destOrd="0" presId="urn:microsoft.com/office/officeart/2005/8/layout/hierarchy6"/>
    <dgm:cxn modelId="{8A958E12-2158-415C-846B-BDA0AD3933CB}" type="presParOf" srcId="{5830C64F-6398-4B8E-9DFF-AB24A3B838A6}" destId="{ED91672E-2CA5-4048-A241-2F7799750CFD}" srcOrd="2" destOrd="0" presId="urn:microsoft.com/office/officeart/2005/8/layout/hierarchy6"/>
    <dgm:cxn modelId="{048979B2-C0B3-4180-85EF-F2625434B9B3}" type="presParOf" srcId="{5830C64F-6398-4B8E-9DFF-AB24A3B838A6}" destId="{6079B568-C8C1-4AC0-83C8-134CB4CA517B}" srcOrd="3" destOrd="0" presId="urn:microsoft.com/office/officeart/2005/8/layout/hierarchy6"/>
    <dgm:cxn modelId="{B59C7906-6C6F-4930-82A7-B81F2259AD9F}" type="presParOf" srcId="{6079B568-C8C1-4AC0-83C8-134CB4CA517B}" destId="{A9CE6992-2523-47C5-8F45-DB0417D1F07F}" srcOrd="0" destOrd="0" presId="urn:microsoft.com/office/officeart/2005/8/layout/hierarchy6"/>
    <dgm:cxn modelId="{77732392-E32D-4CED-AE3F-7BDD36B66871}" type="presParOf" srcId="{6079B568-C8C1-4AC0-83C8-134CB4CA517B}" destId="{9BA9EDD6-48BF-479F-A6EA-D1CCE101B0D4}" srcOrd="1" destOrd="0" presId="urn:microsoft.com/office/officeart/2005/8/layout/hierarchy6"/>
    <dgm:cxn modelId="{897F9EE1-5479-4C44-8A11-D646ACBB0885}" type="presParOf" srcId="{A692793D-0EE1-4991-871B-7B4588FEC4C6}" destId="{613D9189-EDEF-4FD9-9645-B50D0D1C6ABF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888B6-2840-462C-8FCF-EAD2DAB60106}">
      <dsp:nvSpPr>
        <dsp:cNvPr id="0" name=""/>
        <dsp:cNvSpPr/>
      </dsp:nvSpPr>
      <dsp:spPr>
        <a:xfrm>
          <a:off x="0" y="413592"/>
          <a:ext cx="8786874" cy="327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Apple just admitted that there's an issue with the </a:t>
          </a:r>
          <a:r>
            <a:rPr lang="en-US" sz="2000" kern="1200" dirty="0" err="1" smtClean="0"/>
            <a:t>iPhone</a:t>
          </a:r>
          <a:r>
            <a:rPr lang="en-US" sz="2000" kern="1200" dirty="0" smtClean="0"/>
            <a:t> 4's reception. Upon investigation, they were stunned to find that the </a:t>
          </a:r>
          <a:r>
            <a:rPr lang="en-US" sz="2000" i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formula that they use to calculate how many bars of signal strength to display is totally wrong</a:t>
          </a:r>
          <a:r>
            <a:rPr lang="en-US" sz="2000" kern="1200" dirty="0" smtClean="0"/>
            <a:t>. The formula, in many instances, mistakenly displays 2 more bars than it should for a given signal strength. For example, we sometimes display 4 bars when we should be displaying as few as 2 bars. Users observing a drop of several bars when they grip their </a:t>
          </a:r>
          <a:r>
            <a:rPr lang="en-US" sz="2000" kern="1200" dirty="0" err="1" smtClean="0"/>
            <a:t>iPhone</a:t>
          </a:r>
          <a:r>
            <a:rPr lang="en-US" sz="2000" kern="1200" dirty="0" smtClean="0"/>
            <a:t> in a certain way are most likely in an area with very weak signal strength, but they don't know it because we are erroneously displaying 4 or 5 bars. Their big drop in bars is because their high bars were never real in the first place.</a:t>
          </a:r>
          <a:endParaRPr lang="en-US" sz="2000" kern="1200" dirty="0"/>
        </a:p>
      </dsp:txBody>
      <dsp:txXfrm>
        <a:off x="0" y="413592"/>
        <a:ext cx="8786874" cy="3270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BA41C-8B78-4123-B435-1CB953AC45D7}">
      <dsp:nvSpPr>
        <dsp:cNvPr id="0" name=""/>
        <dsp:cNvSpPr/>
      </dsp:nvSpPr>
      <dsp:spPr>
        <a:xfrm>
          <a:off x="0" y="166511"/>
          <a:ext cx="4686304" cy="463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MOSCOW (AFP) – A programming error may have caused a rocket carrying three Russian navigation satellites to fail to reach orbit, a Russian space agency source told the RIA </a:t>
          </a:r>
          <a:r>
            <a:rPr lang="en-US" sz="1400" kern="1200" dirty="0" err="1" smtClean="0"/>
            <a:t>Novosti</a:t>
          </a:r>
          <a:r>
            <a:rPr lang="en-US" sz="1400" kern="1200" dirty="0" smtClean="0"/>
            <a:t> news agency on Monday. "A number of specialists think that </a:t>
          </a:r>
          <a:r>
            <a:rPr lang="en-US" sz="1600" i="1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mistakes in the programming of the onboard computer system of the Proton rocket led to the engines sending the rocket too high and onto a faulty trajectory</a:t>
          </a:r>
          <a:r>
            <a:rPr lang="en-US" sz="1400" kern="1200" dirty="0" smtClean="0"/>
            <a:t>," the source said. The rocket carrying satellites for the Russian government navigation system </a:t>
          </a:r>
          <a:r>
            <a:rPr lang="en-US" sz="1400" kern="1200" dirty="0" err="1" smtClean="0"/>
            <a:t>Glonass</a:t>
          </a:r>
          <a:r>
            <a:rPr lang="en-US" sz="1400" kern="1200" dirty="0" smtClean="0"/>
            <a:t>, failed to reach the correct orbit Sunday after blasting off from </a:t>
          </a:r>
          <a:r>
            <a:rPr lang="en-US" sz="1400" kern="1200" dirty="0" err="1" smtClean="0"/>
            <a:t>Baikonur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cosmodrome</a:t>
          </a:r>
          <a:r>
            <a:rPr lang="en-US" sz="1400" kern="1200" dirty="0" smtClean="0"/>
            <a:t>, the Russian space agency said. The satellites crashed into the Pacific Ocean near Hawaii, the spacecraft corporation RKK </a:t>
          </a:r>
          <a:r>
            <a:rPr lang="en-US" sz="1400" kern="1200" dirty="0" err="1" smtClean="0"/>
            <a:t>Energiya</a:t>
          </a:r>
          <a:r>
            <a:rPr lang="en-US" sz="1400" kern="1200" dirty="0" smtClean="0"/>
            <a:t> said in a statement, confirming earlier reports. "The Proton launch rocket functioned abnormally, sending the three </a:t>
          </a:r>
          <a:r>
            <a:rPr lang="en-US" sz="1400" kern="1200" dirty="0" err="1" smtClean="0"/>
            <a:t>Glonass</a:t>
          </a:r>
          <a:r>
            <a:rPr lang="en-US" sz="1400" kern="1200" dirty="0" smtClean="0"/>
            <a:t> satellites and the upper-stage booster rocket on the wrong trajectory and they fell into the Pacific Ocean 1,500 kilometers northwest of Honolulu," the statement said. </a:t>
          </a:r>
          <a:endParaRPr lang="en-US" sz="1400" kern="1200" dirty="0"/>
        </a:p>
      </dsp:txBody>
      <dsp:txXfrm>
        <a:off x="0" y="166511"/>
        <a:ext cx="4686304" cy="463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88AA1-A1CD-47F2-97EC-9C33C6BB1082}">
      <dsp:nvSpPr>
        <dsp:cNvPr id="0" name=""/>
        <dsp:cNvSpPr/>
      </dsp:nvSpPr>
      <dsp:spPr>
        <a:xfrm>
          <a:off x="3052924" y="1921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Testing</a:t>
          </a:r>
          <a:endParaRPr lang="en-US" sz="2000" kern="1200" dirty="0"/>
        </a:p>
      </dsp:txBody>
      <dsp:txXfrm>
        <a:off x="3052924" y="1921"/>
        <a:ext cx="1304457" cy="869638"/>
      </dsp:txXfrm>
    </dsp:sp>
    <dsp:sp modelId="{8DF2953F-4313-4F83-B70F-705CD0059344}">
      <dsp:nvSpPr>
        <dsp:cNvPr id="0" name=""/>
        <dsp:cNvSpPr/>
      </dsp:nvSpPr>
      <dsp:spPr>
        <a:xfrm>
          <a:off x="2009358" y="871560"/>
          <a:ext cx="1695794" cy="347855"/>
        </a:xfrm>
        <a:custGeom>
          <a:avLst/>
          <a:gdLst/>
          <a:ahLst/>
          <a:cxnLst/>
          <a:rect l="0" t="0" r="0" b="0"/>
          <a:pathLst>
            <a:path>
              <a:moveTo>
                <a:pt x="1695794" y="0"/>
              </a:moveTo>
              <a:lnTo>
                <a:pt x="1695794" y="173927"/>
              </a:lnTo>
              <a:lnTo>
                <a:pt x="0" y="173927"/>
              </a:lnTo>
              <a:lnTo>
                <a:pt x="0" y="3478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03299-6EAF-4B70-9FA7-507B5B01E4E5}">
      <dsp:nvSpPr>
        <dsp:cNvPr id="0" name=""/>
        <dsp:cNvSpPr/>
      </dsp:nvSpPr>
      <dsp:spPr>
        <a:xfrm>
          <a:off x="1357129" y="1219415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Static</a:t>
          </a:r>
          <a:endParaRPr lang="en-US" sz="2000" kern="1200" dirty="0"/>
        </a:p>
      </dsp:txBody>
      <dsp:txXfrm>
        <a:off x="1357129" y="1219415"/>
        <a:ext cx="1304457" cy="869638"/>
      </dsp:txXfrm>
    </dsp:sp>
    <dsp:sp modelId="{E2AD583D-39E7-42F7-9126-8508A3824567}">
      <dsp:nvSpPr>
        <dsp:cNvPr id="0" name=""/>
        <dsp:cNvSpPr/>
      </dsp:nvSpPr>
      <dsp:spPr>
        <a:xfrm>
          <a:off x="1161461" y="2089053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847897" y="0"/>
              </a:moveTo>
              <a:lnTo>
                <a:pt x="847897" y="173927"/>
              </a:lnTo>
              <a:lnTo>
                <a:pt x="0" y="173927"/>
              </a:lnTo>
              <a:lnTo>
                <a:pt x="0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A16052-5909-4714-8DCD-606DE79677F9}">
      <dsp:nvSpPr>
        <dsp:cNvPr id="0" name=""/>
        <dsp:cNvSpPr/>
      </dsp:nvSpPr>
      <dsp:spPr>
        <a:xfrm>
          <a:off x="509232" y="2436909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Static Analysis</a:t>
          </a:r>
          <a:endParaRPr lang="en-US" sz="2000" kern="1200" dirty="0"/>
        </a:p>
      </dsp:txBody>
      <dsp:txXfrm>
        <a:off x="509232" y="2436909"/>
        <a:ext cx="1304457" cy="869638"/>
      </dsp:txXfrm>
    </dsp:sp>
    <dsp:sp modelId="{5E307645-513F-4A16-92B5-0ED36716D5B6}">
      <dsp:nvSpPr>
        <dsp:cNvPr id="0" name=""/>
        <dsp:cNvSpPr/>
      </dsp:nvSpPr>
      <dsp:spPr>
        <a:xfrm>
          <a:off x="2009358" y="2089053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7"/>
              </a:lnTo>
              <a:lnTo>
                <a:pt x="847897" y="173927"/>
              </a:lnTo>
              <a:lnTo>
                <a:pt x="847897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F54E7-C380-41D8-A225-376FDD02B3E5}">
      <dsp:nvSpPr>
        <dsp:cNvPr id="0" name=""/>
        <dsp:cNvSpPr/>
      </dsp:nvSpPr>
      <dsp:spPr>
        <a:xfrm>
          <a:off x="2205027" y="2436909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Review</a:t>
          </a:r>
          <a:endParaRPr lang="en-US" sz="2000" kern="1200" dirty="0"/>
        </a:p>
      </dsp:txBody>
      <dsp:txXfrm>
        <a:off x="2205027" y="2436909"/>
        <a:ext cx="1304457" cy="869638"/>
      </dsp:txXfrm>
    </dsp:sp>
    <dsp:sp modelId="{D7880BDB-57FA-4775-9B74-3FE701C7612E}">
      <dsp:nvSpPr>
        <dsp:cNvPr id="0" name=""/>
        <dsp:cNvSpPr/>
      </dsp:nvSpPr>
      <dsp:spPr>
        <a:xfrm>
          <a:off x="3705153" y="871560"/>
          <a:ext cx="1695794" cy="347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7"/>
              </a:lnTo>
              <a:lnTo>
                <a:pt x="1695794" y="173927"/>
              </a:lnTo>
              <a:lnTo>
                <a:pt x="1695794" y="3478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FB55F-B958-4EE7-BDCB-9465F95227B0}">
      <dsp:nvSpPr>
        <dsp:cNvPr id="0" name=""/>
        <dsp:cNvSpPr/>
      </dsp:nvSpPr>
      <dsp:spPr>
        <a:xfrm>
          <a:off x="4748719" y="1219415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Dynamic</a:t>
          </a:r>
          <a:endParaRPr lang="en-US" sz="2000" kern="1200" dirty="0"/>
        </a:p>
      </dsp:txBody>
      <dsp:txXfrm>
        <a:off x="4748719" y="1219415"/>
        <a:ext cx="1304457" cy="869638"/>
      </dsp:txXfrm>
    </dsp:sp>
    <dsp:sp modelId="{90144804-6C52-453D-8442-8BA9A8CB2AB8}">
      <dsp:nvSpPr>
        <dsp:cNvPr id="0" name=""/>
        <dsp:cNvSpPr/>
      </dsp:nvSpPr>
      <dsp:spPr>
        <a:xfrm>
          <a:off x="4553050" y="2089053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847897" y="0"/>
              </a:moveTo>
              <a:lnTo>
                <a:pt x="847897" y="173927"/>
              </a:lnTo>
              <a:lnTo>
                <a:pt x="0" y="173927"/>
              </a:lnTo>
              <a:lnTo>
                <a:pt x="0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20D9F-BEA1-4989-8F96-3ADA579DE0FD}">
      <dsp:nvSpPr>
        <dsp:cNvPr id="0" name=""/>
        <dsp:cNvSpPr/>
      </dsp:nvSpPr>
      <dsp:spPr>
        <a:xfrm>
          <a:off x="3900821" y="2436909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White-box</a:t>
          </a:r>
          <a:endParaRPr lang="en-US" sz="1800" kern="1200" dirty="0"/>
        </a:p>
      </dsp:txBody>
      <dsp:txXfrm>
        <a:off x="3900821" y="2436909"/>
        <a:ext cx="1304457" cy="869638"/>
      </dsp:txXfrm>
    </dsp:sp>
    <dsp:sp modelId="{59E1AE62-2EDF-40F8-9E20-0EEC9A947497}">
      <dsp:nvSpPr>
        <dsp:cNvPr id="0" name=""/>
        <dsp:cNvSpPr/>
      </dsp:nvSpPr>
      <dsp:spPr>
        <a:xfrm>
          <a:off x="5400948" y="2089053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7"/>
              </a:lnTo>
              <a:lnTo>
                <a:pt x="847897" y="173927"/>
              </a:lnTo>
              <a:lnTo>
                <a:pt x="847897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F770A-2017-4E10-A6F2-A6A096249E4B}">
      <dsp:nvSpPr>
        <dsp:cNvPr id="0" name=""/>
        <dsp:cNvSpPr/>
      </dsp:nvSpPr>
      <dsp:spPr>
        <a:xfrm>
          <a:off x="5596616" y="2436909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Black-box</a:t>
          </a:r>
          <a:endParaRPr lang="en-US" sz="1800" kern="1200" dirty="0"/>
        </a:p>
      </dsp:txBody>
      <dsp:txXfrm>
        <a:off x="5596616" y="2436909"/>
        <a:ext cx="1304457" cy="869638"/>
      </dsp:txXfrm>
    </dsp:sp>
    <dsp:sp modelId="{C7151291-146D-4DF3-89F2-F3A7EACACF30}">
      <dsp:nvSpPr>
        <dsp:cNvPr id="0" name=""/>
        <dsp:cNvSpPr/>
      </dsp:nvSpPr>
      <dsp:spPr>
        <a:xfrm>
          <a:off x="5400948" y="3306547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847897" y="0"/>
              </a:moveTo>
              <a:lnTo>
                <a:pt x="847897" y="173927"/>
              </a:lnTo>
              <a:lnTo>
                <a:pt x="0" y="173927"/>
              </a:lnTo>
              <a:lnTo>
                <a:pt x="0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1ED3A2-9EDA-4107-98F2-3C0AA1E8A7F4}">
      <dsp:nvSpPr>
        <dsp:cNvPr id="0" name=""/>
        <dsp:cNvSpPr/>
      </dsp:nvSpPr>
      <dsp:spPr>
        <a:xfrm>
          <a:off x="4748719" y="3654402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Functional</a:t>
          </a:r>
          <a:endParaRPr lang="en-US" sz="2000" kern="1200" dirty="0"/>
        </a:p>
      </dsp:txBody>
      <dsp:txXfrm>
        <a:off x="4748719" y="3654402"/>
        <a:ext cx="1304457" cy="869638"/>
      </dsp:txXfrm>
    </dsp:sp>
    <dsp:sp modelId="{ED91672E-2CA5-4048-A241-2F7799750CFD}">
      <dsp:nvSpPr>
        <dsp:cNvPr id="0" name=""/>
        <dsp:cNvSpPr/>
      </dsp:nvSpPr>
      <dsp:spPr>
        <a:xfrm>
          <a:off x="6248845" y="3306547"/>
          <a:ext cx="847897" cy="347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7"/>
              </a:lnTo>
              <a:lnTo>
                <a:pt x="847897" y="173927"/>
              </a:lnTo>
              <a:lnTo>
                <a:pt x="847897" y="3478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E6992-2523-47C5-8F45-DB0417D1F07F}">
      <dsp:nvSpPr>
        <dsp:cNvPr id="0" name=""/>
        <dsp:cNvSpPr/>
      </dsp:nvSpPr>
      <dsp:spPr>
        <a:xfrm>
          <a:off x="6444514" y="3654402"/>
          <a:ext cx="1304457" cy="869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Non-functional</a:t>
          </a:r>
          <a:endParaRPr lang="en-US" sz="2000" kern="1200" dirty="0"/>
        </a:p>
      </dsp:txBody>
      <dsp:txXfrm>
        <a:off x="6444514" y="3654402"/>
        <a:ext cx="1304457" cy="869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2EF69-4580-D948-9358-37D6C6E355D3}" type="datetimeFigureOut">
              <a:rPr lang="en-US" smtClean="0"/>
              <a:pPr/>
              <a:t>12/10/2019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EC278-5BB2-7E49-BE38-1FF54E2178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F659B-3BFD-7C4F-8593-16CDDE7417A4}" type="datetimeFigureOut">
              <a:rPr lang="en-US" smtClean="0"/>
              <a:pPr/>
              <a:t>12/10/2019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82A43-FD40-714E-BD60-4E5210E1434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2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33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46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589E55-4A83-544A-8B19-F1A16EC9B64F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Chapter 9 Verification and Validation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342A1C-928F-B544-94B3-4D4EC2F5EAE5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3026CC-1AF2-234B-92BC-E226AD8BC345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528047-DF63-3F4F-B15B-A53AB67E64C4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75AE8-5817-6347-89E8-9F50BEEBA5B5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1B2E29-2615-EA48-B2E1-E2239B40C897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0AC5C-DDBA-EE42-9757-03393CEB2571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CCC5E3-C3BF-E645-BC58-A123741A7D00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E3AE67-DC4E-D847-B357-619357F4C6DC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BFE89C-50B1-2048-9505-7824B8639D8D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F6EF6B6-DB9C-2F42-9BE8-A2BBD82B47FD}" type="datetime1">
              <a:rPr lang="en-US" smtClean="0"/>
              <a:pPr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8 – Verification and Validation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dirty="0" smtClean="0"/>
              <a:t>Explain the role of verification and validation in software quality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dirty="0" smtClean="0"/>
              <a:t>Describe the distinction between verification and validation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dirty="0" smtClean="0"/>
              <a:t>Describe the importance of verification and validation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verification</a:t>
            </a:r>
          </a:p>
          <a:p>
            <a:r>
              <a:rPr lang="en-GB" dirty="0" smtClean="0"/>
              <a:t>Software validation</a:t>
            </a:r>
          </a:p>
          <a:p>
            <a:r>
              <a:rPr lang="en-US" dirty="0" smtClean="0"/>
              <a:t>V &amp; V Techniques</a:t>
            </a:r>
          </a:p>
          <a:p>
            <a:r>
              <a:rPr lang="en-GB" dirty="0" smtClean="0"/>
              <a:t>Software Testing Levels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800" dirty="0" smtClean="0"/>
              <a:t>Software engineering is a discipline that aims to </a:t>
            </a:r>
            <a:r>
              <a:rPr lang="en-GB" sz="2800" dirty="0" smtClean="0">
                <a:solidFill>
                  <a:srgbClr val="FF0000"/>
                </a:solidFill>
              </a:rPr>
              <a:t>produce high-quality software </a:t>
            </a:r>
            <a:r>
              <a:rPr lang="en-GB" sz="2800" dirty="0" smtClean="0"/>
              <a:t>that is delivered </a:t>
            </a:r>
            <a:r>
              <a:rPr lang="en-GB" sz="2800" dirty="0" smtClean="0">
                <a:solidFill>
                  <a:srgbClr val="FF0000"/>
                </a:solidFill>
              </a:rPr>
              <a:t>on time, within budget and most importantly it satisfies the user’s need. 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800" dirty="0" smtClean="0">
                <a:solidFill>
                  <a:srgbClr val="FF0000"/>
                </a:solidFill>
              </a:rPr>
              <a:t>Software verification and validation (V&amp;V)</a:t>
            </a:r>
            <a:r>
              <a:rPr lang="en-GB" sz="2800" dirty="0" smtClean="0"/>
              <a:t> is one of the activities in software development process to ensure the delivered software meet the user’s need.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 smtClean="0"/>
              <a:t>V&amp;V is part of software testing process of a project.</a:t>
            </a:r>
            <a:endParaRPr lang="en-GB" sz="2800" dirty="0" smtClean="0"/>
          </a:p>
          <a:p>
            <a:pPr>
              <a:buNone/>
            </a:pPr>
            <a:r>
              <a:rPr lang="en-GB" sz="2800" dirty="0" smtClean="0"/>
              <a:t>.</a:t>
            </a:r>
            <a:endParaRPr lang="en-GB" sz="2800" i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V&amp;V?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57200" y="1417638"/>
            <a:ext cx="3295650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13 July 2010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 </a:t>
            </a:r>
            <a:r>
              <a:rPr lang="en-US" sz="1400" dirty="0"/>
              <a:t>Share price fell by 4.2%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RM 32.5 billion wiped off its value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Recall will cost RM 5.1 billion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75" y="428625"/>
            <a:ext cx="5286375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844" y="3071810"/>
          <a:ext cx="8786874" cy="4097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V&amp;V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4686304" cy="4972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57813" y="1928813"/>
            <a:ext cx="364331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Verification and Validation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Software Verification and Validation (V&amp;V) is a software engineering practice that </a:t>
            </a:r>
            <a:r>
              <a:rPr lang="en-US" dirty="0" smtClean="0">
                <a:solidFill>
                  <a:srgbClr val="FF0000"/>
                </a:solidFill>
              </a:rPr>
              <a:t>provides confidence </a:t>
            </a:r>
            <a:r>
              <a:rPr lang="en-US" dirty="0" smtClean="0"/>
              <a:t>that the system was </a:t>
            </a:r>
            <a:r>
              <a:rPr lang="en-US" dirty="0" smtClean="0">
                <a:solidFill>
                  <a:srgbClr val="FF0000"/>
                </a:solidFill>
              </a:rPr>
              <a:t>built adequately </a:t>
            </a:r>
            <a:r>
              <a:rPr lang="en-US" dirty="0" smtClean="0"/>
              <a:t>and will </a:t>
            </a:r>
            <a:r>
              <a:rPr lang="en-US" dirty="0" smtClean="0">
                <a:solidFill>
                  <a:srgbClr val="FF0000"/>
                </a:solidFill>
              </a:rPr>
              <a:t>meet the needs of the system</a:t>
            </a:r>
            <a:r>
              <a:rPr lang="en-US" dirty="0" smtClean="0"/>
              <a:t>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In other words, V&amp;V is the </a:t>
            </a:r>
            <a:r>
              <a:rPr lang="en-US" dirty="0" smtClean="0">
                <a:solidFill>
                  <a:srgbClr val="FF0000"/>
                </a:solidFill>
              </a:rPr>
              <a:t>process of checking </a:t>
            </a:r>
            <a:r>
              <a:rPr lang="en-US" dirty="0" smtClean="0"/>
              <a:t>that a product, service, or system meets specifications and that it fulfills its intended purpose.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Verification and validation activities complement each other.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Verification takes place before validation, and not vice versa.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Verification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000" dirty="0" smtClean="0"/>
              <a:t>The </a:t>
            </a:r>
            <a:r>
              <a:rPr lang="en-US" sz="2000" dirty="0" smtClean="0">
                <a:solidFill>
                  <a:srgbClr val="FF0000"/>
                </a:solidFill>
              </a:rPr>
              <a:t>process of evaluating software </a:t>
            </a:r>
            <a:r>
              <a:rPr lang="en-US" sz="2000" dirty="0" smtClean="0"/>
              <a:t>to </a:t>
            </a:r>
            <a:r>
              <a:rPr lang="en-US" sz="2000" dirty="0" smtClean="0">
                <a:solidFill>
                  <a:srgbClr val="FF0000"/>
                </a:solidFill>
              </a:rPr>
              <a:t>determine</a:t>
            </a:r>
            <a:r>
              <a:rPr lang="en-US" sz="2000" dirty="0" smtClean="0"/>
              <a:t> whether the products of a given development phase satisfy the conditions imposed at the start of that phase. [IEEE-STD-610].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000" dirty="0" smtClean="0"/>
              <a:t>It is a </a:t>
            </a:r>
            <a:r>
              <a:rPr lang="en-US" sz="2000" dirty="0" smtClean="0">
                <a:solidFill>
                  <a:srgbClr val="FF0000"/>
                </a:solidFill>
              </a:rPr>
              <a:t>quality control process </a:t>
            </a:r>
            <a:r>
              <a:rPr lang="en-US" sz="2000" dirty="0" smtClean="0"/>
              <a:t>that is used to evaluate whether or not a product, service, or system complies with regulations, specifications, or conditions imposed at the start of a development phase. It can be in development, scale-up, or production. 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/>
              <a:t>Are we </a:t>
            </a:r>
            <a:r>
              <a:rPr lang="en-GB" sz="2000" dirty="0" smtClean="0">
                <a:solidFill>
                  <a:srgbClr val="FF0000"/>
                </a:solidFill>
              </a:rPr>
              <a:t>building the product right?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000" dirty="0" smtClean="0"/>
              <a:t>This can be objective if the specification are sufficiently precise.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000" dirty="0" smtClean="0"/>
              <a:t>Three approaches to verification:</a:t>
            </a:r>
          </a:p>
          <a:p>
            <a:pPr marL="722376" lvl="1" indent="-274320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Experiment with the program (i.e. testing)</a:t>
            </a:r>
          </a:p>
          <a:p>
            <a:pPr marL="722376" lvl="1" indent="-274320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Inspect the program (i.e. review)</a:t>
            </a:r>
          </a:p>
          <a:p>
            <a:pPr marL="722376" lvl="1" indent="-274320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Reason about the program (i.e. formal specification)</a:t>
            </a:r>
            <a:endParaRPr lang="en-GB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840" tIns="44623" rIns="90840" bIns="44623"/>
          <a:lstStyle/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process of evaluating software during or at the end</a:t>
            </a:r>
            <a:r>
              <a:rPr lang="en-US" dirty="0" smtClean="0"/>
              <a:t> of the development process to determine whether it satisfies specified requirements. [IEEE-STD-610]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Does the software do what the user really required?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A</a:t>
            </a:r>
            <a:r>
              <a:rPr lang="en-GB" dirty="0" smtClean="0"/>
              <a:t>re we </a:t>
            </a:r>
            <a:r>
              <a:rPr lang="en-GB" dirty="0" smtClean="0">
                <a:solidFill>
                  <a:srgbClr val="FF0000"/>
                </a:solidFill>
              </a:rPr>
              <a:t>building the right product?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Is a </a:t>
            </a:r>
            <a:r>
              <a:rPr lang="en-US" dirty="0" smtClean="0">
                <a:solidFill>
                  <a:srgbClr val="FF0000"/>
                </a:solidFill>
              </a:rPr>
              <a:t>high-level checking activity</a:t>
            </a:r>
            <a:r>
              <a:rPr lang="en-US" dirty="0" smtClean="0"/>
              <a:t>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This is difficult to determine and involves </a:t>
            </a:r>
            <a:r>
              <a:rPr lang="en-US" dirty="0" smtClean="0">
                <a:solidFill>
                  <a:srgbClr val="FF0000"/>
                </a:solidFill>
              </a:rPr>
              <a:t>subjective judgments</a:t>
            </a:r>
            <a:r>
              <a:rPr lang="en-US" dirty="0" smtClean="0"/>
              <a:t>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It includes </a:t>
            </a:r>
            <a:r>
              <a:rPr lang="en-US" dirty="0" smtClean="0">
                <a:solidFill>
                  <a:srgbClr val="FF0000"/>
                </a:solidFill>
              </a:rPr>
              <a:t>usability testing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user acceptance test</a:t>
            </a:r>
            <a:r>
              <a:rPr lang="en-US" dirty="0" smtClean="0"/>
              <a:t>.</a:t>
            </a:r>
            <a:endParaRPr lang="en-GB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840" tIns="44623" rIns="90840" bIns="44623"/>
          <a:lstStyle/>
          <a:p>
            <a:r>
              <a:rPr lang="en-US" dirty="0" smtClean="0"/>
              <a:t>Software Validation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Verification or Validation? </a:t>
            </a:r>
            <a:endParaRPr lang="en-GB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It depends on the property.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For example: elevator response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i="1" dirty="0" smtClean="0"/>
              <a:t>…if a user press a request button at floor </a:t>
            </a:r>
            <a:r>
              <a:rPr lang="en-US" i="1" dirty="0" err="1" smtClean="0"/>
              <a:t>i</a:t>
            </a:r>
            <a:r>
              <a:rPr lang="en-US" i="1" dirty="0" smtClean="0"/>
              <a:t>, an available elevator must arrive at floor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i="1" dirty="0" smtClean="0">
                <a:solidFill>
                  <a:srgbClr val="FF0000"/>
                </a:solidFill>
              </a:rPr>
              <a:t>soon</a:t>
            </a:r>
            <a:r>
              <a:rPr lang="en-US" i="1" dirty="0" smtClean="0"/>
              <a:t>…</a:t>
            </a:r>
          </a:p>
          <a:p>
            <a:pPr marL="420624" indent="-384048" algn="ctr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[</a:t>
            </a:r>
            <a:r>
              <a:rPr lang="en-US" dirty="0" smtClean="0">
                <a:solidFill>
                  <a:srgbClr val="FF0000"/>
                </a:solidFill>
              </a:rPr>
              <a:t>SOON</a:t>
            </a:r>
            <a:r>
              <a:rPr lang="en-US" dirty="0" smtClean="0"/>
              <a:t> is a subjective quantity]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Thus, it can only be validated, but not verified.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i="1" dirty="0" smtClean="0"/>
              <a:t>… if a user press a request button at floor </a:t>
            </a:r>
            <a:r>
              <a:rPr lang="en-US" i="1" dirty="0" err="1" smtClean="0"/>
              <a:t>i</a:t>
            </a:r>
            <a:r>
              <a:rPr lang="en-US" i="1" dirty="0" smtClean="0"/>
              <a:t>, an available elevator must arrive at floor </a:t>
            </a:r>
            <a:r>
              <a:rPr lang="en-US" i="1" dirty="0" err="1" smtClean="0"/>
              <a:t>i</a:t>
            </a:r>
            <a:r>
              <a:rPr lang="en-US" i="1" dirty="0" smtClean="0"/>
              <a:t> within </a:t>
            </a:r>
            <a:r>
              <a:rPr lang="en-US" i="1" dirty="0" smtClean="0">
                <a:solidFill>
                  <a:srgbClr val="FF0000"/>
                </a:solidFill>
              </a:rPr>
              <a:t>30 seconds</a:t>
            </a:r>
            <a:r>
              <a:rPr lang="en-US" i="1" dirty="0" smtClean="0"/>
              <a:t>…</a:t>
            </a:r>
          </a:p>
          <a:p>
            <a:pPr marL="420624" indent="-384048" algn="ctr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[</a:t>
            </a:r>
            <a:r>
              <a:rPr lang="en-US" dirty="0" smtClean="0">
                <a:solidFill>
                  <a:srgbClr val="FF0000"/>
                </a:solidFill>
              </a:rPr>
              <a:t>30 seconds </a:t>
            </a:r>
            <a:r>
              <a:rPr lang="en-US" dirty="0" smtClean="0"/>
              <a:t>is a precise quantity]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Thus, it can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81063" y="1714500"/>
            <a:ext cx="7805737" cy="4373562"/>
          </a:xfrm>
          <a:noFill/>
          <a:ln/>
        </p:spPr>
        <p:txBody>
          <a:bodyPr lIns="90840" tIns="44623" rIns="90840" bIns="44623"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The evolution of a software can be done in many ways, depending on the development approach.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The development approach determines the specific intermediate documents/products to be created.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For any given project, V&amp;V objectives must be identified for each of the products created.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Type of products: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Requirements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Specifications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Designs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Implementation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Changes</a:t>
            </a:r>
          </a:p>
          <a:p>
            <a:endParaRPr lang="en-GB" sz="24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840" tIns="44623" rIns="90840" bIns="44623"/>
          <a:lstStyle/>
          <a:p>
            <a:r>
              <a:rPr lang="en-US" dirty="0" smtClean="0"/>
              <a:t>The Role of V&amp;V in Software Evolution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V&amp;V in Software Evolution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V&amp;V objectives:</a:t>
            </a:r>
          </a:p>
          <a:p>
            <a:pPr lvl="1"/>
            <a:r>
              <a:rPr lang="en-US" sz="2800" dirty="0" smtClean="0"/>
              <a:t>Correctness</a:t>
            </a:r>
          </a:p>
          <a:p>
            <a:pPr lvl="1"/>
            <a:r>
              <a:rPr lang="en-US" sz="2800" dirty="0" smtClean="0"/>
              <a:t>Consistency</a:t>
            </a:r>
          </a:p>
          <a:p>
            <a:pPr lvl="1"/>
            <a:r>
              <a:rPr lang="en-US" sz="2800" dirty="0" smtClean="0"/>
              <a:t>Necessity</a:t>
            </a:r>
          </a:p>
          <a:p>
            <a:pPr lvl="1"/>
            <a:r>
              <a:rPr lang="en-US" sz="2800" dirty="0" smtClean="0"/>
              <a:t>Sufficiency</a:t>
            </a:r>
          </a:p>
          <a:p>
            <a:pPr lvl="1"/>
            <a:r>
              <a:rPr lang="en-US" sz="2800" dirty="0" smtClean="0"/>
              <a:t>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V&amp;V Approach</a:t>
            </a:r>
            <a:endParaRPr lang="en-GB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Five categories of V&amp;V approaches are:</a:t>
            </a:r>
          </a:p>
          <a:p>
            <a:pPr lvl="1"/>
            <a:r>
              <a:rPr lang="en-US" sz="2800" dirty="0" smtClean="0"/>
              <a:t>technical reviews,</a:t>
            </a:r>
          </a:p>
          <a:p>
            <a:pPr lvl="1"/>
            <a:r>
              <a:rPr lang="en-US" sz="2800" dirty="0" smtClean="0"/>
              <a:t>software testing,</a:t>
            </a:r>
          </a:p>
          <a:p>
            <a:pPr lvl="1"/>
            <a:r>
              <a:rPr lang="en-US" sz="2800" dirty="0" smtClean="0"/>
              <a:t>proof of correctness (program verification),</a:t>
            </a:r>
          </a:p>
          <a:p>
            <a:pPr lvl="1"/>
            <a:r>
              <a:rPr lang="en-US" sz="2800" dirty="0" smtClean="0"/>
              <a:t>simulation and prototyping and</a:t>
            </a:r>
          </a:p>
          <a:p>
            <a:pPr lvl="1"/>
            <a:r>
              <a:rPr lang="en-US" sz="2800" dirty="0" smtClean="0"/>
              <a:t>requirements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Process of Software V&amp;V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Is a whole life-cycle process – V&amp;V must be </a:t>
            </a:r>
            <a:r>
              <a:rPr lang="en-GB" sz="2800" dirty="0" smtClean="0">
                <a:solidFill>
                  <a:srgbClr val="FF0000"/>
                </a:solidFill>
              </a:rPr>
              <a:t>applied at each stage </a:t>
            </a:r>
            <a:r>
              <a:rPr lang="en-GB" sz="2800" dirty="0" smtClean="0"/>
              <a:t>in the software process.</a:t>
            </a:r>
          </a:p>
          <a:p>
            <a:r>
              <a:rPr lang="en-GB" sz="2800" dirty="0" smtClean="0"/>
              <a:t>Has two principal objectives:</a:t>
            </a:r>
          </a:p>
          <a:p>
            <a:pPr lvl="1"/>
            <a:r>
              <a:rPr lang="en-GB" sz="2800" dirty="0" smtClean="0"/>
              <a:t>To </a:t>
            </a:r>
            <a:r>
              <a:rPr lang="en-GB" sz="2800" dirty="0" smtClean="0">
                <a:solidFill>
                  <a:srgbClr val="FF0000"/>
                </a:solidFill>
              </a:rPr>
              <a:t>discover the defects </a:t>
            </a:r>
            <a:r>
              <a:rPr lang="en-GB" sz="2800" dirty="0" smtClean="0"/>
              <a:t>in a system;</a:t>
            </a:r>
          </a:p>
          <a:p>
            <a:pPr lvl="1"/>
            <a:r>
              <a:rPr lang="en-GB" sz="2800" dirty="0" smtClean="0"/>
              <a:t>To </a:t>
            </a:r>
            <a:r>
              <a:rPr lang="en-GB" sz="2800" dirty="0" smtClean="0">
                <a:solidFill>
                  <a:srgbClr val="FF0000"/>
                </a:solidFill>
              </a:rPr>
              <a:t>assess whether the system is useful and usable</a:t>
            </a:r>
            <a:r>
              <a:rPr lang="en-GB" sz="2800" dirty="0" smtClean="0"/>
              <a:t> in an operational situation</a:t>
            </a:r>
            <a:r>
              <a:rPr lang="en-GB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Goal of Software V&amp;V</a:t>
            </a:r>
            <a:endParaRPr lang="en-GB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 smtClean="0"/>
              <a:t>V&amp;V should </a:t>
            </a:r>
            <a:r>
              <a:rPr lang="en-GB" sz="2800" dirty="0" smtClean="0">
                <a:solidFill>
                  <a:srgbClr val="FF0000"/>
                </a:solidFill>
              </a:rPr>
              <a:t>establish confidence that the software is fit for purpose</a:t>
            </a:r>
            <a:r>
              <a:rPr lang="en-GB" sz="2800" dirty="0" smtClean="0"/>
              <a:t>.</a:t>
            </a:r>
          </a:p>
          <a:p>
            <a:r>
              <a:rPr lang="en-GB" sz="2800" dirty="0" smtClean="0"/>
              <a:t>This does </a:t>
            </a:r>
            <a:r>
              <a:rPr lang="en-GB" sz="2800" dirty="0" smtClean="0">
                <a:solidFill>
                  <a:srgbClr val="FF0000"/>
                </a:solidFill>
              </a:rPr>
              <a:t>NOT</a:t>
            </a:r>
            <a:r>
              <a:rPr lang="en-GB" sz="2800" dirty="0" smtClean="0"/>
              <a:t> mean completely free of defects.</a:t>
            </a:r>
          </a:p>
          <a:p>
            <a:r>
              <a:rPr lang="en-GB" sz="2800" dirty="0" smtClean="0"/>
              <a:t>Rather, it must be </a:t>
            </a:r>
            <a:r>
              <a:rPr lang="en-GB" sz="2800" dirty="0" smtClean="0">
                <a:solidFill>
                  <a:srgbClr val="FF0000"/>
                </a:solidFill>
              </a:rPr>
              <a:t>good enough </a:t>
            </a:r>
            <a:r>
              <a:rPr lang="en-GB" sz="2800" dirty="0" smtClean="0"/>
              <a:t>for its intended use </a:t>
            </a:r>
          </a:p>
          <a:p>
            <a:pPr lvl="1"/>
            <a:r>
              <a:rPr lang="en-GB" sz="2800" dirty="0" smtClean="0"/>
              <a:t>the type of use will determine the degree of confidence that is needed.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V&amp;V Confidence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 smtClean="0"/>
              <a:t>Depends on system’s purpose, user expectations and marketing environment</a:t>
            </a:r>
          </a:p>
          <a:p>
            <a:pPr lvl="1">
              <a:lnSpc>
                <a:spcPct val="90000"/>
              </a:lnSpc>
            </a:pPr>
            <a:r>
              <a:rPr lang="en-GB" sz="2400" dirty="0" smtClean="0">
                <a:solidFill>
                  <a:schemeClr val="accent1"/>
                </a:solidFill>
              </a:rPr>
              <a:t>Software function</a:t>
            </a:r>
            <a:endParaRPr lang="en-GB" sz="2400" dirty="0" smtClean="0"/>
          </a:p>
          <a:p>
            <a:pPr lvl="2">
              <a:lnSpc>
                <a:spcPct val="90000"/>
              </a:lnSpc>
            </a:pPr>
            <a:r>
              <a:rPr lang="en-GB" sz="2400" dirty="0" smtClean="0"/>
              <a:t>The level of confidence depends on how critical the software to an organisation.</a:t>
            </a:r>
          </a:p>
          <a:p>
            <a:pPr lvl="1">
              <a:lnSpc>
                <a:spcPct val="90000"/>
              </a:lnSpc>
            </a:pPr>
            <a:r>
              <a:rPr lang="en-GB" sz="2400" dirty="0" smtClean="0">
                <a:solidFill>
                  <a:schemeClr val="accent1"/>
                </a:solidFill>
              </a:rPr>
              <a:t>User expectations</a:t>
            </a:r>
            <a:endParaRPr lang="en-GB" sz="2400" dirty="0" smtClean="0"/>
          </a:p>
          <a:p>
            <a:pPr lvl="2">
              <a:lnSpc>
                <a:spcPct val="90000"/>
              </a:lnSpc>
            </a:pPr>
            <a:r>
              <a:rPr lang="en-GB" sz="2400" dirty="0" smtClean="0"/>
              <a:t>Users may have low expectations of certain kinds of software.</a:t>
            </a:r>
          </a:p>
          <a:p>
            <a:pPr lvl="1">
              <a:lnSpc>
                <a:spcPct val="90000"/>
              </a:lnSpc>
            </a:pPr>
            <a:r>
              <a:rPr lang="en-GB" sz="2400" dirty="0" smtClean="0">
                <a:solidFill>
                  <a:schemeClr val="accent1"/>
                </a:solidFill>
              </a:rPr>
              <a:t>Marketing environment</a:t>
            </a:r>
            <a:endParaRPr lang="en-GB" sz="2400" dirty="0" smtClean="0"/>
          </a:p>
          <a:p>
            <a:pPr lvl="2">
              <a:lnSpc>
                <a:spcPct val="90000"/>
              </a:lnSpc>
            </a:pPr>
            <a:r>
              <a:rPr lang="en-GB" sz="2400" dirty="0" smtClean="0"/>
              <a:t>Getting a product to market early is better than finding defects in the program.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Verification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Verification techniques, basically fall into categories: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Testing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Testing 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testing 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involves the execution of a system or component. 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in performing dynamic testing: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case selection – consists of test data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Executing the system under test using the data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 the expected output and actual output.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testing can be further divided into three categories: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testing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Structural testing 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testing</a:t>
            </a:r>
          </a:p>
          <a:p>
            <a:pPr>
              <a:buNone/>
            </a:pPr>
            <a:r>
              <a:rPr lang="en-US" sz="2000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Verification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testing 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testing that does not involve the operation of the system or component. 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be supplement by tool-based document and code analysis</a:t>
            </a:r>
            <a:endParaRPr lang="en-GB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testing can be further divided into two categories: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Consistency technique 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GB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are used to ensure program properties such as correct syntax, correct parameter matching between procedures, correct typing and correct requirements and specification translations.</a:t>
            </a:r>
          </a:p>
          <a:p>
            <a:pPr marL="1005840" lvl="2" indent="-256032" fontAlgn="auto">
              <a:spcAft>
                <a:spcPts val="0"/>
              </a:spcAft>
              <a:buFont typeface="Arial"/>
              <a:buChar char="○"/>
              <a:defRPr/>
            </a:pPr>
            <a:r>
              <a:rPr lang="en-GB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Measurement technique 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GB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measure the properties such as error proneness, </a:t>
            </a:r>
            <a:r>
              <a:rPr lang="en-GB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understandability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well-</a:t>
            </a:r>
            <a:r>
              <a:rPr lang="en-GB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structuredness</a:t>
            </a:r>
            <a:r>
              <a:rPr lang="en-GB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    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and dynamic V&amp;V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7" name="Group 190"/>
          <p:cNvGrpSpPr>
            <a:grpSpLocks/>
          </p:cNvGrpSpPr>
          <p:nvPr/>
        </p:nvGrpSpPr>
        <p:grpSpPr bwMode="auto">
          <a:xfrm>
            <a:off x="860425" y="2098675"/>
            <a:ext cx="7675563" cy="3616325"/>
            <a:chOff x="860425" y="2099432"/>
            <a:chExt cx="7675580" cy="3615584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032250" y="3651699"/>
              <a:ext cx="1300163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032250" y="3651699"/>
              <a:ext cx="1323975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481263" y="3651699"/>
              <a:ext cx="1300163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481263" y="3651699"/>
              <a:ext cx="1322388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928688" y="3651699"/>
              <a:ext cx="1301750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928688" y="3651699"/>
              <a:ext cx="1323975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583238" y="3651699"/>
              <a:ext cx="1300163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5583238" y="3651699"/>
              <a:ext cx="1323975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7134225" y="3651699"/>
              <a:ext cx="1301750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7134225" y="3651699"/>
              <a:ext cx="1323975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996925" y="4984220"/>
              <a:ext cx="1301750" cy="652626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996925" y="4984220"/>
              <a:ext cx="1323975" cy="678077"/>
            </a:xfrm>
            <a:prstGeom prst="rect">
              <a:avLst/>
            </a:prstGeom>
            <a:noFill/>
            <a:ln w="14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utoShape 18"/>
            <p:cNvSpPr>
              <a:spLocks noChangeArrowheads="1"/>
            </p:cNvSpPr>
            <p:nvPr/>
          </p:nvSpPr>
          <p:spPr bwMode="auto">
            <a:xfrm>
              <a:off x="7212030" y="5009671"/>
              <a:ext cx="1301750" cy="679895"/>
            </a:xfrm>
            <a:prstGeom prst="roundRect">
              <a:avLst>
                <a:gd name="adj" fmla="val 50000"/>
              </a:avLst>
            </a:prstGeom>
            <a:solidFill>
              <a:srgbClr val="00AFE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19"/>
            <p:cNvSpPr>
              <a:spLocks noChangeArrowheads="1"/>
            </p:cNvSpPr>
            <p:nvPr/>
          </p:nvSpPr>
          <p:spPr bwMode="auto">
            <a:xfrm>
              <a:off x="7212030" y="5009671"/>
              <a:ext cx="1323975" cy="705345"/>
            </a:xfrm>
            <a:prstGeom prst="roundRect">
              <a:avLst>
                <a:gd name="adj" fmla="val 48148"/>
              </a:avLst>
            </a:prstGeom>
            <a:noFill/>
            <a:ln w="14">
              <a:solidFill>
                <a:srgbClr val="00AFE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3963988" y="3573529"/>
              <a:ext cx="1300163" cy="6526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47"/>
            <p:cNvSpPr>
              <a:spLocks noChangeArrowheads="1"/>
            </p:cNvSpPr>
            <p:nvPr/>
          </p:nvSpPr>
          <p:spPr bwMode="auto">
            <a:xfrm>
              <a:off x="3963988" y="3573529"/>
              <a:ext cx="1322388" cy="678077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8"/>
            <p:cNvSpPr>
              <a:spLocks noChangeArrowheads="1"/>
            </p:cNvSpPr>
            <p:nvPr/>
          </p:nvSpPr>
          <p:spPr bwMode="auto">
            <a:xfrm>
              <a:off x="4329113" y="3624430"/>
              <a:ext cx="555625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Formal</a:t>
              </a:r>
              <a:endParaRPr lang="en-US"/>
            </a:p>
          </p:txBody>
        </p:sp>
        <p:sp>
          <p:nvSpPr>
            <p:cNvPr id="25" name="Rectangle 51"/>
            <p:cNvSpPr>
              <a:spLocks noChangeArrowheads="1"/>
            </p:cNvSpPr>
            <p:nvPr/>
          </p:nvSpPr>
          <p:spPr bwMode="auto">
            <a:xfrm>
              <a:off x="4100513" y="3886208"/>
              <a:ext cx="985838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specification</a:t>
              </a:r>
              <a:endParaRPr lang="en-US"/>
            </a:p>
          </p:txBody>
        </p:sp>
        <p:sp>
          <p:nvSpPr>
            <p:cNvPr id="26" name="Rectangle 53"/>
            <p:cNvSpPr>
              <a:spLocks noChangeArrowheads="1"/>
            </p:cNvSpPr>
            <p:nvPr/>
          </p:nvSpPr>
          <p:spPr bwMode="auto">
            <a:xfrm>
              <a:off x="2413000" y="3573529"/>
              <a:ext cx="1300163" cy="6526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54"/>
            <p:cNvSpPr>
              <a:spLocks noChangeArrowheads="1"/>
            </p:cNvSpPr>
            <p:nvPr/>
          </p:nvSpPr>
          <p:spPr bwMode="auto">
            <a:xfrm>
              <a:off x="2413000" y="3573529"/>
              <a:ext cx="1322388" cy="678077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55"/>
            <p:cNvSpPr>
              <a:spLocks noChangeArrowheads="1"/>
            </p:cNvSpPr>
            <p:nvPr/>
          </p:nvSpPr>
          <p:spPr bwMode="auto">
            <a:xfrm>
              <a:off x="2663825" y="3624430"/>
              <a:ext cx="796925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High-level</a:t>
              </a:r>
              <a:endParaRPr lang="en-US"/>
            </a:p>
          </p:txBody>
        </p:sp>
        <p:sp>
          <p:nvSpPr>
            <p:cNvPr id="29" name="Rectangle 58"/>
            <p:cNvSpPr>
              <a:spLocks noChangeArrowheads="1"/>
            </p:cNvSpPr>
            <p:nvPr/>
          </p:nvSpPr>
          <p:spPr bwMode="auto">
            <a:xfrm>
              <a:off x="2800350" y="3886208"/>
              <a:ext cx="547688" cy="312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design</a:t>
              </a:r>
              <a:endParaRPr lang="en-US"/>
            </a:p>
          </p:txBody>
        </p:sp>
        <p:sp>
          <p:nvSpPr>
            <p:cNvPr id="30" name="Rectangle 59"/>
            <p:cNvSpPr>
              <a:spLocks noChangeArrowheads="1"/>
            </p:cNvSpPr>
            <p:nvPr/>
          </p:nvSpPr>
          <p:spPr bwMode="auto">
            <a:xfrm>
              <a:off x="860425" y="3573529"/>
              <a:ext cx="1301750" cy="6526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60"/>
            <p:cNvSpPr>
              <a:spLocks noChangeArrowheads="1"/>
            </p:cNvSpPr>
            <p:nvPr/>
          </p:nvSpPr>
          <p:spPr bwMode="auto">
            <a:xfrm>
              <a:off x="860425" y="3573529"/>
              <a:ext cx="1323975" cy="678077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61"/>
            <p:cNvSpPr>
              <a:spLocks noChangeArrowheads="1"/>
            </p:cNvSpPr>
            <p:nvPr/>
          </p:nvSpPr>
          <p:spPr bwMode="auto">
            <a:xfrm>
              <a:off x="952500" y="3624430"/>
              <a:ext cx="1023938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Requirement</a:t>
              </a:r>
              <a:endParaRPr lang="en-US"/>
            </a:p>
          </p:txBody>
        </p:sp>
        <p:sp>
          <p:nvSpPr>
            <p:cNvPr id="33" name="Rectangle 64"/>
            <p:cNvSpPr>
              <a:spLocks noChangeArrowheads="1"/>
            </p:cNvSpPr>
            <p:nvPr/>
          </p:nvSpPr>
          <p:spPr bwMode="auto">
            <a:xfrm>
              <a:off x="998538" y="3886208"/>
              <a:ext cx="985838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specification</a:t>
              </a:r>
              <a:endParaRPr lang="en-US"/>
            </a:p>
          </p:txBody>
        </p:sp>
        <p:sp>
          <p:nvSpPr>
            <p:cNvPr id="34" name="Rectangle 66"/>
            <p:cNvSpPr>
              <a:spLocks noChangeArrowheads="1"/>
            </p:cNvSpPr>
            <p:nvPr/>
          </p:nvSpPr>
          <p:spPr bwMode="auto">
            <a:xfrm>
              <a:off x="5514975" y="3573529"/>
              <a:ext cx="1300163" cy="6526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67"/>
            <p:cNvSpPr>
              <a:spLocks noChangeArrowheads="1"/>
            </p:cNvSpPr>
            <p:nvPr/>
          </p:nvSpPr>
          <p:spPr bwMode="auto">
            <a:xfrm>
              <a:off x="5514975" y="3573529"/>
              <a:ext cx="1323975" cy="678077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68"/>
            <p:cNvSpPr>
              <a:spLocks noChangeArrowheads="1"/>
            </p:cNvSpPr>
            <p:nvPr/>
          </p:nvSpPr>
          <p:spPr bwMode="auto">
            <a:xfrm>
              <a:off x="5834063" y="3624430"/>
              <a:ext cx="708025" cy="312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Detailed</a:t>
              </a:r>
              <a:endParaRPr lang="en-US"/>
            </a:p>
          </p:txBody>
        </p:sp>
        <p:sp>
          <p:nvSpPr>
            <p:cNvPr id="37" name="Rectangle 69"/>
            <p:cNvSpPr>
              <a:spLocks noChangeArrowheads="1"/>
            </p:cNvSpPr>
            <p:nvPr/>
          </p:nvSpPr>
          <p:spPr bwMode="auto">
            <a:xfrm>
              <a:off x="5902325" y="3886208"/>
              <a:ext cx="547688" cy="312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design</a:t>
              </a:r>
              <a:endParaRPr lang="en-US"/>
            </a:p>
          </p:txBody>
        </p:sp>
        <p:sp>
          <p:nvSpPr>
            <p:cNvPr id="38" name="Rectangle 70"/>
            <p:cNvSpPr>
              <a:spLocks noChangeArrowheads="1"/>
            </p:cNvSpPr>
            <p:nvPr/>
          </p:nvSpPr>
          <p:spPr bwMode="auto">
            <a:xfrm>
              <a:off x="7065963" y="3573529"/>
              <a:ext cx="1301750" cy="6526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71"/>
            <p:cNvSpPr>
              <a:spLocks noChangeArrowheads="1"/>
            </p:cNvSpPr>
            <p:nvPr/>
          </p:nvSpPr>
          <p:spPr bwMode="auto">
            <a:xfrm>
              <a:off x="7065963" y="3573529"/>
              <a:ext cx="1323975" cy="678077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72"/>
            <p:cNvSpPr>
              <a:spLocks noChangeArrowheads="1"/>
            </p:cNvSpPr>
            <p:nvPr/>
          </p:nvSpPr>
          <p:spPr bwMode="auto">
            <a:xfrm>
              <a:off x="7386638" y="3755319"/>
              <a:ext cx="686085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Program</a:t>
              </a:r>
              <a:endParaRPr lang="en-US"/>
            </a:p>
          </p:txBody>
        </p:sp>
        <p:sp>
          <p:nvSpPr>
            <p:cNvPr id="41" name="Rectangle 77"/>
            <p:cNvSpPr>
              <a:spLocks noChangeArrowheads="1"/>
            </p:cNvSpPr>
            <p:nvPr/>
          </p:nvSpPr>
          <p:spPr bwMode="auto">
            <a:xfrm>
              <a:off x="928662" y="4904232"/>
              <a:ext cx="1301750" cy="6544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78"/>
            <p:cNvSpPr>
              <a:spLocks noChangeArrowheads="1"/>
            </p:cNvSpPr>
            <p:nvPr/>
          </p:nvSpPr>
          <p:spPr bwMode="auto">
            <a:xfrm>
              <a:off x="928662" y="4904232"/>
              <a:ext cx="1323975" cy="679895"/>
            </a:xfrm>
            <a:prstGeom prst="rect">
              <a:avLst/>
            </a:prstGeom>
            <a:noFill/>
            <a:ln w="14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79"/>
            <p:cNvSpPr>
              <a:spLocks noChangeArrowheads="1"/>
            </p:cNvSpPr>
            <p:nvPr/>
          </p:nvSpPr>
          <p:spPr bwMode="auto">
            <a:xfrm>
              <a:off x="1179487" y="5087840"/>
              <a:ext cx="766763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Prototype</a:t>
              </a:r>
              <a:endParaRPr lang="en-US"/>
            </a:p>
          </p:txBody>
        </p:sp>
        <p:sp>
          <p:nvSpPr>
            <p:cNvPr id="44" name="AutoShape 81"/>
            <p:cNvSpPr>
              <a:spLocks noChangeArrowheads="1"/>
            </p:cNvSpPr>
            <p:nvPr/>
          </p:nvSpPr>
          <p:spPr bwMode="auto">
            <a:xfrm>
              <a:off x="7143768" y="4931501"/>
              <a:ext cx="1301750" cy="6798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AutoShape 82"/>
            <p:cNvSpPr>
              <a:spLocks noChangeArrowheads="1"/>
            </p:cNvSpPr>
            <p:nvPr/>
          </p:nvSpPr>
          <p:spPr bwMode="auto">
            <a:xfrm>
              <a:off x="7143768" y="4931501"/>
              <a:ext cx="1323975" cy="705345"/>
            </a:xfrm>
            <a:prstGeom prst="roundRect">
              <a:avLst>
                <a:gd name="adj" fmla="val 48148"/>
              </a:avLst>
            </a:prstGeom>
            <a:noFill/>
            <a:ln w="14">
              <a:solidFill>
                <a:srgbClr val="0083D7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83"/>
            <p:cNvSpPr>
              <a:spLocks noChangeArrowheads="1"/>
            </p:cNvSpPr>
            <p:nvPr/>
          </p:nvSpPr>
          <p:spPr bwMode="auto">
            <a:xfrm>
              <a:off x="7440630" y="4984220"/>
              <a:ext cx="709613" cy="24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Program</a:t>
              </a:r>
              <a:endParaRPr lang="en-US"/>
            </a:p>
          </p:txBody>
        </p:sp>
        <p:sp>
          <p:nvSpPr>
            <p:cNvPr id="47" name="Rectangle 84"/>
            <p:cNvSpPr>
              <a:spLocks noChangeArrowheads="1"/>
            </p:cNvSpPr>
            <p:nvPr/>
          </p:nvSpPr>
          <p:spPr bwMode="auto">
            <a:xfrm>
              <a:off x="7827980" y="4984220"/>
              <a:ext cx="0" cy="316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" name="Rectangle 85"/>
            <p:cNvSpPr>
              <a:spLocks noChangeArrowheads="1"/>
            </p:cNvSpPr>
            <p:nvPr/>
          </p:nvSpPr>
          <p:spPr bwMode="auto">
            <a:xfrm>
              <a:off x="7532705" y="5244180"/>
              <a:ext cx="547688" cy="312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Formata Regular"/>
                </a:rPr>
                <a:t>testing</a:t>
              </a:r>
              <a:endParaRPr lang="en-US"/>
            </a:p>
          </p:txBody>
        </p:sp>
        <p:cxnSp>
          <p:nvCxnSpPr>
            <p:cNvPr id="49" name="Straight Arrow Connector 48"/>
            <p:cNvCxnSpPr>
              <a:endCxn id="31" idx="0"/>
            </p:cNvCxnSpPr>
            <p:nvPr/>
          </p:nvCxnSpPr>
          <p:spPr>
            <a:xfrm rot="10800000" flipV="1">
              <a:off x="1522414" y="2858102"/>
              <a:ext cx="3049594" cy="715816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endCxn id="27" idx="0"/>
            </p:cNvCxnSpPr>
            <p:nvPr/>
          </p:nvCxnSpPr>
          <p:spPr>
            <a:xfrm rot="10800000" flipV="1">
              <a:off x="3073405" y="2858102"/>
              <a:ext cx="1498603" cy="715816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61" idx="2"/>
              <a:endCxn id="23" idx="0"/>
            </p:cNvCxnSpPr>
            <p:nvPr/>
          </p:nvCxnSpPr>
          <p:spPr>
            <a:xfrm rot="16200000" flipH="1">
              <a:off x="4222044" y="3171565"/>
              <a:ext cx="769780" cy="34925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5" idx="0"/>
            </p:cNvCxnSpPr>
            <p:nvPr/>
          </p:nvCxnSpPr>
          <p:spPr>
            <a:xfrm>
              <a:off x="4572008" y="2858102"/>
              <a:ext cx="1604967" cy="715816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59" idx="2"/>
              <a:endCxn id="39" idx="0"/>
            </p:cNvCxnSpPr>
            <p:nvPr/>
          </p:nvCxnSpPr>
          <p:spPr>
            <a:xfrm rot="16200000" flipH="1">
              <a:off x="5835735" y="1681688"/>
              <a:ext cx="715816" cy="3068644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177"/>
            <p:cNvGrpSpPr>
              <a:grpSpLocks/>
            </p:cNvGrpSpPr>
            <p:nvPr/>
          </p:nvGrpSpPr>
          <p:grpSpPr bwMode="auto">
            <a:xfrm>
              <a:off x="3929058" y="2099432"/>
              <a:ext cx="1392237" cy="758064"/>
              <a:chOff x="3929058" y="2089966"/>
              <a:chExt cx="1392237" cy="758064"/>
            </a:xfrm>
          </p:grpSpPr>
          <p:sp>
            <p:nvSpPr>
              <p:cNvPr id="58" name="Rectangle 20"/>
              <p:cNvSpPr>
                <a:spLocks noChangeArrowheads="1"/>
              </p:cNvSpPr>
              <p:nvPr/>
            </p:nvSpPr>
            <p:spPr bwMode="auto">
              <a:xfrm>
                <a:off x="3997320" y="2168135"/>
                <a:ext cx="1300163" cy="654444"/>
              </a:xfrm>
              <a:prstGeom prst="rect">
                <a:avLst/>
              </a:prstGeom>
              <a:solidFill>
                <a:srgbClr val="00AFE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3997320" y="2168135"/>
                <a:ext cx="1323975" cy="679895"/>
              </a:xfrm>
              <a:prstGeom prst="rect">
                <a:avLst/>
              </a:prstGeom>
              <a:noFill/>
              <a:ln w="14">
                <a:solidFill>
                  <a:srgbClr val="00AFE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Rectangle 86"/>
              <p:cNvSpPr>
                <a:spLocks noChangeArrowheads="1"/>
              </p:cNvSpPr>
              <p:nvPr/>
            </p:nvSpPr>
            <p:spPr bwMode="auto">
              <a:xfrm>
                <a:off x="3929058" y="2089966"/>
                <a:ext cx="1300163" cy="67989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Rectangle 87"/>
              <p:cNvSpPr>
                <a:spLocks noChangeArrowheads="1"/>
              </p:cNvSpPr>
              <p:nvPr/>
            </p:nvSpPr>
            <p:spPr bwMode="auto">
              <a:xfrm>
                <a:off x="3929058" y="2089966"/>
                <a:ext cx="1322388" cy="705345"/>
              </a:xfrm>
              <a:prstGeom prst="rect">
                <a:avLst/>
              </a:prstGeom>
              <a:noFill/>
              <a:ln w="14">
                <a:solidFill>
                  <a:srgbClr val="0083D7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Rectangle 88"/>
              <p:cNvSpPr>
                <a:spLocks noChangeArrowheads="1"/>
              </p:cNvSpPr>
              <p:nvPr/>
            </p:nvSpPr>
            <p:spPr bwMode="auto">
              <a:xfrm>
                <a:off x="4225920" y="2142685"/>
                <a:ext cx="752475" cy="3126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Formata Regular"/>
                  </a:rPr>
                  <a:t>Software</a:t>
                </a:r>
                <a:endParaRPr lang="en-US"/>
              </a:p>
            </p:txBody>
          </p:sp>
          <p:sp>
            <p:nvSpPr>
              <p:cNvPr id="63" name="Rectangle 89"/>
              <p:cNvSpPr>
                <a:spLocks noChangeArrowheads="1"/>
              </p:cNvSpPr>
              <p:nvPr/>
            </p:nvSpPr>
            <p:spPr bwMode="auto">
              <a:xfrm>
                <a:off x="4111620" y="2404462"/>
                <a:ext cx="889000" cy="3126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Formata Regular"/>
                  </a:rPr>
                  <a:t>inspections</a:t>
                </a:r>
                <a:endParaRPr lang="en-US"/>
              </a:p>
            </p:txBody>
          </p:sp>
        </p:grpSp>
        <p:cxnSp>
          <p:nvCxnSpPr>
            <p:cNvPr id="55" name="Straight Arrow Connector 54"/>
            <p:cNvCxnSpPr>
              <a:stCxn id="13" idx="2"/>
              <a:endCxn id="42" idx="0"/>
            </p:cNvCxnSpPr>
            <p:nvPr/>
          </p:nvCxnSpPr>
          <p:spPr>
            <a:xfrm rot="5400000">
              <a:off x="1303397" y="4616692"/>
              <a:ext cx="574557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5" idx="1"/>
              <a:endCxn id="19" idx="3"/>
            </p:cNvCxnSpPr>
            <p:nvPr/>
          </p:nvCxnSpPr>
          <p:spPr>
            <a:xfrm rot="10800000" flipV="1">
              <a:off x="2320928" y="5284892"/>
              <a:ext cx="4822836" cy="3809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7" idx="2"/>
              <a:endCxn id="45" idx="0"/>
            </p:cNvCxnSpPr>
            <p:nvPr/>
          </p:nvCxnSpPr>
          <p:spPr>
            <a:xfrm rot="16200000" flipH="1">
              <a:off x="7500222" y="4625419"/>
              <a:ext cx="601539" cy="9525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Arrow Connector 64"/>
          <p:cNvCxnSpPr>
            <a:stCxn id="59" idx="2"/>
          </p:cNvCxnSpPr>
          <p:nvPr/>
        </p:nvCxnSpPr>
        <p:spPr>
          <a:xfrm rot="5400000">
            <a:off x="2732766" y="1646541"/>
            <a:ext cx="716180" cy="31368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9" idx="2"/>
            <a:endCxn id="27" idx="0"/>
          </p:cNvCxnSpPr>
          <p:nvPr/>
        </p:nvCxnSpPr>
        <p:spPr>
          <a:xfrm rot="5400000">
            <a:off x="3508655" y="2422430"/>
            <a:ext cx="716180" cy="15851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9" idx="2"/>
            <a:endCxn id="24" idx="0"/>
          </p:cNvCxnSpPr>
          <p:nvPr/>
        </p:nvCxnSpPr>
        <p:spPr>
          <a:xfrm rot="5400000">
            <a:off x="4249562" y="3214249"/>
            <a:ext cx="767092" cy="52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9" idx="2"/>
          </p:cNvCxnSpPr>
          <p:nvPr/>
        </p:nvCxnSpPr>
        <p:spPr>
          <a:xfrm rot="16200000" flipH="1">
            <a:off x="5060041" y="2456152"/>
            <a:ext cx="716180" cy="15176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1" idx="2"/>
          </p:cNvCxnSpPr>
          <p:nvPr/>
        </p:nvCxnSpPr>
        <p:spPr>
          <a:xfrm rot="16200000" flipH="1">
            <a:off x="5677012" y="1717396"/>
            <a:ext cx="768910" cy="2942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13" idx="2"/>
            <a:endCxn id="42" idx="0"/>
          </p:cNvCxnSpPr>
          <p:nvPr/>
        </p:nvCxnSpPr>
        <p:spPr>
          <a:xfrm rot="5400000">
            <a:off x="1303374" y="4616750"/>
            <a:ext cx="574574" cy="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45" idx="1"/>
            <a:endCxn id="19" idx="3"/>
          </p:cNvCxnSpPr>
          <p:nvPr/>
        </p:nvCxnSpPr>
        <p:spPr>
          <a:xfrm rot="10800000" flipV="1">
            <a:off x="2320898" y="5284068"/>
            <a:ext cx="4822857" cy="390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7" idx="2"/>
            <a:endCxn id="45" idx="0"/>
          </p:cNvCxnSpPr>
          <p:nvPr/>
        </p:nvCxnSpPr>
        <p:spPr>
          <a:xfrm rot="16200000" flipH="1">
            <a:off x="7500044" y="4625628"/>
            <a:ext cx="601848" cy="95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Validation Technique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/>
              <a:t>Numerous validation techniques, including formal methods, fault injection and dependability analysis. Validation usually take place at the end of the development life-cycle and look at the complete systems.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solidFill>
                  <a:srgbClr val="FF0000"/>
                </a:solidFill>
              </a:rPr>
              <a:t>Formal methods </a:t>
            </a:r>
            <a:r>
              <a:rPr lang="en-GB" sz="2000" dirty="0" smtClean="0"/>
              <a:t>is not only a verification technique but also a validation technique. </a:t>
            </a:r>
          </a:p>
          <a:p>
            <a:pPr marL="722376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GB" sz="1600" dirty="0" smtClean="0"/>
              <a:t>The use of mathematical and logical technique to express, investigate and analyze the specification, design, documentation and behaviour of both hardware and software.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solidFill>
                  <a:srgbClr val="FF0000"/>
                </a:solidFill>
              </a:rPr>
              <a:t>Fault injection </a:t>
            </a:r>
            <a:r>
              <a:rPr lang="en-GB" sz="2000" dirty="0" smtClean="0"/>
              <a:t>is to intentional activation of faults to observe the system operation under fault conditions.</a:t>
            </a:r>
          </a:p>
          <a:p>
            <a:pPr marL="420624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GB" sz="2000" dirty="0" smtClean="0">
                <a:solidFill>
                  <a:srgbClr val="FF0000"/>
                </a:solidFill>
              </a:rPr>
              <a:t>Dependability analysis </a:t>
            </a:r>
            <a:r>
              <a:rPr lang="en-GB" sz="2000" dirty="0" smtClean="0"/>
              <a:t>involves identifying hazards and then proposing methods that reduces the risk of hazard occurring.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 Testing</a:t>
            </a:r>
            <a:endParaRPr lang="en-GB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 smtClean="0"/>
              <a:t>Is it possible to find and fix all bugs in software before deliver it to the customer? </a:t>
            </a:r>
          </a:p>
          <a:p>
            <a:r>
              <a:rPr lang="en-GB" dirty="0" smtClean="0"/>
              <a:t>Can reveal the presence of errors NOT their absence.</a:t>
            </a:r>
          </a:p>
          <a:p>
            <a:r>
              <a:rPr lang="en-GB" dirty="0" smtClean="0"/>
              <a:t>The only validation technique for non-functional requirements as the software has to be executed to see how it behaves.</a:t>
            </a:r>
          </a:p>
          <a:p>
            <a:r>
              <a:rPr lang="en-GB" dirty="0" smtClean="0"/>
              <a:t>Should be used in conjunction with static </a:t>
            </a:r>
            <a:br>
              <a:rPr lang="en-GB" dirty="0" smtClean="0"/>
            </a:br>
            <a:r>
              <a:rPr lang="en-GB" dirty="0" smtClean="0"/>
              <a:t>verification to provide full V&amp;V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testing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704850" y="1830387"/>
            <a:ext cx="7467600" cy="4525963"/>
          </a:xfrm>
          <a:prstGeom prst="rect">
            <a:avLst/>
          </a:prstGeom>
        </p:spPr>
        <p:txBody>
          <a:bodyPr lIns="90840" tIns="44623" rIns="90840" bIns="44623"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Defect testing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46424D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Tests designed to discover system defects.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A successful defect test is one that can detect the defects in a system.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Validation testing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46424D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Intended to show  that the software meets its requirements.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A successful test is one that prove requirements has been properly implemented.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charset="2"/>
              <a:buChar char="§"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rgbClr val="46424D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and debugging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Defect testing and debugging are </a:t>
            </a:r>
            <a:r>
              <a:rPr lang="en-GB" dirty="0" smtClean="0">
                <a:solidFill>
                  <a:srgbClr val="FF0000"/>
                </a:solidFill>
              </a:rPr>
              <a:t>distinct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dirty="0" smtClean="0"/>
              <a:t>processes.</a:t>
            </a:r>
          </a:p>
          <a:p>
            <a:r>
              <a:rPr lang="en-GB" dirty="0" smtClean="0"/>
              <a:t>Verification and validation is concerned with establishing the existence of defects in a program.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Debugging</a:t>
            </a:r>
            <a:r>
              <a:rPr lang="en-GB" dirty="0" smtClean="0"/>
              <a:t> is concerned with </a:t>
            </a:r>
            <a:r>
              <a:rPr lang="en-GB" dirty="0" smtClean="0">
                <a:solidFill>
                  <a:srgbClr val="FF0000"/>
                </a:solidFill>
              </a:rPr>
              <a:t>locating and </a:t>
            </a:r>
            <a:br>
              <a:rPr lang="en-GB" dirty="0" smtClean="0">
                <a:solidFill>
                  <a:srgbClr val="FF0000"/>
                </a:solidFill>
              </a:rPr>
            </a:br>
            <a:r>
              <a:rPr lang="en-GB" dirty="0" smtClean="0">
                <a:solidFill>
                  <a:srgbClr val="FF0000"/>
                </a:solidFill>
              </a:rPr>
              <a:t>repairing these errors.</a:t>
            </a:r>
          </a:p>
          <a:p>
            <a:pPr lvl="1"/>
            <a:r>
              <a:rPr lang="en-GB" dirty="0" smtClean="0"/>
              <a:t>Debugging involves formulating a hypothesis about program behaviour and test the hypotheses to find the system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Debugging Process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7" name="Group 176"/>
          <p:cNvGrpSpPr>
            <a:grpSpLocks/>
          </p:cNvGrpSpPr>
          <p:nvPr/>
        </p:nvGrpSpPr>
        <p:grpSpPr bwMode="auto">
          <a:xfrm>
            <a:off x="857250" y="2428875"/>
            <a:ext cx="7204075" cy="2070100"/>
            <a:chOff x="1000100" y="2768600"/>
            <a:chExt cx="7204100" cy="2070106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074713" y="4217993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1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46 w 846"/>
                <a:gd name="T13" fmla="*/ 203 h 391"/>
                <a:gd name="T14" fmla="*/ 830 w 846"/>
                <a:gd name="T15" fmla="*/ 282 h 391"/>
                <a:gd name="T16" fmla="*/ 783 w 846"/>
                <a:gd name="T17" fmla="*/ 344 h 391"/>
                <a:gd name="T18" fmla="*/ 721 w 846"/>
                <a:gd name="T19" fmla="*/ 376 h 391"/>
                <a:gd name="T20" fmla="*/ 642 w 846"/>
                <a:gd name="T21" fmla="*/ 391 h 391"/>
                <a:gd name="T22" fmla="*/ 203 w 846"/>
                <a:gd name="T23" fmla="*/ 391 h 391"/>
                <a:gd name="T24" fmla="*/ 125 w 846"/>
                <a:gd name="T25" fmla="*/ 376 h 391"/>
                <a:gd name="T26" fmla="*/ 62 w 846"/>
                <a:gd name="T27" fmla="*/ 344 h 391"/>
                <a:gd name="T28" fmla="*/ 15 w 846"/>
                <a:gd name="T29" fmla="*/ 282 h 391"/>
                <a:gd name="T30" fmla="*/ 0 w 846"/>
                <a:gd name="T31" fmla="*/ 203 h 391"/>
                <a:gd name="T32" fmla="*/ 0 w 846"/>
                <a:gd name="T33" fmla="*/ 203 h 391"/>
                <a:gd name="T34" fmla="*/ 15 w 846"/>
                <a:gd name="T35" fmla="*/ 125 h 391"/>
                <a:gd name="T36" fmla="*/ 62 w 846"/>
                <a:gd name="T37" fmla="*/ 62 h 391"/>
                <a:gd name="T38" fmla="*/ 125 w 846"/>
                <a:gd name="T39" fmla="*/ 15 h 391"/>
                <a:gd name="T40" fmla="*/ 203 w 846"/>
                <a:gd name="T41" fmla="*/ 0 h 3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391"/>
                <a:gd name="T65" fmla="*/ 846 w 846"/>
                <a:gd name="T66" fmla="*/ 391 h 3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1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00AFE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074713" y="4217993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1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30 w 846"/>
                <a:gd name="T13" fmla="*/ 282 h 391"/>
                <a:gd name="T14" fmla="*/ 783 w 846"/>
                <a:gd name="T15" fmla="*/ 344 h 391"/>
                <a:gd name="T16" fmla="*/ 721 w 846"/>
                <a:gd name="T17" fmla="*/ 376 h 391"/>
                <a:gd name="T18" fmla="*/ 642 w 846"/>
                <a:gd name="T19" fmla="*/ 391 h 391"/>
                <a:gd name="T20" fmla="*/ 203 w 846"/>
                <a:gd name="T21" fmla="*/ 391 h 391"/>
                <a:gd name="T22" fmla="*/ 125 w 846"/>
                <a:gd name="T23" fmla="*/ 376 h 391"/>
                <a:gd name="T24" fmla="*/ 62 w 846"/>
                <a:gd name="T25" fmla="*/ 344 h 391"/>
                <a:gd name="T26" fmla="*/ 15 w 846"/>
                <a:gd name="T27" fmla="*/ 282 h 391"/>
                <a:gd name="T28" fmla="*/ 0 w 846"/>
                <a:gd name="T29" fmla="*/ 203 h 391"/>
                <a:gd name="T30" fmla="*/ 15 w 846"/>
                <a:gd name="T31" fmla="*/ 125 h 391"/>
                <a:gd name="T32" fmla="*/ 62 w 846"/>
                <a:gd name="T33" fmla="*/ 62 h 391"/>
                <a:gd name="T34" fmla="*/ 125 w 846"/>
                <a:gd name="T35" fmla="*/ 15 h 391"/>
                <a:gd name="T36" fmla="*/ 203 w 846"/>
                <a:gd name="T37" fmla="*/ 0 h 3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391"/>
                <a:gd name="T59" fmla="*/ 846 w 846"/>
                <a:gd name="T60" fmla="*/ 391 h 3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1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AFE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981325" y="4211638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0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46 w 846"/>
                <a:gd name="T13" fmla="*/ 203 h 391"/>
                <a:gd name="T14" fmla="*/ 830 w 846"/>
                <a:gd name="T15" fmla="*/ 282 h 391"/>
                <a:gd name="T16" fmla="*/ 783 w 846"/>
                <a:gd name="T17" fmla="*/ 344 h 391"/>
                <a:gd name="T18" fmla="*/ 720 w 846"/>
                <a:gd name="T19" fmla="*/ 376 h 391"/>
                <a:gd name="T20" fmla="*/ 642 w 846"/>
                <a:gd name="T21" fmla="*/ 391 h 391"/>
                <a:gd name="T22" fmla="*/ 203 w 846"/>
                <a:gd name="T23" fmla="*/ 391 h 391"/>
                <a:gd name="T24" fmla="*/ 125 w 846"/>
                <a:gd name="T25" fmla="*/ 376 h 391"/>
                <a:gd name="T26" fmla="*/ 62 w 846"/>
                <a:gd name="T27" fmla="*/ 344 h 391"/>
                <a:gd name="T28" fmla="*/ 15 w 846"/>
                <a:gd name="T29" fmla="*/ 282 h 391"/>
                <a:gd name="T30" fmla="*/ 0 w 846"/>
                <a:gd name="T31" fmla="*/ 203 h 391"/>
                <a:gd name="T32" fmla="*/ 0 w 846"/>
                <a:gd name="T33" fmla="*/ 203 h 391"/>
                <a:gd name="T34" fmla="*/ 15 w 846"/>
                <a:gd name="T35" fmla="*/ 125 h 391"/>
                <a:gd name="T36" fmla="*/ 62 w 846"/>
                <a:gd name="T37" fmla="*/ 62 h 391"/>
                <a:gd name="T38" fmla="*/ 125 w 846"/>
                <a:gd name="T39" fmla="*/ 15 h 391"/>
                <a:gd name="T40" fmla="*/ 203 w 846"/>
                <a:gd name="T41" fmla="*/ 0 h 3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391"/>
                <a:gd name="T65" fmla="*/ 846 w 846"/>
                <a:gd name="T66" fmla="*/ 391 h 3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00AFE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2981325" y="4211638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0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30 w 846"/>
                <a:gd name="T13" fmla="*/ 282 h 391"/>
                <a:gd name="T14" fmla="*/ 783 w 846"/>
                <a:gd name="T15" fmla="*/ 344 h 391"/>
                <a:gd name="T16" fmla="*/ 720 w 846"/>
                <a:gd name="T17" fmla="*/ 376 h 391"/>
                <a:gd name="T18" fmla="*/ 642 w 846"/>
                <a:gd name="T19" fmla="*/ 391 h 391"/>
                <a:gd name="T20" fmla="*/ 203 w 846"/>
                <a:gd name="T21" fmla="*/ 391 h 391"/>
                <a:gd name="T22" fmla="*/ 125 w 846"/>
                <a:gd name="T23" fmla="*/ 376 h 391"/>
                <a:gd name="T24" fmla="*/ 62 w 846"/>
                <a:gd name="T25" fmla="*/ 344 h 391"/>
                <a:gd name="T26" fmla="*/ 15 w 846"/>
                <a:gd name="T27" fmla="*/ 282 h 391"/>
                <a:gd name="T28" fmla="*/ 0 w 846"/>
                <a:gd name="T29" fmla="*/ 203 h 391"/>
                <a:gd name="T30" fmla="*/ 15 w 846"/>
                <a:gd name="T31" fmla="*/ 125 h 391"/>
                <a:gd name="T32" fmla="*/ 62 w 846"/>
                <a:gd name="T33" fmla="*/ 62 h 391"/>
                <a:gd name="T34" fmla="*/ 125 w 846"/>
                <a:gd name="T35" fmla="*/ 15 h 391"/>
                <a:gd name="T36" fmla="*/ 203 w 846"/>
                <a:gd name="T37" fmla="*/ 0 h 3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391"/>
                <a:gd name="T59" fmla="*/ 846 w 846"/>
                <a:gd name="T60" fmla="*/ 391 h 3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AFE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4946650" y="4211638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0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46 w 846"/>
                <a:gd name="T13" fmla="*/ 203 h 391"/>
                <a:gd name="T14" fmla="*/ 830 w 846"/>
                <a:gd name="T15" fmla="*/ 282 h 391"/>
                <a:gd name="T16" fmla="*/ 783 w 846"/>
                <a:gd name="T17" fmla="*/ 344 h 391"/>
                <a:gd name="T18" fmla="*/ 720 w 846"/>
                <a:gd name="T19" fmla="*/ 376 h 391"/>
                <a:gd name="T20" fmla="*/ 642 w 846"/>
                <a:gd name="T21" fmla="*/ 391 h 391"/>
                <a:gd name="T22" fmla="*/ 203 w 846"/>
                <a:gd name="T23" fmla="*/ 391 h 391"/>
                <a:gd name="T24" fmla="*/ 125 w 846"/>
                <a:gd name="T25" fmla="*/ 376 h 391"/>
                <a:gd name="T26" fmla="*/ 62 w 846"/>
                <a:gd name="T27" fmla="*/ 344 h 391"/>
                <a:gd name="T28" fmla="*/ 15 w 846"/>
                <a:gd name="T29" fmla="*/ 282 h 391"/>
                <a:gd name="T30" fmla="*/ 0 w 846"/>
                <a:gd name="T31" fmla="*/ 203 h 391"/>
                <a:gd name="T32" fmla="*/ 0 w 846"/>
                <a:gd name="T33" fmla="*/ 203 h 391"/>
                <a:gd name="T34" fmla="*/ 15 w 846"/>
                <a:gd name="T35" fmla="*/ 125 h 391"/>
                <a:gd name="T36" fmla="*/ 62 w 846"/>
                <a:gd name="T37" fmla="*/ 62 h 391"/>
                <a:gd name="T38" fmla="*/ 125 w 846"/>
                <a:gd name="T39" fmla="*/ 15 h 391"/>
                <a:gd name="T40" fmla="*/ 203 w 846"/>
                <a:gd name="T41" fmla="*/ 0 h 3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391"/>
                <a:gd name="T65" fmla="*/ 846 w 846"/>
                <a:gd name="T66" fmla="*/ 391 h 3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00AFE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4946650" y="4211638"/>
              <a:ext cx="1343025" cy="620713"/>
            </a:xfrm>
            <a:custGeom>
              <a:avLst/>
              <a:gdLst>
                <a:gd name="T0" fmla="*/ 203 w 846"/>
                <a:gd name="T1" fmla="*/ 0 h 391"/>
                <a:gd name="T2" fmla="*/ 642 w 846"/>
                <a:gd name="T3" fmla="*/ 0 h 391"/>
                <a:gd name="T4" fmla="*/ 720 w 846"/>
                <a:gd name="T5" fmla="*/ 15 h 391"/>
                <a:gd name="T6" fmla="*/ 783 w 846"/>
                <a:gd name="T7" fmla="*/ 62 h 391"/>
                <a:gd name="T8" fmla="*/ 830 w 846"/>
                <a:gd name="T9" fmla="*/ 125 h 391"/>
                <a:gd name="T10" fmla="*/ 846 w 846"/>
                <a:gd name="T11" fmla="*/ 203 h 391"/>
                <a:gd name="T12" fmla="*/ 830 w 846"/>
                <a:gd name="T13" fmla="*/ 282 h 391"/>
                <a:gd name="T14" fmla="*/ 783 w 846"/>
                <a:gd name="T15" fmla="*/ 344 h 391"/>
                <a:gd name="T16" fmla="*/ 720 w 846"/>
                <a:gd name="T17" fmla="*/ 376 h 391"/>
                <a:gd name="T18" fmla="*/ 642 w 846"/>
                <a:gd name="T19" fmla="*/ 391 h 391"/>
                <a:gd name="T20" fmla="*/ 203 w 846"/>
                <a:gd name="T21" fmla="*/ 391 h 391"/>
                <a:gd name="T22" fmla="*/ 125 w 846"/>
                <a:gd name="T23" fmla="*/ 376 h 391"/>
                <a:gd name="T24" fmla="*/ 62 w 846"/>
                <a:gd name="T25" fmla="*/ 344 h 391"/>
                <a:gd name="T26" fmla="*/ 15 w 846"/>
                <a:gd name="T27" fmla="*/ 282 h 391"/>
                <a:gd name="T28" fmla="*/ 0 w 846"/>
                <a:gd name="T29" fmla="*/ 203 h 391"/>
                <a:gd name="T30" fmla="*/ 15 w 846"/>
                <a:gd name="T31" fmla="*/ 125 h 391"/>
                <a:gd name="T32" fmla="*/ 62 w 846"/>
                <a:gd name="T33" fmla="*/ 62 h 391"/>
                <a:gd name="T34" fmla="*/ 125 w 846"/>
                <a:gd name="T35" fmla="*/ 15 h 391"/>
                <a:gd name="T36" fmla="*/ 203 w 846"/>
                <a:gd name="T37" fmla="*/ 0 h 3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391"/>
                <a:gd name="T59" fmla="*/ 846 w 846"/>
                <a:gd name="T60" fmla="*/ 391 h 3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391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76"/>
                  </a:lnTo>
                  <a:lnTo>
                    <a:pt x="642" y="391"/>
                  </a:lnTo>
                  <a:lnTo>
                    <a:pt x="203" y="391"/>
                  </a:lnTo>
                  <a:lnTo>
                    <a:pt x="125" y="376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AFE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6886575" y="4211638"/>
              <a:ext cx="1317625" cy="620713"/>
            </a:xfrm>
            <a:custGeom>
              <a:avLst/>
              <a:gdLst>
                <a:gd name="T0" fmla="*/ 188 w 830"/>
                <a:gd name="T1" fmla="*/ 0 h 391"/>
                <a:gd name="T2" fmla="*/ 642 w 830"/>
                <a:gd name="T3" fmla="*/ 0 h 391"/>
                <a:gd name="T4" fmla="*/ 721 w 830"/>
                <a:gd name="T5" fmla="*/ 15 h 391"/>
                <a:gd name="T6" fmla="*/ 783 w 830"/>
                <a:gd name="T7" fmla="*/ 62 h 391"/>
                <a:gd name="T8" fmla="*/ 815 w 830"/>
                <a:gd name="T9" fmla="*/ 125 h 391"/>
                <a:gd name="T10" fmla="*/ 830 w 830"/>
                <a:gd name="T11" fmla="*/ 203 h 391"/>
                <a:gd name="T12" fmla="*/ 830 w 830"/>
                <a:gd name="T13" fmla="*/ 203 h 391"/>
                <a:gd name="T14" fmla="*/ 815 w 830"/>
                <a:gd name="T15" fmla="*/ 282 h 391"/>
                <a:gd name="T16" fmla="*/ 783 w 830"/>
                <a:gd name="T17" fmla="*/ 344 h 391"/>
                <a:gd name="T18" fmla="*/ 721 w 830"/>
                <a:gd name="T19" fmla="*/ 376 h 391"/>
                <a:gd name="T20" fmla="*/ 642 w 830"/>
                <a:gd name="T21" fmla="*/ 391 h 391"/>
                <a:gd name="T22" fmla="*/ 188 w 830"/>
                <a:gd name="T23" fmla="*/ 391 h 391"/>
                <a:gd name="T24" fmla="*/ 110 w 830"/>
                <a:gd name="T25" fmla="*/ 376 h 391"/>
                <a:gd name="T26" fmla="*/ 47 w 830"/>
                <a:gd name="T27" fmla="*/ 344 h 391"/>
                <a:gd name="T28" fmla="*/ 15 w 830"/>
                <a:gd name="T29" fmla="*/ 282 h 391"/>
                <a:gd name="T30" fmla="*/ 0 w 830"/>
                <a:gd name="T31" fmla="*/ 203 h 391"/>
                <a:gd name="T32" fmla="*/ 0 w 830"/>
                <a:gd name="T33" fmla="*/ 203 h 391"/>
                <a:gd name="T34" fmla="*/ 15 w 830"/>
                <a:gd name="T35" fmla="*/ 125 h 391"/>
                <a:gd name="T36" fmla="*/ 47 w 830"/>
                <a:gd name="T37" fmla="*/ 62 h 391"/>
                <a:gd name="T38" fmla="*/ 110 w 830"/>
                <a:gd name="T39" fmla="*/ 15 h 391"/>
                <a:gd name="T40" fmla="*/ 188 w 830"/>
                <a:gd name="T41" fmla="*/ 0 h 3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30"/>
                <a:gd name="T64" fmla="*/ 0 h 391"/>
                <a:gd name="T65" fmla="*/ 830 w 830"/>
                <a:gd name="T66" fmla="*/ 391 h 39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30" h="391">
                  <a:moveTo>
                    <a:pt x="188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15" y="125"/>
                  </a:lnTo>
                  <a:lnTo>
                    <a:pt x="830" y="203"/>
                  </a:lnTo>
                  <a:lnTo>
                    <a:pt x="815" y="282"/>
                  </a:lnTo>
                  <a:lnTo>
                    <a:pt x="783" y="344"/>
                  </a:lnTo>
                  <a:lnTo>
                    <a:pt x="721" y="376"/>
                  </a:lnTo>
                  <a:lnTo>
                    <a:pt x="642" y="391"/>
                  </a:lnTo>
                  <a:lnTo>
                    <a:pt x="188" y="391"/>
                  </a:lnTo>
                  <a:lnTo>
                    <a:pt x="110" y="376"/>
                  </a:lnTo>
                  <a:lnTo>
                    <a:pt x="47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47" y="62"/>
                  </a:lnTo>
                  <a:lnTo>
                    <a:pt x="110" y="1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AFE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6886575" y="4211638"/>
              <a:ext cx="1317625" cy="620713"/>
            </a:xfrm>
            <a:custGeom>
              <a:avLst/>
              <a:gdLst>
                <a:gd name="T0" fmla="*/ 188 w 830"/>
                <a:gd name="T1" fmla="*/ 0 h 391"/>
                <a:gd name="T2" fmla="*/ 642 w 830"/>
                <a:gd name="T3" fmla="*/ 0 h 391"/>
                <a:gd name="T4" fmla="*/ 721 w 830"/>
                <a:gd name="T5" fmla="*/ 15 h 391"/>
                <a:gd name="T6" fmla="*/ 783 w 830"/>
                <a:gd name="T7" fmla="*/ 62 h 391"/>
                <a:gd name="T8" fmla="*/ 815 w 830"/>
                <a:gd name="T9" fmla="*/ 125 h 391"/>
                <a:gd name="T10" fmla="*/ 830 w 830"/>
                <a:gd name="T11" fmla="*/ 203 h 391"/>
                <a:gd name="T12" fmla="*/ 815 w 830"/>
                <a:gd name="T13" fmla="*/ 282 h 391"/>
                <a:gd name="T14" fmla="*/ 783 w 830"/>
                <a:gd name="T15" fmla="*/ 344 h 391"/>
                <a:gd name="T16" fmla="*/ 721 w 830"/>
                <a:gd name="T17" fmla="*/ 376 h 391"/>
                <a:gd name="T18" fmla="*/ 642 w 830"/>
                <a:gd name="T19" fmla="*/ 391 h 391"/>
                <a:gd name="T20" fmla="*/ 188 w 830"/>
                <a:gd name="T21" fmla="*/ 391 h 391"/>
                <a:gd name="T22" fmla="*/ 110 w 830"/>
                <a:gd name="T23" fmla="*/ 376 h 391"/>
                <a:gd name="T24" fmla="*/ 47 w 830"/>
                <a:gd name="T25" fmla="*/ 344 h 391"/>
                <a:gd name="T26" fmla="*/ 15 w 830"/>
                <a:gd name="T27" fmla="*/ 282 h 391"/>
                <a:gd name="T28" fmla="*/ 0 w 830"/>
                <a:gd name="T29" fmla="*/ 203 h 391"/>
                <a:gd name="T30" fmla="*/ 15 w 830"/>
                <a:gd name="T31" fmla="*/ 125 h 391"/>
                <a:gd name="T32" fmla="*/ 47 w 830"/>
                <a:gd name="T33" fmla="*/ 62 h 391"/>
                <a:gd name="T34" fmla="*/ 110 w 830"/>
                <a:gd name="T35" fmla="*/ 15 h 391"/>
                <a:gd name="T36" fmla="*/ 188 w 830"/>
                <a:gd name="T37" fmla="*/ 0 h 3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30"/>
                <a:gd name="T58" fmla="*/ 0 h 391"/>
                <a:gd name="T59" fmla="*/ 830 w 830"/>
                <a:gd name="T60" fmla="*/ 391 h 3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30" h="391">
                  <a:moveTo>
                    <a:pt x="188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15" y="125"/>
                  </a:lnTo>
                  <a:lnTo>
                    <a:pt x="830" y="203"/>
                  </a:lnTo>
                  <a:lnTo>
                    <a:pt x="815" y="282"/>
                  </a:lnTo>
                  <a:lnTo>
                    <a:pt x="783" y="344"/>
                  </a:lnTo>
                  <a:lnTo>
                    <a:pt x="721" y="376"/>
                  </a:lnTo>
                  <a:lnTo>
                    <a:pt x="642" y="391"/>
                  </a:lnTo>
                  <a:lnTo>
                    <a:pt x="188" y="391"/>
                  </a:lnTo>
                  <a:lnTo>
                    <a:pt x="110" y="376"/>
                  </a:lnTo>
                  <a:lnTo>
                    <a:pt x="47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47" y="62"/>
                  </a:lnTo>
                  <a:lnTo>
                    <a:pt x="110" y="15"/>
                  </a:lnTo>
                  <a:lnTo>
                    <a:pt x="188" y="0"/>
                  </a:lnTo>
                  <a:close/>
                </a:path>
              </a:pathLst>
            </a:custGeom>
            <a:noFill/>
            <a:ln w="16">
              <a:solidFill>
                <a:srgbClr val="00AFE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217589" y="2860671"/>
              <a:ext cx="1044575" cy="596900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217589" y="2860671"/>
              <a:ext cx="1069975" cy="620713"/>
            </a:xfrm>
            <a:prstGeom prst="rect">
              <a:avLst/>
            </a:prstGeom>
            <a:noFill/>
            <a:ln w="16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2906713" y="2843213"/>
              <a:ext cx="1343025" cy="571500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906713" y="2843213"/>
              <a:ext cx="1366838" cy="596900"/>
            </a:xfrm>
            <a:prstGeom prst="rect">
              <a:avLst/>
            </a:prstGeom>
            <a:noFill/>
            <a:ln w="16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7035800" y="2843213"/>
              <a:ext cx="1044575" cy="596900"/>
            </a:xfrm>
            <a:prstGeom prst="rect">
              <a:avLst/>
            </a:prstGeom>
            <a:solidFill>
              <a:srgbClr val="00AF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7035800" y="2843213"/>
              <a:ext cx="1069975" cy="620713"/>
            </a:xfrm>
            <a:prstGeom prst="rect">
              <a:avLst/>
            </a:prstGeom>
            <a:noFill/>
            <a:ln w="16">
              <a:solidFill>
                <a:srgbClr val="00AFE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>
              <a:spLocks/>
            </p:cNvSpPr>
            <p:nvPr/>
          </p:nvSpPr>
          <p:spPr bwMode="auto">
            <a:xfrm>
              <a:off x="1000100" y="4143380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58 w 846"/>
                <a:gd name="T3" fmla="*/ 0 h 407"/>
                <a:gd name="T4" fmla="*/ 720 w 846"/>
                <a:gd name="T5" fmla="*/ 15 h 407"/>
                <a:gd name="T6" fmla="*/ 799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46 w 846"/>
                <a:gd name="T13" fmla="*/ 203 h 407"/>
                <a:gd name="T14" fmla="*/ 830 w 846"/>
                <a:gd name="T15" fmla="*/ 282 h 407"/>
                <a:gd name="T16" fmla="*/ 799 w 846"/>
                <a:gd name="T17" fmla="*/ 344 h 407"/>
                <a:gd name="T18" fmla="*/ 720 w 846"/>
                <a:gd name="T19" fmla="*/ 391 h 407"/>
                <a:gd name="T20" fmla="*/ 658 w 846"/>
                <a:gd name="T21" fmla="*/ 407 h 407"/>
                <a:gd name="T22" fmla="*/ 203 w 846"/>
                <a:gd name="T23" fmla="*/ 407 h 407"/>
                <a:gd name="T24" fmla="*/ 125 w 846"/>
                <a:gd name="T25" fmla="*/ 391 h 407"/>
                <a:gd name="T26" fmla="*/ 62 w 846"/>
                <a:gd name="T27" fmla="*/ 344 h 407"/>
                <a:gd name="T28" fmla="*/ 15 w 846"/>
                <a:gd name="T29" fmla="*/ 282 h 407"/>
                <a:gd name="T30" fmla="*/ 0 w 846"/>
                <a:gd name="T31" fmla="*/ 203 h 407"/>
                <a:gd name="T32" fmla="*/ 0 w 846"/>
                <a:gd name="T33" fmla="*/ 203 h 407"/>
                <a:gd name="T34" fmla="*/ 15 w 846"/>
                <a:gd name="T35" fmla="*/ 125 h 407"/>
                <a:gd name="T36" fmla="*/ 62 w 846"/>
                <a:gd name="T37" fmla="*/ 62 h 407"/>
                <a:gd name="T38" fmla="*/ 125 w 846"/>
                <a:gd name="T39" fmla="*/ 15 h 407"/>
                <a:gd name="T40" fmla="*/ 203 w 846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407"/>
                <a:gd name="T65" fmla="*/ 846 w 846"/>
                <a:gd name="T66" fmla="*/ 407 h 40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407">
                  <a:moveTo>
                    <a:pt x="203" y="0"/>
                  </a:moveTo>
                  <a:lnTo>
                    <a:pt x="658" y="0"/>
                  </a:lnTo>
                  <a:lnTo>
                    <a:pt x="720" y="15"/>
                  </a:lnTo>
                  <a:lnTo>
                    <a:pt x="799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99" y="344"/>
                  </a:lnTo>
                  <a:lnTo>
                    <a:pt x="720" y="391"/>
                  </a:lnTo>
                  <a:lnTo>
                    <a:pt x="658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9"/>
            <p:cNvSpPr>
              <a:spLocks/>
            </p:cNvSpPr>
            <p:nvPr/>
          </p:nvSpPr>
          <p:spPr bwMode="auto">
            <a:xfrm>
              <a:off x="1000100" y="4143380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58 w 846"/>
                <a:gd name="T3" fmla="*/ 0 h 407"/>
                <a:gd name="T4" fmla="*/ 720 w 846"/>
                <a:gd name="T5" fmla="*/ 15 h 407"/>
                <a:gd name="T6" fmla="*/ 799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30 w 846"/>
                <a:gd name="T13" fmla="*/ 282 h 407"/>
                <a:gd name="T14" fmla="*/ 799 w 846"/>
                <a:gd name="T15" fmla="*/ 344 h 407"/>
                <a:gd name="T16" fmla="*/ 720 w 846"/>
                <a:gd name="T17" fmla="*/ 391 h 407"/>
                <a:gd name="T18" fmla="*/ 658 w 846"/>
                <a:gd name="T19" fmla="*/ 407 h 407"/>
                <a:gd name="T20" fmla="*/ 203 w 846"/>
                <a:gd name="T21" fmla="*/ 407 h 407"/>
                <a:gd name="T22" fmla="*/ 125 w 846"/>
                <a:gd name="T23" fmla="*/ 391 h 407"/>
                <a:gd name="T24" fmla="*/ 62 w 846"/>
                <a:gd name="T25" fmla="*/ 344 h 407"/>
                <a:gd name="T26" fmla="*/ 15 w 846"/>
                <a:gd name="T27" fmla="*/ 282 h 407"/>
                <a:gd name="T28" fmla="*/ 0 w 846"/>
                <a:gd name="T29" fmla="*/ 203 h 407"/>
                <a:gd name="T30" fmla="*/ 15 w 846"/>
                <a:gd name="T31" fmla="*/ 125 h 407"/>
                <a:gd name="T32" fmla="*/ 62 w 846"/>
                <a:gd name="T33" fmla="*/ 62 h 407"/>
                <a:gd name="T34" fmla="*/ 125 w 846"/>
                <a:gd name="T35" fmla="*/ 15 h 407"/>
                <a:gd name="T36" fmla="*/ 203 w 846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407"/>
                <a:gd name="T59" fmla="*/ 846 w 846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407">
                  <a:moveTo>
                    <a:pt x="203" y="0"/>
                  </a:moveTo>
                  <a:lnTo>
                    <a:pt x="658" y="0"/>
                  </a:lnTo>
                  <a:lnTo>
                    <a:pt x="720" y="15"/>
                  </a:lnTo>
                  <a:lnTo>
                    <a:pt x="799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99" y="344"/>
                  </a:lnTo>
                  <a:lnTo>
                    <a:pt x="720" y="391"/>
                  </a:lnTo>
                  <a:lnTo>
                    <a:pt x="658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83D7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0"/>
            <p:cNvSpPr>
              <a:spLocks noChangeArrowheads="1"/>
            </p:cNvSpPr>
            <p:nvPr/>
          </p:nvSpPr>
          <p:spPr bwMode="auto">
            <a:xfrm>
              <a:off x="1396975" y="4192593"/>
              <a:ext cx="61555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Locate</a:t>
              </a:r>
              <a:endParaRPr lang="en-US"/>
            </a:p>
          </p:txBody>
        </p:sp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1471588" y="4441830"/>
              <a:ext cx="43441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error</a:t>
              </a:r>
              <a:endParaRPr lang="en-US"/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2906713" y="4137025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58 w 846"/>
                <a:gd name="T3" fmla="*/ 0 h 407"/>
                <a:gd name="T4" fmla="*/ 720 w 846"/>
                <a:gd name="T5" fmla="*/ 15 h 407"/>
                <a:gd name="T6" fmla="*/ 799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46 w 846"/>
                <a:gd name="T13" fmla="*/ 203 h 407"/>
                <a:gd name="T14" fmla="*/ 830 w 846"/>
                <a:gd name="T15" fmla="*/ 282 h 407"/>
                <a:gd name="T16" fmla="*/ 799 w 846"/>
                <a:gd name="T17" fmla="*/ 344 h 407"/>
                <a:gd name="T18" fmla="*/ 720 w 846"/>
                <a:gd name="T19" fmla="*/ 391 h 407"/>
                <a:gd name="T20" fmla="*/ 658 w 846"/>
                <a:gd name="T21" fmla="*/ 407 h 407"/>
                <a:gd name="T22" fmla="*/ 203 w 846"/>
                <a:gd name="T23" fmla="*/ 407 h 407"/>
                <a:gd name="T24" fmla="*/ 125 w 846"/>
                <a:gd name="T25" fmla="*/ 391 h 407"/>
                <a:gd name="T26" fmla="*/ 62 w 846"/>
                <a:gd name="T27" fmla="*/ 344 h 407"/>
                <a:gd name="T28" fmla="*/ 15 w 846"/>
                <a:gd name="T29" fmla="*/ 282 h 407"/>
                <a:gd name="T30" fmla="*/ 0 w 846"/>
                <a:gd name="T31" fmla="*/ 203 h 407"/>
                <a:gd name="T32" fmla="*/ 0 w 846"/>
                <a:gd name="T33" fmla="*/ 203 h 407"/>
                <a:gd name="T34" fmla="*/ 15 w 846"/>
                <a:gd name="T35" fmla="*/ 125 h 407"/>
                <a:gd name="T36" fmla="*/ 62 w 846"/>
                <a:gd name="T37" fmla="*/ 62 h 407"/>
                <a:gd name="T38" fmla="*/ 125 w 846"/>
                <a:gd name="T39" fmla="*/ 15 h 407"/>
                <a:gd name="T40" fmla="*/ 203 w 846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407"/>
                <a:gd name="T65" fmla="*/ 846 w 846"/>
                <a:gd name="T66" fmla="*/ 407 h 40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407">
                  <a:moveTo>
                    <a:pt x="203" y="0"/>
                  </a:moveTo>
                  <a:lnTo>
                    <a:pt x="658" y="0"/>
                  </a:lnTo>
                  <a:lnTo>
                    <a:pt x="720" y="15"/>
                  </a:lnTo>
                  <a:lnTo>
                    <a:pt x="799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99" y="344"/>
                  </a:lnTo>
                  <a:lnTo>
                    <a:pt x="720" y="391"/>
                  </a:lnTo>
                  <a:lnTo>
                    <a:pt x="658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5"/>
            <p:cNvSpPr>
              <a:spLocks/>
            </p:cNvSpPr>
            <p:nvPr/>
          </p:nvSpPr>
          <p:spPr bwMode="auto">
            <a:xfrm>
              <a:off x="2906713" y="4137025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58 w 846"/>
                <a:gd name="T3" fmla="*/ 0 h 407"/>
                <a:gd name="T4" fmla="*/ 720 w 846"/>
                <a:gd name="T5" fmla="*/ 15 h 407"/>
                <a:gd name="T6" fmla="*/ 799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30 w 846"/>
                <a:gd name="T13" fmla="*/ 282 h 407"/>
                <a:gd name="T14" fmla="*/ 799 w 846"/>
                <a:gd name="T15" fmla="*/ 344 h 407"/>
                <a:gd name="T16" fmla="*/ 720 w 846"/>
                <a:gd name="T17" fmla="*/ 391 h 407"/>
                <a:gd name="T18" fmla="*/ 658 w 846"/>
                <a:gd name="T19" fmla="*/ 407 h 407"/>
                <a:gd name="T20" fmla="*/ 203 w 846"/>
                <a:gd name="T21" fmla="*/ 407 h 407"/>
                <a:gd name="T22" fmla="*/ 125 w 846"/>
                <a:gd name="T23" fmla="*/ 391 h 407"/>
                <a:gd name="T24" fmla="*/ 62 w 846"/>
                <a:gd name="T25" fmla="*/ 344 h 407"/>
                <a:gd name="T26" fmla="*/ 15 w 846"/>
                <a:gd name="T27" fmla="*/ 282 h 407"/>
                <a:gd name="T28" fmla="*/ 0 w 846"/>
                <a:gd name="T29" fmla="*/ 203 h 407"/>
                <a:gd name="T30" fmla="*/ 15 w 846"/>
                <a:gd name="T31" fmla="*/ 125 h 407"/>
                <a:gd name="T32" fmla="*/ 62 w 846"/>
                <a:gd name="T33" fmla="*/ 62 h 407"/>
                <a:gd name="T34" fmla="*/ 125 w 846"/>
                <a:gd name="T35" fmla="*/ 15 h 407"/>
                <a:gd name="T36" fmla="*/ 203 w 846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407"/>
                <a:gd name="T59" fmla="*/ 846 w 846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407">
                  <a:moveTo>
                    <a:pt x="203" y="0"/>
                  </a:moveTo>
                  <a:lnTo>
                    <a:pt x="658" y="0"/>
                  </a:lnTo>
                  <a:lnTo>
                    <a:pt x="720" y="15"/>
                  </a:lnTo>
                  <a:lnTo>
                    <a:pt x="799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99" y="344"/>
                  </a:lnTo>
                  <a:lnTo>
                    <a:pt x="720" y="391"/>
                  </a:lnTo>
                  <a:lnTo>
                    <a:pt x="658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83D7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3279775" y="4186238"/>
              <a:ext cx="64611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Design</a:t>
              </a:r>
              <a:endParaRPr lang="en-US"/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3105150" y="4435475"/>
              <a:ext cx="101630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error repair</a:t>
              </a:r>
              <a:endParaRPr lang="en-US"/>
            </a:p>
          </p:txBody>
        </p:sp>
        <p:sp>
          <p:nvSpPr>
            <p:cNvPr id="30" name="Freeform 50"/>
            <p:cNvSpPr>
              <a:spLocks/>
            </p:cNvSpPr>
            <p:nvPr/>
          </p:nvSpPr>
          <p:spPr bwMode="auto">
            <a:xfrm>
              <a:off x="4872038" y="4137025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42 w 846"/>
                <a:gd name="T3" fmla="*/ 0 h 407"/>
                <a:gd name="T4" fmla="*/ 720 w 846"/>
                <a:gd name="T5" fmla="*/ 15 h 407"/>
                <a:gd name="T6" fmla="*/ 783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46 w 846"/>
                <a:gd name="T13" fmla="*/ 203 h 407"/>
                <a:gd name="T14" fmla="*/ 830 w 846"/>
                <a:gd name="T15" fmla="*/ 282 h 407"/>
                <a:gd name="T16" fmla="*/ 783 w 846"/>
                <a:gd name="T17" fmla="*/ 344 h 407"/>
                <a:gd name="T18" fmla="*/ 720 w 846"/>
                <a:gd name="T19" fmla="*/ 391 h 407"/>
                <a:gd name="T20" fmla="*/ 642 w 846"/>
                <a:gd name="T21" fmla="*/ 407 h 407"/>
                <a:gd name="T22" fmla="*/ 203 w 846"/>
                <a:gd name="T23" fmla="*/ 407 h 407"/>
                <a:gd name="T24" fmla="*/ 125 w 846"/>
                <a:gd name="T25" fmla="*/ 391 h 407"/>
                <a:gd name="T26" fmla="*/ 62 w 846"/>
                <a:gd name="T27" fmla="*/ 344 h 407"/>
                <a:gd name="T28" fmla="*/ 15 w 846"/>
                <a:gd name="T29" fmla="*/ 282 h 407"/>
                <a:gd name="T30" fmla="*/ 0 w 846"/>
                <a:gd name="T31" fmla="*/ 203 h 407"/>
                <a:gd name="T32" fmla="*/ 0 w 846"/>
                <a:gd name="T33" fmla="*/ 203 h 407"/>
                <a:gd name="T34" fmla="*/ 15 w 846"/>
                <a:gd name="T35" fmla="*/ 125 h 407"/>
                <a:gd name="T36" fmla="*/ 62 w 846"/>
                <a:gd name="T37" fmla="*/ 62 h 407"/>
                <a:gd name="T38" fmla="*/ 125 w 846"/>
                <a:gd name="T39" fmla="*/ 15 h 407"/>
                <a:gd name="T40" fmla="*/ 203 w 846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407"/>
                <a:gd name="T65" fmla="*/ 846 w 846"/>
                <a:gd name="T66" fmla="*/ 407 h 40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407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91"/>
                  </a:lnTo>
                  <a:lnTo>
                    <a:pt x="642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51"/>
            <p:cNvSpPr>
              <a:spLocks/>
            </p:cNvSpPr>
            <p:nvPr/>
          </p:nvSpPr>
          <p:spPr bwMode="auto">
            <a:xfrm>
              <a:off x="4872038" y="4137025"/>
              <a:ext cx="1343025" cy="646113"/>
            </a:xfrm>
            <a:custGeom>
              <a:avLst/>
              <a:gdLst>
                <a:gd name="T0" fmla="*/ 203 w 846"/>
                <a:gd name="T1" fmla="*/ 0 h 407"/>
                <a:gd name="T2" fmla="*/ 642 w 846"/>
                <a:gd name="T3" fmla="*/ 0 h 407"/>
                <a:gd name="T4" fmla="*/ 720 w 846"/>
                <a:gd name="T5" fmla="*/ 15 h 407"/>
                <a:gd name="T6" fmla="*/ 783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30 w 846"/>
                <a:gd name="T13" fmla="*/ 282 h 407"/>
                <a:gd name="T14" fmla="*/ 783 w 846"/>
                <a:gd name="T15" fmla="*/ 344 h 407"/>
                <a:gd name="T16" fmla="*/ 720 w 846"/>
                <a:gd name="T17" fmla="*/ 391 h 407"/>
                <a:gd name="T18" fmla="*/ 642 w 846"/>
                <a:gd name="T19" fmla="*/ 407 h 407"/>
                <a:gd name="T20" fmla="*/ 203 w 846"/>
                <a:gd name="T21" fmla="*/ 407 h 407"/>
                <a:gd name="T22" fmla="*/ 125 w 846"/>
                <a:gd name="T23" fmla="*/ 391 h 407"/>
                <a:gd name="T24" fmla="*/ 62 w 846"/>
                <a:gd name="T25" fmla="*/ 344 h 407"/>
                <a:gd name="T26" fmla="*/ 15 w 846"/>
                <a:gd name="T27" fmla="*/ 282 h 407"/>
                <a:gd name="T28" fmla="*/ 0 w 846"/>
                <a:gd name="T29" fmla="*/ 203 h 407"/>
                <a:gd name="T30" fmla="*/ 15 w 846"/>
                <a:gd name="T31" fmla="*/ 125 h 407"/>
                <a:gd name="T32" fmla="*/ 62 w 846"/>
                <a:gd name="T33" fmla="*/ 62 h 407"/>
                <a:gd name="T34" fmla="*/ 125 w 846"/>
                <a:gd name="T35" fmla="*/ 15 h 407"/>
                <a:gd name="T36" fmla="*/ 203 w 846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407"/>
                <a:gd name="T59" fmla="*/ 846 w 846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407">
                  <a:moveTo>
                    <a:pt x="203" y="0"/>
                  </a:moveTo>
                  <a:lnTo>
                    <a:pt x="642" y="0"/>
                  </a:lnTo>
                  <a:lnTo>
                    <a:pt x="720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0" y="391"/>
                  </a:lnTo>
                  <a:lnTo>
                    <a:pt x="642" y="407"/>
                  </a:lnTo>
                  <a:lnTo>
                    <a:pt x="203" y="407"/>
                  </a:lnTo>
                  <a:lnTo>
                    <a:pt x="125" y="391"/>
                  </a:lnTo>
                  <a:lnTo>
                    <a:pt x="62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62" y="62"/>
                  </a:lnTo>
                  <a:lnTo>
                    <a:pt x="125" y="15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6">
              <a:solidFill>
                <a:srgbClr val="0083D7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52"/>
            <p:cNvSpPr>
              <a:spLocks noChangeArrowheads="1"/>
            </p:cNvSpPr>
            <p:nvPr/>
          </p:nvSpPr>
          <p:spPr bwMode="auto">
            <a:xfrm>
              <a:off x="5268913" y="4186238"/>
              <a:ext cx="60272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Repair</a:t>
              </a:r>
              <a:endParaRPr lang="en-US"/>
            </a:p>
          </p:txBody>
        </p:sp>
        <p:sp>
          <p:nvSpPr>
            <p:cNvPr id="33" name="Rectangle 54"/>
            <p:cNvSpPr>
              <a:spLocks noChangeArrowheads="1"/>
            </p:cNvSpPr>
            <p:nvPr/>
          </p:nvSpPr>
          <p:spPr bwMode="auto">
            <a:xfrm>
              <a:off x="5343525" y="4435475"/>
              <a:ext cx="43441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error</a:t>
              </a:r>
              <a:endParaRPr lang="en-US"/>
            </a:p>
          </p:txBody>
        </p:sp>
        <p:sp>
          <p:nvSpPr>
            <p:cNvPr id="34" name="Freeform 56"/>
            <p:cNvSpPr>
              <a:spLocks/>
            </p:cNvSpPr>
            <p:nvPr/>
          </p:nvSpPr>
          <p:spPr bwMode="auto">
            <a:xfrm>
              <a:off x="6811963" y="4137025"/>
              <a:ext cx="1343025" cy="646113"/>
            </a:xfrm>
            <a:custGeom>
              <a:avLst/>
              <a:gdLst>
                <a:gd name="T0" fmla="*/ 188 w 846"/>
                <a:gd name="T1" fmla="*/ 0 h 407"/>
                <a:gd name="T2" fmla="*/ 642 w 846"/>
                <a:gd name="T3" fmla="*/ 0 h 407"/>
                <a:gd name="T4" fmla="*/ 721 w 846"/>
                <a:gd name="T5" fmla="*/ 15 h 407"/>
                <a:gd name="T6" fmla="*/ 783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46 w 846"/>
                <a:gd name="T13" fmla="*/ 203 h 407"/>
                <a:gd name="T14" fmla="*/ 830 w 846"/>
                <a:gd name="T15" fmla="*/ 282 h 407"/>
                <a:gd name="T16" fmla="*/ 783 w 846"/>
                <a:gd name="T17" fmla="*/ 344 h 407"/>
                <a:gd name="T18" fmla="*/ 721 w 846"/>
                <a:gd name="T19" fmla="*/ 391 h 407"/>
                <a:gd name="T20" fmla="*/ 642 w 846"/>
                <a:gd name="T21" fmla="*/ 407 h 407"/>
                <a:gd name="T22" fmla="*/ 188 w 846"/>
                <a:gd name="T23" fmla="*/ 407 h 407"/>
                <a:gd name="T24" fmla="*/ 109 w 846"/>
                <a:gd name="T25" fmla="*/ 391 h 407"/>
                <a:gd name="T26" fmla="*/ 47 w 846"/>
                <a:gd name="T27" fmla="*/ 344 h 407"/>
                <a:gd name="T28" fmla="*/ 15 w 846"/>
                <a:gd name="T29" fmla="*/ 282 h 407"/>
                <a:gd name="T30" fmla="*/ 0 w 846"/>
                <a:gd name="T31" fmla="*/ 203 h 407"/>
                <a:gd name="T32" fmla="*/ 0 w 846"/>
                <a:gd name="T33" fmla="*/ 203 h 407"/>
                <a:gd name="T34" fmla="*/ 15 w 846"/>
                <a:gd name="T35" fmla="*/ 125 h 407"/>
                <a:gd name="T36" fmla="*/ 47 w 846"/>
                <a:gd name="T37" fmla="*/ 62 h 407"/>
                <a:gd name="T38" fmla="*/ 109 w 846"/>
                <a:gd name="T39" fmla="*/ 15 h 407"/>
                <a:gd name="T40" fmla="*/ 188 w 846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46"/>
                <a:gd name="T64" fmla="*/ 0 h 407"/>
                <a:gd name="T65" fmla="*/ 846 w 846"/>
                <a:gd name="T66" fmla="*/ 407 h 40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46" h="407">
                  <a:moveTo>
                    <a:pt x="188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1" y="391"/>
                  </a:lnTo>
                  <a:lnTo>
                    <a:pt x="642" y="407"/>
                  </a:lnTo>
                  <a:lnTo>
                    <a:pt x="188" y="407"/>
                  </a:lnTo>
                  <a:lnTo>
                    <a:pt x="109" y="391"/>
                  </a:lnTo>
                  <a:lnTo>
                    <a:pt x="47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47" y="62"/>
                  </a:lnTo>
                  <a:lnTo>
                    <a:pt x="109" y="1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57"/>
            <p:cNvSpPr>
              <a:spLocks/>
            </p:cNvSpPr>
            <p:nvPr/>
          </p:nvSpPr>
          <p:spPr bwMode="auto">
            <a:xfrm>
              <a:off x="6811963" y="4137025"/>
              <a:ext cx="1343025" cy="646113"/>
            </a:xfrm>
            <a:custGeom>
              <a:avLst/>
              <a:gdLst>
                <a:gd name="T0" fmla="*/ 188 w 846"/>
                <a:gd name="T1" fmla="*/ 0 h 407"/>
                <a:gd name="T2" fmla="*/ 642 w 846"/>
                <a:gd name="T3" fmla="*/ 0 h 407"/>
                <a:gd name="T4" fmla="*/ 721 w 846"/>
                <a:gd name="T5" fmla="*/ 15 h 407"/>
                <a:gd name="T6" fmla="*/ 783 w 846"/>
                <a:gd name="T7" fmla="*/ 62 h 407"/>
                <a:gd name="T8" fmla="*/ 830 w 846"/>
                <a:gd name="T9" fmla="*/ 125 h 407"/>
                <a:gd name="T10" fmla="*/ 846 w 846"/>
                <a:gd name="T11" fmla="*/ 203 h 407"/>
                <a:gd name="T12" fmla="*/ 830 w 846"/>
                <a:gd name="T13" fmla="*/ 282 h 407"/>
                <a:gd name="T14" fmla="*/ 783 w 846"/>
                <a:gd name="T15" fmla="*/ 344 h 407"/>
                <a:gd name="T16" fmla="*/ 721 w 846"/>
                <a:gd name="T17" fmla="*/ 391 h 407"/>
                <a:gd name="T18" fmla="*/ 642 w 846"/>
                <a:gd name="T19" fmla="*/ 407 h 407"/>
                <a:gd name="T20" fmla="*/ 188 w 846"/>
                <a:gd name="T21" fmla="*/ 407 h 407"/>
                <a:gd name="T22" fmla="*/ 109 w 846"/>
                <a:gd name="T23" fmla="*/ 391 h 407"/>
                <a:gd name="T24" fmla="*/ 47 w 846"/>
                <a:gd name="T25" fmla="*/ 344 h 407"/>
                <a:gd name="T26" fmla="*/ 15 w 846"/>
                <a:gd name="T27" fmla="*/ 282 h 407"/>
                <a:gd name="T28" fmla="*/ 0 w 846"/>
                <a:gd name="T29" fmla="*/ 203 h 407"/>
                <a:gd name="T30" fmla="*/ 15 w 846"/>
                <a:gd name="T31" fmla="*/ 125 h 407"/>
                <a:gd name="T32" fmla="*/ 47 w 846"/>
                <a:gd name="T33" fmla="*/ 62 h 407"/>
                <a:gd name="T34" fmla="*/ 109 w 846"/>
                <a:gd name="T35" fmla="*/ 15 h 407"/>
                <a:gd name="T36" fmla="*/ 188 w 846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46"/>
                <a:gd name="T58" fmla="*/ 0 h 407"/>
                <a:gd name="T59" fmla="*/ 846 w 846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46" h="407">
                  <a:moveTo>
                    <a:pt x="188" y="0"/>
                  </a:moveTo>
                  <a:lnTo>
                    <a:pt x="642" y="0"/>
                  </a:lnTo>
                  <a:lnTo>
                    <a:pt x="721" y="15"/>
                  </a:lnTo>
                  <a:lnTo>
                    <a:pt x="783" y="62"/>
                  </a:lnTo>
                  <a:lnTo>
                    <a:pt x="830" y="125"/>
                  </a:lnTo>
                  <a:lnTo>
                    <a:pt x="846" y="203"/>
                  </a:lnTo>
                  <a:lnTo>
                    <a:pt x="830" y="282"/>
                  </a:lnTo>
                  <a:lnTo>
                    <a:pt x="783" y="344"/>
                  </a:lnTo>
                  <a:lnTo>
                    <a:pt x="721" y="391"/>
                  </a:lnTo>
                  <a:lnTo>
                    <a:pt x="642" y="407"/>
                  </a:lnTo>
                  <a:lnTo>
                    <a:pt x="188" y="407"/>
                  </a:lnTo>
                  <a:lnTo>
                    <a:pt x="109" y="391"/>
                  </a:lnTo>
                  <a:lnTo>
                    <a:pt x="47" y="344"/>
                  </a:lnTo>
                  <a:lnTo>
                    <a:pt x="15" y="282"/>
                  </a:lnTo>
                  <a:lnTo>
                    <a:pt x="0" y="203"/>
                  </a:lnTo>
                  <a:lnTo>
                    <a:pt x="15" y="125"/>
                  </a:lnTo>
                  <a:lnTo>
                    <a:pt x="47" y="62"/>
                  </a:lnTo>
                  <a:lnTo>
                    <a:pt x="109" y="15"/>
                  </a:lnTo>
                  <a:lnTo>
                    <a:pt x="188" y="0"/>
                  </a:lnTo>
                  <a:close/>
                </a:path>
              </a:pathLst>
            </a:custGeom>
            <a:noFill/>
            <a:ln w="16">
              <a:solidFill>
                <a:srgbClr val="0083D7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58"/>
            <p:cNvSpPr>
              <a:spLocks noChangeArrowheads="1"/>
            </p:cNvSpPr>
            <p:nvPr/>
          </p:nvSpPr>
          <p:spPr bwMode="auto">
            <a:xfrm>
              <a:off x="7210425" y="4186238"/>
              <a:ext cx="59311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Retest</a:t>
              </a:r>
              <a:endParaRPr lang="en-US"/>
            </a:p>
          </p:txBody>
        </p:sp>
        <p:sp>
          <p:nvSpPr>
            <p:cNvPr id="37" name="Rectangle 60"/>
            <p:cNvSpPr>
              <a:spLocks noChangeArrowheads="1"/>
            </p:cNvSpPr>
            <p:nvPr/>
          </p:nvSpPr>
          <p:spPr bwMode="auto">
            <a:xfrm>
              <a:off x="7110413" y="4435475"/>
              <a:ext cx="76463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program</a:t>
              </a:r>
              <a:endParaRPr lang="en-US"/>
            </a:p>
          </p:txBody>
        </p:sp>
        <p:sp>
          <p:nvSpPr>
            <p:cNvPr id="38" name="Rectangle 65"/>
            <p:cNvSpPr>
              <a:spLocks noChangeArrowheads="1"/>
            </p:cNvSpPr>
            <p:nvPr/>
          </p:nvSpPr>
          <p:spPr bwMode="auto">
            <a:xfrm>
              <a:off x="1142976" y="2786058"/>
              <a:ext cx="1044575" cy="596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66"/>
            <p:cNvSpPr>
              <a:spLocks noChangeArrowheads="1"/>
            </p:cNvSpPr>
            <p:nvPr/>
          </p:nvSpPr>
          <p:spPr bwMode="auto">
            <a:xfrm>
              <a:off x="1142976" y="2786058"/>
              <a:ext cx="1069975" cy="620713"/>
            </a:xfrm>
            <a:prstGeom prst="rect">
              <a:avLst/>
            </a:prstGeom>
            <a:noFill/>
            <a:ln w="16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67"/>
            <p:cNvSpPr>
              <a:spLocks noChangeArrowheads="1"/>
            </p:cNvSpPr>
            <p:nvPr/>
          </p:nvSpPr>
          <p:spPr bwMode="auto">
            <a:xfrm>
              <a:off x="1490639" y="2811458"/>
              <a:ext cx="37638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Test</a:t>
              </a:r>
              <a:endParaRPr lang="en-US"/>
            </a:p>
          </p:txBody>
        </p:sp>
        <p:sp>
          <p:nvSpPr>
            <p:cNvPr id="41" name="Rectangle 69"/>
            <p:cNvSpPr>
              <a:spLocks noChangeArrowheads="1"/>
            </p:cNvSpPr>
            <p:nvPr/>
          </p:nvSpPr>
          <p:spPr bwMode="auto">
            <a:xfrm>
              <a:off x="1366814" y="3059108"/>
              <a:ext cx="59690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results</a:t>
              </a:r>
              <a:endParaRPr lang="en-US"/>
            </a:p>
          </p:txBody>
        </p:sp>
        <p:sp>
          <p:nvSpPr>
            <p:cNvPr id="42" name="Rectangle 70"/>
            <p:cNvSpPr>
              <a:spLocks noChangeArrowheads="1"/>
            </p:cNvSpPr>
            <p:nvPr/>
          </p:nvSpPr>
          <p:spPr bwMode="auto">
            <a:xfrm>
              <a:off x="2855913" y="2768600"/>
              <a:ext cx="1319213" cy="571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71"/>
            <p:cNvSpPr>
              <a:spLocks noChangeArrowheads="1"/>
            </p:cNvSpPr>
            <p:nvPr/>
          </p:nvSpPr>
          <p:spPr bwMode="auto">
            <a:xfrm>
              <a:off x="2855913" y="2768600"/>
              <a:ext cx="1343025" cy="596900"/>
            </a:xfrm>
            <a:prstGeom prst="rect">
              <a:avLst/>
            </a:prstGeom>
            <a:noFill/>
            <a:ln w="16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72"/>
            <p:cNvSpPr>
              <a:spLocks noChangeArrowheads="1"/>
            </p:cNvSpPr>
            <p:nvPr/>
          </p:nvSpPr>
          <p:spPr bwMode="auto">
            <a:xfrm>
              <a:off x="6961188" y="2768600"/>
              <a:ext cx="1044575" cy="596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73"/>
            <p:cNvSpPr>
              <a:spLocks noChangeArrowheads="1"/>
            </p:cNvSpPr>
            <p:nvPr/>
          </p:nvSpPr>
          <p:spPr bwMode="auto">
            <a:xfrm>
              <a:off x="6961188" y="2768600"/>
              <a:ext cx="1069975" cy="620713"/>
            </a:xfrm>
            <a:prstGeom prst="rect">
              <a:avLst/>
            </a:prstGeom>
            <a:noFill/>
            <a:ln w="16">
              <a:solidFill>
                <a:srgbClr val="0083D7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74"/>
            <p:cNvSpPr>
              <a:spLocks noChangeArrowheads="1"/>
            </p:cNvSpPr>
            <p:nvPr/>
          </p:nvSpPr>
          <p:spPr bwMode="auto">
            <a:xfrm>
              <a:off x="2955925" y="2892425"/>
              <a:ext cx="1144588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Specification</a:t>
              </a:r>
              <a:endParaRPr lang="en-US"/>
            </a:p>
          </p:txBody>
        </p:sp>
        <p:sp>
          <p:nvSpPr>
            <p:cNvPr id="47" name="Rectangle 75"/>
            <p:cNvSpPr>
              <a:spLocks noChangeArrowheads="1"/>
            </p:cNvSpPr>
            <p:nvPr/>
          </p:nvSpPr>
          <p:spPr bwMode="auto">
            <a:xfrm>
              <a:off x="7308850" y="2794000"/>
              <a:ext cx="37638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Test</a:t>
              </a:r>
              <a:endParaRPr lang="en-US"/>
            </a:p>
          </p:txBody>
        </p:sp>
        <p:sp>
          <p:nvSpPr>
            <p:cNvPr id="48" name="Rectangle 77"/>
            <p:cNvSpPr>
              <a:spLocks noChangeArrowheads="1"/>
            </p:cNvSpPr>
            <p:nvPr/>
          </p:nvSpPr>
          <p:spPr bwMode="auto">
            <a:xfrm>
              <a:off x="7234238" y="3041650"/>
              <a:ext cx="522288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Formata Regular"/>
                </a:rPr>
                <a:t>cases</a:t>
              </a:r>
              <a:endParaRPr lang="en-US"/>
            </a:p>
          </p:txBody>
        </p:sp>
        <p:cxnSp>
          <p:nvCxnSpPr>
            <p:cNvPr id="49" name="Straight Arrow Connector 48"/>
            <p:cNvCxnSpPr>
              <a:stCxn id="16" idx="2"/>
            </p:cNvCxnSpPr>
            <p:nvPr/>
          </p:nvCxnSpPr>
          <p:spPr>
            <a:xfrm rot="5400000">
              <a:off x="1384277" y="3787778"/>
              <a:ext cx="685802" cy="2540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rot="5400000">
              <a:off x="3313096" y="3759203"/>
              <a:ext cx="685802" cy="2540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rot="5400000">
              <a:off x="7242172" y="3759203"/>
              <a:ext cx="685802" cy="2540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2428855" y="4500568"/>
              <a:ext cx="500065" cy="158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357675" y="4500568"/>
              <a:ext cx="500064" cy="158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6286493" y="4500568"/>
              <a:ext cx="500065" cy="1587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Straight Arrow Connector 103"/>
          <p:cNvCxnSpPr/>
          <p:nvPr/>
        </p:nvCxnSpPr>
        <p:spPr>
          <a:xfrm rot="5400000">
            <a:off x="1237457" y="3544096"/>
            <a:ext cx="655639" cy="126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23" idx="5"/>
            <a:endCxn id="27" idx="14"/>
          </p:cNvCxnSpPr>
          <p:nvPr/>
        </p:nvCxnSpPr>
        <p:spPr>
          <a:xfrm flipV="1">
            <a:off x="2200270" y="4119558"/>
            <a:ext cx="563586" cy="6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9" idx="2"/>
          </p:cNvCxnSpPr>
          <p:nvPr/>
        </p:nvCxnSpPr>
        <p:spPr>
          <a:xfrm rot="5400000">
            <a:off x="3109929" y="3437730"/>
            <a:ext cx="674688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27" idx="5"/>
            <a:endCxn id="31" idx="14"/>
          </p:cNvCxnSpPr>
          <p:nvPr/>
        </p:nvCxnSpPr>
        <p:spPr>
          <a:xfrm>
            <a:off x="4106876" y="4119558"/>
            <a:ext cx="62229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31" idx="5"/>
            <a:endCxn id="35" idx="14"/>
          </p:cNvCxnSpPr>
          <p:nvPr/>
        </p:nvCxnSpPr>
        <p:spPr>
          <a:xfrm>
            <a:off x="6072195" y="4119558"/>
            <a:ext cx="59689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rot="5400000">
            <a:off x="7076283" y="3523460"/>
            <a:ext cx="708021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V-model of development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grpSp>
        <p:nvGrpSpPr>
          <p:cNvPr id="133" name="Group 23"/>
          <p:cNvGrpSpPr>
            <a:grpSpLocks/>
          </p:cNvGrpSpPr>
          <p:nvPr/>
        </p:nvGrpSpPr>
        <p:grpSpPr bwMode="auto">
          <a:xfrm>
            <a:off x="468313" y="1557338"/>
            <a:ext cx="7804318" cy="4799012"/>
            <a:chOff x="295" y="482"/>
            <a:chExt cx="5140" cy="3674"/>
          </a:xfrm>
        </p:grpSpPr>
        <p:sp>
          <p:nvSpPr>
            <p:cNvPr id="134" name="AutoShape 4"/>
            <p:cNvSpPr>
              <a:spLocks noChangeArrowheads="1"/>
            </p:cNvSpPr>
            <p:nvPr/>
          </p:nvSpPr>
          <p:spPr bwMode="auto">
            <a:xfrm rot="-2184719">
              <a:off x="975" y="1407"/>
              <a:ext cx="726" cy="1044"/>
            </a:xfrm>
            <a:prstGeom prst="downArrow">
              <a:avLst>
                <a:gd name="adj1" fmla="val 50000"/>
                <a:gd name="adj2" fmla="val 359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35" name="AutoShape 5"/>
            <p:cNvSpPr>
              <a:spLocks noChangeArrowheads="1"/>
            </p:cNvSpPr>
            <p:nvPr/>
          </p:nvSpPr>
          <p:spPr bwMode="auto">
            <a:xfrm rot="-2204141">
              <a:off x="1610" y="2250"/>
              <a:ext cx="726" cy="1044"/>
            </a:xfrm>
            <a:prstGeom prst="downArrow">
              <a:avLst>
                <a:gd name="adj1" fmla="val 50000"/>
                <a:gd name="adj2" fmla="val 359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AutoShape 6"/>
            <p:cNvSpPr>
              <a:spLocks noChangeArrowheads="1"/>
            </p:cNvSpPr>
            <p:nvPr/>
          </p:nvSpPr>
          <p:spPr bwMode="auto">
            <a:xfrm rot="-2137801">
              <a:off x="2245" y="3112"/>
              <a:ext cx="726" cy="1044"/>
            </a:xfrm>
            <a:prstGeom prst="downArrow">
              <a:avLst>
                <a:gd name="adj1" fmla="val 50000"/>
                <a:gd name="adj2" fmla="val 359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AutoShape 7"/>
            <p:cNvSpPr>
              <a:spLocks noChangeArrowheads="1"/>
            </p:cNvSpPr>
            <p:nvPr/>
          </p:nvSpPr>
          <p:spPr bwMode="auto">
            <a:xfrm rot="-8796830">
              <a:off x="4232" y="1297"/>
              <a:ext cx="726" cy="1044"/>
            </a:xfrm>
            <a:prstGeom prst="downArrow">
              <a:avLst>
                <a:gd name="adj1" fmla="val 50000"/>
                <a:gd name="adj2" fmla="val 359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AutoShape 8"/>
            <p:cNvSpPr>
              <a:spLocks noChangeArrowheads="1"/>
            </p:cNvSpPr>
            <p:nvPr/>
          </p:nvSpPr>
          <p:spPr bwMode="auto">
            <a:xfrm rot="-8599540">
              <a:off x="3606" y="2169"/>
              <a:ext cx="726" cy="1044"/>
            </a:xfrm>
            <a:prstGeom prst="downArrow">
              <a:avLst>
                <a:gd name="adj1" fmla="val 50000"/>
                <a:gd name="adj2" fmla="val 359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AutoShape 9"/>
            <p:cNvSpPr>
              <a:spLocks noChangeArrowheads="1"/>
            </p:cNvSpPr>
            <p:nvPr/>
          </p:nvSpPr>
          <p:spPr bwMode="auto">
            <a:xfrm rot="2198589" flipV="1">
              <a:off x="2971" y="3022"/>
              <a:ext cx="726" cy="1061"/>
            </a:xfrm>
            <a:prstGeom prst="downArrow">
              <a:avLst>
                <a:gd name="adj1" fmla="val 50000"/>
                <a:gd name="adj2" fmla="val 3653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AutoShape 11"/>
            <p:cNvSpPr>
              <a:spLocks noChangeArrowheads="1"/>
            </p:cNvSpPr>
            <p:nvPr/>
          </p:nvSpPr>
          <p:spPr bwMode="auto">
            <a:xfrm>
              <a:off x="1474" y="1343"/>
              <a:ext cx="2858" cy="589"/>
            </a:xfrm>
            <a:prstGeom prst="rightArrow">
              <a:avLst>
                <a:gd name="adj1" fmla="val 50000"/>
                <a:gd name="adj2" fmla="val 1213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Develop tests</a:t>
              </a:r>
            </a:p>
          </p:txBody>
        </p:sp>
        <p:sp>
          <p:nvSpPr>
            <p:cNvPr id="141" name="AutoShape 12"/>
            <p:cNvSpPr>
              <a:spLocks noChangeArrowheads="1"/>
            </p:cNvSpPr>
            <p:nvPr/>
          </p:nvSpPr>
          <p:spPr bwMode="auto">
            <a:xfrm>
              <a:off x="2109" y="2205"/>
              <a:ext cx="1769" cy="589"/>
            </a:xfrm>
            <a:prstGeom prst="rightArrow">
              <a:avLst>
                <a:gd name="adj1" fmla="val 50000"/>
                <a:gd name="adj2" fmla="val 7508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Develop tests</a:t>
              </a:r>
            </a:p>
          </p:txBody>
        </p:sp>
        <p:sp>
          <p:nvSpPr>
            <p:cNvPr id="142" name="AutoShape 13"/>
            <p:cNvSpPr>
              <a:spLocks noChangeArrowheads="1"/>
            </p:cNvSpPr>
            <p:nvPr/>
          </p:nvSpPr>
          <p:spPr bwMode="auto">
            <a:xfrm>
              <a:off x="2699" y="3022"/>
              <a:ext cx="544" cy="589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/>
                <a:t>Develop</a:t>
              </a:r>
            </a:p>
            <a:p>
              <a:pPr algn="ctr"/>
              <a:r>
                <a:rPr lang="en-US" sz="1200"/>
                <a:t>tests</a:t>
              </a:r>
            </a:p>
          </p:txBody>
        </p:sp>
        <p:sp>
          <p:nvSpPr>
            <p:cNvPr id="143" name="AutoShape 14"/>
            <p:cNvSpPr>
              <a:spLocks noChangeArrowheads="1"/>
            </p:cNvSpPr>
            <p:nvPr/>
          </p:nvSpPr>
          <p:spPr bwMode="auto">
            <a:xfrm>
              <a:off x="295" y="981"/>
              <a:ext cx="1224" cy="408"/>
            </a:xfrm>
            <a:prstGeom prst="cloudCallout">
              <a:avLst>
                <a:gd name="adj1" fmla="val -26551"/>
                <a:gd name="adj2" fmla="val 2303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n-US"/>
                <a:t>Concept</a:t>
              </a:r>
            </a:p>
          </p:txBody>
        </p:sp>
        <p:sp>
          <p:nvSpPr>
            <p:cNvPr id="144" name="Text Box 15"/>
            <p:cNvSpPr txBox="1">
              <a:spLocks noChangeArrowheads="1"/>
            </p:cNvSpPr>
            <p:nvPr/>
          </p:nvSpPr>
          <p:spPr bwMode="auto">
            <a:xfrm rot="3194848">
              <a:off x="975" y="1751"/>
              <a:ext cx="6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Capture </a:t>
              </a:r>
            </a:p>
            <a:p>
              <a:pPr algn="ctr"/>
              <a:r>
                <a:rPr lang="en-US" sz="1000"/>
                <a:t>Requirements</a:t>
              </a:r>
            </a:p>
          </p:txBody>
        </p:sp>
        <p:sp>
          <p:nvSpPr>
            <p:cNvPr id="145" name="Text Box 16"/>
            <p:cNvSpPr txBox="1">
              <a:spLocks noChangeArrowheads="1"/>
            </p:cNvSpPr>
            <p:nvPr/>
          </p:nvSpPr>
          <p:spPr bwMode="auto">
            <a:xfrm rot="3194848">
              <a:off x="1628" y="2632"/>
              <a:ext cx="65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Design System</a:t>
              </a:r>
            </a:p>
          </p:txBody>
        </p:sp>
        <p:sp>
          <p:nvSpPr>
            <p:cNvPr id="146" name="Text Box 17"/>
            <p:cNvSpPr txBox="1">
              <a:spLocks noChangeArrowheads="1"/>
            </p:cNvSpPr>
            <p:nvPr/>
          </p:nvSpPr>
          <p:spPr bwMode="auto">
            <a:xfrm rot="3194848">
              <a:off x="2307" y="3476"/>
              <a:ext cx="4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Implement</a:t>
              </a:r>
            </a:p>
            <a:p>
              <a:pPr algn="ctr"/>
              <a:r>
                <a:rPr lang="en-US" sz="1000"/>
                <a:t>System</a:t>
              </a:r>
            </a:p>
          </p:txBody>
        </p:sp>
        <p:sp>
          <p:nvSpPr>
            <p:cNvPr id="147" name="Text Box 18"/>
            <p:cNvSpPr txBox="1">
              <a:spLocks noChangeArrowheads="1"/>
            </p:cNvSpPr>
            <p:nvPr/>
          </p:nvSpPr>
          <p:spPr bwMode="auto">
            <a:xfrm rot="-3197139">
              <a:off x="3048" y="3475"/>
              <a:ext cx="5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Component </a:t>
              </a:r>
            </a:p>
            <a:p>
              <a:pPr algn="ctr"/>
              <a:r>
                <a:rPr lang="en-US" sz="1000"/>
                <a:t>Test</a:t>
              </a:r>
            </a:p>
          </p:txBody>
        </p:sp>
        <p:sp>
          <p:nvSpPr>
            <p:cNvPr id="148" name="Text Box 19"/>
            <p:cNvSpPr txBox="1">
              <a:spLocks noChangeArrowheads="1"/>
            </p:cNvSpPr>
            <p:nvPr/>
          </p:nvSpPr>
          <p:spPr bwMode="auto">
            <a:xfrm rot="-3281609">
              <a:off x="3546" y="2583"/>
              <a:ext cx="8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Integration / System</a:t>
              </a:r>
            </a:p>
            <a:p>
              <a:pPr algn="ctr"/>
              <a:r>
                <a:rPr lang="en-US" sz="1000"/>
                <a:t>Test</a:t>
              </a:r>
            </a:p>
          </p:txBody>
        </p:sp>
        <p:sp>
          <p:nvSpPr>
            <p:cNvPr id="149" name="Text Box 20"/>
            <p:cNvSpPr txBox="1">
              <a:spLocks noChangeArrowheads="1"/>
            </p:cNvSpPr>
            <p:nvPr/>
          </p:nvSpPr>
          <p:spPr bwMode="auto">
            <a:xfrm rot="-3281609">
              <a:off x="4316" y="1720"/>
              <a:ext cx="5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/>
                <a:t>Acceptance </a:t>
              </a:r>
            </a:p>
            <a:p>
              <a:pPr algn="ctr"/>
              <a:r>
                <a:rPr lang="en-US" sz="1000"/>
                <a:t>Test</a:t>
              </a:r>
            </a:p>
          </p:txBody>
        </p:sp>
        <p:pic>
          <p:nvPicPr>
            <p:cNvPr id="150" name="Picture 21" descr="j028575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86" y="482"/>
              <a:ext cx="1149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" name="Text Box 22"/>
            <p:cNvSpPr txBox="1">
              <a:spLocks noChangeArrowheads="1"/>
            </p:cNvSpPr>
            <p:nvPr/>
          </p:nvSpPr>
          <p:spPr bwMode="auto">
            <a:xfrm>
              <a:off x="4636" y="1144"/>
              <a:ext cx="5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System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 Levels: A Generic View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1116012" y="1866900"/>
            <a:ext cx="7342187" cy="4559300"/>
            <a:chOff x="313" y="681"/>
            <a:chExt cx="4854" cy="3349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2381" y="1434"/>
              <a:ext cx="726" cy="544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 rot="5400000">
              <a:off x="3243" y="2069"/>
              <a:ext cx="726" cy="544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 rot="16200000" flipH="1">
              <a:off x="1519" y="2070"/>
              <a:ext cx="726" cy="544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 flipV="1">
              <a:off x="2381" y="2795"/>
              <a:ext cx="726" cy="500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109" y="1888"/>
              <a:ext cx="1270" cy="9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Testing Strategy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942" y="1997"/>
              <a:ext cx="1225" cy="6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Integration </a:t>
              </a:r>
            </a:p>
            <a:p>
              <a:pPr algn="ctr"/>
              <a:r>
                <a:rPr lang="en-US"/>
                <a:t>Testing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2109" y="3349"/>
              <a:ext cx="1225" cy="6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Acceptance</a:t>
              </a:r>
            </a:p>
            <a:p>
              <a:pPr algn="ctr"/>
              <a:r>
                <a:rPr lang="en-US"/>
                <a:t>Testing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127" y="681"/>
              <a:ext cx="1225" cy="6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System</a:t>
              </a:r>
            </a:p>
            <a:p>
              <a:pPr algn="ctr"/>
              <a:r>
                <a:rPr lang="en-US"/>
                <a:t>Testing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313" y="1988"/>
              <a:ext cx="1225" cy="6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Unit</a:t>
              </a:r>
            </a:p>
            <a:p>
              <a:pPr algn="ctr"/>
              <a:r>
                <a:rPr lang="en-US"/>
                <a:t>Testing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(Unit) Test</a:t>
            </a:r>
            <a:endParaRPr lang="en-GB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Objective</a:t>
            </a:r>
            <a:r>
              <a:rPr lang="en-US" dirty="0" smtClean="0"/>
              <a:t>: Find bugs, build confidence and reduce risk in the individual pieces of the SUT prior to system integration.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Basis</a:t>
            </a:r>
            <a:r>
              <a:rPr lang="en-US" dirty="0" smtClean="0"/>
              <a:t>: Code, database, </a:t>
            </a:r>
            <a:r>
              <a:rPr lang="en-US" dirty="0" err="1" smtClean="0"/>
              <a:t>reqs</a:t>
            </a:r>
            <a:r>
              <a:rPr lang="en-US" dirty="0" smtClean="0"/>
              <a:t>/design, quality risks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Test types</a:t>
            </a:r>
            <a:r>
              <a:rPr lang="en-US" dirty="0" smtClean="0"/>
              <a:t>: Functionality, resource use, performance, structural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Item-under-test (IUT): </a:t>
            </a:r>
            <a:r>
              <a:rPr lang="en-US" dirty="0" smtClean="0"/>
              <a:t>Smallest independently testable item (function or class).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Harness and tools</a:t>
            </a:r>
            <a:r>
              <a:rPr lang="en-US" dirty="0" smtClean="0"/>
              <a:t>: API level (drivers and stubs), freeware and commercial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Responsible</a:t>
            </a:r>
            <a:r>
              <a:rPr lang="en-US" dirty="0" smtClean="0"/>
              <a:t>: Usually programmers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Unit/Component Test Process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It typically…</a:t>
            </a:r>
          </a:p>
          <a:p>
            <a:pPr lvl="1"/>
            <a:r>
              <a:rPr lang="en-US" sz="2400" dirty="0" smtClean="0"/>
              <a:t>…involves access to the code,</a:t>
            </a:r>
          </a:p>
          <a:p>
            <a:pPr lvl="1"/>
            <a:r>
              <a:rPr lang="en-US" sz="2400" dirty="0" smtClean="0"/>
              <a:t>…is run in a development environment,</a:t>
            </a:r>
          </a:p>
          <a:p>
            <a:pPr lvl="1"/>
            <a:r>
              <a:rPr lang="en-US" sz="2400" dirty="0" smtClean="0"/>
              <a:t>…requires drivers, stubs and/or harness</a:t>
            </a:r>
          </a:p>
          <a:p>
            <a:pPr lvl="1"/>
            <a:r>
              <a:rPr lang="en-US" sz="2400" dirty="0" smtClean="0"/>
              <a:t>…is done by the programmer who wrote the code</a:t>
            </a:r>
          </a:p>
          <a:p>
            <a:r>
              <a:rPr lang="en-US" sz="2800" dirty="0" smtClean="0"/>
              <a:t>Often bugs are fixed upon being found without any reporting which reduces the transparency of the development process with respect to quality.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Testing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8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sz="2000" dirty="0" smtClean="0"/>
              <a:t>Big Bang</a:t>
            </a:r>
          </a:p>
          <a:p>
            <a:pPr lvl="1"/>
            <a:r>
              <a:rPr lang="en-US" sz="1800" dirty="0" smtClean="0"/>
              <a:t>Take all tested modules; put them all together; test.</a:t>
            </a:r>
          </a:p>
          <a:p>
            <a:r>
              <a:rPr lang="en-US" sz="2000" dirty="0" smtClean="0"/>
              <a:t>Bottom up</a:t>
            </a:r>
          </a:p>
          <a:p>
            <a:pPr lvl="1"/>
            <a:r>
              <a:rPr lang="en-US" sz="1800" dirty="0" smtClean="0"/>
              <a:t>Start with bottom layer modules; use appropriate drivers; test</a:t>
            </a:r>
          </a:p>
          <a:p>
            <a:pPr lvl="1"/>
            <a:r>
              <a:rPr lang="en-US" sz="1800" dirty="0" smtClean="0"/>
              <a:t>Repeat process, replacing drivers with modules; until done</a:t>
            </a:r>
          </a:p>
          <a:p>
            <a:pPr lvl="1"/>
            <a:r>
              <a:rPr lang="en-US" sz="1800" dirty="0" smtClean="0"/>
              <a:t>Good bug isolation, but what if nasty problems are at the top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4267200" y="1600200"/>
            <a:ext cx="3657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Top down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Like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bottom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 up, but start from top and use stubs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Good bug isolation, but what if the nasty problems are at the bottom?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Backbone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Start with critical modules; build initial backbone; use driver and stubs; test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Repeat process, replacing stubs and drivers with modules in risk order.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Good isolation and finds integration bugs in risk order</a:t>
            </a:r>
          </a:p>
          <a:p>
            <a:pPr marL="742950" marR="0" lvl="1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solidFill>
                  <a:srgbClr val="FF0000"/>
                </a:solidFill>
              </a:rPr>
              <a:t>Objective</a:t>
            </a:r>
            <a:r>
              <a:rPr lang="en-US" sz="2000" dirty="0" smtClean="0"/>
              <a:t>: Find bugs, build confidence, and reduce risk in the overall and particular behaviors, functions and responses of the SUT as a whole.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Basis</a:t>
            </a:r>
            <a:r>
              <a:rPr lang="en-US" sz="2000" dirty="0" smtClean="0"/>
              <a:t>: Requirements, high-level design, use cases, quality risks, experience, checklists, environments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Test types</a:t>
            </a:r>
            <a:r>
              <a:rPr lang="en-US" sz="2000" dirty="0" smtClean="0"/>
              <a:t>: Functionality, security, performance, reliability, usability, portability, etc.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IUT</a:t>
            </a:r>
            <a:r>
              <a:rPr lang="en-US" sz="2000" dirty="0" smtClean="0"/>
              <a:t>: Whole system, in as realistic as possible test environment.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Harnesses and tools</a:t>
            </a:r>
            <a:r>
              <a:rPr lang="en-US" sz="2000" dirty="0" smtClean="0"/>
              <a:t>: API, CLI or GUI, freeware and commercial.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Responsible</a:t>
            </a:r>
            <a:r>
              <a:rPr lang="en-US" sz="2000" dirty="0" smtClean="0"/>
              <a:t>: Typically independent testers.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350" y="1417638"/>
            <a:ext cx="8229600" cy="5121275"/>
          </a:xfrm>
        </p:spPr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System testing investigate both functional and non functional requirements of a system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Effective system testing needs to be executed without unit or integration defects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Testers need to deal with incomplete or undocumented requirements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System testing investigate both functional and non-functional requirements of system.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>
                <a:solidFill>
                  <a:srgbClr val="FF0000"/>
                </a:solidFill>
              </a:rPr>
              <a:t>Functional Requirement Test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Specification-Based (black box) decision table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Security test : to detect threat from outside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>
                <a:solidFill>
                  <a:srgbClr val="FF0000"/>
                </a:solidFill>
              </a:rPr>
              <a:t>Non-functional Requirement test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Structure based techniques – to assess the thoroughness of menu structure or web page navigation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dirty="0" smtClean="0"/>
              <a:t>Performance test, usability test, reliability test etc</a:t>
            </a:r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Acceptance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Objective</a:t>
            </a:r>
            <a:r>
              <a:rPr lang="en-US" dirty="0" smtClean="0"/>
              <a:t>: Demonstrate that the product is ready for deployment.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Basis</a:t>
            </a:r>
            <a:r>
              <a:rPr lang="en-US" dirty="0" smtClean="0"/>
              <a:t>: Requirements, contracts, experience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Test types</a:t>
            </a:r>
            <a:r>
              <a:rPr lang="en-US" dirty="0" smtClean="0"/>
              <a:t>: Functional, portability, performance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IUT</a:t>
            </a:r>
            <a:r>
              <a:rPr lang="en-US" dirty="0" smtClean="0"/>
              <a:t>: Whole systems, sometime in the production or customer environment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Harnesses and tools</a:t>
            </a:r>
            <a:r>
              <a:rPr lang="en-US" dirty="0" smtClean="0"/>
              <a:t>: GUI usually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Responsibility</a:t>
            </a:r>
            <a:r>
              <a:rPr lang="en-US" dirty="0" smtClean="0"/>
              <a:t>: Often users or customers but also independent testers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Chapter 8 Verification and Validation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Variations in Acceptance Testing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/>
              <a:t>Typical forms of acceptance test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User acceptance testing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Operational </a:t>
            </a:r>
            <a:r>
              <a:rPr lang="en-US" sz="1900" dirty="0" smtClean="0"/>
              <a:t> (acceptance testing)‏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/>
              <a:t>Testing of backup/restore, disaster recovery, user management, maintenance task, periodic checks of security vulnerabilities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Contract and regulation acceptance testing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/>
              <a:t>Acceptance criteria should be defined when the contract is agreed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/>
              <a:t>Regulation acceptance testing is performed against any regulations that must be adhered to, such as governmental, legal or safety regulations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Alpha Testing &amp; Beta Testing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/>
              <a:t>Factory acceptance testing (alpha) and site acceptance testing (beta)‏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Variations in Acceptance Testing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3786554" cy="4756150"/>
          </a:xfrm>
        </p:spPr>
        <p:txBody>
          <a:bodyPr/>
          <a:lstStyle/>
          <a:p>
            <a:pPr marL="457200" lvl="1" indent="-363538"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Alpha Testing</a:t>
            </a:r>
            <a:endParaRPr lang="en-US" sz="1900" dirty="0" smtClean="0">
              <a:solidFill>
                <a:srgbClr val="FF0000"/>
              </a:solidFill>
            </a:endParaRPr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/>
              <a:t>type of software testing performed to identify bugs before releasing the product to real users or to the </a:t>
            </a:r>
            <a:r>
              <a:rPr lang="en-MY" dirty="0" smtClean="0"/>
              <a:t>public</a:t>
            </a:r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/>
              <a:t>involves both the white box and black box </a:t>
            </a:r>
            <a:r>
              <a:rPr lang="en-MY" dirty="0" smtClean="0"/>
              <a:t>testing</a:t>
            </a:r>
            <a:endParaRPr lang="en-MY" dirty="0"/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/>
              <a:t>performed at developer’s site</a:t>
            </a:r>
            <a:r>
              <a:rPr lang="en-MY" dirty="0" smtClean="0"/>
              <a:t>.</a:t>
            </a:r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MY" dirty="0" smtClean="0"/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 smtClean="0"/>
              <a:t>Reliability </a:t>
            </a:r>
            <a:r>
              <a:rPr lang="en-MY" dirty="0"/>
              <a:t>and security testing are not checked </a:t>
            </a:r>
            <a:endParaRPr lang="en-MY" dirty="0" smtClean="0"/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MY" dirty="0" smtClean="0"/>
          </a:p>
          <a:p>
            <a:pPr marL="539750" lvl="2" indent="-446088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 smtClean="0"/>
              <a:t>ensures </a:t>
            </a:r>
            <a:r>
              <a:rPr lang="en-MY" dirty="0"/>
              <a:t>the quality of the product before forwarding to beta testing</a:t>
            </a:r>
            <a:endParaRPr lang="en-MY" dirty="0" smtClean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>
          <a:xfrm>
            <a:off x="4659923" y="1600200"/>
            <a:ext cx="3786554" cy="475615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62" lvl="2" indent="0">
              <a:buFont typeface="Aria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dirty="0" smtClean="0">
                <a:solidFill>
                  <a:srgbClr val="FF0000"/>
                </a:solidFill>
              </a:rPr>
              <a:t>Beta Testing</a:t>
            </a:r>
          </a:p>
          <a:p>
            <a:pPr marL="436562" lvl="2" indent="-3429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 smtClean="0"/>
              <a:t>performed by real users of the software application in a real environment</a:t>
            </a:r>
          </a:p>
          <a:p>
            <a:pPr marL="436562" lvl="2" indent="-3429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MY" dirty="0" smtClean="0"/>
          </a:p>
          <a:p>
            <a:pPr marL="436562" lvl="2" indent="-3429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 smtClean="0"/>
              <a:t>commonly uses black box testing.</a:t>
            </a:r>
          </a:p>
          <a:p>
            <a:pPr marL="436562" lvl="2" indent="-3429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 smtClean="0"/>
              <a:t>performed </a:t>
            </a:r>
            <a:r>
              <a:rPr lang="en-MY" dirty="0"/>
              <a:t>at end-user of the </a:t>
            </a:r>
            <a:r>
              <a:rPr lang="en-MY" dirty="0" smtClean="0"/>
              <a:t>product</a:t>
            </a:r>
          </a:p>
          <a:p>
            <a:pPr marL="436562" lvl="2" indent="-3429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MY" dirty="0"/>
              <a:t>Reliability, security and robustness are checked during beta testing</a:t>
            </a:r>
            <a:endParaRPr lang="en-US" sz="1900" dirty="0" smtClean="0">
              <a:solidFill>
                <a:schemeClr val="tx1"/>
              </a:solidFill>
            </a:endParaRPr>
          </a:p>
          <a:p>
            <a:pPr marL="914400" lvl="2" indent="0">
              <a:buFont typeface="Aria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65228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05100"/>
            <a:ext cx="7293232" cy="1143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Testing Types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Comparing Test Types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  <p:graphicFrame>
        <p:nvGraphicFramePr>
          <p:cNvPr id="7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5820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>
                <a:solidFill>
                  <a:schemeClr val="tx2">
                    <a:satMod val="200000"/>
                  </a:schemeClr>
                </a:solidFill>
              </a:rPr>
              <a:t>Test Types</a:t>
            </a:r>
            <a:endParaRPr lang="en-GB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17351" y="1417638"/>
            <a:ext cx="8229600" cy="4525963"/>
          </a:xfrm>
          <a:noFill/>
        </p:spPr>
        <p:txBody>
          <a:bodyPr lIns="90840" tIns="44623" rIns="90840" bIns="44623"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 smtClean="0">
                <a:solidFill>
                  <a:srgbClr val="FF0000"/>
                </a:solidFill>
              </a:rPr>
              <a:t>Functional Testing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Functional testing considers the external behavior of the software (i.e. black-box testing)‏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 smtClean="0">
                <a:solidFill>
                  <a:srgbClr val="FF0000"/>
                </a:solidFill>
              </a:rPr>
              <a:t>Non-Functional Testing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It is testing of “how” the system works. Such as performance testing, usability testing etc (ISO/IEC9126)‏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 smtClean="0">
                <a:solidFill>
                  <a:srgbClr val="FF0000"/>
                </a:solidFill>
              </a:rPr>
              <a:t>Structural Testing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It may be based on the architecture of software or the system (i.e. white-box testing)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 smtClean="0">
                <a:solidFill>
                  <a:srgbClr val="FF0000"/>
                </a:solidFill>
              </a:rPr>
              <a:t>Confirmation Testing and regression testing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After modification, to confirm that the original defect has been successfully removed and to discover any defects introduced or uncovered as a result of the change(s).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White-box vs. Black-box</a:t>
            </a:r>
            <a:endParaRPr lang="en-GB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>
                <a:solidFill>
                  <a:srgbClr val="FF0000"/>
                </a:solidFill>
              </a:rPr>
              <a:t>White Box Testing</a:t>
            </a:r>
          </a:p>
          <a:p>
            <a:pPr lvl="1"/>
            <a:r>
              <a:rPr lang="en-MY" dirty="0"/>
              <a:t>software testing method in which the internal structure/ design/ implementation of the item being tested is known to the tester</a:t>
            </a:r>
            <a:r>
              <a:rPr lang="en-MY" dirty="0" smtClean="0"/>
              <a:t>.</a:t>
            </a:r>
          </a:p>
          <a:p>
            <a:pPr lvl="1"/>
            <a:r>
              <a:rPr lang="en-MY" dirty="0"/>
              <a:t>mostly done by software </a:t>
            </a:r>
            <a:r>
              <a:rPr lang="en-MY" dirty="0" smtClean="0"/>
              <a:t>developers</a:t>
            </a:r>
          </a:p>
          <a:p>
            <a:pPr lvl="1"/>
            <a:r>
              <a:rPr lang="en-MY" dirty="0"/>
              <a:t>Knowledge of implementation is </a:t>
            </a:r>
            <a:r>
              <a:rPr lang="en-MY" dirty="0" smtClean="0"/>
              <a:t>required</a:t>
            </a:r>
          </a:p>
          <a:p>
            <a:pPr lvl="1"/>
            <a:r>
              <a:rPr lang="en-MY" dirty="0"/>
              <a:t>It is structural test of the software</a:t>
            </a:r>
            <a:r>
              <a:rPr lang="en-MY" dirty="0" smtClean="0"/>
              <a:t>.</a:t>
            </a:r>
          </a:p>
          <a:p>
            <a:pPr lvl="1"/>
            <a:r>
              <a:rPr lang="en-MY" dirty="0"/>
              <a:t>It is generally applicable to the lower levels of software testing.</a:t>
            </a:r>
            <a:endParaRPr lang="en-US" dirty="0" smtClean="0"/>
          </a:p>
          <a:p>
            <a:pPr lvl="1"/>
            <a:r>
              <a:rPr lang="en-US" dirty="0" smtClean="0"/>
              <a:t>test </a:t>
            </a:r>
            <a:r>
              <a:rPr lang="en-US" dirty="0" smtClean="0"/>
              <a:t>various paths through software; if exhaustive testing is impossible, test high-risk </a:t>
            </a:r>
            <a:r>
              <a:rPr lang="en-US" dirty="0" smtClean="0"/>
              <a:t>paths</a:t>
            </a:r>
          </a:p>
          <a:p>
            <a:pPr lvl="1"/>
            <a:endParaRPr lang="en-US" dirty="0"/>
          </a:p>
          <a:p>
            <a:pPr lvl="1"/>
            <a:r>
              <a:rPr lang="en-MY" dirty="0"/>
              <a:t>Example: by input to check and verify loops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White-box vs. Black-box</a:t>
            </a:r>
            <a:endParaRPr lang="en-GB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56150"/>
          </a:xfrm>
          <a:noFill/>
        </p:spPr>
        <p:txBody>
          <a:bodyPr lIns="90840" tIns="44623" rIns="90840" bIns="44623"/>
          <a:lstStyle/>
          <a:p>
            <a:r>
              <a:rPr lang="en-US" dirty="0" smtClean="0">
                <a:solidFill>
                  <a:srgbClr val="FF0000"/>
                </a:solidFill>
              </a:rPr>
              <a:t>Black </a:t>
            </a:r>
            <a:r>
              <a:rPr lang="en-US" dirty="0" smtClean="0">
                <a:solidFill>
                  <a:srgbClr val="FF0000"/>
                </a:solidFill>
              </a:rPr>
              <a:t>Box Testing</a:t>
            </a:r>
          </a:p>
          <a:p>
            <a:pPr lvl="1"/>
            <a:r>
              <a:rPr lang="en-MY" dirty="0"/>
              <a:t>is a software testing method in which the internal structure/ design/ implementation of the item being tested is not known to the </a:t>
            </a:r>
            <a:r>
              <a:rPr lang="en-MY" dirty="0" smtClean="0"/>
              <a:t>tester</a:t>
            </a:r>
          </a:p>
          <a:p>
            <a:pPr lvl="1"/>
            <a:r>
              <a:rPr lang="en-US" dirty="0" smtClean="0"/>
              <a:t>knowing </a:t>
            </a:r>
            <a:r>
              <a:rPr lang="en-US" b="1" dirty="0" smtClean="0"/>
              <a:t>functions</a:t>
            </a:r>
            <a:r>
              <a:rPr lang="en-US" dirty="0" smtClean="0"/>
              <a:t> to be performed and testing whether these are performed properly</a:t>
            </a:r>
          </a:p>
          <a:p>
            <a:pPr lvl="1"/>
            <a:r>
              <a:rPr lang="en-US" dirty="0" smtClean="0"/>
              <a:t>test </a:t>
            </a:r>
            <a:r>
              <a:rPr lang="en-US" dirty="0" smtClean="0"/>
              <a:t>cases designed from user </a:t>
            </a:r>
            <a:r>
              <a:rPr lang="en-US" dirty="0" smtClean="0"/>
              <a:t>requirements</a:t>
            </a:r>
          </a:p>
          <a:p>
            <a:pPr lvl="1"/>
            <a:r>
              <a:rPr lang="en-MY" dirty="0"/>
              <a:t>mostly done by software </a:t>
            </a:r>
            <a:r>
              <a:rPr lang="en-MY" dirty="0" smtClean="0"/>
              <a:t>testers</a:t>
            </a:r>
          </a:p>
          <a:p>
            <a:pPr lvl="1"/>
            <a:r>
              <a:rPr lang="en-MY" dirty="0"/>
              <a:t>No knowledge of implementation is </a:t>
            </a:r>
            <a:r>
              <a:rPr lang="en-MY" dirty="0" smtClean="0"/>
              <a:t>needed</a:t>
            </a:r>
          </a:p>
          <a:p>
            <a:pPr lvl="1"/>
            <a:r>
              <a:rPr lang="en-MY" dirty="0"/>
              <a:t>applicable to the higher levels of testing of software.</a:t>
            </a:r>
            <a:endParaRPr lang="en-US" dirty="0" smtClean="0"/>
          </a:p>
          <a:p>
            <a:pPr lvl="1"/>
            <a:r>
              <a:rPr lang="en-US" dirty="0" smtClean="0"/>
              <a:t>appropriate at Integration, Systems and Acceptance testing </a:t>
            </a:r>
            <a:r>
              <a:rPr lang="en-US" dirty="0" smtClean="0"/>
              <a:t>levels</a:t>
            </a:r>
          </a:p>
          <a:p>
            <a:pPr lvl="1"/>
            <a:r>
              <a:rPr lang="en-MY" dirty="0"/>
              <a:t>Example: search </a:t>
            </a:r>
            <a:r>
              <a:rPr lang="en-MY" dirty="0" smtClean="0"/>
              <a:t>by </a:t>
            </a:r>
            <a:r>
              <a:rPr lang="en-MY" dirty="0"/>
              <a:t>using keywords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688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Key Points</a:t>
            </a:r>
            <a:endParaRPr lang="en-GB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840" tIns="44623" rIns="90840" bIns="44623"/>
          <a:lstStyle/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Software Verification and Validation (V&amp;V) is a software engineering practice that provides confidence that the system was built adequately and will meet the needs of the system.</a:t>
            </a:r>
          </a:p>
          <a:p>
            <a:r>
              <a:rPr lang="en-US" dirty="0" smtClean="0"/>
              <a:t>Software verification is a process of evaluating software to determine whether the products of a given development phase satisfy the conditions imposed at the start of that phase - </a:t>
            </a:r>
            <a:r>
              <a:rPr lang="en-GB" dirty="0" smtClean="0"/>
              <a:t>Are we building the product right?</a:t>
            </a:r>
          </a:p>
          <a:p>
            <a:pPr marL="420624" indent="-384048" algn="just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Software validation is a process of evaluating software during or at the end of the development process to determine whether it satisfies specified requirements - A</a:t>
            </a:r>
            <a:r>
              <a:rPr lang="en-GB" dirty="0" smtClean="0"/>
              <a:t>re we building the right product?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Key Points</a:t>
            </a:r>
            <a:endParaRPr lang="en-GB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US" dirty="0" smtClean="0"/>
              <a:t>V&amp;V must be applied at each stage in the software process.</a:t>
            </a:r>
          </a:p>
          <a:p>
            <a:r>
              <a:rPr lang="en-US" dirty="0" smtClean="0"/>
              <a:t>There are 4 testing strategies:</a:t>
            </a:r>
          </a:p>
          <a:p>
            <a:pPr lvl="1"/>
            <a:r>
              <a:rPr lang="en-US" dirty="0" smtClean="0"/>
              <a:t>Component (unit) testing</a:t>
            </a:r>
          </a:p>
          <a:p>
            <a:pPr lvl="1"/>
            <a:r>
              <a:rPr lang="en-US" dirty="0" smtClean="0"/>
              <a:t>Integration testing</a:t>
            </a:r>
          </a:p>
          <a:p>
            <a:pPr lvl="1"/>
            <a:r>
              <a:rPr lang="en-US" dirty="0" smtClean="0"/>
              <a:t>System testing</a:t>
            </a:r>
          </a:p>
          <a:p>
            <a:pPr lvl="1"/>
            <a:r>
              <a:rPr lang="en-US" dirty="0" smtClean="0"/>
              <a:t>Acceptance testing</a:t>
            </a:r>
          </a:p>
          <a:p>
            <a:pPr lvl="2"/>
            <a:r>
              <a:rPr lang="en-US" dirty="0" smtClean="0"/>
              <a:t>User acceptance testing</a:t>
            </a:r>
          </a:p>
          <a:p>
            <a:pPr lvl="2"/>
            <a:r>
              <a:rPr lang="en-US" dirty="0" smtClean="0"/>
              <a:t>Operational testing</a:t>
            </a:r>
          </a:p>
          <a:p>
            <a:pPr lvl="2"/>
            <a:r>
              <a:rPr lang="en-US" dirty="0" smtClean="0"/>
              <a:t>Contract and regulation acceptance testing</a:t>
            </a:r>
          </a:p>
          <a:p>
            <a:pPr lvl="2"/>
            <a:r>
              <a:rPr lang="en-US" dirty="0" smtClean="0"/>
              <a:t>Alpha testing and beta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5B8D-1C36-1C40-961B-CAAB1DD98B2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8 Software testing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SE9.thmx</Template>
  <TotalTime>1351</TotalTime>
  <Words>2818</Words>
  <Application>Microsoft Office PowerPoint</Application>
  <PresentationFormat>On-screen Show (4:3)</PresentationFormat>
  <Paragraphs>409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ＭＳ Ｐゴシック</vt:lpstr>
      <vt:lpstr>Arial</vt:lpstr>
      <vt:lpstr>Calibri</vt:lpstr>
      <vt:lpstr>Formata Regular</vt:lpstr>
      <vt:lpstr>Wingdings</vt:lpstr>
      <vt:lpstr>Wingdings 2</vt:lpstr>
      <vt:lpstr>SE9</vt:lpstr>
      <vt:lpstr>Chapter 8 – Verification and Validation</vt:lpstr>
      <vt:lpstr>Learning Objectives</vt:lpstr>
      <vt:lpstr>Topics covered</vt:lpstr>
      <vt:lpstr>Introduction</vt:lpstr>
      <vt:lpstr>Why V&amp;V?</vt:lpstr>
      <vt:lpstr>Why V&amp;V</vt:lpstr>
      <vt:lpstr>Software Verification and Validation</vt:lpstr>
      <vt:lpstr>Software Verification</vt:lpstr>
      <vt:lpstr>Software Validation</vt:lpstr>
      <vt:lpstr>Verification or Validation? </vt:lpstr>
      <vt:lpstr>The Role of V&amp;V in Software Evolution</vt:lpstr>
      <vt:lpstr>The Role of V&amp;V in Software Evolution</vt:lpstr>
      <vt:lpstr>The V&amp;V Approach</vt:lpstr>
      <vt:lpstr>The Process of Software V&amp;V </vt:lpstr>
      <vt:lpstr>The Goal of Software V&amp;V</vt:lpstr>
      <vt:lpstr>The V&amp;V Confidence</vt:lpstr>
      <vt:lpstr>Verification Technique</vt:lpstr>
      <vt:lpstr>Verification Technique</vt:lpstr>
      <vt:lpstr>Static and dynamic V&amp;V</vt:lpstr>
      <vt:lpstr>Validation Technique</vt:lpstr>
      <vt:lpstr>Program Testing</vt:lpstr>
      <vt:lpstr>Types of testing</vt:lpstr>
      <vt:lpstr>Testing and debugging</vt:lpstr>
      <vt:lpstr>The Debugging Process</vt:lpstr>
      <vt:lpstr>The V-model of development</vt:lpstr>
      <vt:lpstr>Software Testing Levels: A Generic View</vt:lpstr>
      <vt:lpstr>Component (Unit) Test</vt:lpstr>
      <vt:lpstr>Unit/Component Test Process</vt:lpstr>
      <vt:lpstr>Integration Testing</vt:lpstr>
      <vt:lpstr>System Test</vt:lpstr>
      <vt:lpstr>System Testing</vt:lpstr>
      <vt:lpstr>Acceptance Test</vt:lpstr>
      <vt:lpstr>Variations in Acceptance Testing</vt:lpstr>
      <vt:lpstr>Variations in Acceptance Testing</vt:lpstr>
      <vt:lpstr>Testing Types</vt:lpstr>
      <vt:lpstr>Comparing Test Types</vt:lpstr>
      <vt:lpstr>Test Types</vt:lpstr>
      <vt:lpstr>White-box vs. Black-box</vt:lpstr>
      <vt:lpstr>White-box vs. Black-box</vt:lpstr>
      <vt:lpstr>Key Points</vt:lpstr>
      <vt:lpstr>Key Points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8</dc:title>
  <dc:creator>Ian Sommerville</dc:creator>
  <cp:lastModifiedBy>iDEC</cp:lastModifiedBy>
  <cp:revision>45</cp:revision>
  <dcterms:created xsi:type="dcterms:W3CDTF">2010-01-14T08:17:23Z</dcterms:created>
  <dcterms:modified xsi:type="dcterms:W3CDTF">2019-12-10T01:33:40Z</dcterms:modified>
</cp:coreProperties>
</file>
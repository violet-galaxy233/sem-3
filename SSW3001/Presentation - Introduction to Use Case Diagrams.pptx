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ooper BT Light" panose="020B0604020202020204" charset="0"/>
      <p:regular r:id="rId11"/>
    </p:embeddedFont>
    <p:embeddedFont>
      <p:font typeface="Cooper BT Medium" panose="020B0604020202020204" charset="0"/>
      <p:regular r:id="rId12"/>
    </p:embeddedFont>
    <p:embeddedFont>
      <p:font typeface="TT Interphases" panose="020B0604020202020204" charset="0"/>
      <p:regular r:id="rId13"/>
    </p:embeddedFont>
    <p:embeddedFont>
      <p:font typeface="TT Interphase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11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F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AD7E0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66750"/>
            <a:ext cx="8324850" cy="5398824"/>
            <a:chOff x="0" y="0"/>
            <a:chExt cx="11099800" cy="7198432"/>
          </a:xfrm>
        </p:grpSpPr>
        <p:sp>
          <p:nvSpPr>
            <p:cNvPr id="6" name="TextBox 6"/>
            <p:cNvSpPr txBox="1"/>
            <p:nvPr/>
          </p:nvSpPr>
          <p:spPr>
            <a:xfrm>
              <a:off x="0" y="6680272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</a:pPr>
              <a:r>
                <a:rPr lang="en-US" sz="2399" spc="-47">
                  <a:solidFill>
                    <a:srgbClr val="CAD7E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Understanding System Modeling Concepts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28600"/>
              <a:ext cx="11099800" cy="59901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499"/>
                </a:lnSpc>
              </a:pPr>
              <a:r>
                <a:rPr lang="en-US" sz="11499" spc="-229">
                  <a:solidFill>
                    <a:srgbClr val="CAD7E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Introduction to Use Case Diagrams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AD7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27917" y="838200"/>
            <a:ext cx="14055058" cy="219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8499" u="none" strike="noStrike" spc="-169">
                <a:solidFill>
                  <a:srgbClr val="2F4F6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Key Components of Use Case Diagrams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4248150"/>
            <a:ext cx="5448300" cy="5372100"/>
            <a:chOff x="0" y="0"/>
            <a:chExt cx="1434943" cy="14148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4943" cy="1414874"/>
            </a:xfrm>
            <a:custGeom>
              <a:avLst/>
              <a:gdLst/>
              <a:ahLst/>
              <a:cxnLst/>
              <a:rect l="l" t="t" r="r" b="b"/>
              <a:pathLst>
                <a:path w="1434943" h="141487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2F4F6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3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19850" y="4248150"/>
            <a:ext cx="5448300" cy="5372100"/>
            <a:chOff x="0" y="0"/>
            <a:chExt cx="1434943" cy="14148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4943" cy="1414874"/>
            </a:xfrm>
            <a:custGeom>
              <a:avLst/>
              <a:gdLst/>
              <a:ahLst/>
              <a:cxnLst/>
              <a:rect l="l" t="t" r="r" b="b"/>
              <a:pathLst>
                <a:path w="1434943" h="141487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2F4F6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3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72950" y="4248150"/>
            <a:ext cx="5448300" cy="5372100"/>
            <a:chOff x="0" y="0"/>
            <a:chExt cx="1434943" cy="14148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4943" cy="1414874"/>
            </a:xfrm>
            <a:custGeom>
              <a:avLst/>
              <a:gdLst/>
              <a:ahLst/>
              <a:cxnLst/>
              <a:rect l="l" t="t" r="r" b="b"/>
              <a:pathLst>
                <a:path w="1434943" h="141487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2F4F6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35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892088" y="6009427"/>
            <a:ext cx="4010025" cy="273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81"/>
              </a:lnSpc>
              <a:spcBef>
                <a:spcPct val="0"/>
              </a:spcBef>
            </a:pPr>
            <a:r>
              <a:rPr lang="en-US" sz="2370" u="none" strike="noStrike" spc="-47">
                <a:solidFill>
                  <a:srgbClr val="CAD7E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system boundary delineates what is included in the system versus what is external. It visually defines the </a:t>
            </a:r>
            <a:r>
              <a:rPr lang="en-US" sz="2370" b="1" u="none" strike="noStrike" spc="-47">
                <a:solidFill>
                  <a:srgbClr val="CAD7E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scope of the system</a:t>
            </a:r>
            <a:r>
              <a:rPr lang="en-US" sz="2370" u="none" strike="noStrike" spc="-47">
                <a:solidFill>
                  <a:srgbClr val="CAD7E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aiding in understanding its limits and interactions.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92088" y="5114925"/>
            <a:ext cx="401002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A0B8CC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System Boundary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8038" y="6399898"/>
            <a:ext cx="3971925" cy="2341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81"/>
              </a:lnSpc>
              <a:spcBef>
                <a:spcPct val="0"/>
              </a:spcBef>
            </a:pPr>
            <a:r>
              <a:rPr lang="en-US" sz="2370" u="none" strike="noStrike" spc="-47">
                <a:solidFill>
                  <a:srgbClr val="CAD7E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Use cases define the </a:t>
            </a:r>
            <a:r>
              <a:rPr lang="en-US" sz="2370" b="1" u="none" strike="noStrike" spc="-47">
                <a:solidFill>
                  <a:srgbClr val="CAD7E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specific actions</a:t>
            </a:r>
            <a:r>
              <a:rPr lang="en-US" sz="2370" u="none" strike="noStrike" spc="-47">
                <a:solidFill>
                  <a:srgbClr val="CAD7E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or tasks that actors can perform. Each use case describes a scenario, demonstrating how the system responds to actor interactions.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58038" y="5114979"/>
            <a:ext cx="397192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A0B8CC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Use Cases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85887" y="6399952"/>
            <a:ext cx="4010025" cy="2341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81"/>
              </a:lnSpc>
              <a:spcBef>
                <a:spcPct val="0"/>
              </a:spcBef>
            </a:pPr>
            <a:r>
              <a:rPr lang="en-US" sz="2370" u="none" strike="noStrike" spc="-47">
                <a:solidFill>
                  <a:srgbClr val="CAD7E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Actors represent </a:t>
            </a:r>
            <a:r>
              <a:rPr lang="en-US" sz="2370" b="1" u="none" strike="noStrike" spc="-47">
                <a:solidFill>
                  <a:srgbClr val="CAD7E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users or systems</a:t>
            </a:r>
            <a:r>
              <a:rPr lang="en-US" sz="2370" u="none" strike="noStrike" spc="-47">
                <a:solidFill>
                  <a:srgbClr val="CAD7E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that interact with the application. They can be external entities that trigger use cases, showcasing their roles within the system.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85887" y="5114925"/>
            <a:ext cx="401002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A0B8CC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Actors</a:t>
            </a:r>
          </a:p>
        </p:txBody>
      </p:sp>
      <p:sp>
        <p:nvSpPr>
          <p:cNvPr id="18" name="Freeform 18"/>
          <p:cNvSpPr/>
          <p:nvPr/>
        </p:nvSpPr>
        <p:spPr>
          <a:xfrm rot="10445243" flipH="1">
            <a:off x="-689073" y="5800140"/>
            <a:ext cx="1876083" cy="1497455"/>
          </a:xfrm>
          <a:custGeom>
            <a:avLst/>
            <a:gdLst/>
            <a:ahLst/>
            <a:cxnLst/>
            <a:rect l="l" t="t" r="r" b="b"/>
            <a:pathLst>
              <a:path w="1876083" h="1497455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F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73009" y="666750"/>
            <a:ext cx="9148241" cy="8953500"/>
            <a:chOff x="0" y="0"/>
            <a:chExt cx="240941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9413" cy="2358124"/>
            </a:xfrm>
            <a:custGeom>
              <a:avLst/>
              <a:gdLst/>
              <a:ahLst/>
              <a:cxnLst/>
              <a:rect l="l" t="t" r="r" b="b"/>
              <a:pathLst>
                <a:path w="2409413" h="2358124">
                  <a:moveTo>
                    <a:pt x="33851" y="0"/>
                  </a:moveTo>
                  <a:lnTo>
                    <a:pt x="2375562" y="0"/>
                  </a:lnTo>
                  <a:cubicBezTo>
                    <a:pt x="2394258" y="0"/>
                    <a:pt x="2409413" y="15156"/>
                    <a:pt x="2409413" y="33851"/>
                  </a:cubicBezTo>
                  <a:lnTo>
                    <a:pt x="2409413" y="2324272"/>
                  </a:lnTo>
                  <a:cubicBezTo>
                    <a:pt x="2409413" y="2342968"/>
                    <a:pt x="2394258" y="2358124"/>
                    <a:pt x="2375562" y="2358124"/>
                  </a:cubicBezTo>
                  <a:lnTo>
                    <a:pt x="33851" y="2358124"/>
                  </a:lnTo>
                  <a:cubicBezTo>
                    <a:pt x="24873" y="2358124"/>
                    <a:pt x="16263" y="2354557"/>
                    <a:pt x="9915" y="2348209"/>
                  </a:cubicBezTo>
                  <a:cubicBezTo>
                    <a:pt x="3566" y="2341861"/>
                    <a:pt x="0" y="2333250"/>
                    <a:pt x="0" y="2324272"/>
                  </a:cubicBezTo>
                  <a:lnTo>
                    <a:pt x="0" y="33851"/>
                  </a:lnTo>
                  <a:cubicBezTo>
                    <a:pt x="0" y="15156"/>
                    <a:pt x="15156" y="0"/>
                    <a:pt x="33851" y="0"/>
                  </a:cubicBezTo>
                  <a:close/>
                </a:path>
              </a:pathLst>
            </a:custGeom>
            <a:solidFill>
              <a:srgbClr val="CAD7E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409413" cy="2386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2362201"/>
            <a:chOff x="0" y="0"/>
            <a:chExt cx="9182100" cy="3149601"/>
          </a:xfrm>
        </p:grpSpPr>
        <p:sp>
          <p:nvSpPr>
            <p:cNvPr id="6" name="TextBox 6"/>
            <p:cNvSpPr txBox="1"/>
            <p:nvPr/>
          </p:nvSpPr>
          <p:spPr>
            <a:xfrm>
              <a:off x="0" y="2110741"/>
              <a:ext cx="91821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4F6B81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Understanding connections in Use Case Diagrams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71450"/>
              <a:ext cx="9182100" cy="15515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99"/>
                </a:lnSpc>
                <a:spcBef>
                  <a:spcPct val="0"/>
                </a:spcBef>
              </a:pPr>
              <a:r>
                <a:rPr lang="en-US" sz="8499" u="none" strike="noStrike" spc="-169">
                  <a:solidFill>
                    <a:srgbClr val="CAD7E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Relationships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1562100"/>
            <a:ext cx="6886575" cy="1294130"/>
            <a:chOff x="0" y="0"/>
            <a:chExt cx="9182100" cy="1725506"/>
          </a:xfrm>
        </p:grpSpPr>
        <p:sp>
          <p:nvSpPr>
            <p:cNvPr id="9" name="TextBox 9"/>
            <p:cNvSpPr txBox="1"/>
            <p:nvPr/>
          </p:nvSpPr>
          <p:spPr>
            <a:xfrm>
              <a:off x="0" y="-28575"/>
              <a:ext cx="91821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4F6B81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Association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86646"/>
              <a:ext cx="91821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F4F6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Represents direct interactions between actors and use cases.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3354706"/>
            <a:ext cx="6886575" cy="903605"/>
            <a:chOff x="0" y="0"/>
            <a:chExt cx="9182100" cy="120480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28575"/>
              <a:ext cx="91821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4F6B81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Include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686646"/>
              <a:ext cx="91821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F4F6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Specifies that a use case contains another use case.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44135"/>
            <a:ext cx="6886575" cy="903605"/>
            <a:chOff x="0" y="0"/>
            <a:chExt cx="9182100" cy="1204806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28575"/>
              <a:ext cx="91821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4F6B81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Extend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686646"/>
              <a:ext cx="91821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F4F6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Adds optional behavior that enhances a use case.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96400" y="6933565"/>
            <a:ext cx="6886575" cy="903605"/>
            <a:chOff x="0" y="0"/>
            <a:chExt cx="9182100" cy="120480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28575"/>
              <a:ext cx="91821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 dirty="0">
                  <a:solidFill>
                    <a:srgbClr val="4F6B81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Generalization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686646"/>
              <a:ext cx="91821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F4F6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Depicts a hierarchy between actors or use cases.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-700808" y="6607510"/>
            <a:ext cx="3459016" cy="4461104"/>
          </a:xfrm>
          <a:custGeom>
            <a:avLst/>
            <a:gdLst/>
            <a:ahLst/>
            <a:cxnLst/>
            <a:rect l="l" t="t" r="r" b="b"/>
            <a:pathLst>
              <a:path w="3459016" h="4461104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AD7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5113020"/>
            <a:chOff x="0" y="0"/>
            <a:chExt cx="11099800" cy="6817360"/>
          </a:xfrm>
        </p:grpSpPr>
        <p:sp>
          <p:nvSpPr>
            <p:cNvPr id="3" name="TextBox 3"/>
            <p:cNvSpPr txBox="1"/>
            <p:nvPr/>
          </p:nvSpPr>
          <p:spPr>
            <a:xfrm>
              <a:off x="0" y="47371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F4F6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diagram illustrates the </a:t>
              </a:r>
              <a:r>
                <a:rPr lang="en-US" sz="2400" b="1" u="none" strike="noStrike" spc="-48">
                  <a:solidFill>
                    <a:srgbClr val="2F4F6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key interactions</a:t>
              </a:r>
              <a:r>
                <a:rPr lang="en-US" sz="2400" u="none" strike="noStrike" spc="-48">
                  <a:solidFill>
                    <a:srgbClr val="2F4F6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between a customer and the bank system, showcasing essential use cases like withdrawing funds, depositing money, and checking account balances.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0975"/>
              <a:ext cx="11099800" cy="3341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2F4F6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ATM System Overview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433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4F6B81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Understanding Customer Interactions and Transactions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F4F6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F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5531962"/>
            <a:chOff x="0" y="0"/>
            <a:chExt cx="11099800" cy="7375949"/>
          </a:xfrm>
        </p:grpSpPr>
        <p:sp>
          <p:nvSpPr>
            <p:cNvPr id="3" name="TextBox 3"/>
            <p:cNvSpPr txBox="1"/>
            <p:nvPr/>
          </p:nvSpPr>
          <p:spPr>
            <a:xfrm>
              <a:off x="0" y="5899574"/>
              <a:ext cx="11099800" cy="1476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25"/>
                </a:lnSpc>
                <a:spcBef>
                  <a:spcPct val="0"/>
                </a:spcBef>
              </a:pPr>
              <a:r>
                <a:rPr lang="en-US" sz="2250" u="none" strike="noStrike" spc="-44">
                  <a:solidFill>
                    <a:srgbClr val="CAD7E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diagram outlines essential interactions in a Library Management System, highlighting how members and librarians engage with various functionalities such as borrowing and returning books.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45036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668"/>
                </a:lnSpc>
                <a:spcBef>
                  <a:spcPct val="0"/>
                </a:spcBef>
              </a:pPr>
              <a:r>
                <a:rPr lang="en-US" sz="8668" u="none" strike="noStrike" spc="-173">
                  <a:solidFill>
                    <a:srgbClr val="CAD7E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Library Management System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696249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A0B8C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Understanding Key Actors and Use Cases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69DB1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177501" cy="2728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8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AD7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5448300" cy="6267450"/>
            <a:chOff x="0" y="0"/>
            <a:chExt cx="1434943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2F4F6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3352800"/>
            <a:ext cx="5448300" cy="6267450"/>
            <a:chOff x="0" y="0"/>
            <a:chExt cx="1434943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2F4F6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3352800"/>
            <a:ext cx="5448300" cy="6267450"/>
            <a:chOff x="0" y="0"/>
            <a:chExt cx="1434943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2F4F6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7589" y="838200"/>
            <a:ext cx="16952821" cy="112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8499" u="none" strike="noStrike" spc="-169">
                <a:solidFill>
                  <a:srgbClr val="A0B8C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Steps to Draw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05025" y="4248262"/>
            <a:ext cx="2571750" cy="3826959"/>
            <a:chOff x="0" y="0"/>
            <a:chExt cx="3429000" cy="510261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42875"/>
              <a:ext cx="3429000" cy="1474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A0B8C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749326"/>
              <a:ext cx="34290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A0B8C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Identify Actors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3543052"/>
              <a:ext cx="34290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CAD7E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Determine who interacts with the system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58125" y="4248150"/>
            <a:ext cx="2571750" cy="3931771"/>
            <a:chOff x="0" y="0"/>
            <a:chExt cx="3429000" cy="5242362"/>
          </a:xfrm>
        </p:grpSpPr>
        <p:sp>
          <p:nvSpPr>
            <p:cNvPr id="17" name="TextBox 17"/>
            <p:cNvSpPr txBox="1"/>
            <p:nvPr/>
          </p:nvSpPr>
          <p:spPr>
            <a:xfrm>
              <a:off x="0" y="142875"/>
              <a:ext cx="3429000" cy="1474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A0B8C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749326"/>
              <a:ext cx="3429000" cy="1298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A0B8C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Identify Use Cases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203502"/>
              <a:ext cx="34290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CAD7E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Define what actions they perform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611225" y="4248150"/>
            <a:ext cx="2571750" cy="4322445"/>
            <a:chOff x="0" y="0"/>
            <a:chExt cx="3429000" cy="5763260"/>
          </a:xfrm>
        </p:grpSpPr>
        <p:sp>
          <p:nvSpPr>
            <p:cNvPr id="21" name="TextBox 21"/>
            <p:cNvSpPr txBox="1"/>
            <p:nvPr/>
          </p:nvSpPr>
          <p:spPr>
            <a:xfrm>
              <a:off x="0" y="142875"/>
              <a:ext cx="3429000" cy="1474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A0B8C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749326"/>
              <a:ext cx="3429000" cy="1298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A0B8C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Draw System Boundary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4203700"/>
              <a:ext cx="34290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CAD7E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Outline the system's scope visually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F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488531"/>
            <a:ext cx="8324850" cy="2588969"/>
            <a:chOff x="0" y="180975"/>
            <a:chExt cx="11099800" cy="3451958"/>
          </a:xfrm>
        </p:grpSpPr>
        <p:sp>
          <p:nvSpPr>
            <p:cNvPr id="3" name="TextBox 3"/>
            <p:cNvSpPr txBox="1"/>
            <p:nvPr/>
          </p:nvSpPr>
          <p:spPr>
            <a:xfrm>
              <a:off x="0" y="3136900"/>
              <a:ext cx="11099800" cy="496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 dirty="0">
                  <a:solidFill>
                    <a:srgbClr val="CAD7E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SCL 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0975"/>
              <a:ext cx="11099800" cy="17409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 dirty="0">
                  <a:solidFill>
                    <a:srgbClr val="CAD7E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Class Activity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431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A0B8C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Apply Your Knowledge in Groups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69DB1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AD7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73009" y="666750"/>
            <a:ext cx="9148241" cy="8953500"/>
            <a:chOff x="0" y="0"/>
            <a:chExt cx="240941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9413" cy="2358124"/>
            </a:xfrm>
            <a:custGeom>
              <a:avLst/>
              <a:gdLst/>
              <a:ahLst/>
              <a:cxnLst/>
              <a:rect l="l" t="t" r="r" b="b"/>
              <a:pathLst>
                <a:path w="2409413" h="2358124">
                  <a:moveTo>
                    <a:pt x="33851" y="0"/>
                  </a:moveTo>
                  <a:lnTo>
                    <a:pt x="2375562" y="0"/>
                  </a:lnTo>
                  <a:cubicBezTo>
                    <a:pt x="2394258" y="0"/>
                    <a:pt x="2409413" y="15156"/>
                    <a:pt x="2409413" y="33851"/>
                  </a:cubicBezTo>
                  <a:lnTo>
                    <a:pt x="2409413" y="2324272"/>
                  </a:lnTo>
                  <a:cubicBezTo>
                    <a:pt x="2409413" y="2342968"/>
                    <a:pt x="2394258" y="2358124"/>
                    <a:pt x="2375562" y="2358124"/>
                  </a:cubicBezTo>
                  <a:lnTo>
                    <a:pt x="33851" y="2358124"/>
                  </a:lnTo>
                  <a:cubicBezTo>
                    <a:pt x="24873" y="2358124"/>
                    <a:pt x="16263" y="2354557"/>
                    <a:pt x="9915" y="2348209"/>
                  </a:cubicBezTo>
                  <a:cubicBezTo>
                    <a:pt x="3566" y="2341861"/>
                    <a:pt x="0" y="2333250"/>
                    <a:pt x="0" y="2324272"/>
                  </a:cubicBezTo>
                  <a:lnTo>
                    <a:pt x="0" y="33851"/>
                  </a:lnTo>
                  <a:cubicBezTo>
                    <a:pt x="0" y="15156"/>
                    <a:pt x="15156" y="0"/>
                    <a:pt x="33851" y="0"/>
                  </a:cubicBezTo>
                  <a:close/>
                </a:path>
              </a:pathLst>
            </a:custGeom>
            <a:solidFill>
              <a:srgbClr val="2F4F6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409413" cy="2386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3048001"/>
            <a:chOff x="0" y="0"/>
            <a:chExt cx="9182100" cy="4064001"/>
          </a:xfrm>
        </p:grpSpPr>
        <p:sp>
          <p:nvSpPr>
            <p:cNvPr id="6" name="TextBox 6"/>
            <p:cNvSpPr txBox="1"/>
            <p:nvPr/>
          </p:nvSpPr>
          <p:spPr>
            <a:xfrm>
              <a:off x="0" y="3545841"/>
              <a:ext cx="91821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A0B8C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Key Concepts of Use Case Diagrams Explained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71450"/>
              <a:ext cx="9182100" cy="29866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99"/>
                </a:lnSpc>
                <a:spcBef>
                  <a:spcPct val="0"/>
                </a:spcBef>
              </a:pPr>
              <a:r>
                <a:rPr lang="en-US" sz="8499" u="none" strike="noStrike" spc="-169">
                  <a:solidFill>
                    <a:srgbClr val="2F4F6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Summary &amp; Takeaway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1562100"/>
            <a:ext cx="6886575" cy="1294130"/>
            <a:chOff x="0" y="0"/>
            <a:chExt cx="9182100" cy="1725506"/>
          </a:xfrm>
        </p:grpSpPr>
        <p:sp>
          <p:nvSpPr>
            <p:cNvPr id="9" name="TextBox 9"/>
            <p:cNvSpPr txBox="1"/>
            <p:nvPr/>
          </p:nvSpPr>
          <p:spPr>
            <a:xfrm>
              <a:off x="0" y="-28575"/>
              <a:ext cx="91821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A0B8C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Purpose of Use Case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86646"/>
              <a:ext cx="91821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CAD7E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Clarifies system requirements through visual representation.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3354706"/>
            <a:ext cx="6886575" cy="1294130"/>
            <a:chOff x="0" y="0"/>
            <a:chExt cx="9182100" cy="172550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28575"/>
              <a:ext cx="91821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A0B8C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Key Elements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686646"/>
              <a:ext cx="91821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CAD7E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Actors and use cases define system interactions clearly.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44135"/>
            <a:ext cx="6886575" cy="903605"/>
            <a:chOff x="0" y="0"/>
            <a:chExt cx="9182100" cy="1204806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28575"/>
              <a:ext cx="91821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A0B8C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Relationships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686646"/>
              <a:ext cx="91821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CAD7E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Connections show how elements interact and relate.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96400" y="6933565"/>
            <a:ext cx="6886575" cy="1294130"/>
            <a:chOff x="0" y="0"/>
            <a:chExt cx="9182100" cy="172550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28575"/>
              <a:ext cx="91821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A0B8C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Real-world Examples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686646"/>
              <a:ext cx="91821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CAD7E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Practical applications enhance understanding and usability.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-700808" y="6607510"/>
            <a:ext cx="3459016" cy="4461104"/>
          </a:xfrm>
          <a:custGeom>
            <a:avLst/>
            <a:gdLst/>
            <a:ahLst/>
            <a:cxnLst/>
            <a:rect l="l" t="t" r="r" b="b"/>
            <a:pathLst>
              <a:path w="3459016" h="4461104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F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02596" y="0"/>
            <a:ext cx="8185404" cy="10287000"/>
            <a:chOff x="0" y="0"/>
            <a:chExt cx="215582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55827" cy="2709333"/>
            </a:xfrm>
            <a:custGeom>
              <a:avLst/>
              <a:gdLst/>
              <a:ahLst/>
              <a:cxnLst/>
              <a:rect l="l" t="t" r="r" b="b"/>
              <a:pathLst>
                <a:path w="2155827" h="2709333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B8CC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55827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08180" y="666750"/>
            <a:ext cx="6947741" cy="8953500"/>
            <a:chOff x="0" y="0"/>
            <a:chExt cx="812800" cy="10474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047449"/>
            </a:xfrm>
            <a:custGeom>
              <a:avLst/>
              <a:gdLst/>
              <a:ahLst/>
              <a:cxnLst/>
              <a:rect l="l" t="t" r="r" b="b"/>
              <a:pathLst>
                <a:path w="812800" h="1047449">
                  <a:moveTo>
                    <a:pt x="44572" y="0"/>
                  </a:moveTo>
                  <a:lnTo>
                    <a:pt x="768228" y="0"/>
                  </a:lnTo>
                  <a:cubicBezTo>
                    <a:pt x="792844" y="0"/>
                    <a:pt x="812800" y="19956"/>
                    <a:pt x="812800" y="44572"/>
                  </a:cubicBezTo>
                  <a:lnTo>
                    <a:pt x="812800" y="1002877"/>
                  </a:lnTo>
                  <a:cubicBezTo>
                    <a:pt x="812800" y="1027493"/>
                    <a:pt x="792844" y="1047449"/>
                    <a:pt x="768228" y="1047449"/>
                  </a:cubicBezTo>
                  <a:lnTo>
                    <a:pt x="44572" y="1047449"/>
                  </a:lnTo>
                  <a:cubicBezTo>
                    <a:pt x="19956" y="1047449"/>
                    <a:pt x="0" y="1027493"/>
                    <a:pt x="0" y="1002877"/>
                  </a:cubicBezTo>
                  <a:lnTo>
                    <a:pt x="0" y="44572"/>
                  </a:lnTo>
                  <a:cubicBezTo>
                    <a:pt x="0" y="19956"/>
                    <a:pt x="19956" y="0"/>
                    <a:pt x="44572" y="0"/>
                  </a:cubicBezTo>
                  <a:close/>
                </a:path>
              </a:pathLst>
            </a:custGeom>
            <a:blipFill>
              <a:blip r:embed="rId2"/>
              <a:stretch>
                <a:fillRect t="-306" b="-306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6750" y="666750"/>
            <a:ext cx="8324850" cy="1969824"/>
            <a:chOff x="0" y="0"/>
            <a:chExt cx="11099800" cy="2626432"/>
          </a:xfrm>
        </p:grpSpPr>
        <p:sp>
          <p:nvSpPr>
            <p:cNvPr id="8" name="TextBox 8"/>
            <p:cNvSpPr txBox="1"/>
            <p:nvPr/>
          </p:nvSpPr>
          <p:spPr>
            <a:xfrm>
              <a:off x="0" y="2108272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A0B8C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Stay connected for more insights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71450"/>
              <a:ext cx="11099800" cy="15515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99"/>
                </a:lnSpc>
                <a:spcBef>
                  <a:spcPct val="0"/>
                </a:spcBef>
              </a:pPr>
              <a:r>
                <a:rPr lang="en-US" sz="8499" u="none" strike="noStrike" spc="-169">
                  <a:solidFill>
                    <a:srgbClr val="CAD7E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Thank You</a:t>
              </a:r>
            </a:p>
          </p:txBody>
        </p:sp>
      </p:grpSp>
      <p:sp>
        <p:nvSpPr>
          <p:cNvPr id="19" name="Freeform 19"/>
          <p:cNvSpPr/>
          <p:nvPr/>
        </p:nvSpPr>
        <p:spPr>
          <a:xfrm rot="5400000" flipH="1">
            <a:off x="16106389" y="8352937"/>
            <a:ext cx="1792448" cy="1639275"/>
          </a:xfrm>
          <a:custGeom>
            <a:avLst/>
            <a:gdLst/>
            <a:ahLst/>
            <a:cxnLst/>
            <a:rect l="l" t="t" r="r" b="b"/>
            <a:pathLst>
              <a:path w="1792448" h="1639275">
                <a:moveTo>
                  <a:pt x="1792448" y="0"/>
                </a:moveTo>
                <a:lnTo>
                  <a:pt x="0" y="0"/>
                </a:lnTo>
                <a:lnTo>
                  <a:pt x="0" y="1639276"/>
                </a:lnTo>
                <a:lnTo>
                  <a:pt x="1792448" y="1639276"/>
                </a:lnTo>
                <a:lnTo>
                  <a:pt x="17924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326</Words>
  <Application>Microsoft Office PowerPoint</Application>
  <PresentationFormat>Custom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TT Interphases</vt:lpstr>
      <vt:lpstr>Cooper BT Light</vt:lpstr>
      <vt:lpstr>TT Interphases Bold</vt:lpstr>
      <vt:lpstr>Cooper BT Medium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Introduction to Use Case Diagrams</dc:title>
  <dc:description>Presentation - Introduction to Use Case Diagrams</dc:description>
  <cp:lastModifiedBy>LAB16 FSKTM</cp:lastModifiedBy>
  <cp:revision>4</cp:revision>
  <dcterms:created xsi:type="dcterms:W3CDTF">2006-08-16T00:00:00Z</dcterms:created>
  <dcterms:modified xsi:type="dcterms:W3CDTF">2025-11-12T03:58:05Z</dcterms:modified>
  <dc:identifier>DAG4chf9Z9o</dc:identifier>
</cp:coreProperties>
</file>
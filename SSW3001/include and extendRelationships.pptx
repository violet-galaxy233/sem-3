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17"/>
  </p:handout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72" r:id="rId1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56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008B678-DA6D-4671-BD6C-4307B4EEC8F9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B932A14-2BB9-475E-A3AE-EC976DFC8C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01868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6A46293-5C77-4176-A381-F6CB27A5D2BA}" type="datetimeFigureOut">
              <a:rPr lang="en-MY" smtClean="0"/>
              <a:t>12/11/2019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195F21FD-62F5-41C6-9E6A-A1E9294324C0}" type="slidenum">
              <a:rPr lang="en-MY" smtClean="0"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112" y="1730403"/>
            <a:ext cx="5648623" cy="1204306"/>
          </a:xfrm>
        </p:spPr>
        <p:txBody>
          <a:bodyPr/>
          <a:lstStyle/>
          <a:p>
            <a:r>
              <a:rPr lang="en-MY" dirty="0" smtClean="0"/>
              <a:t>«include</a:t>
            </a:r>
            <a:r>
              <a:rPr lang="en-MY" dirty="0"/>
              <a:t>» and «extend» Relationships </a:t>
            </a:r>
            <a:r>
              <a:rPr lang="en-MY" dirty="0" smtClean="0"/>
              <a:t>in </a:t>
            </a:r>
            <a:br>
              <a:rPr lang="en-MY" dirty="0" smtClean="0"/>
            </a:br>
            <a:r>
              <a:rPr lang="en-MY" dirty="0" smtClean="0"/>
              <a:t>Use </a:t>
            </a:r>
            <a:r>
              <a:rPr lang="en-MY" dirty="0"/>
              <a:t>Case </a:t>
            </a:r>
            <a:r>
              <a:rPr lang="en-MY" dirty="0" smtClean="0"/>
              <a:t>Models</a:t>
            </a:r>
            <a:endParaRPr lang="en-MY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3358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7559040" cy="4080972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MY" sz="2000" b="0" dirty="0"/>
              <a:t>D</a:t>
            </a:r>
            <a:r>
              <a:rPr lang="en-MY" sz="2000" b="0" dirty="0" smtClean="0"/>
              <a:t>escription </a:t>
            </a:r>
            <a:r>
              <a:rPr lang="en-MY" sz="2000" b="0" dirty="0"/>
              <a:t>of a Use Case </a:t>
            </a:r>
            <a:endParaRPr lang="en-MY" sz="2000" b="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MY" sz="2000" b="0" dirty="0"/>
              <a:t>S</a:t>
            </a:r>
            <a:r>
              <a:rPr lang="en-MY" sz="2000" b="0" dirty="0" smtClean="0"/>
              <a:t>teps </a:t>
            </a:r>
            <a:r>
              <a:rPr lang="en-MY" sz="2000" b="0" dirty="0"/>
              <a:t>are </a:t>
            </a:r>
            <a:r>
              <a:rPr lang="en-MY" sz="2000" b="0" dirty="0" smtClean="0"/>
              <a:t>usually </a:t>
            </a:r>
            <a:r>
              <a:rPr lang="en-MY" sz="2000" b="0" dirty="0"/>
              <a:t>arranged into a Basic Flow and Alternative Flows.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sz="2000" b="0" dirty="0" smtClean="0"/>
              <a:t>The </a:t>
            </a:r>
            <a:r>
              <a:rPr lang="en-MY" sz="2000" b="0" dirty="0"/>
              <a:t>Basic Flow has other names, such as the </a:t>
            </a:r>
            <a:r>
              <a:rPr lang="en-MY" sz="2000" b="0" dirty="0" smtClean="0"/>
              <a:t>Main </a:t>
            </a:r>
            <a:r>
              <a:rPr lang="en-MY" sz="2000" b="0" dirty="0"/>
              <a:t>Success Scenario </a:t>
            </a:r>
            <a:r>
              <a:rPr lang="en-MY" sz="2000" b="0" dirty="0" smtClean="0"/>
              <a:t>or Happy </a:t>
            </a:r>
            <a:r>
              <a:rPr lang="en-MY" sz="2000" b="0" dirty="0"/>
              <a:t>Day </a:t>
            </a:r>
            <a:r>
              <a:rPr lang="en-MY" sz="2000" b="0" dirty="0" smtClean="0"/>
              <a:t>scenario</a:t>
            </a:r>
            <a:endParaRPr lang="en-MY" sz="2000" b="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MY" sz="2000" dirty="0" smtClean="0"/>
              <a:t>It </a:t>
            </a:r>
            <a:r>
              <a:rPr lang="en-MY" sz="2000" dirty="0"/>
              <a:t>describes the steps that are required for a straightforward (but not always the </a:t>
            </a:r>
            <a:r>
              <a:rPr lang="en-MY" sz="2000" dirty="0" smtClean="0"/>
              <a:t>simplest</a:t>
            </a:r>
            <a:r>
              <a:rPr lang="en-MY" sz="2000" dirty="0"/>
              <a:t>) execution of </a:t>
            </a:r>
            <a:r>
              <a:rPr lang="en-MY" sz="2000" dirty="0" smtClean="0"/>
              <a:t>the </a:t>
            </a:r>
            <a:r>
              <a:rPr lang="en-MY" sz="2000" dirty="0"/>
              <a:t>Use Case. </a:t>
            </a:r>
          </a:p>
          <a:p>
            <a:pPr marL="342900" lvl="2" indent="-342900"/>
            <a:r>
              <a:rPr lang="en-MY" sz="2000" dirty="0" smtClean="0"/>
              <a:t>The </a:t>
            </a:r>
            <a:r>
              <a:rPr lang="en-MY" sz="2000" dirty="0"/>
              <a:t>Alternative </a:t>
            </a:r>
            <a:r>
              <a:rPr lang="en-MY" sz="2000" dirty="0" smtClean="0"/>
              <a:t>Flows </a:t>
            </a:r>
            <a:r>
              <a:rPr lang="en-MY" sz="2000" dirty="0"/>
              <a:t>are also known by other names, such as </a:t>
            </a:r>
            <a:r>
              <a:rPr lang="en-MY" sz="2000" dirty="0" smtClean="0"/>
              <a:t>exceptions or extensions</a:t>
            </a:r>
            <a:endParaRPr lang="en-MY" sz="2000" dirty="0"/>
          </a:p>
          <a:p>
            <a:pPr marL="342900" lvl="2" indent="-342900"/>
            <a:r>
              <a:rPr lang="en-MY" sz="2000" dirty="0" smtClean="0"/>
              <a:t>Each </a:t>
            </a:r>
            <a:r>
              <a:rPr lang="en-MY" sz="2000" dirty="0"/>
              <a:t>one describes some variation from the steps in the Basic </a:t>
            </a:r>
            <a:r>
              <a:rPr lang="en-MY" sz="2000" dirty="0" smtClean="0"/>
              <a:t>Flow The </a:t>
            </a:r>
            <a:r>
              <a:rPr lang="en-MY" sz="2000" dirty="0"/>
              <a:t>Use Case steps, both in the Basic and Alternative Flows, are usually numbered. This </a:t>
            </a:r>
          </a:p>
          <a:p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345210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Simple Use </a:t>
            </a:r>
            <a:r>
              <a:rPr lang="en-MY" dirty="0" smtClean="0"/>
              <a:t>Case</a:t>
            </a:r>
            <a:endParaRPr lang="en-MY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6" t="36536" r="26108" b="37682"/>
          <a:stretch/>
        </p:blipFill>
        <p:spPr bwMode="auto">
          <a:xfrm>
            <a:off x="609600" y="1981200"/>
            <a:ext cx="32004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95134" y="914400"/>
            <a:ext cx="47440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/>
              <a:t>Use </a:t>
            </a:r>
            <a:r>
              <a:rPr lang="en-MY" sz="2000" b="1" dirty="0"/>
              <a:t>Case: “Take Customer Order</a:t>
            </a:r>
            <a:r>
              <a:rPr lang="en-MY" sz="2000" b="1" dirty="0" smtClean="0"/>
              <a:t>”</a:t>
            </a:r>
          </a:p>
          <a:p>
            <a:endParaRPr lang="en-MY" b="1" dirty="0"/>
          </a:p>
          <a:p>
            <a:r>
              <a:rPr lang="en-MY" dirty="0"/>
              <a:t>Basic Flow:</a:t>
            </a:r>
          </a:p>
          <a:p>
            <a:r>
              <a:rPr lang="en-MY" dirty="0"/>
              <a:t>1</a:t>
            </a:r>
            <a:r>
              <a:rPr lang="en-MY" dirty="0" smtClean="0"/>
              <a:t>. </a:t>
            </a:r>
            <a:r>
              <a:rPr lang="en-MY" dirty="0" smtClean="0"/>
              <a:t>SA </a:t>
            </a:r>
            <a:r>
              <a:rPr lang="en-MY" dirty="0"/>
              <a:t>enters </a:t>
            </a:r>
            <a:r>
              <a:rPr lang="en-MY" dirty="0" smtClean="0"/>
              <a:t>Customer </a:t>
            </a:r>
            <a:r>
              <a:rPr lang="en-MY" dirty="0"/>
              <a:t>details</a:t>
            </a:r>
          </a:p>
          <a:p>
            <a:r>
              <a:rPr lang="en-MY" dirty="0"/>
              <a:t>2</a:t>
            </a:r>
            <a:r>
              <a:rPr lang="en-MY" dirty="0" smtClean="0"/>
              <a:t>. </a:t>
            </a:r>
            <a:r>
              <a:rPr lang="en-MY" dirty="0" smtClean="0"/>
              <a:t>SA </a:t>
            </a:r>
            <a:r>
              <a:rPr lang="en-MY" dirty="0"/>
              <a:t>enters code for product required </a:t>
            </a:r>
          </a:p>
          <a:p>
            <a:r>
              <a:rPr lang="en-MY" dirty="0"/>
              <a:t>3</a:t>
            </a:r>
            <a:r>
              <a:rPr lang="en-MY" dirty="0" smtClean="0"/>
              <a:t>. System </a:t>
            </a:r>
            <a:r>
              <a:rPr lang="en-MY" dirty="0"/>
              <a:t>displays Product details </a:t>
            </a:r>
          </a:p>
          <a:p>
            <a:r>
              <a:rPr lang="en-MY" dirty="0"/>
              <a:t>4</a:t>
            </a:r>
            <a:r>
              <a:rPr lang="en-MY" dirty="0" smtClean="0"/>
              <a:t>. </a:t>
            </a:r>
            <a:r>
              <a:rPr lang="en-MY" dirty="0" smtClean="0"/>
              <a:t>SA </a:t>
            </a:r>
            <a:r>
              <a:rPr lang="en-MY" dirty="0"/>
              <a:t>enters quantity required</a:t>
            </a:r>
          </a:p>
          <a:p>
            <a:r>
              <a:rPr lang="en-MY" dirty="0"/>
              <a:t>5</a:t>
            </a:r>
            <a:r>
              <a:rPr lang="en-MY" dirty="0" smtClean="0"/>
              <a:t>. </a:t>
            </a:r>
            <a:r>
              <a:rPr lang="en-MY" dirty="0" smtClean="0"/>
              <a:t>SA </a:t>
            </a:r>
            <a:r>
              <a:rPr lang="en-MY" dirty="0"/>
              <a:t>enters Payment details</a:t>
            </a:r>
          </a:p>
          <a:p>
            <a:r>
              <a:rPr lang="en-MY" dirty="0"/>
              <a:t>6</a:t>
            </a:r>
            <a:r>
              <a:rPr lang="en-MY" dirty="0" smtClean="0"/>
              <a:t>. System </a:t>
            </a:r>
            <a:r>
              <a:rPr lang="en-MY" dirty="0"/>
              <a:t>saves Customer Order</a:t>
            </a:r>
          </a:p>
          <a:p>
            <a:endParaRPr lang="en-MY" dirty="0" smtClean="0"/>
          </a:p>
          <a:p>
            <a:r>
              <a:rPr lang="en-MY" dirty="0" smtClean="0"/>
              <a:t>Alternative </a:t>
            </a:r>
            <a:r>
              <a:rPr lang="en-MY" dirty="0"/>
              <a:t>Flows:</a:t>
            </a:r>
          </a:p>
          <a:p>
            <a:r>
              <a:rPr lang="en-MY" dirty="0"/>
              <a:t>[multiple products]</a:t>
            </a:r>
          </a:p>
          <a:p>
            <a:r>
              <a:rPr lang="en-MY" dirty="0"/>
              <a:t>After step 4, when the </a:t>
            </a:r>
            <a:r>
              <a:rPr lang="en-MY" dirty="0" smtClean="0"/>
              <a:t>SA </a:t>
            </a:r>
            <a:r>
              <a:rPr lang="en-MY" dirty="0"/>
              <a:t>enters the </a:t>
            </a:r>
            <a:r>
              <a:rPr lang="en-MY" dirty="0" smtClean="0"/>
              <a:t>quantity </a:t>
            </a:r>
            <a:r>
              <a:rPr lang="en-MY" dirty="0"/>
              <a:t>required, </a:t>
            </a:r>
            <a:r>
              <a:rPr lang="en-MY" dirty="0" smtClean="0"/>
              <a:t> Repeat </a:t>
            </a:r>
            <a:r>
              <a:rPr lang="en-MY" dirty="0"/>
              <a:t>steps 2 to 4 for additional </a:t>
            </a:r>
            <a:r>
              <a:rPr lang="en-MY" dirty="0" smtClean="0"/>
              <a:t>Products. Resume </a:t>
            </a:r>
            <a:r>
              <a:rPr lang="en-MY" dirty="0"/>
              <a:t>at step 5, to enter Payment details 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7723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«include» relationship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2" t="22248" r="42916" b="34411"/>
          <a:stretch/>
        </p:blipFill>
        <p:spPr bwMode="auto">
          <a:xfrm>
            <a:off x="1533832" y="1447800"/>
            <a:ext cx="5857568" cy="33159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248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«include» relationship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5" t="20036" r="25749" b="31751"/>
          <a:stretch/>
        </p:blipFill>
        <p:spPr bwMode="auto">
          <a:xfrm>
            <a:off x="1219200" y="1524000"/>
            <a:ext cx="64008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950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81000"/>
            <a:ext cx="7924800" cy="5562600"/>
          </a:xfrm>
        </p:spPr>
        <p:txBody>
          <a:bodyPr>
            <a:noAutofit/>
          </a:bodyPr>
          <a:lstStyle/>
          <a:p>
            <a:r>
              <a:rPr lang="en-MY" sz="2000" dirty="0" smtClean="0"/>
              <a:t>Use </a:t>
            </a:r>
            <a:r>
              <a:rPr lang="en-MY" sz="2000" dirty="0"/>
              <a:t>Case: “Identify Customer”</a:t>
            </a:r>
          </a:p>
          <a:p>
            <a:endParaRPr lang="en-MY" b="0" dirty="0" smtClean="0"/>
          </a:p>
          <a:p>
            <a:r>
              <a:rPr lang="en-MY" sz="1800" b="0" dirty="0" smtClean="0"/>
              <a:t>Basic </a:t>
            </a:r>
            <a:r>
              <a:rPr lang="en-MY" sz="1800" b="0" dirty="0"/>
              <a:t>Flow:</a:t>
            </a:r>
          </a:p>
          <a:p>
            <a:r>
              <a:rPr lang="en-MY" sz="1800" b="0" dirty="0"/>
              <a:t>1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enters search criteria, surname and </a:t>
            </a:r>
            <a:r>
              <a:rPr lang="en-MY" sz="1800" b="0" dirty="0" smtClean="0"/>
              <a:t>postcode</a:t>
            </a:r>
            <a:endParaRPr lang="en-MY" sz="1800" b="0" dirty="0"/>
          </a:p>
          <a:p>
            <a:r>
              <a:rPr lang="en-MY" sz="1800" b="0" dirty="0"/>
              <a:t>2</a:t>
            </a:r>
            <a:r>
              <a:rPr lang="en-MY" sz="1800" b="0" dirty="0" smtClean="0"/>
              <a:t>. System </a:t>
            </a:r>
            <a:r>
              <a:rPr lang="en-MY" sz="1800" b="0" dirty="0"/>
              <a:t>displays matching Customers</a:t>
            </a:r>
          </a:p>
          <a:p>
            <a:r>
              <a:rPr lang="en-MY" sz="1800" b="0" dirty="0"/>
              <a:t>3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selects Customer</a:t>
            </a:r>
          </a:p>
          <a:p>
            <a:r>
              <a:rPr lang="en-MY" sz="1800" b="0" dirty="0"/>
              <a:t>4</a:t>
            </a:r>
            <a:r>
              <a:rPr lang="en-MY" sz="1800" b="0" dirty="0" smtClean="0"/>
              <a:t>. System </a:t>
            </a:r>
            <a:r>
              <a:rPr lang="en-MY" sz="1800" b="0" dirty="0"/>
              <a:t>displays Customer details</a:t>
            </a:r>
          </a:p>
          <a:p>
            <a:r>
              <a:rPr lang="en-MY" sz="1800" b="0" dirty="0"/>
              <a:t>5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confirms Customer</a:t>
            </a:r>
          </a:p>
          <a:p>
            <a:r>
              <a:rPr lang="en-MY" sz="1800" b="0" dirty="0"/>
              <a:t>Alternative Flows:</a:t>
            </a:r>
          </a:p>
          <a:p>
            <a:r>
              <a:rPr lang="en-MY" sz="1800" b="0" dirty="0"/>
              <a:t>[new customer]</a:t>
            </a:r>
          </a:p>
          <a:p>
            <a:r>
              <a:rPr lang="en-MY" sz="1800" b="0" dirty="0"/>
              <a:t>After step 2, when the System does not display the required Customer, </a:t>
            </a:r>
            <a:r>
              <a:rPr lang="en-MY" sz="1800" b="0" dirty="0" smtClean="0"/>
              <a:t>SA </a:t>
            </a:r>
            <a:r>
              <a:rPr lang="en-MY" sz="1800" b="0" dirty="0"/>
              <a:t>creates new </a:t>
            </a:r>
            <a:r>
              <a:rPr lang="en-MY" sz="1800" b="0" dirty="0" smtClean="0"/>
              <a:t>Customer</a:t>
            </a:r>
            <a:r>
              <a:rPr lang="en-MY" sz="1800" b="0" dirty="0"/>
              <a:t>, </a:t>
            </a:r>
          </a:p>
          <a:p>
            <a:r>
              <a:rPr lang="en-MY" sz="1800" b="0" dirty="0"/>
              <a:t>1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selects to add new Customer</a:t>
            </a:r>
          </a:p>
          <a:p>
            <a:r>
              <a:rPr lang="en-MY" sz="1800" b="0" dirty="0"/>
              <a:t>2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enters Customer details</a:t>
            </a:r>
          </a:p>
          <a:p>
            <a:r>
              <a:rPr lang="en-MY" sz="1800" b="0" dirty="0"/>
              <a:t>Resume at step 5, to confirm Customer </a:t>
            </a:r>
          </a:p>
          <a:p>
            <a:endParaRPr lang="en-MY" sz="1800" dirty="0"/>
          </a:p>
        </p:txBody>
      </p:sp>
    </p:spTree>
    <p:extLst>
      <p:ext uri="{BB962C8B-B14F-4D97-AF65-F5344CB8AC3E}">
        <p14:creationId xmlns:p14="http://schemas.microsoft.com/office/powerpoint/2010/main" val="2332491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533400"/>
            <a:ext cx="7520940" cy="3579849"/>
          </a:xfrm>
        </p:spPr>
        <p:txBody>
          <a:bodyPr>
            <a:noAutofit/>
          </a:bodyPr>
          <a:lstStyle/>
          <a:p>
            <a:r>
              <a:rPr lang="en-MY" sz="2000" dirty="0"/>
              <a:t>Use Case: “Take Customer </a:t>
            </a:r>
            <a:r>
              <a:rPr lang="en-MY" sz="2000" dirty="0" smtClean="0"/>
              <a:t>Order” - modified</a:t>
            </a:r>
            <a:endParaRPr lang="en-MY" sz="2000" dirty="0"/>
          </a:p>
          <a:p>
            <a:endParaRPr lang="en-MY" b="0" dirty="0" smtClean="0"/>
          </a:p>
          <a:p>
            <a:r>
              <a:rPr lang="en-MY" sz="1800" b="0" dirty="0" smtClean="0"/>
              <a:t>Basic </a:t>
            </a:r>
            <a:r>
              <a:rPr lang="en-MY" sz="1800" b="0" dirty="0"/>
              <a:t>Flow:</a:t>
            </a:r>
          </a:p>
          <a:p>
            <a:r>
              <a:rPr lang="en-MY" sz="1800" b="0" dirty="0"/>
              <a:t>1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records Customer details, </a:t>
            </a:r>
            <a:r>
              <a:rPr lang="en-MY" sz="1800" b="0" dirty="0" smtClean="0"/>
              <a:t>include (Identify </a:t>
            </a:r>
            <a:r>
              <a:rPr lang="en-MY" sz="1800" b="0" dirty="0"/>
              <a:t>Customer)</a:t>
            </a:r>
          </a:p>
          <a:p>
            <a:r>
              <a:rPr lang="en-MY" sz="1800" b="0" dirty="0"/>
              <a:t>2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enters code for Product required </a:t>
            </a:r>
          </a:p>
          <a:p>
            <a:r>
              <a:rPr lang="en-MY" sz="1800" b="0" dirty="0"/>
              <a:t>3</a:t>
            </a:r>
            <a:r>
              <a:rPr lang="en-MY" sz="1800" b="0" dirty="0" smtClean="0"/>
              <a:t>. System </a:t>
            </a:r>
            <a:r>
              <a:rPr lang="en-MY" sz="1800" b="0" dirty="0"/>
              <a:t>displays Product details </a:t>
            </a:r>
          </a:p>
          <a:p>
            <a:r>
              <a:rPr lang="en-MY" sz="1800" b="0" dirty="0"/>
              <a:t>4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enters quantity required</a:t>
            </a:r>
          </a:p>
          <a:p>
            <a:r>
              <a:rPr lang="en-MY" sz="1800" b="0" dirty="0"/>
              <a:t>5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enters Payment details</a:t>
            </a:r>
          </a:p>
          <a:p>
            <a:r>
              <a:rPr lang="en-MY" sz="1800" b="0" dirty="0"/>
              <a:t>6</a:t>
            </a:r>
            <a:r>
              <a:rPr lang="en-MY" sz="1800" b="0" dirty="0" smtClean="0"/>
              <a:t>. System </a:t>
            </a:r>
            <a:r>
              <a:rPr lang="en-MY" sz="1800" b="0" dirty="0"/>
              <a:t>saves Customer Order</a:t>
            </a:r>
          </a:p>
          <a:p>
            <a:r>
              <a:rPr lang="en-MY" sz="1800" b="0" dirty="0"/>
              <a:t>Alternative </a:t>
            </a:r>
            <a:r>
              <a:rPr lang="en-MY" sz="1800" b="0" dirty="0" smtClean="0"/>
              <a:t>Flows</a:t>
            </a:r>
            <a:r>
              <a:rPr lang="en-MY" sz="1800" b="0" dirty="0"/>
              <a:t>:</a:t>
            </a:r>
          </a:p>
          <a:p>
            <a:r>
              <a:rPr lang="en-MY" sz="1800" b="0" dirty="0"/>
              <a:t>[multiple products]</a:t>
            </a:r>
          </a:p>
          <a:p>
            <a:r>
              <a:rPr lang="en-MY" sz="1800" b="0" dirty="0"/>
              <a:t>After step 4, when the </a:t>
            </a:r>
            <a:r>
              <a:rPr lang="en-MY" sz="1800" b="0" dirty="0" smtClean="0"/>
              <a:t>SA </a:t>
            </a:r>
            <a:r>
              <a:rPr lang="en-MY" sz="1800" b="0" dirty="0"/>
              <a:t>enters the quantity required, </a:t>
            </a:r>
            <a:r>
              <a:rPr lang="en-MY" sz="1800" b="0" dirty="0" smtClean="0"/>
              <a:t> Repeat </a:t>
            </a:r>
            <a:r>
              <a:rPr lang="en-MY" sz="1800" b="0" dirty="0"/>
              <a:t>steps 2 to 4 for additional </a:t>
            </a:r>
            <a:r>
              <a:rPr lang="en-MY" sz="1800" b="0" dirty="0" smtClean="0"/>
              <a:t>Products Resume </a:t>
            </a:r>
            <a:r>
              <a:rPr lang="en-MY" sz="1800" b="0" dirty="0"/>
              <a:t>at step 5, to enter Payment details </a:t>
            </a:r>
          </a:p>
          <a:p>
            <a:endParaRPr lang="en-MY" b="0" dirty="0"/>
          </a:p>
        </p:txBody>
      </p:sp>
    </p:spTree>
    <p:extLst>
      <p:ext uri="{BB962C8B-B14F-4D97-AF65-F5344CB8AC3E}">
        <p14:creationId xmlns:p14="http://schemas.microsoft.com/office/powerpoint/2010/main" val="329619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«extend»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MY" sz="2100" b="0" dirty="0"/>
              <a:t>Suppose we want to sell products that are made to order and require a degree of customer </a:t>
            </a:r>
            <a:r>
              <a:rPr lang="en-MY" sz="2100" b="0" dirty="0" smtClean="0"/>
              <a:t>specification</a:t>
            </a:r>
            <a:r>
              <a:rPr lang="en-MY" sz="2100" b="0" dirty="0"/>
              <a:t>. For these products we will </a:t>
            </a:r>
            <a:r>
              <a:rPr lang="en-MY" sz="2100" b="0" dirty="0" smtClean="0"/>
              <a:t>need </a:t>
            </a:r>
            <a:r>
              <a:rPr lang="en-MY" sz="2100" b="0" dirty="0"/>
              <a:t>to record the customer’s additional </a:t>
            </a:r>
            <a:r>
              <a:rPr lang="en-MY" sz="2100" b="0" dirty="0" smtClean="0"/>
              <a:t>requirements</a:t>
            </a:r>
            <a:r>
              <a:rPr lang="en-MY" sz="2100" b="0" dirty="0"/>
              <a:t>, such as size and colour. In this case we are adding something extra to the </a:t>
            </a:r>
            <a:r>
              <a:rPr lang="en-MY" sz="2100" b="0" dirty="0" smtClean="0"/>
              <a:t>flow </a:t>
            </a:r>
            <a:r>
              <a:rPr lang="en-MY" sz="2100" b="0" dirty="0"/>
              <a:t>of the base Use Case. </a:t>
            </a:r>
          </a:p>
          <a:p>
            <a:pPr>
              <a:lnSpc>
                <a:spcPct val="120000"/>
              </a:lnSpc>
            </a:pPr>
            <a:r>
              <a:rPr lang="en-MY" sz="2100" b="0" dirty="0"/>
              <a:t>We could do this as an Alternative Flow, </a:t>
            </a:r>
            <a:r>
              <a:rPr lang="en-MY" sz="2100" b="0" dirty="0" smtClean="0"/>
              <a:t>as in the example.</a:t>
            </a:r>
          </a:p>
          <a:p>
            <a:pPr>
              <a:lnSpc>
                <a:spcPct val="120000"/>
              </a:lnSpc>
            </a:pPr>
            <a:endParaRPr lang="en-US" sz="2100" b="0" dirty="0"/>
          </a:p>
          <a:p>
            <a:pPr>
              <a:lnSpc>
                <a:spcPct val="120000"/>
              </a:lnSpc>
            </a:pPr>
            <a:r>
              <a:rPr lang="en-MY" sz="2100" b="0" dirty="0"/>
              <a:t>The «extend» relationship says that we execute the base Use Case but when we get to a </a:t>
            </a:r>
            <a:r>
              <a:rPr lang="en-MY" sz="2100" b="0" dirty="0" smtClean="0"/>
              <a:t>specified </a:t>
            </a:r>
            <a:r>
              <a:rPr lang="en-MY" sz="2100" b="0" dirty="0"/>
              <a:t>point in the flow, if the right conditions are </a:t>
            </a:r>
            <a:r>
              <a:rPr lang="en-MY" sz="2100" b="0" dirty="0" smtClean="0"/>
              <a:t>met</a:t>
            </a:r>
            <a:r>
              <a:rPr lang="en-MY" sz="2100" b="0" dirty="0"/>
              <a:t>, we perform some different steps. </a:t>
            </a:r>
          </a:p>
          <a:p>
            <a:pPr>
              <a:lnSpc>
                <a:spcPct val="120000"/>
              </a:lnSpc>
            </a:pPr>
            <a:r>
              <a:rPr lang="en-MY" sz="2100" b="0" dirty="0"/>
              <a:t>Clearly this is very similar to an Alternative Flow. </a:t>
            </a:r>
          </a:p>
          <a:p>
            <a:endParaRPr lang="en-MY" b="0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55507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8600"/>
            <a:ext cx="7520940" cy="3579849"/>
          </a:xfrm>
        </p:spPr>
        <p:txBody>
          <a:bodyPr>
            <a:noAutofit/>
          </a:bodyPr>
          <a:lstStyle/>
          <a:p>
            <a:r>
              <a:rPr lang="en-MY" sz="2000" dirty="0"/>
              <a:t>Use Case: “Take Customer Order”</a:t>
            </a:r>
          </a:p>
          <a:p>
            <a:r>
              <a:rPr lang="en-MY" sz="1800" b="0" dirty="0"/>
              <a:t>Basic </a:t>
            </a:r>
            <a:r>
              <a:rPr lang="en-MY" sz="1800" b="0" dirty="0" smtClean="0"/>
              <a:t>Flow</a:t>
            </a:r>
            <a:r>
              <a:rPr lang="en-MY" sz="1800" b="0" dirty="0"/>
              <a:t>:</a:t>
            </a:r>
          </a:p>
          <a:p>
            <a:r>
              <a:rPr lang="en-MY" sz="1800" b="0" dirty="0"/>
              <a:t>1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records Customer details </a:t>
            </a:r>
            <a:r>
              <a:rPr lang="en-MY" sz="1800" b="0" dirty="0" smtClean="0"/>
              <a:t> include(Identify </a:t>
            </a:r>
            <a:r>
              <a:rPr lang="en-MY" sz="1800" b="0" dirty="0"/>
              <a:t>Customer)</a:t>
            </a:r>
          </a:p>
          <a:p>
            <a:r>
              <a:rPr lang="en-MY" sz="1800" b="0" dirty="0"/>
              <a:t>2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enters code for product required </a:t>
            </a:r>
          </a:p>
          <a:p>
            <a:r>
              <a:rPr lang="en-MY" sz="1800" b="0" dirty="0"/>
              <a:t>3</a:t>
            </a:r>
            <a:r>
              <a:rPr lang="en-MY" sz="1800" b="0" dirty="0" smtClean="0"/>
              <a:t>. System </a:t>
            </a:r>
            <a:r>
              <a:rPr lang="en-MY" sz="1800" b="0" dirty="0"/>
              <a:t>displays product details </a:t>
            </a:r>
          </a:p>
          <a:p>
            <a:r>
              <a:rPr lang="en-MY" sz="1800" b="0" dirty="0"/>
              <a:t>4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enters quantity required</a:t>
            </a:r>
          </a:p>
          <a:p>
            <a:r>
              <a:rPr lang="en-MY" sz="1800" b="0" dirty="0"/>
              <a:t>5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enters payment details</a:t>
            </a:r>
          </a:p>
          <a:p>
            <a:r>
              <a:rPr lang="en-MY" sz="1800" b="0" dirty="0"/>
              <a:t>6</a:t>
            </a:r>
            <a:r>
              <a:rPr lang="en-MY" sz="1800" b="0" dirty="0" smtClean="0"/>
              <a:t>. System </a:t>
            </a:r>
            <a:r>
              <a:rPr lang="en-MY" sz="1800" b="0" dirty="0"/>
              <a:t>saves Customer Order</a:t>
            </a:r>
          </a:p>
          <a:p>
            <a:r>
              <a:rPr lang="en-MY" sz="1800" b="0" dirty="0"/>
              <a:t>Alternative Flows:</a:t>
            </a:r>
          </a:p>
          <a:p>
            <a:r>
              <a:rPr lang="en-MY" sz="1800" b="0" dirty="0"/>
              <a:t>[multiple </a:t>
            </a:r>
            <a:r>
              <a:rPr lang="en-MY" sz="1800" b="0" dirty="0" smtClean="0"/>
              <a:t>products</a:t>
            </a:r>
            <a:r>
              <a:rPr lang="en-MY" sz="1800" b="0" dirty="0"/>
              <a:t>]</a:t>
            </a:r>
          </a:p>
          <a:p>
            <a:r>
              <a:rPr lang="en-MY" sz="1800" b="0" dirty="0"/>
              <a:t>After step 4, when the </a:t>
            </a:r>
            <a:r>
              <a:rPr lang="en-MY" sz="1800" b="0" dirty="0" smtClean="0"/>
              <a:t>SA </a:t>
            </a:r>
            <a:r>
              <a:rPr lang="en-MY" sz="1800" b="0" dirty="0"/>
              <a:t>enters the quantity required, </a:t>
            </a:r>
            <a:r>
              <a:rPr lang="en-MY" sz="1800" b="0" dirty="0" smtClean="0"/>
              <a:t> Repeat </a:t>
            </a:r>
            <a:r>
              <a:rPr lang="en-MY" sz="1800" b="0" dirty="0"/>
              <a:t>steps 2 to 4 for additional </a:t>
            </a:r>
            <a:r>
              <a:rPr lang="en-MY" sz="1800" b="0" dirty="0" smtClean="0"/>
              <a:t>products Resume </a:t>
            </a:r>
            <a:r>
              <a:rPr lang="en-MY" sz="1800" b="0" dirty="0"/>
              <a:t>at step 5, to enter payment details </a:t>
            </a:r>
            <a:r>
              <a:rPr lang="en-MY" sz="1800" b="0" dirty="0" smtClean="0"/>
              <a:t> [</a:t>
            </a:r>
            <a:r>
              <a:rPr lang="en-MY" sz="1800" b="0" dirty="0"/>
              <a:t>customer specified product</a:t>
            </a:r>
            <a:r>
              <a:rPr lang="en-MY" sz="1800" b="0" dirty="0" smtClean="0"/>
              <a:t>] At </a:t>
            </a:r>
            <a:r>
              <a:rPr lang="en-MY" sz="1800" b="0" dirty="0"/>
              <a:t>step 3, when the System displays the Product details, if the </a:t>
            </a:r>
            <a:r>
              <a:rPr lang="en-MY" sz="1800" b="0" dirty="0" smtClean="0"/>
              <a:t>product </a:t>
            </a:r>
            <a:r>
              <a:rPr lang="en-MY" sz="1800" b="0" dirty="0"/>
              <a:t>requires customer </a:t>
            </a:r>
            <a:r>
              <a:rPr lang="en-MY" sz="1800" b="0" dirty="0" smtClean="0"/>
              <a:t>specified features, </a:t>
            </a:r>
            <a:r>
              <a:rPr lang="en-MY" sz="1800" b="0" dirty="0" smtClean="0"/>
              <a:t>SA </a:t>
            </a:r>
            <a:r>
              <a:rPr lang="en-MY" sz="1800" b="0" dirty="0"/>
              <a:t>enters customer specified requirements, such as size and </a:t>
            </a:r>
            <a:r>
              <a:rPr lang="en-MY" sz="1800" b="0" dirty="0" smtClean="0"/>
              <a:t>colour Resume </a:t>
            </a:r>
            <a:r>
              <a:rPr lang="en-MY" sz="1800" b="0" dirty="0"/>
              <a:t>at step 4, to enter quantity required, until step 6 where the Customer Order is </a:t>
            </a:r>
            <a:r>
              <a:rPr lang="en-MY" sz="1800" b="0" dirty="0" smtClean="0"/>
              <a:t>saved</a:t>
            </a:r>
            <a:r>
              <a:rPr lang="en-MY" sz="1800" b="0" dirty="0"/>
              <a:t>. </a:t>
            </a:r>
          </a:p>
          <a:p>
            <a:r>
              <a:rPr lang="en-MY" sz="1800" b="0" dirty="0"/>
              <a:t>At this step the additional </a:t>
            </a:r>
            <a:r>
              <a:rPr lang="en-MY" sz="1800" b="0" dirty="0" smtClean="0"/>
              <a:t>customer - specific product </a:t>
            </a:r>
            <a:r>
              <a:rPr lang="en-MY" sz="1800" b="0" dirty="0"/>
              <a:t>details must also be saved. </a:t>
            </a:r>
          </a:p>
          <a:p>
            <a:endParaRPr lang="en-MY" b="0" dirty="0"/>
          </a:p>
        </p:txBody>
      </p:sp>
    </p:spTree>
    <p:extLst>
      <p:ext uri="{BB962C8B-B14F-4D97-AF65-F5344CB8AC3E}">
        <p14:creationId xmlns:p14="http://schemas.microsoft.com/office/powerpoint/2010/main" val="358226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9" t="25163" r="26230" b="20000"/>
          <a:stretch/>
        </p:blipFill>
        <p:spPr bwMode="auto">
          <a:xfrm>
            <a:off x="914400" y="457200"/>
            <a:ext cx="7045569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951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MY" sz="2000" dirty="0"/>
              <a:t>Use Case: “Sell </a:t>
            </a:r>
            <a:r>
              <a:rPr lang="en-MY" sz="2000" dirty="0" smtClean="0"/>
              <a:t>Customer - Specific </a:t>
            </a:r>
            <a:r>
              <a:rPr lang="en-MY" sz="2000" dirty="0"/>
              <a:t>Product”</a:t>
            </a:r>
          </a:p>
          <a:p>
            <a:endParaRPr lang="en-MY" b="0" dirty="0" smtClean="0"/>
          </a:p>
          <a:p>
            <a:r>
              <a:rPr lang="en-MY" sz="1800" b="0" dirty="0" smtClean="0"/>
              <a:t>Basic </a:t>
            </a:r>
            <a:r>
              <a:rPr lang="en-MY" sz="1800" b="0" dirty="0"/>
              <a:t>Flow:</a:t>
            </a:r>
          </a:p>
          <a:p>
            <a:r>
              <a:rPr lang="en-MY" sz="1800" b="0" dirty="0"/>
              <a:t>At step 3, when the System displays the Product details, if the product requires customer </a:t>
            </a:r>
            <a:r>
              <a:rPr lang="en-MY" sz="1800" b="0" dirty="0" smtClean="0"/>
              <a:t>specified </a:t>
            </a:r>
            <a:r>
              <a:rPr lang="en-MY" sz="1800" b="0" dirty="0"/>
              <a:t>features,</a:t>
            </a:r>
          </a:p>
          <a:p>
            <a:r>
              <a:rPr lang="en-MY" sz="1800" b="0" dirty="0"/>
              <a:t>1</a:t>
            </a:r>
            <a:r>
              <a:rPr lang="en-MY" sz="1800" b="0" dirty="0" smtClean="0"/>
              <a:t>. </a:t>
            </a:r>
            <a:r>
              <a:rPr lang="en-MY" sz="1800" b="0" dirty="0" smtClean="0"/>
              <a:t>SA </a:t>
            </a:r>
            <a:r>
              <a:rPr lang="en-MY" sz="1800" b="0" dirty="0"/>
              <a:t>enters customer specified requirements, such as size and </a:t>
            </a:r>
            <a:r>
              <a:rPr lang="en-MY" sz="1800" b="0" dirty="0" smtClean="0"/>
              <a:t>colour Resume </a:t>
            </a:r>
            <a:r>
              <a:rPr lang="en-MY" sz="1800" b="0" dirty="0"/>
              <a:t>at step 4, </a:t>
            </a:r>
            <a:r>
              <a:rPr lang="en-MY" sz="1800" b="0" dirty="0" smtClean="0"/>
              <a:t>to enter </a:t>
            </a:r>
            <a:r>
              <a:rPr lang="en-MY" sz="1800" b="0" dirty="0"/>
              <a:t>quantity required, until step 6 where the Customer Order is </a:t>
            </a:r>
            <a:r>
              <a:rPr lang="en-MY" sz="1800" b="0" dirty="0" smtClean="0"/>
              <a:t> saved</a:t>
            </a:r>
            <a:r>
              <a:rPr lang="en-MY" sz="1800" b="0" dirty="0"/>
              <a:t>. </a:t>
            </a:r>
          </a:p>
          <a:p>
            <a:r>
              <a:rPr lang="en-MY" sz="1800" b="0" dirty="0"/>
              <a:t>At this step the additional </a:t>
            </a:r>
            <a:r>
              <a:rPr lang="en-MY" sz="1800" b="0" dirty="0" smtClean="0"/>
              <a:t>customer - specific </a:t>
            </a:r>
            <a:r>
              <a:rPr lang="en-MY" sz="1800" b="0" dirty="0"/>
              <a:t>product details must also be saved. 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37758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generalisation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MY" sz="2400" b="0" dirty="0"/>
              <a:t>A generalisation </a:t>
            </a:r>
            <a:r>
              <a:rPr lang="en-MY" sz="2400" b="0" dirty="0" smtClean="0"/>
              <a:t>relationship </a:t>
            </a:r>
            <a:r>
              <a:rPr lang="en-MY" sz="2400" b="0" dirty="0"/>
              <a:t>between Use Cases indicates that the child Use Cases inherit </a:t>
            </a:r>
            <a:r>
              <a:rPr lang="en-MY" sz="2400" b="0" dirty="0" smtClean="0"/>
              <a:t> the </a:t>
            </a:r>
            <a:r>
              <a:rPr lang="en-MY" sz="2400" b="0" dirty="0"/>
              <a:t>properties of the parent Use Case.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sz="2400" b="0" dirty="0"/>
              <a:t>Examples where this is a valuable aid to creating a useful Use Case model seem to be </a:t>
            </a:r>
            <a:r>
              <a:rPr lang="en-MY" sz="2400" b="0" dirty="0" smtClean="0"/>
              <a:t>hard </a:t>
            </a:r>
            <a:r>
              <a:rPr lang="en-MY" sz="2400" b="0" dirty="0"/>
              <a:t>to find. We suspect that the generalisation relationship </a:t>
            </a:r>
            <a:r>
              <a:rPr lang="en-MY" sz="2400" b="0" dirty="0" smtClean="0"/>
              <a:t>arises </a:t>
            </a:r>
            <a:r>
              <a:rPr lang="en-MY" sz="2400" b="0" dirty="0"/>
              <a:t>more from a theoretical </a:t>
            </a:r>
            <a:r>
              <a:rPr lang="en-MY" sz="2400" b="0" dirty="0" smtClean="0"/>
              <a:t>consideration </a:t>
            </a:r>
            <a:r>
              <a:rPr lang="en-MY" sz="2400" b="0" dirty="0"/>
              <a:t>than any practical need.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sz="2400" b="0" dirty="0"/>
              <a:t>The following example is provided only for completeness</a:t>
            </a:r>
            <a:r>
              <a:rPr lang="en-MY" dirty="0"/>
              <a:t>. 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20910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3" t="37607" r="26000" b="15350"/>
          <a:stretch/>
        </p:blipFill>
        <p:spPr bwMode="auto">
          <a:xfrm>
            <a:off x="304800" y="685801"/>
            <a:ext cx="56388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0" y="726282"/>
            <a:ext cx="2362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 smtClean="0"/>
              <a:t>Indicating </a:t>
            </a:r>
            <a:r>
              <a:rPr lang="en-MY" dirty="0"/>
              <a:t>that there are some common steps for all Use </a:t>
            </a:r>
          </a:p>
          <a:p>
            <a:r>
              <a:rPr lang="en-MY" dirty="0"/>
              <a:t>Cases that handle customer transactions </a:t>
            </a:r>
          </a:p>
          <a:p>
            <a:r>
              <a:rPr lang="en-MY" dirty="0"/>
              <a:t>and that the child Use Cases “Return Faulty </a:t>
            </a:r>
          </a:p>
          <a:p>
            <a:r>
              <a:rPr lang="en-MY" dirty="0"/>
              <a:t>Goods” and “Take Customer Order” have additional steps that fit into or around them. 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40704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When to use «include» relationship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MY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MY" sz="2000" b="0" dirty="0"/>
              <a:t>After you have completed the first cut description of all your main Use Cases. You can now look at the Use Cases and identify common sequences of user-system interaction.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sz="2000" b="0" dirty="0" smtClean="0"/>
              <a:t>After have </a:t>
            </a:r>
            <a:r>
              <a:rPr lang="en-MY" sz="2000" b="0" dirty="0"/>
              <a:t>completed the first cut description of all your main Use Cases. </a:t>
            </a:r>
            <a:r>
              <a:rPr lang="en-MY" sz="2000" b="0" dirty="0" smtClean="0"/>
              <a:t>In </a:t>
            </a:r>
            <a:r>
              <a:rPr lang="en-MY" sz="2000" b="0" dirty="0"/>
              <a:t>fact you should be able to produce a pretty complete first cut Use Case Model without </a:t>
            </a:r>
            <a:r>
              <a:rPr lang="en-MY" sz="2000" b="0" dirty="0" smtClean="0"/>
              <a:t>any </a:t>
            </a:r>
            <a:r>
              <a:rPr lang="en-MY" sz="2000" b="0" dirty="0"/>
              <a:t>«extend» relationships and we would advise you to do this. The extending Use Cases </a:t>
            </a:r>
            <a:r>
              <a:rPr lang="en-MY" sz="2000" b="0" dirty="0" smtClean="0"/>
              <a:t>represent </a:t>
            </a:r>
            <a:r>
              <a:rPr lang="en-MY" sz="2000" b="0" dirty="0"/>
              <a:t>additional functionality, </a:t>
            </a:r>
            <a:r>
              <a:rPr lang="en-MY" sz="2000" b="0" dirty="0" smtClean="0"/>
              <a:t>without </a:t>
            </a:r>
            <a:r>
              <a:rPr lang="en-MY" sz="2000" b="0" dirty="0"/>
              <a:t>which the </a:t>
            </a:r>
            <a:r>
              <a:rPr lang="en-MY" sz="2000" b="0" dirty="0" smtClean="0"/>
              <a:t>model </a:t>
            </a:r>
            <a:r>
              <a:rPr lang="en-MY" sz="2000" b="0" dirty="0"/>
              <a:t>is consistent in </a:t>
            </a:r>
            <a:r>
              <a:rPr lang="en-MY" sz="2000" b="0" dirty="0" smtClean="0"/>
              <a:t>itself</a:t>
            </a:r>
          </a:p>
          <a:p>
            <a:endParaRPr lang="en-MY" sz="2000" b="0" dirty="0"/>
          </a:p>
          <a:p>
            <a:endParaRPr lang="en-MY" sz="2000" b="0" dirty="0"/>
          </a:p>
        </p:txBody>
      </p:sp>
    </p:spTree>
    <p:extLst>
      <p:ext uri="{BB962C8B-B14F-4D97-AF65-F5344CB8AC3E}">
        <p14:creationId xmlns:p14="http://schemas.microsoft.com/office/powerpoint/2010/main" val="3584270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When to use «extend» relationship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100628"/>
            <a:ext cx="7711440" cy="4004772"/>
          </a:xfrm>
        </p:spPr>
        <p:txBody>
          <a:bodyPr>
            <a:noAutofit/>
          </a:bodyPr>
          <a:lstStyle/>
          <a:p>
            <a:pPr marL="0" indent="0"/>
            <a:r>
              <a:rPr lang="en-MY" sz="1800" b="0" dirty="0" smtClean="0"/>
              <a:t>The </a:t>
            </a:r>
            <a:r>
              <a:rPr lang="en-MY" sz="1800" b="0" dirty="0"/>
              <a:t>«extend» relationship should be applied to a </a:t>
            </a:r>
            <a:r>
              <a:rPr lang="en-MY" sz="1800" b="0" dirty="0" smtClean="0"/>
              <a:t>well - formed </a:t>
            </a:r>
            <a:r>
              <a:rPr lang="en-MY" sz="1800" b="0" dirty="0"/>
              <a:t>first cut Use Case model in </a:t>
            </a:r>
            <a:r>
              <a:rPr lang="en-MY" sz="1800" b="0" dirty="0" smtClean="0"/>
              <a:t>the </a:t>
            </a:r>
            <a:r>
              <a:rPr lang="en-MY" sz="1800" b="0" dirty="0"/>
              <a:t>following circumstances</a:t>
            </a:r>
            <a:r>
              <a:rPr lang="en-MY" sz="1800" b="0" dirty="0" smtClean="0"/>
              <a:t>:</a:t>
            </a:r>
          </a:p>
          <a:p>
            <a:pPr marL="0" indent="0"/>
            <a:endParaRPr lang="en-MY" sz="1800" b="0" dirty="0"/>
          </a:p>
          <a:p>
            <a:r>
              <a:rPr lang="en-MY" sz="1800" b="0" dirty="0" smtClean="0"/>
              <a:t>1. A </a:t>
            </a:r>
            <a:r>
              <a:rPr lang="en-MY" sz="1800" b="0" dirty="0"/>
              <a:t>Use Case is too big. If a use Case description, with all its alternative flows is </a:t>
            </a:r>
            <a:r>
              <a:rPr lang="en-MY" sz="1800" b="0" dirty="0" smtClean="0"/>
              <a:t>becoming </a:t>
            </a:r>
            <a:r>
              <a:rPr lang="en-MY" sz="1800" b="0" dirty="0"/>
              <a:t>unmanageable, </a:t>
            </a:r>
            <a:r>
              <a:rPr lang="en-MY" sz="1800" b="0" dirty="0" smtClean="0"/>
              <a:t> use </a:t>
            </a:r>
            <a:r>
              <a:rPr lang="en-MY" sz="1800" b="0" dirty="0"/>
              <a:t>this as a strategy to break it up. Take a substantial </a:t>
            </a:r>
            <a:r>
              <a:rPr lang="en-MY" sz="1800" b="0" dirty="0" smtClean="0"/>
              <a:t>alternative </a:t>
            </a:r>
            <a:r>
              <a:rPr lang="en-MY" sz="1800" b="0" dirty="0"/>
              <a:t>path, that is reasonably </a:t>
            </a:r>
            <a:r>
              <a:rPr lang="en-MY" sz="1800" b="0" dirty="0" smtClean="0"/>
              <a:t>self - contained </a:t>
            </a:r>
            <a:r>
              <a:rPr lang="en-MY" sz="1800" b="0" dirty="0"/>
              <a:t>and make it an extending Use </a:t>
            </a:r>
            <a:r>
              <a:rPr lang="en-MY" sz="1800" b="0" dirty="0" smtClean="0"/>
              <a:t>Case</a:t>
            </a:r>
            <a:r>
              <a:rPr lang="en-MY" sz="1800" b="0" dirty="0"/>
              <a:t>. </a:t>
            </a:r>
          </a:p>
          <a:p>
            <a:r>
              <a:rPr lang="en-MY" sz="1800" b="0" dirty="0" smtClean="0"/>
              <a:t>2. The </a:t>
            </a:r>
            <a:r>
              <a:rPr lang="en-MY" sz="1800" b="0" dirty="0"/>
              <a:t>base Use Case is something that for one reason </a:t>
            </a:r>
            <a:r>
              <a:rPr lang="en-MY" sz="1800" b="0" dirty="0" smtClean="0"/>
              <a:t>or </a:t>
            </a:r>
            <a:r>
              <a:rPr lang="en-MY" sz="1800" b="0" dirty="0"/>
              <a:t>another we don’t want to </a:t>
            </a:r>
            <a:r>
              <a:rPr lang="en-MY" sz="1800" b="0" dirty="0" smtClean="0"/>
              <a:t>change</a:t>
            </a:r>
            <a:r>
              <a:rPr lang="en-MY" sz="1800" b="0" dirty="0"/>
              <a:t>. It may be that the base Use Case is part of an existing system </a:t>
            </a:r>
            <a:r>
              <a:rPr lang="en-MY" sz="1800" b="0" dirty="0" smtClean="0"/>
              <a:t>implementation </a:t>
            </a:r>
            <a:r>
              <a:rPr lang="en-MY" sz="1800" b="0" dirty="0"/>
              <a:t>and perhaps there is no existing Use Case model for that system </a:t>
            </a:r>
            <a:r>
              <a:rPr lang="en-MY" sz="1800" b="0" dirty="0" smtClean="0"/>
              <a:t>but </a:t>
            </a:r>
            <a:r>
              <a:rPr lang="en-MY" sz="1800" b="0" dirty="0"/>
              <a:t>we want to create a Use Case description for the new functionality. </a:t>
            </a:r>
            <a:r>
              <a:rPr lang="en-MY" sz="1800" b="0" dirty="0" smtClean="0"/>
              <a:t>Using an «</a:t>
            </a:r>
            <a:r>
              <a:rPr lang="en-MY" sz="1800" b="0" dirty="0"/>
              <a:t>extend» relationship helps us to separate out our specification of the new </a:t>
            </a:r>
            <a:r>
              <a:rPr lang="en-MY" sz="1800" b="0" dirty="0" smtClean="0"/>
              <a:t>functionality </a:t>
            </a:r>
            <a:r>
              <a:rPr lang="en-MY" sz="1800" b="0" dirty="0"/>
              <a:t>from the old. </a:t>
            </a:r>
          </a:p>
          <a:p>
            <a:endParaRPr lang="en-MY" b="0" dirty="0"/>
          </a:p>
          <a:p>
            <a:endParaRPr lang="en-MY" b="0" dirty="0"/>
          </a:p>
        </p:txBody>
      </p:sp>
    </p:spTree>
    <p:extLst>
      <p:ext uri="{BB962C8B-B14F-4D97-AF65-F5344CB8AC3E}">
        <p14:creationId xmlns:p14="http://schemas.microsoft.com/office/powerpoint/2010/main" val="16114605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107</TotalTime>
  <Words>1130</Words>
  <Application>Microsoft Office PowerPoint</Application>
  <PresentationFormat>On-screen Show (4:3)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Franklin Gothic Book</vt:lpstr>
      <vt:lpstr>Franklin Gothic Medium</vt:lpstr>
      <vt:lpstr>Tunga</vt:lpstr>
      <vt:lpstr>Wingdings</vt:lpstr>
      <vt:lpstr>Angles</vt:lpstr>
      <vt:lpstr>«include» and «extend» Relationships in  Use Case Models</vt:lpstr>
      <vt:lpstr>SCENARIO</vt:lpstr>
      <vt:lpstr>Simple Use Case</vt:lpstr>
      <vt:lpstr>«include» relationship</vt:lpstr>
      <vt:lpstr>«include» relationship</vt:lpstr>
      <vt:lpstr>PowerPoint Presentation</vt:lpstr>
      <vt:lpstr>PowerPoint Presentation</vt:lpstr>
      <vt:lpstr>«extend» relationship</vt:lpstr>
      <vt:lpstr>PowerPoint Presentation</vt:lpstr>
      <vt:lpstr>PowerPoint Presentation</vt:lpstr>
      <vt:lpstr>PowerPoint Presentation</vt:lpstr>
      <vt:lpstr>generalisation relationship</vt:lpstr>
      <vt:lpstr>PowerPoint Presentation</vt:lpstr>
      <vt:lpstr>When to use «include» relationship </vt:lpstr>
      <vt:lpstr>When to use «extend» relationship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«include» and «extend» Relationships in  Use Case Models</dc:title>
  <dc:creator>AKADEMI 79</dc:creator>
  <cp:lastModifiedBy>iDEC</cp:lastModifiedBy>
  <cp:revision>10</cp:revision>
  <cp:lastPrinted>2017-04-17T05:17:12Z</cp:lastPrinted>
  <dcterms:created xsi:type="dcterms:W3CDTF">2017-04-17T03:49:32Z</dcterms:created>
  <dcterms:modified xsi:type="dcterms:W3CDTF">2019-11-12T01:43:32Z</dcterms:modified>
</cp:coreProperties>
</file>